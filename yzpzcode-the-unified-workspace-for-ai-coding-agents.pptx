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3" d="100"/>
          <a:sy n="73" d="100"/>
        </p:scale>
        <p:origin x="74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19843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number: twenty-six AI coding agents, and one native window to hold them. In plain words, these agents are AI helpers that write software for you, and YzPzCode is the single desktop app where you meet all of them. It runs on Windows, macOS and Linux under Apache-2.0, and besides the coding workspace it also holds a Presentation Studio, a Writing Studio and extensions, which we will see later. Before we look at how it works, let's start with the problem it was built to solve.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picture everyone in this room already recognizes: a desk full of screens, terminals and browsers. Count the windows a typical AI-assisted session needs and you land at eight or more, each one holding a different agent, tool or chat. The cost is not the windows themselves but the constant Alt+Tab switching and the context that gets lost between isolated chats. That is the tension the next page resolves with one command center.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turn in the story, and you can read it left to right as plain before-and-after. Eight loose terminal windows become one workspace you arrange yourself, and constant Alt+Tab becomes a grid where every session stays live. Extra tools no longer live in other editors, because they open right beside your agents. The app finds how to run and build more than fifteen kinds of projects by itself, and the built-in browser lets you check how a page looks without leaving. Finally, the same window is not only for coding: it also holds a Writing Studio and a Presentation Studio, which we come back to later. Next, we look at the agents themselves and how they are detected and launched.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an AI coding agent as a skilled assistant that writes and fixes software for you. There are many of them, each made by a different company, and these nine are the core of what YzPzCode supports, 26 in total. The small tag on each tile is the short command that starts that agent. On the right is the launcher: you search, see which agents are ready, and start one in a single step. We are not affiliated with these vendors. Next we look at the other agents and tools that sit beyond this core nine.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translation first: a CLI is simply a helper you start by typing a short command, and the small tag next to each name is exactly that command. Every name now sits next to its own icon tile, so you can recognise an agent at a glance, the way you do in the launcher. The launcher showed nine core agents, but YzPzCode knows 26 AI coding assistants in total, so 17 more are listed here, plus ten everyday developer tools such as GitHub, Supabase, Stripe and Vercel. For every one of them the app finds it automatically, installs it in one click, and tracks whether it is installed, where it lives and whether you are signed in. Now that everything is set up, let's watch these agents actually work side by side.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terminal is just the text window where an AI agent does its work, and normally each one lives in its own separate window. Here you can see six of them running at the same moment in a single grid, with the project's files listed on the left. Under the surface it is a genuine terminal engine, drawn smoothly by the graphics chip, and every project keeps its own sessions so nothing gets mixed up. If someone prefers their usual terminal, the app can arrange those windows neatly on screen as well. Next, we look at the graphical assistants that join this same grid.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extensions as apps for your workspace: you open the catalogue with Ctrl+Shift+X or the Extensions icon in the header, pick an assistant such as Claude Code, Cline or OpenAI Codex, and it opens as a panel in the same grid. Fourteen of them are ready to go. On the right is why that is safe and simple: it works out of the box with nothing extra to install, each assistant is sealed in its own sandbox and cannot touch the app itself, and the layout and trust settings are remembered for every workspace. Next we look at the code editor and Git version control that sit beside all of these assistants.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this as the place where you read and fix what an agent has written, without leaving the window. Tabs and split views let you keep several files open, and documents such as PDFs, spreadsheets and diagrams show up as readable previews instead of raw code. A background watcher refreshes everything the moment an agent or another program changes a file, so you never look at stale work. Git adds a safety net: a history of every change that you can review, save as a snapshot and sync. Next, we look at how the workspace runs almost any project with zero configuration.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this as a Play button for any software project. You don't tell YzPzCode which language you're using or how to start it; it looks at the project's files, recognises more than fifteen kinds of projects, and picks the right command by itself. Run down the table quickly, since the point is simply that Python, JavaScript, Rust, C++, Java and the rest all work the same way. The bottom strip covers what happens once it is running: one click to run or build, a way to type answers into a running program, your app found and previewed automatically, and your own settings if you ever want control. That automatic preview leads straight into the next page, where we look at the running app without leaving the workspace.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your AI agents are working, you want to see what they are building, and you can do it right here. The app opens in a browser tab inside the workspace, so there is no switching to another window. Click any item on the page and the inspector shows how it is built and styled, a bit like lifting the bonnet of a car. You can also check how it looks on a phone or tablet, and copy a style you like with a full undo. Next, we meet the built-in agent, the AI designer and the image editor that share this same window.</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Besides running other companies' coding assistants, YzPzCode ships its own creative tools in the same window. There is our own agent that plans a job and retries when something fails, a designer that turns a plain-language description into a working screen, and an image editor with layers. Two studios go beyond code: the Presentation Studio builds slide decks and the Writing Studio drafts reports and articles, so no programming is needed to benefit. Extensions let the coding workspace keep growing with new add-ons. Next I'll show what is underneath: the technology that makes all of this one fast native app.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YzPzCode as three layers. On the left is the screen you actually use: the terminal grid, the code editor, the browser and image editor, plus the workspace extensions and the Presentation and Writing studios in violet. In the middle is the engine room, a Rust core that gives every agent a real terminal, watches your files and keeps add-ons running; the screen asks and the engine acts through Tauri IPC. On the right are the outside tools it drives, such as Claude, Antigravity and your existing editors, and the orange line is the live text feed from those agents. Next, what this design means for your code and your privacy.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trust beat, and it now stays in the same dark control-room look as the rest of the deck. Three plain promises: YzPzCode does not upload your project files, the keys that let your AI tools log in stay on your own computer, and every request to an AI company goes straight to that company's own address. The caption is honest about the limits: extensions you add are sandboxed so they cannot call the app's commands, and the project is open source under Apache-2.0 and still under active development. From here we go back into the product and show how much of it you can make your own.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is about making the workspace feel like yours. You pick one of eight accent colours, and orange is the one we ship with. Below that you can add a softly moving glow behind your work, choose how tightly things are packed, and tune the text window and accessibility switches, including turning animation off. Finally, extensions let you add new abilities to the workspace, much like add-ons for a web browser. With the tour finished, the next page is how to get it running.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ways in, and most people only need the first. Download one file for your system, open it like any other app, and you are done: a Windows installer, a Mac disk image for Apple Silicon or Intel, or a Linux package. On a Mac the first launch needs a right click and Open, because the build is unsigned. The second path is for developers who want to build it themselves: install Node, Rust and the C++ build tools, then run four short commands. Either way you get the whole workspace we have walked through, so let me close with where this is heading.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studio itself works, shown as the studio window. On the left is the filmstrip, in the centre a single page drawn as one hand-written SVG with its shapes still selectable, and on the right the animation pane that directs how the page plays. The point to land is that nothing is flattened: PowerPoint receives real shapes, real text and real animation entries you can keep editing. Use this page as the overview, and the next two pages can open up the editable export and the animation direction in turn.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export feature in one picture. On the left is a page written by hand as plain SVG, and on the right is the same page opened in PowerPoint, where the title is a real text box with selection handles and the chart is four ordinary rectangles you can recolour. Nothing is flattened into a picture, so you keep full control after export. Next, we look at how those pages move once they are in the show.</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shows the Presentation Studio in three beats. You write the brief and get an outline, each page is then built as a single vector drawing that exports to native, editable PowerPoint shapes, and finally the motion is directed click by click. The mock windows are deliberately drawn like the real panes, so the audience sees what they would actually work in. From here, move on to the next page and show how the finished deck plays back.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Studio brings the same single-window idea to documents and reports: an outline on the left, the page in the middle, and an AI agent in a side panel, all in one workspace. Walk the audience through the three stages on the right: outline the structure, draft with the agent beside the page, then review and export. The next two slides go deeper into how each stage works.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report page in the writing studio: the outline sits on the left, and the document grows on a real page in the centre. The blue numbers on the mock-up match the four steps on the right, so you can follow the path from planning sections to drafting, adding charts from real data, and handing over a finished document. The point is that nothing leaves the workspace, so the report and the code it describes stay in one place. Next, we look at how those finished documents are presented.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writing workspace pays off. The process on the left runs outline, draft, illustrate and export, and the third step is the one that changes a plain document into a report people actually read. On the right you see the same workspace: the outline rail, the page itself and the figure panel, so a chart is placed beside the sentence it supports and stays editable. Once the report is finished, one export hands it over, and that leads into the call to action.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whole story comes down to one line: build with your AI agents, not around them. If you want to try it, the three steps on the left are all you need: download the release, read the guide, or tell the team what is broken or missing. Beyond coding, the workspace also includes a Presentation Studio, a Writing Studio and an Extensions system, so it grows with the way you work. Naz and Noor are the people behind it, the project is open under Apache-2.0, and feedback genuinely shapes what comes next. The showreel on the right shows it all in 45 seconds. Thank you, and I'm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B0D"/>
        </a:solidFill>
        <a:effectLst/>
      </p:bgPr>
    </p:bg>
    <p:spTree>
      <p:nvGrpSpPr>
        <p:cNvPr id="1" name=""/>
        <p:cNvGrpSpPr/>
        <p:nvPr/>
      </p:nvGrpSpPr>
      <p:grpSpPr>
        <a:xfrm>
          <a:off x="0" y="0"/>
          <a:ext cx="0" cy="0"/>
          <a:chOff x="0" y="0"/>
          <a:chExt cx="0" cy="0"/>
        </a:xfrm>
      </p:grpSpPr>
      <p:grpSp>
        <p:nvGrpSpPr>
          <p:cNvPr id="5" name="cursor-kicker"/>
          <p:cNvGrpSpPr/>
          <p:nvPr/>
        </p:nvGrpSpPr>
        <p:grpSpPr>
          <a:xfrm>
            <a:off x="609600" y="323850"/>
            <a:ext cx="5706654" cy="339090"/>
            <a:chOff x="609600" y="323850"/>
            <a:chExt cx="5706654" cy="339090"/>
          </a:xfrm>
        </p:grpSpPr>
        <p:sp>
          <p:nvSpPr>
            <p:cNvPr id="3" name="rect 4"/>
            <p:cNvSpPr/>
            <p:nvPr/>
          </p:nvSpPr>
          <p:spPr>
            <a:xfrm>
              <a:off x="609600" y="323850"/>
              <a:ext cx="457200" cy="57150"/>
            </a:xfrm>
            <a:prstGeom prst="roundRect">
              <a:avLst>
                <a:gd name="adj" fmla="val 50000"/>
              </a:avLst>
            </a:prstGeom>
            <a:solidFill>
              <a:srgbClr val="FF5B1F"/>
            </a:solidFill>
            <a:ln>
              <a:noFill/>
            </a:ln>
          </p:spPr>
          <p:txBody>
            <a:bodyPr/>
            <a:lstStyle/>
            <a:p>
              <a:endParaRPr lang="en-US"/>
            </a:p>
          </p:txBody>
        </p:sp>
        <p:sp>
          <p:nvSpPr>
            <p:cNvPr id="4" name="Text 5"/>
            <p:cNvSpPr txBox="1"/>
            <p:nvPr/>
          </p:nvSpPr>
          <p:spPr>
            <a:xfrm>
              <a:off x="609600" y="450850"/>
              <a:ext cx="5706654" cy="212090"/>
            </a:xfrm>
            <a:prstGeom prst="rect">
              <a:avLst/>
            </a:prstGeom>
            <a:noFill/>
          </p:spPr>
          <p:txBody>
            <a:bodyPr wrap="none" lIns="0" tIns="0" rIns="0" bIns="0" rtlCol="0" anchor="t">
              <a:noAutofit/>
            </a:bodyPr>
            <a:lstStyle/>
            <a:p>
              <a:pPr algn="l">
                <a:spcBef>
                  <a:spcPts val="0"/>
                </a:spcBef>
                <a:spcAft>
                  <a:spcPts val="0"/>
                </a:spcAft>
              </a:pPr>
              <a:r>
                <a:rPr lang="en-US" sz="1200" b="0" spc="150" dirty="0">
                  <a:solidFill>
                    <a:srgbClr val="9C9A94"/>
                  </a:solidFill>
                  <a:latin typeface="Consolas"/>
                  <a:ea typeface="Consolas"/>
                  <a:cs typeface="Consolas"/>
                </a:rPr>
                <a:t>YZPZCODE / THE UNIFIED WORKSPACE FOR AI CODING AGENTS</a:t>
              </a:r>
              <a:endParaRPr lang="en-US" sz="1200" dirty="0"/>
            </a:p>
          </p:txBody>
        </p:sp>
      </p:grpSp>
      <p:sp>
        <p:nvSpPr>
          <p:cNvPr id="6" name="Text 7"/>
          <p:cNvSpPr txBox="1"/>
          <p:nvPr/>
        </p:nvSpPr>
        <p:spPr>
          <a:xfrm>
            <a:off x="10795623" y="450850"/>
            <a:ext cx="786777" cy="212090"/>
          </a:xfrm>
          <a:prstGeom prst="rect">
            <a:avLst/>
          </a:prstGeom>
          <a:noFill/>
        </p:spPr>
        <p:txBody>
          <a:bodyPr wrap="none" lIns="0" tIns="0" rIns="0" bIns="0" rtlCol="0" anchor="t">
            <a:noAutofit/>
          </a:bodyPr>
          <a:lstStyle/>
          <a:p>
            <a:pPr algn="r">
              <a:spcBef>
                <a:spcPts val="0"/>
              </a:spcBef>
              <a:spcAft>
                <a:spcPts val="0"/>
              </a:spcAft>
            </a:pPr>
            <a:r>
              <a:rPr lang="en-US" sz="1200" b="0" spc="150" dirty="0">
                <a:solidFill>
                  <a:srgbClr val="9C9A94"/>
                </a:solidFill>
                <a:latin typeface="Consolas"/>
                <a:ea typeface="Consolas"/>
                <a:cs typeface="Consolas"/>
              </a:rPr>
              <a:t>01 / 16</a:t>
            </a:r>
            <a:endParaRPr lang="en-US" sz="1200" dirty="0"/>
          </a:p>
        </p:txBody>
      </p:sp>
      <p:grpSp>
        <p:nvGrpSpPr>
          <p:cNvPr id="10" name="title-block"/>
          <p:cNvGrpSpPr/>
          <p:nvPr/>
        </p:nvGrpSpPr>
        <p:grpSpPr>
          <a:xfrm>
            <a:off x="609600" y="469900"/>
            <a:ext cx="6890508" cy="1813242"/>
            <a:chOff x="609600" y="469900"/>
            <a:chExt cx="6890508" cy="1813242"/>
          </a:xfrm>
        </p:grpSpPr>
        <p:sp>
          <p:nvSpPr>
            <p:cNvPr id="7" name="Text 8"/>
            <p:cNvSpPr txBox="1"/>
            <p:nvPr/>
          </p:nvSpPr>
          <p:spPr>
            <a:xfrm>
              <a:off x="609600" y="469900"/>
              <a:ext cx="1227400" cy="1511300"/>
            </a:xfrm>
            <a:prstGeom prst="rect">
              <a:avLst/>
            </a:prstGeom>
            <a:noFill/>
          </p:spPr>
          <p:txBody>
            <a:bodyPr wrap="none" lIns="0" tIns="0" rIns="0" bIns="0" rtlCol="0" anchor="t">
              <a:noAutofit/>
            </a:bodyPr>
            <a:lstStyle/>
            <a:p>
              <a:pPr algn="l">
                <a:spcBef>
                  <a:spcPts val="0"/>
                </a:spcBef>
                <a:spcAft>
                  <a:spcPts val="0"/>
                </a:spcAft>
              </a:pPr>
              <a:r>
                <a:rPr lang="en-US" sz="9000" b="1" dirty="0">
                  <a:solidFill>
                    <a:srgbClr val="FF5B1F"/>
                  </a:solidFill>
                  <a:latin typeface="Bahnschrift"/>
                  <a:ea typeface="Bahnschrift"/>
                  <a:cs typeface="Bahnschrift"/>
                </a:rPr>
                <a:t>26</a:t>
              </a:r>
              <a:endParaRPr lang="en-US" sz="9000" dirty="0"/>
            </a:p>
          </p:txBody>
        </p:sp>
        <p:sp>
          <p:nvSpPr>
            <p:cNvPr id="8" name="Text 9"/>
            <p:cNvSpPr txBox="1"/>
            <p:nvPr/>
          </p:nvSpPr>
          <p:spPr>
            <a:xfrm>
              <a:off x="2247900" y="641350"/>
              <a:ext cx="4108537" cy="1099820"/>
            </a:xfrm>
            <a:prstGeom prst="rect">
              <a:avLst/>
            </a:prstGeom>
            <a:noFill/>
          </p:spPr>
          <p:txBody>
            <a:bodyPr wrap="none" lIns="0" tIns="0" rIns="0" bIns="0" rtlCol="0" anchor="t">
              <a:noAutofit/>
            </a:bodyPr>
            <a:lstStyle/>
            <a:p>
              <a:pPr algn="l">
                <a:lnSpc>
                  <a:spcPts val="4100"/>
                </a:lnSpc>
                <a:spcBef>
                  <a:spcPts val="0"/>
                </a:spcBef>
                <a:spcAft>
                  <a:spcPts val="0"/>
                </a:spcAft>
              </a:pPr>
              <a:r>
                <a:rPr lang="en-US" sz="3600" b="1" dirty="0">
                  <a:solidFill>
                    <a:srgbClr val="EDE9E2"/>
                  </a:solidFill>
                  <a:latin typeface="Bahnschrift"/>
                  <a:ea typeface="Bahnschrift"/>
                  <a:cs typeface="Bahnschrift"/>
                </a:rPr>
                <a:t>AI coding agents.</a:t>
              </a:r>
              <a:endParaRPr lang="en-US" sz="3600" dirty="0"/>
            </a:p>
            <a:p>
              <a:pPr algn="l">
                <a:lnSpc>
                  <a:spcPts val="4100"/>
                </a:lnSpc>
                <a:spcBef>
                  <a:spcPts val="0"/>
                </a:spcBef>
                <a:spcAft>
                  <a:spcPts val="0"/>
                </a:spcAft>
              </a:pPr>
              <a:r>
                <a:rPr lang="en-US" sz="3600" b="1" dirty="0">
                  <a:solidFill>
                    <a:srgbClr val="EDE9E2"/>
                  </a:solidFill>
                  <a:latin typeface="Bahnschrift"/>
                  <a:ea typeface="Bahnschrift"/>
                  <a:cs typeface="Bahnschrift"/>
                </a:rPr>
                <a:t>One native window.</a:t>
              </a:r>
              <a:endParaRPr lang="en-US" sz="3600" dirty="0"/>
            </a:p>
          </p:txBody>
        </p:sp>
        <p:sp>
          <p:nvSpPr>
            <p:cNvPr id="9" name="Text 10"/>
            <p:cNvSpPr txBox="1"/>
            <p:nvPr/>
          </p:nvSpPr>
          <p:spPr>
            <a:xfrm>
              <a:off x="609600" y="1657350"/>
              <a:ext cx="6890508" cy="625793"/>
            </a:xfrm>
            <a:prstGeom prst="rect">
              <a:avLst/>
            </a:prstGeom>
            <a:noFill/>
          </p:spPr>
          <p:txBody>
            <a:bodyPr wrap="none" lIns="0" tIns="0" rIns="0" bIns="0" rtlCol="0" anchor="t">
              <a:noAutofit/>
            </a:bodyPr>
            <a:lstStyle/>
            <a:p>
              <a:pPr algn="l">
                <a:lnSpc>
                  <a:spcPts val="2400"/>
                </a:lnSpc>
                <a:spcBef>
                  <a:spcPts val="0"/>
                </a:spcBef>
                <a:spcAft>
                  <a:spcPts val="0"/>
                </a:spcAft>
              </a:pPr>
              <a:r>
                <a:rPr lang="en-US" sz="1650" b="0" dirty="0">
                  <a:solidFill>
                    <a:srgbClr val="9C9A94"/>
                  </a:solidFill>
                  <a:latin typeface="Segoe UI"/>
                  <a:ea typeface="Segoe UI"/>
                  <a:cs typeface="Segoe UI"/>
                </a:rPr>
                <a:t>Run </a:t>
              </a:r>
              <a:r>
                <a:rPr lang="en-US" sz="1650" b="1" dirty="0">
                  <a:solidFill>
                    <a:srgbClr val="EDE9E2"/>
                  </a:solidFill>
                  <a:latin typeface="Segoe UI"/>
                  <a:ea typeface="Segoe UI"/>
                  <a:cs typeface="Segoe UI"/>
                </a:rPr>
                <a:t>26 external AI coding CLIs</a:t>
              </a:r>
              <a:r>
                <a:rPr lang="en-US" sz="1650" b="0" dirty="0">
                  <a:solidFill>
                    <a:srgbClr val="9C9A94"/>
                  </a:solidFill>
                  <a:latin typeface="Segoe UI"/>
                  <a:ea typeface="Segoe UI"/>
                  <a:cs typeface="Segoe UI"/>
                </a:rPr>
                <a:t>, </a:t>
              </a:r>
              <a:r>
                <a:rPr lang="en-US" sz="1650" b="1" dirty="0">
                  <a:solidFill>
                    <a:srgbClr val="EDE9E2"/>
                  </a:solidFill>
                  <a:latin typeface="Segoe UI"/>
                  <a:ea typeface="Segoe UI"/>
                  <a:cs typeface="Segoe UI"/>
                </a:rPr>
                <a:t>10 developer tool CLIs</a:t>
              </a:r>
              <a:r>
                <a:rPr lang="en-US" sz="1650" b="0" dirty="0">
                  <a:solidFill>
                    <a:srgbClr val="9C9A94"/>
                  </a:solidFill>
                  <a:latin typeface="Segoe UI"/>
                  <a:ea typeface="Segoe UI"/>
                  <a:cs typeface="Segoe UI"/>
                </a:rPr>
                <a:t> and graphical</a:t>
              </a:r>
              <a:endParaRPr lang="en-US" sz="1650" dirty="0"/>
            </a:p>
            <a:p>
              <a:pPr algn="l">
                <a:lnSpc>
                  <a:spcPts val="2400"/>
                </a:lnSpc>
                <a:spcBef>
                  <a:spcPts val="0"/>
                </a:spcBef>
                <a:spcAft>
                  <a:spcPts val="0"/>
                </a:spcAft>
              </a:pPr>
              <a:r>
                <a:rPr lang="en-US" sz="1650" b="0" dirty="0">
                  <a:solidFill>
                    <a:srgbClr val="9C9A94"/>
                  </a:solidFill>
                  <a:latin typeface="Segoe UI"/>
                  <a:ea typeface="Segoe UI"/>
                  <a:cs typeface="Segoe UI"/>
                </a:rPr>
                <a:t>workspace extensions from one native desktop application.</a:t>
              </a:r>
              <a:endParaRPr lang="en-US" sz="1650" dirty="0"/>
            </a:p>
          </p:txBody>
        </p:sp>
      </p:grpSp>
      <p:sp>
        <p:nvSpPr>
          <p:cNvPr id="11" name="Text 12"/>
          <p:cNvSpPr txBox="1"/>
          <p:nvPr/>
        </p:nvSpPr>
        <p:spPr>
          <a:xfrm>
            <a:off x="609600" y="2305050"/>
            <a:ext cx="7962590"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Segoe UI"/>
                <a:ea typeface="Segoe UI"/>
                <a:cs typeface="Segoe UI"/>
              </a:rPr>
              <a:t>In plain words: AI helpers that write software for you , plus a Presentation Studio, a Writing Studio and extensions.</a:t>
            </a:r>
            <a:endParaRPr lang="en-US" sz="1200" dirty="0"/>
          </a:p>
        </p:txBody>
      </p:sp>
      <p:grpSp>
        <p:nvGrpSpPr>
          <p:cNvPr id="19" name="meta-tags"/>
          <p:cNvGrpSpPr/>
          <p:nvPr/>
        </p:nvGrpSpPr>
        <p:grpSpPr>
          <a:xfrm>
            <a:off x="9048750" y="952500"/>
            <a:ext cx="2533650" cy="1143000"/>
            <a:chOff x="9048750" y="952500"/>
            <a:chExt cx="2533650" cy="1143000"/>
          </a:xfrm>
        </p:grpSpPr>
        <p:sp>
          <p:nvSpPr>
            <p:cNvPr id="12" name="line 13"/>
            <p:cNvSpPr/>
            <p:nvPr/>
          </p:nvSpPr>
          <p:spPr>
            <a:xfrm>
              <a:off x="9048750" y="952500"/>
              <a:ext cx="95" cy="1143000"/>
            </a:xfrm>
            <a:custGeom>
              <a:avLst/>
              <a:gdLst/>
              <a:ahLst/>
              <a:cxnLst/>
              <a:rect l="0" t="0" r="r" b="b"/>
              <a:pathLst>
                <a:path w="95" h="1143000" fill="none">
                  <a:moveTo>
                    <a:pt x="0" y="0"/>
                  </a:moveTo>
                  <a:lnTo>
                    <a:pt x="0" y="1143000"/>
                  </a:lnTo>
                </a:path>
              </a:pathLst>
            </a:custGeom>
            <a:noFill/>
            <a:ln w="9525" cap="flat">
              <a:solidFill>
                <a:srgbClr val="2A2E35"/>
              </a:solidFill>
              <a:miter lim="800000"/>
            </a:ln>
          </p:spPr>
          <p:txBody>
            <a:bodyPr/>
            <a:lstStyle/>
            <a:p>
              <a:endParaRPr lang="en-US"/>
            </a:p>
          </p:txBody>
        </p:sp>
        <p:sp>
          <p:nvSpPr>
            <p:cNvPr id="13" name="rect 14"/>
            <p:cNvSpPr/>
            <p:nvPr/>
          </p:nvSpPr>
          <p:spPr>
            <a:xfrm>
              <a:off x="9353550" y="952500"/>
              <a:ext cx="2228850" cy="304800"/>
            </a:xfrm>
            <a:prstGeom prst="roundRect">
              <a:avLst>
                <a:gd name="adj" fmla="val 6250"/>
              </a:avLst>
            </a:prstGeom>
            <a:noFill/>
            <a:ln w="9525" cap="flat">
              <a:solidFill>
                <a:srgbClr val="9C9A94">
                  <a:alpha val="50000"/>
                </a:srgbClr>
              </a:solidFill>
              <a:miter lim="800000"/>
            </a:ln>
          </p:spPr>
          <p:txBody>
            <a:bodyPr/>
            <a:lstStyle/>
            <a:p>
              <a:endParaRPr lang="en-US"/>
            </a:p>
          </p:txBody>
        </p:sp>
        <p:sp>
          <p:nvSpPr>
            <p:cNvPr id="14" name="Text 15"/>
            <p:cNvSpPr txBox="1"/>
            <p:nvPr/>
          </p:nvSpPr>
          <p:spPr>
            <a:xfrm>
              <a:off x="9515475" y="1022350"/>
              <a:ext cx="2042362"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Consolas"/>
                  <a:ea typeface="Consolas"/>
                  <a:cs typeface="Consolas"/>
                </a:rPr>
                <a:t>Windows | macOS | Linux</a:t>
              </a:r>
              <a:endParaRPr lang="en-US" sz="1200" dirty="0"/>
            </a:p>
          </p:txBody>
        </p:sp>
        <p:sp>
          <p:nvSpPr>
            <p:cNvPr id="15" name="rect 16"/>
            <p:cNvSpPr/>
            <p:nvPr/>
          </p:nvSpPr>
          <p:spPr>
            <a:xfrm>
              <a:off x="9353550" y="1371600"/>
              <a:ext cx="1143000" cy="304800"/>
            </a:xfrm>
            <a:prstGeom prst="roundRect">
              <a:avLst>
                <a:gd name="adj" fmla="val 6250"/>
              </a:avLst>
            </a:prstGeom>
            <a:noFill/>
            <a:ln w="9525" cap="flat">
              <a:solidFill>
                <a:srgbClr val="9C9A94">
                  <a:alpha val="50000"/>
                </a:srgbClr>
              </a:solidFill>
              <a:miter lim="800000"/>
            </a:ln>
          </p:spPr>
          <p:txBody>
            <a:bodyPr/>
            <a:lstStyle/>
            <a:p>
              <a:endParaRPr lang="en-US"/>
            </a:p>
          </p:txBody>
        </p:sp>
        <p:sp>
          <p:nvSpPr>
            <p:cNvPr id="16" name="Text 17"/>
            <p:cNvSpPr txBox="1"/>
            <p:nvPr/>
          </p:nvSpPr>
          <p:spPr>
            <a:xfrm>
              <a:off x="9515475" y="1441450"/>
              <a:ext cx="909518"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Consolas"/>
                  <a:ea typeface="Consolas"/>
                  <a:cs typeface="Consolas"/>
                </a:rPr>
                <a:t>Apache-2.0</a:t>
              </a:r>
              <a:endParaRPr lang="en-US" sz="1200" dirty="0"/>
            </a:p>
          </p:txBody>
        </p:sp>
        <p:sp>
          <p:nvSpPr>
            <p:cNvPr id="17" name="rect 18"/>
            <p:cNvSpPr/>
            <p:nvPr/>
          </p:nvSpPr>
          <p:spPr>
            <a:xfrm>
              <a:off x="9353550" y="1790700"/>
              <a:ext cx="1562100" cy="304800"/>
            </a:xfrm>
            <a:prstGeom prst="roundRect">
              <a:avLst>
                <a:gd name="adj" fmla="val 6250"/>
              </a:avLst>
            </a:prstGeom>
            <a:noFill/>
            <a:ln w="9525" cap="flat">
              <a:solidFill>
                <a:srgbClr val="9C9A94">
                  <a:alpha val="50000"/>
                </a:srgbClr>
              </a:solidFill>
              <a:miter lim="800000"/>
            </a:ln>
          </p:spPr>
          <p:txBody>
            <a:bodyPr/>
            <a:lstStyle/>
            <a:p>
              <a:endParaRPr lang="en-US"/>
            </a:p>
          </p:txBody>
        </p:sp>
        <p:sp>
          <p:nvSpPr>
            <p:cNvPr id="18" name="Text 19"/>
            <p:cNvSpPr txBox="1"/>
            <p:nvPr/>
          </p:nvSpPr>
          <p:spPr>
            <a:xfrm>
              <a:off x="9515475" y="1860550"/>
              <a:ext cx="1345228"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Consolas"/>
                  <a:ea typeface="Consolas"/>
                  <a:cs typeface="Consolas"/>
                </a:rPr>
                <a:t>Tauri v2 + Rust</a:t>
              </a:r>
              <a:endParaRPr lang="en-US" sz="1200" dirty="0"/>
            </a:p>
          </p:txBody>
        </p:sp>
      </p:grpSp>
      <p:grpSp>
        <p:nvGrpSpPr>
          <p:cNvPr id="22" name="viewfinder-brackets"/>
          <p:cNvGrpSpPr/>
          <p:nvPr/>
        </p:nvGrpSpPr>
        <p:grpSpPr>
          <a:xfrm>
            <a:off x="609600" y="2609850"/>
            <a:ext cx="10972800" cy="180975"/>
            <a:chOff x="609600" y="2609850"/>
            <a:chExt cx="10972800" cy="180975"/>
          </a:xfrm>
        </p:grpSpPr>
        <p:sp>
          <p:nvSpPr>
            <p:cNvPr id="20" name="path 21"/>
            <p:cNvSpPr/>
            <p:nvPr/>
          </p:nvSpPr>
          <p:spPr>
            <a:xfrm>
              <a:off x="609600" y="2609850"/>
              <a:ext cx="209550" cy="180975"/>
            </a:xfrm>
            <a:custGeom>
              <a:avLst/>
              <a:gdLst/>
              <a:ahLst/>
              <a:cxnLst/>
              <a:rect l="0" t="0" r="r" b="b"/>
              <a:pathLst>
                <a:path w="209550" h="180975" fill="none">
                  <a:moveTo>
                    <a:pt x="0" y="180975"/>
                  </a:moveTo>
                  <a:lnTo>
                    <a:pt x="0" y="0"/>
                  </a:lnTo>
                  <a:lnTo>
                    <a:pt x="209550" y="0"/>
                  </a:lnTo>
                </a:path>
              </a:pathLst>
            </a:custGeom>
            <a:noFill/>
            <a:ln w="19050" cap="flat">
              <a:solidFill>
                <a:srgbClr val="3D8BFF"/>
              </a:solidFill>
              <a:miter lim="800000"/>
            </a:ln>
          </p:spPr>
          <p:txBody>
            <a:bodyPr/>
            <a:lstStyle/>
            <a:p>
              <a:endParaRPr lang="en-US"/>
            </a:p>
          </p:txBody>
        </p:sp>
        <p:sp>
          <p:nvSpPr>
            <p:cNvPr id="21" name="path 22"/>
            <p:cNvSpPr/>
            <p:nvPr/>
          </p:nvSpPr>
          <p:spPr>
            <a:xfrm>
              <a:off x="11372850" y="2609850"/>
              <a:ext cx="209550" cy="180975"/>
            </a:xfrm>
            <a:custGeom>
              <a:avLst/>
              <a:gdLst/>
              <a:ahLst/>
              <a:cxnLst/>
              <a:rect l="0" t="0" r="r" b="b"/>
              <a:pathLst>
                <a:path w="209550" h="180975" fill="none">
                  <a:moveTo>
                    <a:pt x="209550" y="180975"/>
                  </a:moveTo>
                  <a:lnTo>
                    <a:pt x="209550" y="0"/>
                  </a:lnTo>
                  <a:lnTo>
                    <a:pt x="0" y="0"/>
                  </a:lnTo>
                </a:path>
              </a:pathLst>
            </a:custGeom>
            <a:noFill/>
            <a:ln w="19050" cap="flat">
              <a:solidFill>
                <a:srgbClr val="3D8BFF"/>
              </a:solidFill>
              <a:miter lim="800000"/>
            </a:ln>
          </p:spPr>
          <p:txBody>
            <a:bodyPr/>
            <a:lstStyle/>
            <a:p>
              <a:endParaRPr lang="en-US"/>
            </a:p>
          </p:txBody>
        </p:sp>
      </p:grpSp>
      <p:pic>
        <p:nvPicPr>
          <p:cNvPr id="23" name="hero-banner" descr="hero-banner"/>
          <p:cNvPicPr>
            <a:picLocks noChangeAspect="1"/>
          </p:cNvPicPr>
          <p:nvPr/>
        </p:nvPicPr>
        <p:blipFill>
          <a:blip r:embed="rId3"/>
          <a:stretch>
            <a:fillRect/>
          </a:stretch>
        </p:blipFill>
        <p:spPr>
          <a:xfrm>
            <a:off x="0" y="2802309"/>
            <a:ext cx="12192000" cy="4064032"/>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600" fill="hold"/>
                                        <p:tgtEl>
                                          <p:spTgt spid="10"/>
                                        </p:tgtEl>
                                        <p:attrNameLst>
                                          <p:attrName>ppt_y</p:attrName>
                                        </p:attrNameLst>
                                      </p:cBhvr>
                                      <p:tavLst>
                                        <p:tav tm="0">
                                          <p:val>
                                            <p:strVal val="#ppt_y+.1"/>
                                          </p:val>
                                        </p:tav>
                                        <p:tav tm="100000">
                                          <p:val>
                                            <p:strVal val="#ppt_y"/>
                                          </p:val>
                                        </p:tav>
                                      </p:tavLst>
                                    </p:anim>
                                    <p:animEffect transition="in" filter="fade">
                                      <p:cBhvr>
                                        <p:cTn id="8" dur="600"/>
                                        <p:tgtEl>
                                          <p:spTgt spid="10"/>
                                        </p:tgtEl>
                                      </p:cBhvr>
                                    </p:animEffect>
                                  </p:childTnLst>
                                </p:cTn>
                              </p:par>
                              <p:par>
                                <p:cTn id="9" presetID="10"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500"/>
                                        <p:tgtEl>
                                          <p:spTgt spid="19"/>
                                        </p:tgtEl>
                                      </p:cBhvr>
                                    </p:animEffect>
                                  </p:childTnLst>
                                </p:cTn>
                              </p:par>
                            </p:childTnLst>
                          </p:cTn>
                        </p:par>
                        <p:par>
                          <p:cTn id="12" fill="hold">
                            <p:stCondLst>
                              <p:cond delay="6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7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B0D"/>
        </a:solidFill>
        <a:effectLst/>
      </p:bgPr>
    </p:bg>
    <p:spTree>
      <p:nvGrpSpPr>
        <p:cNvPr id="1" name=""/>
        <p:cNvGrpSpPr/>
        <p:nvPr/>
      </p:nvGrpSpPr>
      <p:grpSpPr>
        <a:xfrm>
          <a:off x="0" y="0"/>
          <a:ext cx="0" cy="0"/>
          <a:chOff x="0" y="0"/>
          <a:chExt cx="0" cy="0"/>
        </a:xfrm>
      </p:grpSpPr>
      <p:pic>
        <p:nvPicPr>
          <p:cNvPr id="2" name="photo" descr="photo"/>
          <p:cNvPicPr>
            <a:picLocks noChangeAspect="1"/>
          </p:cNvPicPr>
          <p:nvPr/>
        </p:nvPicPr>
        <p:blipFill>
          <a:blip r:embed="rId3"/>
          <a:srcRect t="7826" b="7826"/>
          <a:stretch>
            <a:fillRect/>
          </a:stretch>
        </p:blipFill>
        <p:spPr>
          <a:xfrm>
            <a:off x="0" y="0"/>
            <a:ext cx="12192000" cy="6858000"/>
          </a:xfrm>
          <a:prstGeom prst="rect">
            <a:avLst/>
          </a:prstGeom>
        </p:spPr>
      </p:pic>
      <p:grpSp>
        <p:nvGrpSpPr>
          <p:cNvPr id="6" name="scrims"/>
          <p:cNvGrpSpPr/>
          <p:nvPr/>
        </p:nvGrpSpPr>
        <p:grpSpPr>
          <a:xfrm>
            <a:off x="0" y="0"/>
            <a:ext cx="12192000" cy="6858000"/>
            <a:chOff x="0" y="0"/>
            <a:chExt cx="12192000" cy="6858000"/>
          </a:xfrm>
        </p:grpSpPr>
        <p:sp>
          <p:nvSpPr>
            <p:cNvPr id="3" name="rect 4"/>
            <p:cNvSpPr/>
            <p:nvPr/>
          </p:nvSpPr>
          <p:spPr>
            <a:xfrm>
              <a:off x="0" y="0"/>
              <a:ext cx="12192000" cy="6858000"/>
            </a:xfrm>
            <a:prstGeom prst="rect">
              <a:avLst/>
            </a:prstGeom>
            <a:gradFill rotWithShape="0">
              <a:gsLst>
                <a:gs pos="0">
                  <a:srgbClr val="0A0B0D">
                    <a:alpha val="82000"/>
                  </a:srgbClr>
                </a:gs>
                <a:gs pos="50000">
                  <a:srgbClr val="0A0B0D">
                    <a:alpha val="72000"/>
                  </a:srgbClr>
                </a:gs>
                <a:gs pos="100000">
                  <a:srgbClr val="0A0B0D">
                    <a:alpha val="45000"/>
                  </a:srgbClr>
                </a:gs>
              </a:gsLst>
              <a:lin ang="0" scaled="0"/>
            </a:gradFill>
            <a:ln>
              <a:noFill/>
            </a:ln>
          </p:spPr>
          <p:txBody>
            <a:bodyPr/>
            <a:lstStyle/>
            <a:p>
              <a:endParaRPr lang="en-US"/>
            </a:p>
          </p:txBody>
        </p:sp>
        <p:sp>
          <p:nvSpPr>
            <p:cNvPr id="4" name="rect 5"/>
            <p:cNvSpPr/>
            <p:nvPr/>
          </p:nvSpPr>
          <p:spPr>
            <a:xfrm>
              <a:off x="0" y="0"/>
              <a:ext cx="12192000" cy="2857500"/>
            </a:xfrm>
            <a:prstGeom prst="rect">
              <a:avLst/>
            </a:prstGeom>
            <a:gradFill rotWithShape="0">
              <a:gsLst>
                <a:gs pos="0">
                  <a:srgbClr val="0A0B0D">
                    <a:alpha val="55000"/>
                  </a:srgbClr>
                </a:gs>
                <a:gs pos="100000">
                  <a:srgbClr val="0A0B0D">
                    <a:alpha val="0"/>
                  </a:srgbClr>
                </a:gs>
              </a:gsLst>
              <a:lin ang="5400000" scaled="0"/>
            </a:gradFill>
            <a:ln>
              <a:noFill/>
            </a:ln>
          </p:spPr>
          <p:txBody>
            <a:bodyPr/>
            <a:lstStyle/>
            <a:p>
              <a:endParaRPr lang="en-US"/>
            </a:p>
          </p:txBody>
        </p:sp>
        <p:sp>
          <p:nvSpPr>
            <p:cNvPr id="5" name="rect 6"/>
            <p:cNvSpPr/>
            <p:nvPr/>
          </p:nvSpPr>
          <p:spPr>
            <a:xfrm>
              <a:off x="0" y="3810000"/>
              <a:ext cx="12192000" cy="3048000"/>
            </a:xfrm>
            <a:prstGeom prst="rect">
              <a:avLst/>
            </a:prstGeom>
            <a:gradFill rotWithShape="0">
              <a:gsLst>
                <a:gs pos="0">
                  <a:srgbClr val="0A0B0D">
                    <a:alpha val="0"/>
                  </a:srgbClr>
                </a:gs>
                <a:gs pos="100000">
                  <a:srgbClr val="0A0B0D">
                    <a:alpha val="65000"/>
                  </a:srgbClr>
                </a:gs>
              </a:gsLst>
              <a:lin ang="5400000" scaled="0"/>
            </a:gradFill>
            <a:ln>
              <a:noFill/>
            </a:ln>
          </p:spPr>
          <p:txBody>
            <a:bodyPr/>
            <a:lstStyle/>
            <a:p>
              <a:endParaRPr lang="en-US"/>
            </a:p>
          </p:txBody>
        </p:sp>
      </p:grpSp>
      <p:grpSp>
        <p:nvGrpSpPr>
          <p:cNvPr id="9" name="cursor-kicker"/>
          <p:cNvGrpSpPr/>
          <p:nvPr/>
        </p:nvGrpSpPr>
        <p:grpSpPr>
          <a:xfrm>
            <a:off x="609600" y="419100"/>
            <a:ext cx="2391085" cy="415290"/>
            <a:chOff x="609600" y="419100"/>
            <a:chExt cx="2391085" cy="415290"/>
          </a:xfrm>
        </p:grpSpPr>
        <p:sp>
          <p:nvSpPr>
            <p:cNvPr id="7" name="rect 8"/>
            <p:cNvSpPr/>
            <p:nvPr/>
          </p:nvSpPr>
          <p:spPr>
            <a:xfrm>
              <a:off x="609600" y="419100"/>
              <a:ext cx="457200" cy="57150"/>
            </a:xfrm>
            <a:prstGeom prst="roundRect">
              <a:avLst>
                <a:gd name="adj" fmla="val 50000"/>
              </a:avLst>
            </a:prstGeom>
            <a:solidFill>
              <a:srgbClr val="FF5B1F"/>
            </a:solidFill>
            <a:ln>
              <a:noFill/>
            </a:ln>
          </p:spPr>
          <p:txBody>
            <a:bodyPr/>
            <a:lstStyle/>
            <a:p>
              <a:endParaRPr lang="en-US"/>
            </a:p>
          </p:txBody>
        </p:sp>
        <p:sp>
          <p:nvSpPr>
            <p:cNvPr id="8" name="Text 9"/>
            <p:cNvSpPr txBox="1"/>
            <p:nvPr/>
          </p:nvSpPr>
          <p:spPr>
            <a:xfrm>
              <a:off x="609600" y="622300"/>
              <a:ext cx="2391085" cy="212090"/>
            </a:xfrm>
            <a:prstGeom prst="rect">
              <a:avLst/>
            </a:prstGeom>
            <a:noFill/>
          </p:spPr>
          <p:txBody>
            <a:bodyPr wrap="none" lIns="0" tIns="0" rIns="0" bIns="0" rtlCol="0" anchor="t">
              <a:noAutofit/>
            </a:bodyPr>
            <a:lstStyle/>
            <a:p>
              <a:pPr algn="l">
                <a:spcBef>
                  <a:spcPts val="0"/>
                </a:spcBef>
                <a:spcAft>
                  <a:spcPts val="0"/>
                </a:spcAft>
              </a:pPr>
              <a:r>
                <a:rPr lang="en-US" sz="1200" b="0" spc="150" dirty="0">
                  <a:solidFill>
                    <a:srgbClr val="9C9A94"/>
                  </a:solidFill>
                  <a:latin typeface="Consolas"/>
                  <a:ea typeface="Consolas"/>
                  <a:cs typeface="Consolas"/>
                </a:rPr>
                <a:t>YZPZCODE / THE PROBLEM</a:t>
              </a:r>
              <a:endParaRPr lang="en-US" sz="1200" dirty="0"/>
            </a:p>
          </p:txBody>
        </p:sp>
      </p:grpSp>
      <p:sp>
        <p:nvSpPr>
          <p:cNvPr id="10" name="Text 11"/>
          <p:cNvSpPr txBox="1"/>
          <p:nvPr/>
        </p:nvSpPr>
        <p:spPr>
          <a:xfrm>
            <a:off x="609600" y="977900"/>
            <a:ext cx="7365425" cy="1073785"/>
          </a:xfrm>
          <a:prstGeom prst="rect">
            <a:avLst/>
          </a:prstGeom>
          <a:noFill/>
        </p:spPr>
        <p:txBody>
          <a:bodyPr wrap="none" lIns="0" tIns="0" rIns="0" bIns="0" rtlCol="0" anchor="t">
            <a:noAutofit/>
          </a:bodyPr>
          <a:lstStyle/>
          <a:p>
            <a:pPr algn="l">
              <a:lnSpc>
                <a:spcPts val="4100"/>
              </a:lnSpc>
              <a:spcBef>
                <a:spcPts val="0"/>
              </a:spcBef>
              <a:spcAft>
                <a:spcPts val="0"/>
              </a:spcAft>
            </a:pPr>
            <a:r>
              <a:rPr lang="en-US" sz="3300" b="1" dirty="0">
                <a:solidFill>
                  <a:srgbClr val="EDE9E2"/>
                </a:solidFill>
                <a:latin typeface="Bahnschrift"/>
                <a:ea typeface="Bahnschrift"/>
                <a:cs typeface="Bahnschrift"/>
              </a:rPr>
              <a:t>AI-assisted development has become</a:t>
            </a:r>
            <a:endParaRPr lang="en-US" sz="3300" dirty="0"/>
          </a:p>
          <a:p>
            <a:pPr algn="l">
              <a:lnSpc>
                <a:spcPts val="4100"/>
              </a:lnSpc>
              <a:spcBef>
                <a:spcPts val="0"/>
              </a:spcBef>
              <a:spcAft>
                <a:spcPts val="0"/>
              </a:spcAft>
            </a:pPr>
            <a:r>
              <a:rPr lang="en-US" sz="3300" b="1" dirty="0">
                <a:solidFill>
                  <a:srgbClr val="EDE9E2"/>
                </a:solidFill>
                <a:latin typeface="Bahnschrift"/>
                <a:ea typeface="Bahnschrift"/>
                <a:cs typeface="Bahnschrift"/>
              </a:rPr>
              <a:t>a shuffle between eight windows</a:t>
            </a:r>
            <a:endParaRPr lang="en-US" sz="3300" dirty="0"/>
          </a:p>
        </p:txBody>
      </p:sp>
      <p:grpSp>
        <p:nvGrpSpPr>
          <p:cNvPr id="15" name="viewfinder-brackets"/>
          <p:cNvGrpSpPr/>
          <p:nvPr/>
        </p:nvGrpSpPr>
        <p:grpSpPr>
          <a:xfrm>
            <a:off x="609600" y="3162300"/>
            <a:ext cx="10972800" cy="2400300"/>
            <a:chOff x="609600" y="3162300"/>
            <a:chExt cx="10972800" cy="2400300"/>
          </a:xfrm>
        </p:grpSpPr>
        <p:sp>
          <p:nvSpPr>
            <p:cNvPr id="11" name="path 12"/>
            <p:cNvSpPr/>
            <p:nvPr/>
          </p:nvSpPr>
          <p:spPr>
            <a:xfrm>
              <a:off x="609600" y="3162300"/>
              <a:ext cx="228600" cy="228600"/>
            </a:xfrm>
            <a:custGeom>
              <a:avLst/>
              <a:gdLst/>
              <a:ahLst/>
              <a:cxnLst/>
              <a:rect l="0" t="0" r="r" b="b"/>
              <a:pathLst>
                <a:path w="228600" h="228600" fill="none">
                  <a:moveTo>
                    <a:pt x="0" y="228600"/>
                  </a:moveTo>
                  <a:lnTo>
                    <a:pt x="0" y="0"/>
                  </a:lnTo>
                  <a:lnTo>
                    <a:pt x="228600" y="0"/>
                  </a:lnTo>
                </a:path>
              </a:pathLst>
            </a:custGeom>
            <a:noFill/>
            <a:ln w="19050" cap="flat">
              <a:solidFill>
                <a:srgbClr val="3D8BFF"/>
              </a:solidFill>
              <a:miter lim="800000"/>
            </a:ln>
          </p:spPr>
          <p:txBody>
            <a:bodyPr/>
            <a:lstStyle/>
            <a:p>
              <a:endParaRPr lang="en-US"/>
            </a:p>
          </p:txBody>
        </p:sp>
        <p:sp>
          <p:nvSpPr>
            <p:cNvPr id="12" name="path 13"/>
            <p:cNvSpPr/>
            <p:nvPr/>
          </p:nvSpPr>
          <p:spPr>
            <a:xfrm>
              <a:off x="11353800" y="3162300"/>
              <a:ext cx="228600" cy="228600"/>
            </a:xfrm>
            <a:custGeom>
              <a:avLst/>
              <a:gdLst/>
              <a:ahLst/>
              <a:cxnLst/>
              <a:rect l="0" t="0" r="r" b="b"/>
              <a:pathLst>
                <a:path w="228600" h="228600" fill="none">
                  <a:moveTo>
                    <a:pt x="228600" y="228600"/>
                  </a:moveTo>
                  <a:lnTo>
                    <a:pt x="228600" y="0"/>
                  </a:lnTo>
                  <a:lnTo>
                    <a:pt x="0" y="0"/>
                  </a:lnTo>
                </a:path>
              </a:pathLst>
            </a:custGeom>
            <a:noFill/>
            <a:ln w="19050" cap="flat">
              <a:solidFill>
                <a:srgbClr val="3D8BFF"/>
              </a:solidFill>
              <a:miter lim="800000"/>
            </a:ln>
          </p:spPr>
          <p:txBody>
            <a:bodyPr/>
            <a:lstStyle/>
            <a:p>
              <a:endParaRPr lang="en-US"/>
            </a:p>
          </p:txBody>
        </p:sp>
        <p:sp>
          <p:nvSpPr>
            <p:cNvPr id="13" name="path 14"/>
            <p:cNvSpPr/>
            <p:nvPr/>
          </p:nvSpPr>
          <p:spPr>
            <a:xfrm>
              <a:off x="609600" y="5334000"/>
              <a:ext cx="228600" cy="228600"/>
            </a:xfrm>
            <a:custGeom>
              <a:avLst/>
              <a:gdLst/>
              <a:ahLst/>
              <a:cxnLst/>
              <a:rect l="0" t="0" r="r" b="b"/>
              <a:pathLst>
                <a:path w="228600" h="228600" fill="none">
                  <a:moveTo>
                    <a:pt x="0" y="0"/>
                  </a:moveTo>
                  <a:lnTo>
                    <a:pt x="0" y="228600"/>
                  </a:lnTo>
                  <a:lnTo>
                    <a:pt x="228600" y="228600"/>
                  </a:lnTo>
                </a:path>
              </a:pathLst>
            </a:custGeom>
            <a:noFill/>
            <a:ln w="19050" cap="flat">
              <a:solidFill>
                <a:srgbClr val="3D8BFF"/>
              </a:solidFill>
              <a:miter lim="800000"/>
            </a:ln>
          </p:spPr>
          <p:txBody>
            <a:bodyPr/>
            <a:lstStyle/>
            <a:p>
              <a:endParaRPr lang="en-US"/>
            </a:p>
          </p:txBody>
        </p:sp>
        <p:sp>
          <p:nvSpPr>
            <p:cNvPr id="14" name="path 15"/>
            <p:cNvSpPr/>
            <p:nvPr/>
          </p:nvSpPr>
          <p:spPr>
            <a:xfrm>
              <a:off x="11353800" y="5334000"/>
              <a:ext cx="228600" cy="228600"/>
            </a:xfrm>
            <a:custGeom>
              <a:avLst/>
              <a:gdLst/>
              <a:ahLst/>
              <a:cxnLst/>
              <a:rect l="0" t="0" r="r" b="b"/>
              <a:pathLst>
                <a:path w="228600" h="228600" fill="none">
                  <a:moveTo>
                    <a:pt x="228600" y="0"/>
                  </a:moveTo>
                  <a:lnTo>
                    <a:pt x="228600" y="228600"/>
                  </a:lnTo>
                  <a:lnTo>
                    <a:pt x="0" y="228600"/>
                  </a:lnTo>
                </a:path>
              </a:pathLst>
            </a:custGeom>
            <a:noFill/>
            <a:ln w="19050" cap="flat">
              <a:solidFill>
                <a:srgbClr val="3D8BFF"/>
              </a:solidFill>
              <a:miter lim="800000"/>
            </a:ln>
          </p:spPr>
          <p:txBody>
            <a:bodyPr/>
            <a:lstStyle/>
            <a:p>
              <a:endParaRPr lang="en-US"/>
            </a:p>
          </p:txBody>
        </p:sp>
      </p:grpSp>
      <p:grpSp>
        <p:nvGrpSpPr>
          <p:cNvPr id="18" name="Group 19"/>
          <p:cNvGrpSpPr/>
          <p:nvPr/>
        </p:nvGrpSpPr>
        <p:grpSpPr>
          <a:xfrm>
            <a:off x="748379" y="2991326"/>
            <a:ext cx="2199233" cy="2514600"/>
            <a:chOff x="748379" y="2991326"/>
            <a:chExt cx="2199233" cy="2514600"/>
          </a:xfrm>
        </p:grpSpPr>
        <p:sp>
          <p:nvSpPr>
            <p:cNvPr id="16" name="Text 17"/>
            <p:cNvSpPr txBox="1"/>
            <p:nvPr/>
          </p:nvSpPr>
          <p:spPr>
            <a:xfrm>
              <a:off x="748379" y="2991326"/>
              <a:ext cx="2199233" cy="2514600"/>
            </a:xfrm>
            <a:prstGeom prst="rect">
              <a:avLst/>
            </a:prstGeom>
            <a:noFill/>
          </p:spPr>
          <p:txBody>
            <a:bodyPr wrap="none" lIns="0" tIns="0" rIns="0" bIns="0" rtlCol="0" anchor="t">
              <a:noAutofit/>
            </a:bodyPr>
            <a:lstStyle/>
            <a:p>
              <a:pPr algn="l">
                <a:spcBef>
                  <a:spcPts val="0"/>
                </a:spcBef>
                <a:spcAft>
                  <a:spcPts val="0"/>
                </a:spcAft>
              </a:pPr>
              <a:r>
                <a:rPr lang="en-US" sz="15000" b="1" dirty="0">
                  <a:solidFill>
                    <a:srgbClr val="FF5B1F"/>
                  </a:solidFill>
                  <a:latin typeface="Bahnschrift"/>
                  <a:ea typeface="Bahnschrift"/>
                  <a:cs typeface="Bahnschrift"/>
                </a:rPr>
                <a:t>8+</a:t>
              </a:r>
              <a:endParaRPr lang="en-US" sz="15000" dirty="0"/>
            </a:p>
          </p:txBody>
        </p:sp>
        <p:sp>
          <p:nvSpPr>
            <p:cNvPr id="17" name="Text 18"/>
            <p:cNvSpPr txBox="1"/>
            <p:nvPr/>
          </p:nvSpPr>
          <p:spPr>
            <a:xfrm>
              <a:off x="805529" y="4997926"/>
              <a:ext cx="1590866" cy="447040"/>
            </a:xfrm>
            <a:prstGeom prst="rect">
              <a:avLst/>
            </a:prstGeom>
            <a:noFill/>
          </p:spPr>
          <p:txBody>
            <a:bodyPr wrap="none" lIns="0" tIns="0" rIns="0" bIns="0" rtlCol="0" anchor="t">
              <a:noAutofit/>
            </a:bodyPr>
            <a:lstStyle/>
            <a:p>
              <a:pPr algn="l">
                <a:lnSpc>
                  <a:spcPts val="1700"/>
                </a:lnSpc>
                <a:spcBef>
                  <a:spcPts val="0"/>
                </a:spcBef>
                <a:spcAft>
                  <a:spcPts val="0"/>
                </a:spcAft>
              </a:pPr>
              <a:r>
                <a:rPr lang="en-US" sz="1200" b="0" spc="75" dirty="0">
                  <a:solidFill>
                    <a:srgbClr val="EDE9E2"/>
                  </a:solidFill>
                  <a:latin typeface="Consolas"/>
                  <a:ea typeface="Consolas"/>
                  <a:cs typeface="Consolas"/>
                </a:rPr>
                <a:t>disconnected</a:t>
              </a:r>
              <a:endParaRPr lang="en-US" sz="1200" dirty="0"/>
            </a:p>
            <a:p>
              <a:pPr algn="l">
                <a:lnSpc>
                  <a:spcPts val="1700"/>
                </a:lnSpc>
                <a:spcBef>
                  <a:spcPts val="0"/>
                </a:spcBef>
                <a:spcAft>
                  <a:spcPts val="0"/>
                </a:spcAft>
              </a:pPr>
              <a:r>
                <a:rPr lang="en-US" sz="1200" b="0" spc="75" dirty="0">
                  <a:solidFill>
                    <a:srgbClr val="EDE9E2"/>
                  </a:solidFill>
                  <a:latin typeface="Consolas"/>
                  <a:ea typeface="Consolas"/>
                  <a:cs typeface="Consolas"/>
                </a:rPr>
                <a:t>terminal windows</a:t>
              </a:r>
              <a:endParaRPr lang="en-US" sz="1200" dirty="0"/>
            </a:p>
          </p:txBody>
        </p:sp>
      </p:grpSp>
      <p:sp>
        <p:nvSpPr>
          <p:cNvPr id="19" name="column-divider"/>
          <p:cNvSpPr/>
          <p:nvPr/>
        </p:nvSpPr>
        <p:spPr>
          <a:xfrm>
            <a:off x="3810000" y="3448050"/>
            <a:ext cx="95" cy="1695450"/>
          </a:xfrm>
          <a:custGeom>
            <a:avLst/>
            <a:gdLst/>
            <a:ahLst/>
            <a:cxnLst/>
            <a:rect l="0" t="0" r="r" b="b"/>
            <a:pathLst>
              <a:path w="95" h="1695450" fill="none">
                <a:moveTo>
                  <a:pt x="0" y="0"/>
                </a:moveTo>
                <a:lnTo>
                  <a:pt x="0" y="1695450"/>
                </a:lnTo>
              </a:path>
            </a:pathLst>
          </a:custGeom>
          <a:noFill/>
          <a:ln w="9525" cap="flat">
            <a:solidFill>
              <a:srgbClr val="EDE9E2">
                <a:alpha val="25000"/>
              </a:srgbClr>
            </a:solidFill>
            <a:miter lim="800000"/>
          </a:ln>
        </p:spPr>
        <p:txBody>
          <a:bodyPr/>
          <a:lstStyle/>
          <a:p>
            <a:endParaRPr lang="en-US"/>
          </a:p>
        </p:txBody>
      </p:sp>
      <p:grpSp>
        <p:nvGrpSpPr>
          <p:cNvPr id="22" name="problem-1"/>
          <p:cNvGrpSpPr/>
          <p:nvPr/>
        </p:nvGrpSpPr>
        <p:grpSpPr>
          <a:xfrm>
            <a:off x="4191000" y="3359150"/>
            <a:ext cx="5408349" cy="648018"/>
            <a:chOff x="4191000" y="3359150"/>
            <a:chExt cx="5408349" cy="648018"/>
          </a:xfrm>
        </p:grpSpPr>
        <p:sp>
          <p:nvSpPr>
            <p:cNvPr id="20" name="Text 21"/>
            <p:cNvSpPr txBox="1"/>
            <p:nvPr/>
          </p:nvSpPr>
          <p:spPr>
            <a:xfrm>
              <a:off x="4191000" y="3460750"/>
              <a:ext cx="252008" cy="212090"/>
            </a:xfrm>
            <a:prstGeom prst="rect">
              <a:avLst/>
            </a:prstGeom>
            <a:noFill/>
          </p:spPr>
          <p:txBody>
            <a:bodyPr wrap="none" lIns="0" tIns="0" rIns="0" bIns="0" rtlCol="0" anchor="t">
              <a:noAutofit/>
            </a:bodyPr>
            <a:lstStyle/>
            <a:p>
              <a:pPr algn="l">
                <a:spcBef>
                  <a:spcPts val="0"/>
                </a:spcBef>
                <a:spcAft>
                  <a:spcPts val="0"/>
                </a:spcAft>
              </a:pPr>
              <a:r>
                <a:rPr lang="en-US" sz="1200" b="0" spc="150" dirty="0">
                  <a:solidFill>
                    <a:srgbClr val="FF5B1F"/>
                  </a:solidFill>
                  <a:latin typeface="Consolas"/>
                  <a:ea typeface="Consolas"/>
                  <a:cs typeface="Consolas"/>
                </a:rPr>
                <a:t>01</a:t>
              </a:r>
              <a:endParaRPr lang="en-US" sz="1200" dirty="0"/>
            </a:p>
          </p:txBody>
        </p:sp>
        <p:sp>
          <p:nvSpPr>
            <p:cNvPr id="21" name="Text 22"/>
            <p:cNvSpPr txBox="1"/>
            <p:nvPr/>
          </p:nvSpPr>
          <p:spPr>
            <a:xfrm>
              <a:off x="4667250" y="3359150"/>
              <a:ext cx="4932099" cy="648018"/>
            </a:xfrm>
            <a:prstGeom prst="rect">
              <a:avLst/>
            </a:prstGeom>
            <a:noFill/>
          </p:spPr>
          <p:txBody>
            <a:bodyPr wrap="none" lIns="0" tIns="0" rIns="0" bIns="0" rtlCol="0" anchor="t">
              <a:noAutofit/>
            </a:bodyPr>
            <a:lstStyle/>
            <a:p>
              <a:pPr algn="l">
                <a:lnSpc>
                  <a:spcPts val="2500"/>
                </a:lnSpc>
                <a:spcBef>
                  <a:spcPts val="0"/>
                </a:spcBef>
                <a:spcAft>
                  <a:spcPts val="0"/>
                </a:spcAft>
              </a:pPr>
              <a:r>
                <a:rPr lang="en-US" sz="1650" b="1" dirty="0">
                  <a:solidFill>
                    <a:srgbClr val="EDE9E2"/>
                  </a:solidFill>
                  <a:latin typeface="Segoe UI"/>
                  <a:ea typeface="Segoe UI"/>
                  <a:cs typeface="Segoe UI"/>
                </a:rPr>
                <a:t>Dozens of terminal tabs</a:t>
              </a:r>
              <a:r>
                <a:rPr lang="en-US" sz="1650" b="0" dirty="0">
                  <a:solidFill>
                    <a:srgbClr val="EDE9E2"/>
                  </a:solidFill>
                  <a:latin typeface="Segoe UI"/>
                  <a:ea typeface="Segoe UI"/>
                  <a:cs typeface="Segoe UI"/>
                </a:rPr>
                <a:t>, scattered coding agents,</a:t>
              </a:r>
              <a:endParaRPr lang="en-US" sz="1650" dirty="0"/>
            </a:p>
            <a:p>
              <a:pPr algn="l">
                <a:lnSpc>
                  <a:spcPts val="2500"/>
                </a:lnSpc>
                <a:spcBef>
                  <a:spcPts val="0"/>
                </a:spcBef>
                <a:spcAft>
                  <a:spcPts val="0"/>
                </a:spcAft>
              </a:pPr>
              <a:r>
                <a:rPr lang="en-US" sz="1650" b="0" dirty="0">
                  <a:solidFill>
                    <a:srgbClr val="EDE9E2"/>
                  </a:solidFill>
                  <a:latin typeface="Segoe UI"/>
                  <a:ea typeface="Segoe UI"/>
                  <a:cs typeface="Segoe UI"/>
                </a:rPr>
                <a:t>disconnected browsers, IDEs and ad-hoc CLI tools.</a:t>
              </a:r>
              <a:endParaRPr lang="en-US" sz="1650" dirty="0"/>
            </a:p>
          </p:txBody>
        </p:sp>
      </p:grpSp>
      <p:grpSp>
        <p:nvGrpSpPr>
          <p:cNvPr id="26" name="problem-2"/>
          <p:cNvGrpSpPr/>
          <p:nvPr/>
        </p:nvGrpSpPr>
        <p:grpSpPr>
          <a:xfrm>
            <a:off x="4191000" y="4171950"/>
            <a:ext cx="7391400" cy="435293"/>
            <a:chOff x="4191000" y="4171950"/>
            <a:chExt cx="7391400" cy="435293"/>
          </a:xfrm>
        </p:grpSpPr>
        <p:sp>
          <p:nvSpPr>
            <p:cNvPr id="23" name="line 24"/>
            <p:cNvSpPr/>
            <p:nvPr/>
          </p:nvSpPr>
          <p:spPr>
            <a:xfrm>
              <a:off x="4191000" y="4171950"/>
              <a:ext cx="7391400" cy="95"/>
            </a:xfrm>
            <a:custGeom>
              <a:avLst/>
              <a:gdLst/>
              <a:ahLst/>
              <a:cxnLst/>
              <a:rect l="0" t="0" r="r" b="b"/>
              <a:pathLst>
                <a:path w="7391400" h="95" fill="none">
                  <a:moveTo>
                    <a:pt x="0" y="0"/>
                  </a:moveTo>
                  <a:lnTo>
                    <a:pt x="7391400" y="0"/>
                  </a:lnTo>
                </a:path>
              </a:pathLst>
            </a:custGeom>
            <a:noFill/>
            <a:ln w="9525" cap="flat">
              <a:solidFill>
                <a:srgbClr val="EDE9E2">
                  <a:alpha val="25000"/>
                </a:srgbClr>
              </a:solidFill>
              <a:miter lim="800000"/>
            </a:ln>
          </p:spPr>
          <p:txBody>
            <a:bodyPr/>
            <a:lstStyle/>
            <a:p>
              <a:endParaRPr lang="en-US"/>
            </a:p>
          </p:txBody>
        </p:sp>
        <p:sp>
          <p:nvSpPr>
            <p:cNvPr id="24" name="Text 25"/>
            <p:cNvSpPr txBox="1"/>
            <p:nvPr/>
          </p:nvSpPr>
          <p:spPr>
            <a:xfrm>
              <a:off x="4191000" y="4375150"/>
              <a:ext cx="252008" cy="212090"/>
            </a:xfrm>
            <a:prstGeom prst="rect">
              <a:avLst/>
            </a:prstGeom>
            <a:noFill/>
          </p:spPr>
          <p:txBody>
            <a:bodyPr wrap="none" lIns="0" tIns="0" rIns="0" bIns="0" rtlCol="0" anchor="t">
              <a:noAutofit/>
            </a:bodyPr>
            <a:lstStyle/>
            <a:p>
              <a:pPr algn="l">
                <a:spcBef>
                  <a:spcPts val="0"/>
                </a:spcBef>
                <a:spcAft>
                  <a:spcPts val="0"/>
                </a:spcAft>
              </a:pPr>
              <a:r>
                <a:rPr lang="en-US" sz="1200" b="0" spc="150" dirty="0">
                  <a:solidFill>
                    <a:srgbClr val="FF5B1F"/>
                  </a:solidFill>
                  <a:latin typeface="Consolas"/>
                  <a:ea typeface="Consolas"/>
                  <a:cs typeface="Consolas"/>
                </a:rPr>
                <a:t>02</a:t>
              </a:r>
              <a:endParaRPr lang="en-US" sz="1200" dirty="0"/>
            </a:p>
          </p:txBody>
        </p:sp>
        <p:sp>
          <p:nvSpPr>
            <p:cNvPr id="25" name="Text 26"/>
            <p:cNvSpPr txBox="1"/>
            <p:nvPr/>
          </p:nvSpPr>
          <p:spPr>
            <a:xfrm>
              <a:off x="4667250" y="4311650"/>
              <a:ext cx="3558851" cy="295593"/>
            </a:xfrm>
            <a:prstGeom prst="rect">
              <a:avLst/>
            </a:prstGeom>
            <a:noFill/>
          </p:spPr>
          <p:txBody>
            <a:bodyPr wrap="none" lIns="0" tIns="0" rIns="0" bIns="0" rtlCol="0" anchor="t">
              <a:noAutofit/>
            </a:bodyPr>
            <a:lstStyle/>
            <a:p>
              <a:pPr algn="l">
                <a:spcBef>
                  <a:spcPts val="0"/>
                </a:spcBef>
                <a:spcAft>
                  <a:spcPts val="0"/>
                </a:spcAft>
              </a:pPr>
              <a:r>
                <a:rPr lang="en-US" sz="1650" b="0" dirty="0">
                  <a:solidFill>
                    <a:srgbClr val="EDE9E2"/>
                  </a:solidFill>
                  <a:latin typeface="Segoe UI"/>
                  <a:ea typeface="Segoe UI"/>
                  <a:cs typeface="Segoe UI"/>
                </a:rPr>
                <a:t>Constant </a:t>
              </a:r>
              <a:r>
                <a:rPr lang="en-US" sz="1650" b="1" dirty="0">
                  <a:solidFill>
                    <a:srgbClr val="EDE9E2"/>
                  </a:solidFill>
                  <a:latin typeface="Segoe UI"/>
                  <a:ea typeface="Segoe UI"/>
                  <a:cs typeface="Segoe UI"/>
                </a:rPr>
                <a:t>Alt+Tab</a:t>
              </a:r>
              <a:r>
                <a:rPr lang="en-US" sz="1650" b="0" dirty="0">
                  <a:solidFill>
                    <a:srgbClr val="EDE9E2"/>
                  </a:solidFill>
                  <a:latin typeface="Segoe UI"/>
                  <a:ea typeface="Segoe UI"/>
                  <a:cs typeface="Segoe UI"/>
                </a:rPr>
                <a:t> context switching.</a:t>
              </a:r>
              <a:endParaRPr lang="en-US" sz="1650" dirty="0"/>
            </a:p>
          </p:txBody>
        </p:sp>
      </p:grpSp>
      <p:grpSp>
        <p:nvGrpSpPr>
          <p:cNvPr id="30" name="problem-3"/>
          <p:cNvGrpSpPr/>
          <p:nvPr/>
        </p:nvGrpSpPr>
        <p:grpSpPr>
          <a:xfrm>
            <a:off x="4191000" y="4781550"/>
            <a:ext cx="7391400" cy="435292"/>
            <a:chOff x="4191000" y="4781550"/>
            <a:chExt cx="7391400" cy="435292"/>
          </a:xfrm>
        </p:grpSpPr>
        <p:sp>
          <p:nvSpPr>
            <p:cNvPr id="27" name="line 28"/>
            <p:cNvSpPr/>
            <p:nvPr/>
          </p:nvSpPr>
          <p:spPr>
            <a:xfrm>
              <a:off x="4191000" y="4781550"/>
              <a:ext cx="7391400" cy="95"/>
            </a:xfrm>
            <a:custGeom>
              <a:avLst/>
              <a:gdLst/>
              <a:ahLst/>
              <a:cxnLst/>
              <a:rect l="0" t="0" r="r" b="b"/>
              <a:pathLst>
                <a:path w="7391400" h="95" fill="none">
                  <a:moveTo>
                    <a:pt x="0" y="0"/>
                  </a:moveTo>
                  <a:lnTo>
                    <a:pt x="7391400" y="0"/>
                  </a:lnTo>
                </a:path>
              </a:pathLst>
            </a:custGeom>
            <a:noFill/>
            <a:ln w="9525" cap="flat">
              <a:solidFill>
                <a:srgbClr val="EDE9E2">
                  <a:alpha val="25000"/>
                </a:srgbClr>
              </a:solidFill>
              <a:miter lim="800000"/>
            </a:ln>
          </p:spPr>
          <p:txBody>
            <a:bodyPr/>
            <a:lstStyle/>
            <a:p>
              <a:endParaRPr lang="en-US"/>
            </a:p>
          </p:txBody>
        </p:sp>
        <p:sp>
          <p:nvSpPr>
            <p:cNvPr id="28" name="Text 29"/>
            <p:cNvSpPr txBox="1"/>
            <p:nvPr/>
          </p:nvSpPr>
          <p:spPr>
            <a:xfrm>
              <a:off x="4191000" y="4984750"/>
              <a:ext cx="252008" cy="212090"/>
            </a:xfrm>
            <a:prstGeom prst="rect">
              <a:avLst/>
            </a:prstGeom>
            <a:noFill/>
          </p:spPr>
          <p:txBody>
            <a:bodyPr wrap="none" lIns="0" tIns="0" rIns="0" bIns="0" rtlCol="0" anchor="t">
              <a:noAutofit/>
            </a:bodyPr>
            <a:lstStyle/>
            <a:p>
              <a:pPr algn="l">
                <a:spcBef>
                  <a:spcPts val="0"/>
                </a:spcBef>
                <a:spcAft>
                  <a:spcPts val="0"/>
                </a:spcAft>
              </a:pPr>
              <a:r>
                <a:rPr lang="en-US" sz="1200" b="0" spc="150" dirty="0">
                  <a:solidFill>
                    <a:srgbClr val="FF5B1F"/>
                  </a:solidFill>
                  <a:latin typeface="Consolas"/>
                  <a:ea typeface="Consolas"/>
                  <a:cs typeface="Consolas"/>
                </a:rPr>
                <a:t>03</a:t>
              </a:r>
              <a:endParaRPr lang="en-US" sz="1200" dirty="0"/>
            </a:p>
          </p:txBody>
        </p:sp>
        <p:sp>
          <p:nvSpPr>
            <p:cNvPr id="29" name="Text 30"/>
            <p:cNvSpPr txBox="1"/>
            <p:nvPr/>
          </p:nvSpPr>
          <p:spPr>
            <a:xfrm>
              <a:off x="4667250" y="4921250"/>
              <a:ext cx="3402000" cy="295593"/>
            </a:xfrm>
            <a:prstGeom prst="rect">
              <a:avLst/>
            </a:prstGeom>
            <a:noFill/>
          </p:spPr>
          <p:txBody>
            <a:bodyPr wrap="none" lIns="0" tIns="0" rIns="0" bIns="0" rtlCol="0" anchor="t">
              <a:noAutofit/>
            </a:bodyPr>
            <a:lstStyle/>
            <a:p>
              <a:pPr algn="l">
                <a:spcBef>
                  <a:spcPts val="0"/>
                </a:spcBef>
                <a:spcAft>
                  <a:spcPts val="0"/>
                </a:spcAft>
              </a:pPr>
              <a:r>
                <a:rPr lang="en-US" sz="1650" b="0" dirty="0">
                  <a:solidFill>
                    <a:srgbClr val="EDE9E2"/>
                  </a:solidFill>
                  <a:latin typeface="Segoe UI"/>
                  <a:ea typeface="Segoe UI"/>
                  <a:cs typeface="Segoe UI"/>
                </a:rPr>
                <a:t>Isolated AI chats with </a:t>
              </a:r>
              <a:r>
                <a:rPr lang="en-US" sz="1650" b="1" dirty="0">
                  <a:solidFill>
                    <a:srgbClr val="EDE9E2"/>
                  </a:solidFill>
                  <a:latin typeface="Segoe UI"/>
                  <a:ea typeface="Segoe UI"/>
                  <a:cs typeface="Segoe UI"/>
                </a:rPr>
                <a:t>lost context</a:t>
              </a:r>
              <a:r>
                <a:rPr lang="en-US" sz="1650" b="0" dirty="0">
                  <a:solidFill>
                    <a:srgbClr val="EDE9E2"/>
                  </a:solidFill>
                  <a:latin typeface="Segoe UI"/>
                  <a:ea typeface="Segoe UI"/>
                  <a:cs typeface="Segoe UI"/>
                </a:rPr>
                <a:t>.</a:t>
              </a:r>
              <a:endParaRPr lang="en-US" sz="1650" dirty="0"/>
            </a:p>
          </p:txBody>
        </p:sp>
      </p:grpSp>
      <p:grpSp>
        <p:nvGrpSpPr>
          <p:cNvPr id="34" name="footer"/>
          <p:cNvGrpSpPr/>
          <p:nvPr/>
        </p:nvGrpSpPr>
        <p:grpSpPr>
          <a:xfrm>
            <a:off x="609600" y="5991225"/>
            <a:ext cx="10972800" cy="405765"/>
            <a:chOff x="609600" y="5991225"/>
            <a:chExt cx="10972800" cy="405765"/>
          </a:xfrm>
        </p:grpSpPr>
        <p:sp>
          <p:nvSpPr>
            <p:cNvPr id="31" name="line 32"/>
            <p:cNvSpPr/>
            <p:nvPr/>
          </p:nvSpPr>
          <p:spPr>
            <a:xfrm>
              <a:off x="609600" y="6019800"/>
              <a:ext cx="10972800" cy="95"/>
            </a:xfrm>
            <a:custGeom>
              <a:avLst/>
              <a:gdLst/>
              <a:ahLst/>
              <a:cxnLst/>
              <a:rect l="0" t="0" r="r" b="b"/>
              <a:pathLst>
                <a:path w="10972800" h="95" fill="none">
                  <a:moveTo>
                    <a:pt x="0" y="0"/>
                  </a:moveTo>
                  <a:lnTo>
                    <a:pt x="10972800" y="0"/>
                  </a:lnTo>
                </a:path>
              </a:pathLst>
            </a:custGeom>
            <a:noFill/>
            <a:ln w="9525" cap="flat">
              <a:solidFill>
                <a:srgbClr val="EDE9E2">
                  <a:alpha val="25000"/>
                </a:srgbClr>
              </a:solidFill>
              <a:miter lim="800000"/>
            </a:ln>
          </p:spPr>
          <p:txBody>
            <a:bodyPr/>
            <a:lstStyle/>
            <a:p>
              <a:endParaRPr lang="en-US"/>
            </a:p>
          </p:txBody>
        </p:sp>
        <p:sp>
          <p:nvSpPr>
            <p:cNvPr id="32" name="rect 33"/>
            <p:cNvSpPr/>
            <p:nvPr/>
          </p:nvSpPr>
          <p:spPr>
            <a:xfrm>
              <a:off x="609600" y="5991225"/>
              <a:ext cx="1371600" cy="57150"/>
            </a:xfrm>
            <a:prstGeom prst="roundRect">
              <a:avLst>
                <a:gd name="adj" fmla="val 50000"/>
              </a:avLst>
            </a:prstGeom>
            <a:solidFill>
              <a:srgbClr val="FF5B1F"/>
            </a:solidFill>
            <a:ln>
              <a:noFill/>
            </a:ln>
          </p:spPr>
          <p:txBody>
            <a:bodyPr/>
            <a:lstStyle/>
            <a:p>
              <a:endParaRPr lang="en-US"/>
            </a:p>
          </p:txBody>
        </p:sp>
        <p:sp>
          <p:nvSpPr>
            <p:cNvPr id="33" name="Text 34"/>
            <p:cNvSpPr txBox="1"/>
            <p:nvPr/>
          </p:nvSpPr>
          <p:spPr>
            <a:xfrm>
              <a:off x="10795623" y="6184900"/>
              <a:ext cx="786777" cy="212090"/>
            </a:xfrm>
            <a:prstGeom prst="rect">
              <a:avLst/>
            </a:prstGeom>
            <a:noFill/>
          </p:spPr>
          <p:txBody>
            <a:bodyPr wrap="none" lIns="0" tIns="0" rIns="0" bIns="0" rtlCol="0" anchor="t">
              <a:noAutofit/>
            </a:bodyPr>
            <a:lstStyle/>
            <a:p>
              <a:pPr algn="r">
                <a:spcBef>
                  <a:spcPts val="0"/>
                </a:spcBef>
                <a:spcAft>
                  <a:spcPts val="0"/>
                </a:spcAft>
              </a:pPr>
              <a:r>
                <a:rPr lang="en-US" sz="1200" b="0" spc="150" dirty="0">
                  <a:solidFill>
                    <a:srgbClr val="9C9A94"/>
                  </a:solidFill>
                  <a:latin typeface="Consolas"/>
                  <a:ea typeface="Consolas"/>
                  <a:cs typeface="Consolas"/>
                </a:rPr>
                <a:t>02 / 16</a:t>
              </a:r>
              <a:endParaRPr lang="en-US" sz="120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600" fill="hold"/>
                                        <p:tgtEl>
                                          <p:spTgt spid="10"/>
                                        </p:tgtEl>
                                        <p:attrNameLst>
                                          <p:attrName>ppt_y</p:attrName>
                                        </p:attrNameLst>
                                      </p:cBhvr>
                                      <p:tavLst>
                                        <p:tav tm="0">
                                          <p:val>
                                            <p:strVal val="#ppt_y+.1"/>
                                          </p:val>
                                        </p:tav>
                                        <p:tav tm="100000">
                                          <p:val>
                                            <p:strVal val="#ppt_y"/>
                                          </p:val>
                                        </p:tav>
                                      </p:tavLst>
                                    </p:anim>
                                    <p:animEffect transition="in" filter="fade">
                                      <p:cBhvr>
                                        <p:cTn id="8" dur="60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p:cTn id="13" dur="500" fill="hold"/>
                                        <p:tgtEl>
                                          <p:spTgt spid="18"/>
                                        </p:tgtEl>
                                        <p:attrNameLst>
                                          <p:attrName>ppt_w</p:attrName>
                                        </p:attrNameLst>
                                      </p:cBhvr>
                                      <p:tavLst>
                                        <p:tav tm="0">
                                          <p:val>
                                            <p:fltVal val="0"/>
                                          </p:val>
                                        </p:tav>
                                        <p:tav tm="100000">
                                          <p:val>
                                            <p:strVal val="#ppt_w"/>
                                          </p:val>
                                        </p:tav>
                                      </p:tavLst>
                                    </p:anim>
                                    <p:anim calcmode="lin" valueType="num">
                                      <p:cBhvr>
                                        <p:cTn id="14" dur="500" fill="hold"/>
                                        <p:tgtEl>
                                          <p:spTgt spid="18"/>
                                        </p:tgtEl>
                                        <p:attrNameLst>
                                          <p:attrName>ppt_h</p:attrName>
                                        </p:attrNameLst>
                                      </p:cBhvr>
                                      <p:tavLst>
                                        <p:tav tm="0">
                                          <p:val>
                                            <p:fltVal val="0"/>
                                          </p:val>
                                        </p:tav>
                                        <p:tav tm="100000">
                                          <p:val>
                                            <p:strVal val="#ppt_h"/>
                                          </p:val>
                                        </p:tav>
                                      </p:tavLst>
                                    </p:anim>
                                    <p:animEffect transition="in" filter="fad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2" fill="hold" nodeType="clickEffect">
                                  <p:stCondLst>
                                    <p:cond delay="0"/>
                                  </p:stCondLst>
                                  <p:childTnLst>
                                    <p:set>
                                      <p:cBhvr>
                                        <p:cTn id="19" dur="1" fill="hold">
                                          <p:stCondLst>
                                            <p:cond delay="0"/>
                                          </p:stCondLst>
                                        </p:cTn>
                                        <p:tgtEl>
                                          <p:spTgt spid="22"/>
                                        </p:tgtEl>
                                        <p:attrNameLst>
                                          <p:attrName>style.visibility</p:attrName>
                                        </p:attrNameLst>
                                      </p:cBhvr>
                                      <p:to>
                                        <p:strVal val="visible"/>
                                      </p:to>
                                    </p:set>
                                    <p:anim calcmode="lin" valueType="num">
                                      <p:cBhvr additive="base">
                                        <p:cTn id="20" dur="500" fill="hold"/>
                                        <p:tgtEl>
                                          <p:spTgt spid="22"/>
                                        </p:tgtEl>
                                        <p:attrNameLst>
                                          <p:attrName>ppt_x</p:attrName>
                                        </p:attrNameLst>
                                      </p:cBhvr>
                                      <p:tavLst>
                                        <p:tav tm="0">
                                          <p:val>
                                            <p:strVal val="1+#ppt_w/2"/>
                                          </p:val>
                                        </p:tav>
                                        <p:tav tm="100000">
                                          <p:val>
                                            <p:strVal val="#ppt_x"/>
                                          </p:val>
                                        </p:tav>
                                      </p:tavLst>
                                    </p:anim>
                                    <p:anim calcmode="lin" valueType="num">
                                      <p:cBhvr additive="base">
                                        <p:cTn id="21" dur="500" fill="hold"/>
                                        <p:tgtEl>
                                          <p:spTgt spid="22"/>
                                        </p:tgtEl>
                                        <p:attrNameLst>
                                          <p:attrName>ppt_y</p:attrName>
                                        </p:attrNameLst>
                                      </p:cBhvr>
                                      <p:tavLst>
                                        <p:tav tm="0">
                                          <p:val>
                                            <p:strVal val="#ppt_y"/>
                                          </p:val>
                                        </p:tav>
                                        <p:tav tm="100000">
                                          <p:val>
                                            <p:strVal val="#ppt_y"/>
                                          </p:val>
                                        </p:tav>
                                      </p:tavLst>
                                    </p:anim>
                                  </p:childTnLst>
                                </p:cTn>
                              </p:par>
                            </p:childTnLst>
                          </p:cTn>
                        </p:par>
                        <p:par>
                          <p:cTn id="22" fill="hold">
                            <p:stCondLst>
                              <p:cond delay="500"/>
                            </p:stCondLst>
                            <p:childTnLst>
                              <p:par>
                                <p:cTn id="23" presetID="2" presetClass="entr" presetSubtype="2" fill="hold" nodeType="afterEffect">
                                  <p:stCondLst>
                                    <p:cond delay="0"/>
                                  </p:stCondLst>
                                  <p:childTnLst>
                                    <p:set>
                                      <p:cBhvr>
                                        <p:cTn id="24" dur="1" fill="hold">
                                          <p:stCondLst>
                                            <p:cond delay="0"/>
                                          </p:stCondLst>
                                        </p:cTn>
                                        <p:tgtEl>
                                          <p:spTgt spid="26"/>
                                        </p:tgtEl>
                                        <p:attrNameLst>
                                          <p:attrName>style.visibility</p:attrName>
                                        </p:attrNameLst>
                                      </p:cBhvr>
                                      <p:to>
                                        <p:strVal val="visible"/>
                                      </p:to>
                                    </p:set>
                                    <p:anim calcmode="lin" valueType="num">
                                      <p:cBhvr additive="base">
                                        <p:cTn id="25" dur="500" fill="hold"/>
                                        <p:tgtEl>
                                          <p:spTgt spid="26"/>
                                        </p:tgtEl>
                                        <p:attrNameLst>
                                          <p:attrName>ppt_x</p:attrName>
                                        </p:attrNameLst>
                                      </p:cBhvr>
                                      <p:tavLst>
                                        <p:tav tm="0">
                                          <p:val>
                                            <p:strVal val="1+#ppt_w/2"/>
                                          </p:val>
                                        </p:tav>
                                        <p:tav tm="100000">
                                          <p:val>
                                            <p:strVal val="#ppt_x"/>
                                          </p:val>
                                        </p:tav>
                                      </p:tavLst>
                                    </p:anim>
                                    <p:anim calcmode="lin" valueType="num">
                                      <p:cBhvr additive="base">
                                        <p:cTn id="26" dur="500" fill="hold"/>
                                        <p:tgtEl>
                                          <p:spTgt spid="26"/>
                                        </p:tgtEl>
                                        <p:attrNameLst>
                                          <p:attrName>ppt_y</p:attrName>
                                        </p:attrNameLst>
                                      </p:cBhvr>
                                      <p:tavLst>
                                        <p:tav tm="0">
                                          <p:val>
                                            <p:strVal val="#ppt_y"/>
                                          </p:val>
                                        </p:tav>
                                        <p:tav tm="100000">
                                          <p:val>
                                            <p:strVal val="#ppt_y"/>
                                          </p:val>
                                        </p:tav>
                                      </p:tavLst>
                                    </p:anim>
                                  </p:childTnLst>
                                </p:cTn>
                              </p:par>
                            </p:childTnLst>
                          </p:cTn>
                        </p:par>
                        <p:par>
                          <p:cTn id="27" fill="hold">
                            <p:stCondLst>
                              <p:cond delay="1000"/>
                            </p:stCondLst>
                            <p:childTnLst>
                              <p:par>
                                <p:cTn id="28" presetID="2" presetClass="entr" presetSubtype="2" fill="hold" nodeType="afterEffect">
                                  <p:stCondLst>
                                    <p:cond delay="0"/>
                                  </p:stCondLst>
                                  <p:childTnLst>
                                    <p:set>
                                      <p:cBhvr>
                                        <p:cTn id="29" dur="1" fill="hold">
                                          <p:stCondLst>
                                            <p:cond delay="0"/>
                                          </p:stCondLst>
                                        </p:cTn>
                                        <p:tgtEl>
                                          <p:spTgt spid="30"/>
                                        </p:tgtEl>
                                        <p:attrNameLst>
                                          <p:attrName>style.visibility</p:attrName>
                                        </p:attrNameLst>
                                      </p:cBhvr>
                                      <p:to>
                                        <p:strVal val="visible"/>
                                      </p:to>
                                    </p:set>
                                    <p:anim calcmode="lin" valueType="num">
                                      <p:cBhvr additive="base">
                                        <p:cTn id="30" dur="500" fill="hold"/>
                                        <p:tgtEl>
                                          <p:spTgt spid="30"/>
                                        </p:tgtEl>
                                        <p:attrNameLst>
                                          <p:attrName>ppt_x</p:attrName>
                                        </p:attrNameLst>
                                      </p:cBhvr>
                                      <p:tavLst>
                                        <p:tav tm="0">
                                          <p:val>
                                            <p:strVal val="1+#ppt_w/2"/>
                                          </p:val>
                                        </p:tav>
                                        <p:tav tm="100000">
                                          <p:val>
                                            <p:strVal val="#ppt_x"/>
                                          </p:val>
                                        </p:tav>
                                      </p:tavLst>
                                    </p:anim>
                                    <p:anim calcmode="lin" valueType="num">
                                      <p:cBhvr additive="base">
                                        <p:cTn id="31" dur="500" fill="hold"/>
                                        <p:tgtEl>
                                          <p:spTgt spid="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B0D"/>
        </a:solidFill>
        <a:effectLst/>
      </p:bgPr>
    </p:bg>
    <p:spTree>
      <p:nvGrpSpPr>
        <p:cNvPr id="1" name=""/>
        <p:cNvGrpSpPr/>
        <p:nvPr/>
      </p:nvGrpSpPr>
      <p:grpSpPr>
        <a:xfrm>
          <a:off x="0" y="0"/>
          <a:ext cx="0" cy="0"/>
          <a:chOff x="0" y="0"/>
          <a:chExt cx="0" cy="0"/>
        </a:xfrm>
      </p:grpSpPr>
      <p:grpSp>
        <p:nvGrpSpPr>
          <p:cNvPr id="4" name="cursor-kicker"/>
          <p:cNvGrpSpPr/>
          <p:nvPr/>
        </p:nvGrpSpPr>
        <p:grpSpPr>
          <a:xfrm>
            <a:off x="609600" y="419100"/>
            <a:ext cx="2711946" cy="415290"/>
            <a:chOff x="609600" y="419100"/>
            <a:chExt cx="2711946" cy="415290"/>
          </a:xfrm>
        </p:grpSpPr>
        <p:sp>
          <p:nvSpPr>
            <p:cNvPr id="2" name="rect 3"/>
            <p:cNvSpPr/>
            <p:nvPr/>
          </p:nvSpPr>
          <p:spPr>
            <a:xfrm>
              <a:off x="609600" y="419100"/>
              <a:ext cx="457200" cy="57150"/>
            </a:xfrm>
            <a:prstGeom prst="roundRect">
              <a:avLst>
                <a:gd name="adj" fmla="val 50000"/>
              </a:avLst>
            </a:prstGeom>
            <a:solidFill>
              <a:srgbClr val="FF5B1F"/>
            </a:solidFill>
            <a:ln>
              <a:noFill/>
            </a:ln>
          </p:spPr>
          <p:txBody>
            <a:bodyPr/>
            <a:lstStyle/>
            <a:p>
              <a:endParaRPr lang="en-US"/>
            </a:p>
          </p:txBody>
        </p:sp>
        <p:sp>
          <p:nvSpPr>
            <p:cNvPr id="3" name="Text 4"/>
            <p:cNvSpPr txBox="1"/>
            <p:nvPr/>
          </p:nvSpPr>
          <p:spPr>
            <a:xfrm>
              <a:off x="609600" y="622300"/>
              <a:ext cx="2711946" cy="212090"/>
            </a:xfrm>
            <a:prstGeom prst="rect">
              <a:avLst/>
            </a:prstGeom>
            <a:noFill/>
          </p:spPr>
          <p:txBody>
            <a:bodyPr wrap="none" lIns="0" tIns="0" rIns="0" bIns="0" rtlCol="0" anchor="t">
              <a:noAutofit/>
            </a:bodyPr>
            <a:lstStyle/>
            <a:p>
              <a:pPr algn="l">
                <a:spcBef>
                  <a:spcPts val="0"/>
                </a:spcBef>
                <a:spcAft>
                  <a:spcPts val="0"/>
                </a:spcAft>
              </a:pPr>
              <a:r>
                <a:rPr lang="en-US" sz="1200" b="0" spc="150" dirty="0">
                  <a:solidFill>
                    <a:srgbClr val="9C9A94"/>
                  </a:solidFill>
                  <a:latin typeface="Consolas"/>
                  <a:ea typeface="Consolas"/>
                  <a:cs typeface="Consolas"/>
                </a:rPr>
                <a:t>YZPZCODE / THE RESOLUTION</a:t>
              </a:r>
              <a:endParaRPr lang="en-US" sz="1200" dirty="0"/>
            </a:p>
          </p:txBody>
        </p:sp>
      </p:grpSp>
      <p:sp>
        <p:nvSpPr>
          <p:cNvPr id="5" name="Text 6"/>
          <p:cNvSpPr txBox="1"/>
          <p:nvPr/>
        </p:nvSpPr>
        <p:spPr>
          <a:xfrm>
            <a:off x="10795623" y="622300"/>
            <a:ext cx="786777" cy="212090"/>
          </a:xfrm>
          <a:prstGeom prst="rect">
            <a:avLst/>
          </a:prstGeom>
          <a:noFill/>
        </p:spPr>
        <p:txBody>
          <a:bodyPr wrap="none" lIns="0" tIns="0" rIns="0" bIns="0" rtlCol="0" anchor="t">
            <a:noAutofit/>
          </a:bodyPr>
          <a:lstStyle/>
          <a:p>
            <a:pPr algn="r">
              <a:spcBef>
                <a:spcPts val="0"/>
              </a:spcBef>
              <a:spcAft>
                <a:spcPts val="0"/>
              </a:spcAft>
            </a:pPr>
            <a:r>
              <a:rPr lang="en-US" sz="1200" b="0" spc="150" dirty="0">
                <a:solidFill>
                  <a:srgbClr val="9C9A94"/>
                </a:solidFill>
                <a:latin typeface="Consolas"/>
                <a:ea typeface="Consolas"/>
                <a:cs typeface="Consolas"/>
              </a:rPr>
              <a:t>03 / 16</a:t>
            </a:r>
            <a:endParaRPr lang="en-US" sz="1200" dirty="0"/>
          </a:p>
        </p:txBody>
      </p:sp>
      <p:sp>
        <p:nvSpPr>
          <p:cNvPr id="6" name="Text 7"/>
          <p:cNvSpPr txBox="1"/>
          <p:nvPr/>
        </p:nvSpPr>
        <p:spPr>
          <a:xfrm>
            <a:off x="609600" y="863600"/>
            <a:ext cx="7721480" cy="1054735"/>
          </a:xfrm>
          <a:prstGeom prst="rect">
            <a:avLst/>
          </a:prstGeom>
          <a:noFill/>
        </p:spPr>
        <p:txBody>
          <a:bodyPr wrap="none" lIns="0" tIns="0" rIns="0" bIns="0" rtlCol="0" anchor="t">
            <a:noAutofit/>
          </a:bodyPr>
          <a:lstStyle/>
          <a:p>
            <a:pPr algn="l">
              <a:lnSpc>
                <a:spcPts val="3900"/>
              </a:lnSpc>
              <a:spcBef>
                <a:spcPts val="0"/>
              </a:spcBef>
              <a:spcAft>
                <a:spcPts val="0"/>
              </a:spcAft>
            </a:pPr>
            <a:r>
              <a:rPr lang="en-US" sz="3300" b="1" dirty="0">
                <a:solidFill>
                  <a:srgbClr val="EDE9E2"/>
                </a:solidFill>
                <a:latin typeface="Bahnschrift"/>
                <a:ea typeface="Bahnschrift"/>
                <a:cs typeface="Bahnschrift"/>
              </a:rPr>
              <a:t>YzPzCode replaces the window juggling</a:t>
            </a:r>
            <a:endParaRPr lang="en-US" sz="3300" dirty="0"/>
          </a:p>
          <a:p>
            <a:pPr algn="l">
              <a:lnSpc>
                <a:spcPts val="3900"/>
              </a:lnSpc>
              <a:spcBef>
                <a:spcPts val="0"/>
              </a:spcBef>
              <a:spcAft>
                <a:spcPts val="0"/>
              </a:spcAft>
            </a:pPr>
            <a:r>
              <a:rPr lang="en-US" sz="3300" b="1" dirty="0">
                <a:solidFill>
                  <a:srgbClr val="EDE9E2"/>
                </a:solidFill>
                <a:latin typeface="Bahnschrift"/>
                <a:ea typeface="Bahnschrift"/>
                <a:cs typeface="Bahnschrift"/>
              </a:rPr>
              <a:t>with </a:t>
            </a:r>
            <a:r>
              <a:rPr lang="en-US" sz="3300" b="1" dirty="0">
                <a:solidFill>
                  <a:srgbClr val="FF5B1F"/>
                </a:solidFill>
                <a:latin typeface="Bahnschrift"/>
                <a:ea typeface="Bahnschrift"/>
                <a:cs typeface="Bahnschrift"/>
              </a:rPr>
              <a:t>one command center</a:t>
            </a:r>
            <a:endParaRPr lang="en-US" sz="3300" dirty="0"/>
          </a:p>
        </p:txBody>
      </p:sp>
      <p:grpSp>
        <p:nvGrpSpPr>
          <p:cNvPr id="9" name="col-heads"/>
          <p:cNvGrpSpPr/>
          <p:nvPr/>
        </p:nvGrpSpPr>
        <p:grpSpPr>
          <a:xfrm>
            <a:off x="952500" y="1955800"/>
            <a:ext cx="3354169" cy="212090"/>
            <a:chOff x="952500" y="1955800"/>
            <a:chExt cx="3354169" cy="212090"/>
          </a:xfrm>
        </p:grpSpPr>
        <p:sp>
          <p:nvSpPr>
            <p:cNvPr id="7" name="Text 8"/>
            <p:cNvSpPr txBox="1"/>
            <p:nvPr/>
          </p:nvSpPr>
          <p:spPr>
            <a:xfrm>
              <a:off x="952500" y="1955800"/>
              <a:ext cx="679823" cy="212090"/>
            </a:xfrm>
            <a:prstGeom prst="rect">
              <a:avLst/>
            </a:prstGeom>
            <a:noFill/>
          </p:spPr>
          <p:txBody>
            <a:bodyPr wrap="none" lIns="0" tIns="0" rIns="0" bIns="0" rtlCol="0" anchor="t">
              <a:noAutofit/>
            </a:bodyPr>
            <a:lstStyle/>
            <a:p>
              <a:pPr algn="l">
                <a:spcBef>
                  <a:spcPts val="0"/>
                </a:spcBef>
                <a:spcAft>
                  <a:spcPts val="0"/>
                </a:spcAft>
              </a:pPr>
              <a:r>
                <a:rPr lang="en-US" sz="1200" b="0" spc="150" dirty="0">
                  <a:solidFill>
                    <a:srgbClr val="9C9A94"/>
                  </a:solidFill>
                  <a:latin typeface="Consolas"/>
                  <a:ea typeface="Consolas"/>
                  <a:cs typeface="Consolas"/>
                </a:rPr>
                <a:t>BEFORE</a:t>
              </a:r>
              <a:endParaRPr lang="en-US" sz="1200" dirty="0"/>
            </a:p>
          </p:txBody>
        </p:sp>
        <p:sp>
          <p:nvSpPr>
            <p:cNvPr id="8" name="Text 9"/>
            <p:cNvSpPr txBox="1"/>
            <p:nvPr/>
          </p:nvSpPr>
          <p:spPr>
            <a:xfrm>
              <a:off x="3733800" y="1955800"/>
              <a:ext cx="572869" cy="212090"/>
            </a:xfrm>
            <a:prstGeom prst="rect">
              <a:avLst/>
            </a:prstGeom>
            <a:noFill/>
          </p:spPr>
          <p:txBody>
            <a:bodyPr wrap="none" lIns="0" tIns="0" rIns="0" bIns="0" rtlCol="0" anchor="t">
              <a:noAutofit/>
            </a:bodyPr>
            <a:lstStyle/>
            <a:p>
              <a:pPr algn="l">
                <a:spcBef>
                  <a:spcPts val="0"/>
                </a:spcBef>
                <a:spcAft>
                  <a:spcPts val="0"/>
                </a:spcAft>
              </a:pPr>
              <a:r>
                <a:rPr lang="en-US" sz="1200" b="0" spc="150" dirty="0">
                  <a:solidFill>
                    <a:srgbClr val="EDE9E2"/>
                  </a:solidFill>
                  <a:latin typeface="Consolas"/>
                  <a:ea typeface="Consolas"/>
                  <a:cs typeface="Consolas"/>
                </a:rPr>
                <a:t>AFTER</a:t>
              </a:r>
              <a:endParaRPr lang="en-US" sz="1200" dirty="0"/>
            </a:p>
          </p:txBody>
        </p:sp>
      </p:grpSp>
      <p:grpSp>
        <p:nvGrpSpPr>
          <p:cNvPr id="15" name="row-1"/>
          <p:cNvGrpSpPr/>
          <p:nvPr/>
        </p:nvGrpSpPr>
        <p:grpSpPr>
          <a:xfrm>
            <a:off x="609600" y="2209800"/>
            <a:ext cx="6781800" cy="606742"/>
            <a:chOff x="609600" y="2209800"/>
            <a:chExt cx="6781800" cy="606742"/>
          </a:xfrm>
        </p:grpSpPr>
        <p:sp>
          <p:nvSpPr>
            <p:cNvPr id="10" name="line 11"/>
            <p:cNvSpPr/>
            <p:nvPr/>
          </p:nvSpPr>
          <p:spPr>
            <a:xfrm>
              <a:off x="609600" y="2209800"/>
              <a:ext cx="6781800" cy="95"/>
            </a:xfrm>
            <a:custGeom>
              <a:avLst/>
              <a:gdLst/>
              <a:ahLst/>
              <a:cxnLst/>
              <a:rect l="0" t="0" r="r" b="b"/>
              <a:pathLst>
                <a:path w="6781800" h="95" fill="none">
                  <a:moveTo>
                    <a:pt x="0" y="0"/>
                  </a:moveTo>
                  <a:lnTo>
                    <a:pt x="6781800" y="0"/>
                  </a:lnTo>
                </a:path>
              </a:pathLst>
            </a:custGeom>
            <a:noFill/>
            <a:ln w="9525" cap="flat">
              <a:solidFill>
                <a:srgbClr val="2A2E35"/>
              </a:solidFill>
              <a:miter lim="800000"/>
            </a:ln>
          </p:spPr>
          <p:txBody>
            <a:bodyPr/>
            <a:lstStyle/>
            <a:p>
              <a:endParaRPr lang="en-US"/>
            </a:p>
          </p:txBody>
        </p:sp>
        <p:sp>
          <p:nvSpPr>
            <p:cNvPr id="11" name="Text 12"/>
            <p:cNvSpPr txBox="1"/>
            <p:nvPr/>
          </p:nvSpPr>
          <p:spPr>
            <a:xfrm>
              <a:off x="609600" y="2355850"/>
              <a:ext cx="212384"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Consolas"/>
                  <a:ea typeface="Consolas"/>
                  <a:cs typeface="Consolas"/>
                </a:rPr>
                <a:t>01</a:t>
              </a:r>
              <a:endParaRPr lang="en-US" sz="1200" dirty="0"/>
            </a:p>
          </p:txBody>
        </p:sp>
        <p:sp>
          <p:nvSpPr>
            <p:cNvPr id="12" name="Text 13"/>
            <p:cNvSpPr txBox="1"/>
            <p:nvPr/>
          </p:nvSpPr>
          <p:spPr>
            <a:xfrm>
              <a:off x="952500" y="2317750"/>
              <a:ext cx="1421119" cy="485457"/>
            </a:xfrm>
            <a:prstGeom prst="rect">
              <a:avLst/>
            </a:prstGeom>
            <a:noFill/>
          </p:spPr>
          <p:txBody>
            <a:bodyPr wrap="none" lIns="0" tIns="0" rIns="0" bIns="0" rtlCol="0" anchor="t">
              <a:noAutofit/>
            </a:bodyPr>
            <a:lstStyle/>
            <a:p>
              <a:pPr algn="l">
                <a:lnSpc>
                  <a:spcPts val="1800"/>
                </a:lnSpc>
                <a:spcBef>
                  <a:spcPts val="0"/>
                </a:spcBef>
                <a:spcAft>
                  <a:spcPts val="0"/>
                </a:spcAft>
              </a:pPr>
              <a:r>
                <a:rPr lang="en-US" sz="1350" b="0" dirty="0">
                  <a:solidFill>
                    <a:srgbClr val="9C9A94"/>
                  </a:solidFill>
                  <a:latin typeface="Segoe UI"/>
                  <a:ea typeface="Segoe UI"/>
                  <a:cs typeface="Segoe UI"/>
                </a:rPr>
                <a:t>8+ disconnected</a:t>
              </a:r>
              <a:endParaRPr lang="en-US" sz="1350" dirty="0"/>
            </a:p>
            <a:p>
              <a:pPr algn="l">
                <a:lnSpc>
                  <a:spcPts val="1800"/>
                </a:lnSpc>
                <a:spcBef>
                  <a:spcPts val="0"/>
                </a:spcBef>
                <a:spcAft>
                  <a:spcPts val="0"/>
                </a:spcAft>
              </a:pPr>
              <a:r>
                <a:rPr lang="en-US" sz="1350" b="0" dirty="0">
                  <a:solidFill>
                    <a:srgbClr val="9C9A94"/>
                  </a:solidFill>
                  <a:latin typeface="Segoe UI"/>
                  <a:ea typeface="Segoe UI"/>
                  <a:cs typeface="Segoe UI"/>
                </a:rPr>
                <a:t>terminal windows</a:t>
              </a:r>
              <a:endParaRPr lang="en-US" sz="1350" dirty="0"/>
            </a:p>
          </p:txBody>
        </p:sp>
        <p:sp>
          <p:nvSpPr>
            <p:cNvPr id="13" name="line 14"/>
            <p:cNvSpPr/>
            <p:nvPr/>
          </p:nvSpPr>
          <p:spPr>
            <a:xfrm>
              <a:off x="3086100" y="2457450"/>
              <a:ext cx="419100" cy="95"/>
            </a:xfrm>
            <a:custGeom>
              <a:avLst/>
              <a:gdLst/>
              <a:ahLst/>
              <a:cxnLst/>
              <a:rect l="0" t="0" r="r" b="b"/>
              <a:pathLst>
                <a:path w="419100" h="95" fill="none">
                  <a:moveTo>
                    <a:pt x="0" y="0"/>
                  </a:moveTo>
                  <a:lnTo>
                    <a:pt x="419100" y="0"/>
                  </a:lnTo>
                </a:path>
              </a:pathLst>
            </a:custGeom>
            <a:noFill/>
            <a:ln w="19050" cap="flat">
              <a:solidFill>
                <a:srgbClr val="FF5B1F"/>
              </a:solidFill>
              <a:miter lim="800000"/>
              <a:tailEnd type="triangle" w="med" len="med"/>
            </a:ln>
          </p:spPr>
          <p:txBody>
            <a:bodyPr/>
            <a:lstStyle/>
            <a:p>
              <a:endParaRPr lang="en-US"/>
            </a:p>
          </p:txBody>
        </p:sp>
        <p:sp>
          <p:nvSpPr>
            <p:cNvPr id="14" name="Text 15"/>
            <p:cNvSpPr txBox="1"/>
            <p:nvPr/>
          </p:nvSpPr>
          <p:spPr>
            <a:xfrm>
              <a:off x="3733800" y="2317750"/>
              <a:ext cx="2646290" cy="498792"/>
            </a:xfrm>
            <a:prstGeom prst="rect">
              <a:avLst/>
            </a:prstGeom>
            <a:noFill/>
          </p:spPr>
          <p:txBody>
            <a:bodyPr wrap="none" lIns="0" tIns="0" rIns="0" bIns="0" rtlCol="0" anchor="t">
              <a:noAutofit/>
            </a:bodyPr>
            <a:lstStyle/>
            <a:p>
              <a:pPr algn="l">
                <a:lnSpc>
                  <a:spcPts val="1800"/>
                </a:lnSpc>
                <a:spcBef>
                  <a:spcPts val="0"/>
                </a:spcBef>
                <a:spcAft>
                  <a:spcPts val="0"/>
                </a:spcAft>
              </a:pPr>
              <a:r>
                <a:rPr lang="en-US" sz="1650" b="1" dirty="0">
                  <a:solidFill>
                    <a:srgbClr val="EDE9E2"/>
                  </a:solidFill>
                  <a:latin typeface="Segoe UI"/>
                  <a:ea typeface="Segoe UI"/>
                  <a:cs typeface="Segoe UI"/>
                </a:rPr>
                <a:t>One native workspace</a:t>
              </a:r>
              <a:endParaRPr lang="en-US" sz="1650" dirty="0"/>
            </a:p>
            <a:p>
              <a:pPr algn="l">
                <a:lnSpc>
                  <a:spcPts val="1800"/>
                </a:lnSpc>
                <a:spcBef>
                  <a:spcPts val="0"/>
                </a:spcBef>
                <a:spcAft>
                  <a:spcPts val="0"/>
                </a:spcAft>
              </a:pPr>
              <a:r>
                <a:rPr lang="en-US" sz="1350" b="0" dirty="0">
                  <a:solidFill>
                    <a:srgbClr val="EDE9E2"/>
                  </a:solidFill>
                  <a:latin typeface="Segoe UI"/>
                  <a:ea typeface="Segoe UI"/>
                  <a:cs typeface="Segoe UI"/>
                </a:rPr>
                <a:t>with layouts you arrange yourself</a:t>
              </a:r>
              <a:endParaRPr lang="en-US" sz="1350" dirty="0"/>
            </a:p>
          </p:txBody>
        </p:sp>
      </p:grpSp>
      <p:grpSp>
        <p:nvGrpSpPr>
          <p:cNvPr id="21" name="row-2"/>
          <p:cNvGrpSpPr/>
          <p:nvPr/>
        </p:nvGrpSpPr>
        <p:grpSpPr>
          <a:xfrm>
            <a:off x="609600" y="2819400"/>
            <a:ext cx="6781800" cy="606742"/>
            <a:chOff x="609600" y="2819400"/>
            <a:chExt cx="6781800" cy="606742"/>
          </a:xfrm>
        </p:grpSpPr>
        <p:sp>
          <p:nvSpPr>
            <p:cNvPr id="16" name="line 17"/>
            <p:cNvSpPr/>
            <p:nvPr/>
          </p:nvSpPr>
          <p:spPr>
            <a:xfrm>
              <a:off x="609600" y="2819400"/>
              <a:ext cx="6781800" cy="95"/>
            </a:xfrm>
            <a:custGeom>
              <a:avLst/>
              <a:gdLst/>
              <a:ahLst/>
              <a:cxnLst/>
              <a:rect l="0" t="0" r="r" b="b"/>
              <a:pathLst>
                <a:path w="6781800" h="95" fill="none">
                  <a:moveTo>
                    <a:pt x="0" y="0"/>
                  </a:moveTo>
                  <a:lnTo>
                    <a:pt x="6781800" y="0"/>
                  </a:lnTo>
                </a:path>
              </a:pathLst>
            </a:custGeom>
            <a:noFill/>
            <a:ln w="9525" cap="flat">
              <a:solidFill>
                <a:srgbClr val="2A2E35"/>
              </a:solidFill>
              <a:miter lim="800000"/>
            </a:ln>
          </p:spPr>
          <p:txBody>
            <a:bodyPr/>
            <a:lstStyle/>
            <a:p>
              <a:endParaRPr lang="en-US"/>
            </a:p>
          </p:txBody>
        </p:sp>
        <p:sp>
          <p:nvSpPr>
            <p:cNvPr id="17" name="Text 18"/>
            <p:cNvSpPr txBox="1"/>
            <p:nvPr/>
          </p:nvSpPr>
          <p:spPr>
            <a:xfrm>
              <a:off x="609600" y="2965450"/>
              <a:ext cx="212384"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Consolas"/>
                  <a:ea typeface="Consolas"/>
                  <a:cs typeface="Consolas"/>
                </a:rPr>
                <a:t>02</a:t>
              </a:r>
              <a:endParaRPr lang="en-US" sz="1200" dirty="0"/>
            </a:p>
          </p:txBody>
        </p:sp>
        <p:sp>
          <p:nvSpPr>
            <p:cNvPr id="18" name="Text 19"/>
            <p:cNvSpPr txBox="1"/>
            <p:nvPr/>
          </p:nvSpPr>
          <p:spPr>
            <a:xfrm>
              <a:off x="952500" y="2927350"/>
              <a:ext cx="1400397" cy="485457"/>
            </a:xfrm>
            <a:prstGeom prst="rect">
              <a:avLst/>
            </a:prstGeom>
            <a:noFill/>
          </p:spPr>
          <p:txBody>
            <a:bodyPr wrap="none" lIns="0" tIns="0" rIns="0" bIns="0" rtlCol="0" anchor="t">
              <a:noAutofit/>
            </a:bodyPr>
            <a:lstStyle/>
            <a:p>
              <a:pPr algn="l">
                <a:lnSpc>
                  <a:spcPts val="1800"/>
                </a:lnSpc>
                <a:spcBef>
                  <a:spcPts val="0"/>
                </a:spcBef>
                <a:spcAft>
                  <a:spcPts val="0"/>
                </a:spcAft>
              </a:pPr>
              <a:r>
                <a:rPr lang="en-US" sz="1350" b="0" dirty="0">
                  <a:solidFill>
                    <a:srgbClr val="9C9A94"/>
                  </a:solidFill>
                  <a:latin typeface="Segoe UI"/>
                  <a:ea typeface="Segoe UI"/>
                  <a:cs typeface="Segoe UI"/>
                </a:rPr>
                <a:t>Constant Alt+Tab</a:t>
              </a:r>
              <a:endParaRPr lang="en-US" sz="1350" dirty="0"/>
            </a:p>
            <a:p>
              <a:pPr algn="l">
                <a:lnSpc>
                  <a:spcPts val="1800"/>
                </a:lnSpc>
                <a:spcBef>
                  <a:spcPts val="0"/>
                </a:spcBef>
                <a:spcAft>
                  <a:spcPts val="0"/>
                </a:spcAft>
              </a:pPr>
              <a:r>
                <a:rPr lang="en-US" sz="1350" b="0" dirty="0">
                  <a:solidFill>
                    <a:srgbClr val="9C9A94"/>
                  </a:solidFill>
                  <a:latin typeface="Segoe UI"/>
                  <a:ea typeface="Segoe UI"/>
                  <a:cs typeface="Segoe UI"/>
                </a:rPr>
                <a:t>switching</a:t>
              </a:r>
              <a:endParaRPr lang="en-US" sz="1350" dirty="0"/>
            </a:p>
          </p:txBody>
        </p:sp>
        <p:sp>
          <p:nvSpPr>
            <p:cNvPr id="19" name="line 20"/>
            <p:cNvSpPr/>
            <p:nvPr/>
          </p:nvSpPr>
          <p:spPr>
            <a:xfrm>
              <a:off x="3086100" y="3067050"/>
              <a:ext cx="419100" cy="95"/>
            </a:xfrm>
            <a:custGeom>
              <a:avLst/>
              <a:gdLst/>
              <a:ahLst/>
              <a:cxnLst/>
              <a:rect l="0" t="0" r="r" b="b"/>
              <a:pathLst>
                <a:path w="419100" h="95" fill="none">
                  <a:moveTo>
                    <a:pt x="0" y="0"/>
                  </a:moveTo>
                  <a:lnTo>
                    <a:pt x="419100" y="0"/>
                  </a:lnTo>
                </a:path>
              </a:pathLst>
            </a:custGeom>
            <a:noFill/>
            <a:ln w="19050" cap="flat">
              <a:solidFill>
                <a:srgbClr val="FF5B1F"/>
              </a:solidFill>
              <a:miter lim="800000"/>
              <a:tailEnd type="triangle" w="med" len="med"/>
            </a:ln>
          </p:spPr>
          <p:txBody>
            <a:bodyPr/>
            <a:lstStyle/>
            <a:p>
              <a:endParaRPr lang="en-US"/>
            </a:p>
          </p:txBody>
        </p:sp>
        <p:sp>
          <p:nvSpPr>
            <p:cNvPr id="20" name="Text 21"/>
            <p:cNvSpPr txBox="1"/>
            <p:nvPr/>
          </p:nvSpPr>
          <p:spPr>
            <a:xfrm>
              <a:off x="3733800" y="2927350"/>
              <a:ext cx="2902820" cy="498792"/>
            </a:xfrm>
            <a:prstGeom prst="rect">
              <a:avLst/>
            </a:prstGeom>
            <a:noFill/>
          </p:spPr>
          <p:txBody>
            <a:bodyPr wrap="none" lIns="0" tIns="0" rIns="0" bIns="0" rtlCol="0" anchor="t">
              <a:noAutofit/>
            </a:bodyPr>
            <a:lstStyle/>
            <a:p>
              <a:pPr algn="l">
                <a:lnSpc>
                  <a:spcPts val="1800"/>
                </a:lnSpc>
                <a:spcBef>
                  <a:spcPts val="0"/>
                </a:spcBef>
                <a:spcAft>
                  <a:spcPts val="0"/>
                </a:spcAft>
              </a:pPr>
              <a:r>
                <a:rPr lang="en-US" sz="1650" b="1" dirty="0">
                  <a:solidFill>
                    <a:srgbClr val="EDE9E2"/>
                  </a:solidFill>
                  <a:latin typeface="Segoe UI"/>
                  <a:ea typeface="Segoe UI"/>
                  <a:cs typeface="Segoe UI"/>
                </a:rPr>
                <a:t>A side-by-side terminal grid</a:t>
              </a:r>
              <a:endParaRPr lang="en-US" sz="1650" dirty="0"/>
            </a:p>
            <a:p>
              <a:pPr algn="l">
                <a:lnSpc>
                  <a:spcPts val="1800"/>
                </a:lnSpc>
                <a:spcBef>
                  <a:spcPts val="0"/>
                </a:spcBef>
                <a:spcAft>
                  <a:spcPts val="0"/>
                </a:spcAft>
              </a:pPr>
              <a:r>
                <a:rPr lang="en-US" sz="1350" b="0" dirty="0">
                  <a:solidFill>
                    <a:srgbClr val="EDE9E2"/>
                  </a:solidFill>
                  <a:latin typeface="Segoe UI"/>
                  <a:ea typeface="Segoe UI"/>
                  <a:cs typeface="Segoe UI"/>
                </a:rPr>
                <a:t>every session stays live (PTY)</a:t>
              </a:r>
              <a:endParaRPr lang="en-US" sz="1350" dirty="0"/>
            </a:p>
          </p:txBody>
        </p:sp>
      </p:grpSp>
      <p:grpSp>
        <p:nvGrpSpPr>
          <p:cNvPr id="27" name="row-3"/>
          <p:cNvGrpSpPr/>
          <p:nvPr/>
        </p:nvGrpSpPr>
        <p:grpSpPr>
          <a:xfrm>
            <a:off x="609600" y="3429000"/>
            <a:ext cx="6781800" cy="606742"/>
            <a:chOff x="609600" y="3429000"/>
            <a:chExt cx="6781800" cy="606742"/>
          </a:xfrm>
        </p:grpSpPr>
        <p:sp>
          <p:nvSpPr>
            <p:cNvPr id="22" name="line 23"/>
            <p:cNvSpPr/>
            <p:nvPr/>
          </p:nvSpPr>
          <p:spPr>
            <a:xfrm>
              <a:off x="609600" y="3429000"/>
              <a:ext cx="6781800" cy="95"/>
            </a:xfrm>
            <a:custGeom>
              <a:avLst/>
              <a:gdLst/>
              <a:ahLst/>
              <a:cxnLst/>
              <a:rect l="0" t="0" r="r" b="b"/>
              <a:pathLst>
                <a:path w="6781800" h="95" fill="none">
                  <a:moveTo>
                    <a:pt x="0" y="0"/>
                  </a:moveTo>
                  <a:lnTo>
                    <a:pt x="6781800" y="0"/>
                  </a:lnTo>
                </a:path>
              </a:pathLst>
            </a:custGeom>
            <a:noFill/>
            <a:ln w="9525" cap="flat">
              <a:solidFill>
                <a:srgbClr val="2A2E35"/>
              </a:solidFill>
              <a:miter lim="800000"/>
            </a:ln>
          </p:spPr>
          <p:txBody>
            <a:bodyPr/>
            <a:lstStyle/>
            <a:p>
              <a:endParaRPr lang="en-US"/>
            </a:p>
          </p:txBody>
        </p:sp>
        <p:sp>
          <p:nvSpPr>
            <p:cNvPr id="23" name="Text 24"/>
            <p:cNvSpPr txBox="1"/>
            <p:nvPr/>
          </p:nvSpPr>
          <p:spPr>
            <a:xfrm>
              <a:off x="609600" y="3575050"/>
              <a:ext cx="212384"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Consolas"/>
                  <a:ea typeface="Consolas"/>
                  <a:cs typeface="Consolas"/>
                </a:rPr>
                <a:t>03</a:t>
              </a:r>
              <a:endParaRPr lang="en-US" sz="1200" dirty="0"/>
            </a:p>
          </p:txBody>
        </p:sp>
        <p:sp>
          <p:nvSpPr>
            <p:cNvPr id="24" name="Text 25"/>
            <p:cNvSpPr txBox="1"/>
            <p:nvPr/>
          </p:nvSpPr>
          <p:spPr>
            <a:xfrm>
              <a:off x="952500" y="3536950"/>
              <a:ext cx="1912075" cy="485457"/>
            </a:xfrm>
            <a:prstGeom prst="rect">
              <a:avLst/>
            </a:prstGeom>
            <a:noFill/>
          </p:spPr>
          <p:txBody>
            <a:bodyPr wrap="none" lIns="0" tIns="0" rIns="0" bIns="0" rtlCol="0" anchor="t">
              <a:noAutofit/>
            </a:bodyPr>
            <a:lstStyle/>
            <a:p>
              <a:pPr algn="l">
                <a:lnSpc>
                  <a:spcPts val="1800"/>
                </a:lnSpc>
                <a:spcBef>
                  <a:spcPts val="0"/>
                </a:spcBef>
                <a:spcAft>
                  <a:spcPts val="0"/>
                </a:spcAft>
              </a:pPr>
              <a:r>
                <a:rPr lang="en-US" sz="1350" b="0" dirty="0">
                  <a:solidFill>
                    <a:srgbClr val="9C9A94"/>
                  </a:solidFill>
                  <a:latin typeface="Segoe UI"/>
                  <a:ea typeface="Segoe UI"/>
                  <a:cs typeface="Segoe UI"/>
                </a:rPr>
                <a:t>Extension panels locked</a:t>
              </a:r>
              <a:endParaRPr lang="en-US" sz="1350" dirty="0"/>
            </a:p>
            <a:p>
              <a:pPr algn="l">
                <a:lnSpc>
                  <a:spcPts val="1800"/>
                </a:lnSpc>
                <a:spcBef>
                  <a:spcPts val="0"/>
                </a:spcBef>
                <a:spcAft>
                  <a:spcPts val="0"/>
                </a:spcAft>
              </a:pPr>
              <a:r>
                <a:rPr lang="en-US" sz="1350" b="0" dirty="0">
                  <a:solidFill>
                    <a:srgbClr val="9C9A94"/>
                  </a:solidFill>
                  <a:latin typeface="Segoe UI"/>
                  <a:ea typeface="Segoe UI"/>
                  <a:cs typeface="Segoe UI"/>
                </a:rPr>
                <a:t>in external IDEs</a:t>
              </a:r>
              <a:endParaRPr lang="en-US" sz="1350" dirty="0"/>
            </a:p>
          </p:txBody>
        </p:sp>
        <p:sp>
          <p:nvSpPr>
            <p:cNvPr id="25" name="line 26"/>
            <p:cNvSpPr/>
            <p:nvPr/>
          </p:nvSpPr>
          <p:spPr>
            <a:xfrm>
              <a:off x="3086100" y="3676650"/>
              <a:ext cx="419100" cy="95"/>
            </a:xfrm>
            <a:custGeom>
              <a:avLst/>
              <a:gdLst/>
              <a:ahLst/>
              <a:cxnLst/>
              <a:rect l="0" t="0" r="r" b="b"/>
              <a:pathLst>
                <a:path w="419100" h="95" fill="none">
                  <a:moveTo>
                    <a:pt x="0" y="0"/>
                  </a:moveTo>
                  <a:lnTo>
                    <a:pt x="419100" y="0"/>
                  </a:lnTo>
                </a:path>
              </a:pathLst>
            </a:custGeom>
            <a:noFill/>
            <a:ln w="19050" cap="flat">
              <a:solidFill>
                <a:srgbClr val="FF5B1F"/>
              </a:solidFill>
              <a:miter lim="800000"/>
              <a:tailEnd type="triangle" w="med" len="med"/>
            </a:ln>
          </p:spPr>
          <p:txBody>
            <a:bodyPr/>
            <a:lstStyle/>
            <a:p>
              <a:endParaRPr lang="en-US"/>
            </a:p>
          </p:txBody>
        </p:sp>
        <p:sp>
          <p:nvSpPr>
            <p:cNvPr id="26" name="Text 27"/>
            <p:cNvSpPr txBox="1"/>
            <p:nvPr/>
          </p:nvSpPr>
          <p:spPr>
            <a:xfrm>
              <a:off x="3733800" y="3536950"/>
              <a:ext cx="2757210" cy="498792"/>
            </a:xfrm>
            <a:prstGeom prst="rect">
              <a:avLst/>
            </a:prstGeom>
            <a:noFill/>
          </p:spPr>
          <p:txBody>
            <a:bodyPr wrap="none" lIns="0" tIns="0" rIns="0" bIns="0" rtlCol="0" anchor="t">
              <a:noAutofit/>
            </a:bodyPr>
            <a:lstStyle/>
            <a:p>
              <a:pPr algn="l">
                <a:lnSpc>
                  <a:spcPts val="1800"/>
                </a:lnSpc>
                <a:spcBef>
                  <a:spcPts val="0"/>
                </a:spcBef>
                <a:spcAft>
                  <a:spcPts val="0"/>
                </a:spcAft>
              </a:pPr>
              <a:r>
                <a:rPr lang="en-US" sz="1650" b="1" dirty="0">
                  <a:solidFill>
                    <a:srgbClr val="EDE9E2"/>
                  </a:solidFill>
                  <a:latin typeface="Segoe UI"/>
                  <a:ea typeface="Segoe UI"/>
                  <a:cs typeface="Segoe UI"/>
                </a:rPr>
                <a:t>Extensions inside the grid</a:t>
              </a:r>
              <a:endParaRPr lang="en-US" sz="1650" dirty="0"/>
            </a:p>
            <a:p>
              <a:pPr algn="l">
                <a:lnSpc>
                  <a:spcPts val="1800"/>
                </a:lnSpc>
                <a:spcBef>
                  <a:spcPts val="0"/>
                </a:spcBef>
                <a:spcAft>
                  <a:spcPts val="0"/>
                </a:spcAft>
              </a:pPr>
              <a:r>
                <a:rPr lang="en-US" sz="1350" b="0" dirty="0">
                  <a:solidFill>
                    <a:srgbClr val="EDE9E2"/>
                  </a:solidFill>
                  <a:latin typeface="Segoe UI"/>
                  <a:ea typeface="Segoe UI"/>
                  <a:cs typeface="Segoe UI"/>
                </a:rPr>
                <a:t>graphical tools right beside agents</a:t>
              </a:r>
              <a:endParaRPr lang="en-US" sz="1350" dirty="0"/>
            </a:p>
          </p:txBody>
        </p:sp>
      </p:grpSp>
      <p:grpSp>
        <p:nvGrpSpPr>
          <p:cNvPr id="33" name="row-4"/>
          <p:cNvGrpSpPr/>
          <p:nvPr/>
        </p:nvGrpSpPr>
        <p:grpSpPr>
          <a:xfrm>
            <a:off x="609600" y="4038600"/>
            <a:ext cx="6781800" cy="606742"/>
            <a:chOff x="609600" y="4038600"/>
            <a:chExt cx="6781800" cy="606742"/>
          </a:xfrm>
        </p:grpSpPr>
        <p:sp>
          <p:nvSpPr>
            <p:cNvPr id="28" name="line 29"/>
            <p:cNvSpPr/>
            <p:nvPr/>
          </p:nvSpPr>
          <p:spPr>
            <a:xfrm>
              <a:off x="609600" y="4038600"/>
              <a:ext cx="6781800" cy="95"/>
            </a:xfrm>
            <a:custGeom>
              <a:avLst/>
              <a:gdLst/>
              <a:ahLst/>
              <a:cxnLst/>
              <a:rect l="0" t="0" r="r" b="b"/>
              <a:pathLst>
                <a:path w="6781800" h="95" fill="none">
                  <a:moveTo>
                    <a:pt x="0" y="0"/>
                  </a:moveTo>
                  <a:lnTo>
                    <a:pt x="6781800" y="0"/>
                  </a:lnTo>
                </a:path>
              </a:pathLst>
            </a:custGeom>
            <a:noFill/>
            <a:ln w="9525" cap="flat">
              <a:solidFill>
                <a:srgbClr val="2A2E35"/>
              </a:solidFill>
              <a:miter lim="800000"/>
            </a:ln>
          </p:spPr>
          <p:txBody>
            <a:bodyPr/>
            <a:lstStyle/>
            <a:p>
              <a:endParaRPr lang="en-US"/>
            </a:p>
          </p:txBody>
        </p:sp>
        <p:sp>
          <p:nvSpPr>
            <p:cNvPr id="29" name="Text 30"/>
            <p:cNvSpPr txBox="1"/>
            <p:nvPr/>
          </p:nvSpPr>
          <p:spPr>
            <a:xfrm>
              <a:off x="609600" y="4184650"/>
              <a:ext cx="212384"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Consolas"/>
                  <a:ea typeface="Consolas"/>
                  <a:cs typeface="Consolas"/>
                </a:rPr>
                <a:t>04</a:t>
              </a:r>
              <a:endParaRPr lang="en-US" sz="1200" dirty="0"/>
            </a:p>
          </p:txBody>
        </p:sp>
        <p:sp>
          <p:nvSpPr>
            <p:cNvPr id="30" name="Text 31"/>
            <p:cNvSpPr txBox="1"/>
            <p:nvPr/>
          </p:nvSpPr>
          <p:spPr>
            <a:xfrm>
              <a:off x="952500" y="4146550"/>
              <a:ext cx="2185806" cy="485457"/>
            </a:xfrm>
            <a:prstGeom prst="rect">
              <a:avLst/>
            </a:prstGeom>
            <a:noFill/>
          </p:spPr>
          <p:txBody>
            <a:bodyPr wrap="none" lIns="0" tIns="0" rIns="0" bIns="0" rtlCol="0" anchor="t">
              <a:noAutofit/>
            </a:bodyPr>
            <a:lstStyle/>
            <a:p>
              <a:pPr algn="l">
                <a:lnSpc>
                  <a:spcPts val="1800"/>
                </a:lnSpc>
                <a:spcBef>
                  <a:spcPts val="0"/>
                </a:spcBef>
                <a:spcAft>
                  <a:spcPts val="0"/>
                </a:spcAft>
              </a:pPr>
              <a:r>
                <a:rPr lang="en-US" sz="1350" b="0" dirty="0">
                  <a:solidFill>
                    <a:srgbClr val="9C9A94"/>
                  </a:solidFill>
                  <a:latin typeface="Segoe UI"/>
                  <a:ea typeface="Segoe UI"/>
                  <a:cs typeface="Segoe UI"/>
                </a:rPr>
                <a:t>Manual build scripts and</a:t>
              </a:r>
              <a:endParaRPr lang="en-US" sz="1350" dirty="0"/>
            </a:p>
            <a:p>
              <a:pPr algn="l">
                <a:lnSpc>
                  <a:spcPts val="1800"/>
                </a:lnSpc>
                <a:spcBef>
                  <a:spcPts val="0"/>
                </a:spcBef>
                <a:spcAft>
                  <a:spcPts val="0"/>
                </a:spcAft>
              </a:pPr>
              <a:r>
                <a:rPr lang="en-US" sz="1350" b="0" dirty="0">
                  <a:solidFill>
                    <a:srgbClr val="9C9A94"/>
                  </a:solidFill>
                  <a:latin typeface="Segoe UI"/>
                  <a:ea typeface="Segoe UI"/>
                  <a:cs typeface="Segoe UI"/>
                </a:rPr>
                <a:t>fragmented run commands</a:t>
              </a:r>
              <a:endParaRPr lang="en-US" sz="1350" dirty="0"/>
            </a:p>
          </p:txBody>
        </p:sp>
        <p:sp>
          <p:nvSpPr>
            <p:cNvPr id="31" name="line 32"/>
            <p:cNvSpPr/>
            <p:nvPr/>
          </p:nvSpPr>
          <p:spPr>
            <a:xfrm>
              <a:off x="3086100" y="4286250"/>
              <a:ext cx="419100" cy="95"/>
            </a:xfrm>
            <a:custGeom>
              <a:avLst/>
              <a:gdLst/>
              <a:ahLst/>
              <a:cxnLst/>
              <a:rect l="0" t="0" r="r" b="b"/>
              <a:pathLst>
                <a:path w="419100" h="95" fill="none">
                  <a:moveTo>
                    <a:pt x="0" y="0"/>
                  </a:moveTo>
                  <a:lnTo>
                    <a:pt x="419100" y="0"/>
                  </a:lnTo>
                </a:path>
              </a:pathLst>
            </a:custGeom>
            <a:noFill/>
            <a:ln w="19050" cap="flat">
              <a:solidFill>
                <a:srgbClr val="FF5B1F"/>
              </a:solidFill>
              <a:miter lim="800000"/>
              <a:tailEnd type="triangle" w="med" len="med"/>
            </a:ln>
          </p:spPr>
          <p:txBody>
            <a:bodyPr/>
            <a:lstStyle/>
            <a:p>
              <a:endParaRPr lang="en-US"/>
            </a:p>
          </p:txBody>
        </p:sp>
        <p:sp>
          <p:nvSpPr>
            <p:cNvPr id="32" name="Text 33"/>
            <p:cNvSpPr txBox="1"/>
            <p:nvPr/>
          </p:nvSpPr>
          <p:spPr>
            <a:xfrm>
              <a:off x="3733800" y="4146550"/>
              <a:ext cx="2667969" cy="498792"/>
            </a:xfrm>
            <a:prstGeom prst="rect">
              <a:avLst/>
            </a:prstGeom>
            <a:noFill/>
          </p:spPr>
          <p:txBody>
            <a:bodyPr wrap="none" lIns="0" tIns="0" rIns="0" bIns="0" rtlCol="0" anchor="t">
              <a:noAutofit/>
            </a:bodyPr>
            <a:lstStyle/>
            <a:p>
              <a:pPr algn="l">
                <a:lnSpc>
                  <a:spcPts val="1800"/>
                </a:lnSpc>
                <a:spcBef>
                  <a:spcPts val="0"/>
                </a:spcBef>
                <a:spcAft>
                  <a:spcPts val="0"/>
                </a:spcAft>
              </a:pPr>
              <a:r>
                <a:rPr lang="en-US" sz="1650" b="1" dirty="0">
                  <a:solidFill>
                    <a:srgbClr val="EDE9E2"/>
                  </a:solidFill>
                  <a:latin typeface="Segoe UI"/>
                  <a:ea typeface="Segoe UI"/>
                  <a:cs typeface="Segoe UI"/>
                </a:rPr>
                <a:t>Smart run &amp; build system</a:t>
              </a:r>
              <a:endParaRPr lang="en-US" sz="1650" dirty="0"/>
            </a:p>
            <a:p>
              <a:pPr algn="l">
                <a:lnSpc>
                  <a:spcPts val="1800"/>
                </a:lnSpc>
                <a:spcBef>
                  <a:spcPts val="0"/>
                </a:spcBef>
                <a:spcAft>
                  <a:spcPts val="0"/>
                </a:spcAft>
              </a:pPr>
              <a:r>
                <a:rPr lang="en-US" sz="1350" b="0" dirty="0">
                  <a:solidFill>
                    <a:srgbClr val="EDE9E2"/>
                  </a:solidFill>
                  <a:latin typeface="Segoe UI"/>
                  <a:ea typeface="Segoe UI"/>
                  <a:cs typeface="Segoe UI"/>
                </a:rPr>
                <a:t>auto-detects 15+ ecosystems</a:t>
              </a:r>
              <a:endParaRPr lang="en-US" sz="1350" dirty="0"/>
            </a:p>
          </p:txBody>
        </p:sp>
      </p:grpSp>
      <p:grpSp>
        <p:nvGrpSpPr>
          <p:cNvPr id="40" name="row-5"/>
          <p:cNvGrpSpPr/>
          <p:nvPr/>
        </p:nvGrpSpPr>
        <p:grpSpPr>
          <a:xfrm>
            <a:off x="609600" y="4648200"/>
            <a:ext cx="6781800" cy="609695"/>
            <a:chOff x="609600" y="4648200"/>
            <a:chExt cx="6781800" cy="609695"/>
          </a:xfrm>
        </p:grpSpPr>
        <p:sp>
          <p:nvSpPr>
            <p:cNvPr id="34" name="line 35"/>
            <p:cNvSpPr/>
            <p:nvPr/>
          </p:nvSpPr>
          <p:spPr>
            <a:xfrm>
              <a:off x="609600" y="4648200"/>
              <a:ext cx="6781800" cy="95"/>
            </a:xfrm>
            <a:custGeom>
              <a:avLst/>
              <a:gdLst/>
              <a:ahLst/>
              <a:cxnLst/>
              <a:rect l="0" t="0" r="r" b="b"/>
              <a:pathLst>
                <a:path w="6781800" h="95" fill="none">
                  <a:moveTo>
                    <a:pt x="0" y="0"/>
                  </a:moveTo>
                  <a:lnTo>
                    <a:pt x="6781800" y="0"/>
                  </a:lnTo>
                </a:path>
              </a:pathLst>
            </a:custGeom>
            <a:noFill/>
            <a:ln w="9525" cap="flat">
              <a:solidFill>
                <a:srgbClr val="2A2E35"/>
              </a:solidFill>
              <a:miter lim="800000"/>
            </a:ln>
          </p:spPr>
          <p:txBody>
            <a:bodyPr/>
            <a:lstStyle/>
            <a:p>
              <a:endParaRPr lang="en-US"/>
            </a:p>
          </p:txBody>
        </p:sp>
        <p:sp>
          <p:nvSpPr>
            <p:cNvPr id="35" name="Text 36"/>
            <p:cNvSpPr txBox="1"/>
            <p:nvPr/>
          </p:nvSpPr>
          <p:spPr>
            <a:xfrm>
              <a:off x="609600" y="4794250"/>
              <a:ext cx="212384"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Consolas"/>
                  <a:ea typeface="Consolas"/>
                  <a:cs typeface="Consolas"/>
                </a:rPr>
                <a:t>05</a:t>
              </a:r>
              <a:endParaRPr lang="en-US" sz="1200" dirty="0"/>
            </a:p>
          </p:txBody>
        </p:sp>
        <p:sp>
          <p:nvSpPr>
            <p:cNvPr id="36" name="Text 37"/>
            <p:cNvSpPr txBox="1"/>
            <p:nvPr/>
          </p:nvSpPr>
          <p:spPr>
            <a:xfrm>
              <a:off x="952500" y="4756150"/>
              <a:ext cx="1552673" cy="485457"/>
            </a:xfrm>
            <a:prstGeom prst="rect">
              <a:avLst/>
            </a:prstGeom>
            <a:noFill/>
          </p:spPr>
          <p:txBody>
            <a:bodyPr wrap="none" lIns="0" tIns="0" rIns="0" bIns="0" rtlCol="0" anchor="t">
              <a:noAutofit/>
            </a:bodyPr>
            <a:lstStyle/>
            <a:p>
              <a:pPr algn="l">
                <a:lnSpc>
                  <a:spcPts val="1800"/>
                </a:lnSpc>
                <a:spcBef>
                  <a:spcPts val="0"/>
                </a:spcBef>
                <a:spcAft>
                  <a:spcPts val="0"/>
                </a:spcAft>
              </a:pPr>
              <a:r>
                <a:rPr lang="en-US" sz="1350" b="0" dirty="0">
                  <a:solidFill>
                    <a:srgbClr val="9C9A94"/>
                  </a:solidFill>
                  <a:latin typeface="Segoe UI"/>
                  <a:ea typeface="Segoe UI"/>
                  <a:cs typeface="Segoe UI"/>
                </a:rPr>
                <a:t>A separate browser</a:t>
              </a:r>
              <a:endParaRPr lang="en-US" sz="1350" dirty="0"/>
            </a:p>
            <a:p>
              <a:pPr algn="l">
                <a:lnSpc>
                  <a:spcPts val="1800"/>
                </a:lnSpc>
                <a:spcBef>
                  <a:spcPts val="0"/>
                </a:spcBef>
                <a:spcAft>
                  <a:spcPts val="0"/>
                </a:spcAft>
              </a:pPr>
              <a:r>
                <a:rPr lang="en-US" sz="1350" b="0" dirty="0">
                  <a:solidFill>
                    <a:srgbClr val="9C9A94"/>
                  </a:solidFill>
                  <a:latin typeface="Segoe UI"/>
                  <a:ea typeface="Segoe UI"/>
                  <a:cs typeface="Segoe UI"/>
                </a:rPr>
                <a:t>for UI validation</a:t>
              </a:r>
              <a:endParaRPr lang="en-US" sz="1350" dirty="0"/>
            </a:p>
          </p:txBody>
        </p:sp>
        <p:sp>
          <p:nvSpPr>
            <p:cNvPr id="37" name="line 38"/>
            <p:cNvSpPr/>
            <p:nvPr/>
          </p:nvSpPr>
          <p:spPr>
            <a:xfrm>
              <a:off x="3086100" y="4895850"/>
              <a:ext cx="419100" cy="95"/>
            </a:xfrm>
            <a:custGeom>
              <a:avLst/>
              <a:gdLst/>
              <a:ahLst/>
              <a:cxnLst/>
              <a:rect l="0" t="0" r="r" b="b"/>
              <a:pathLst>
                <a:path w="419100" h="95" fill="none">
                  <a:moveTo>
                    <a:pt x="0" y="0"/>
                  </a:moveTo>
                  <a:lnTo>
                    <a:pt x="419100" y="0"/>
                  </a:lnTo>
                </a:path>
              </a:pathLst>
            </a:custGeom>
            <a:noFill/>
            <a:ln w="19050" cap="flat">
              <a:solidFill>
                <a:srgbClr val="FF5B1F"/>
              </a:solidFill>
              <a:miter lim="800000"/>
              <a:tailEnd type="triangle" w="med" len="med"/>
            </a:ln>
          </p:spPr>
          <p:txBody>
            <a:bodyPr/>
            <a:lstStyle/>
            <a:p>
              <a:endParaRPr lang="en-US"/>
            </a:p>
          </p:txBody>
        </p:sp>
        <p:sp>
          <p:nvSpPr>
            <p:cNvPr id="38" name="Text 39"/>
            <p:cNvSpPr txBox="1"/>
            <p:nvPr/>
          </p:nvSpPr>
          <p:spPr>
            <a:xfrm>
              <a:off x="3733800" y="4756150"/>
              <a:ext cx="2241875" cy="498792"/>
            </a:xfrm>
            <a:prstGeom prst="rect">
              <a:avLst/>
            </a:prstGeom>
            <a:noFill/>
          </p:spPr>
          <p:txBody>
            <a:bodyPr wrap="none" lIns="0" tIns="0" rIns="0" bIns="0" rtlCol="0" anchor="t">
              <a:noAutofit/>
            </a:bodyPr>
            <a:lstStyle/>
            <a:p>
              <a:pPr algn="l">
                <a:lnSpc>
                  <a:spcPts val="1800"/>
                </a:lnSpc>
                <a:spcBef>
                  <a:spcPts val="0"/>
                </a:spcBef>
                <a:spcAft>
                  <a:spcPts val="0"/>
                </a:spcAft>
              </a:pPr>
              <a:r>
                <a:rPr lang="en-US" sz="1650" b="1" dirty="0">
                  <a:solidFill>
                    <a:srgbClr val="EDE9E2"/>
                  </a:solidFill>
                  <a:latin typeface="Segoe UI"/>
                  <a:ea typeface="Segoe UI"/>
                  <a:cs typeface="Segoe UI"/>
                </a:rPr>
                <a:t>In-app browser</a:t>
              </a:r>
              <a:endParaRPr lang="en-US" sz="1650" dirty="0"/>
            </a:p>
            <a:p>
              <a:pPr algn="l">
                <a:lnSpc>
                  <a:spcPts val="1800"/>
                </a:lnSpc>
                <a:spcBef>
                  <a:spcPts val="0"/>
                </a:spcBef>
                <a:spcAft>
                  <a:spcPts val="0"/>
                </a:spcAft>
              </a:pPr>
              <a:r>
                <a:rPr lang="en-US" sz="1350" b="0" dirty="0">
                  <a:solidFill>
                    <a:srgbClr val="EDE9E2"/>
                  </a:solidFill>
                  <a:latin typeface="Segoe UI"/>
                  <a:ea typeface="Segoe UI"/>
                  <a:cs typeface="Segoe UI"/>
                </a:rPr>
                <a:t>with a CSS / visual inspector</a:t>
              </a:r>
              <a:endParaRPr lang="en-US" sz="1350" dirty="0"/>
            </a:p>
          </p:txBody>
        </p:sp>
        <p:sp>
          <p:nvSpPr>
            <p:cNvPr id="39" name="line 40"/>
            <p:cNvSpPr/>
            <p:nvPr/>
          </p:nvSpPr>
          <p:spPr>
            <a:xfrm>
              <a:off x="609600" y="5257800"/>
              <a:ext cx="6781800" cy="95"/>
            </a:xfrm>
            <a:custGeom>
              <a:avLst/>
              <a:gdLst/>
              <a:ahLst/>
              <a:cxnLst/>
              <a:rect l="0" t="0" r="r" b="b"/>
              <a:pathLst>
                <a:path w="6781800" h="95" fill="none">
                  <a:moveTo>
                    <a:pt x="0" y="0"/>
                  </a:moveTo>
                  <a:lnTo>
                    <a:pt x="6781800" y="0"/>
                  </a:lnTo>
                </a:path>
              </a:pathLst>
            </a:custGeom>
            <a:noFill/>
            <a:ln w="9525" cap="flat">
              <a:solidFill>
                <a:srgbClr val="2A2E35"/>
              </a:solidFill>
              <a:miter lim="800000"/>
            </a:ln>
          </p:spPr>
          <p:txBody>
            <a:bodyPr/>
            <a:lstStyle/>
            <a:p>
              <a:endParaRPr lang="en-US"/>
            </a:p>
          </p:txBody>
        </p:sp>
      </p:grpSp>
      <p:grpSp>
        <p:nvGrpSpPr>
          <p:cNvPr id="51" name="poster"/>
          <p:cNvGrpSpPr/>
          <p:nvPr/>
        </p:nvGrpSpPr>
        <p:grpSpPr>
          <a:xfrm>
            <a:off x="7581900" y="1790700"/>
            <a:ext cx="4114800" cy="3352800"/>
            <a:chOff x="7581900" y="1790700"/>
            <a:chExt cx="4114800" cy="3352800"/>
          </a:xfrm>
        </p:grpSpPr>
        <p:sp>
          <p:nvSpPr>
            <p:cNvPr id="42" name="rect 43"/>
            <p:cNvSpPr/>
            <p:nvPr/>
          </p:nvSpPr>
          <p:spPr>
            <a:xfrm>
              <a:off x="7696200" y="1905000"/>
              <a:ext cx="3886200" cy="3124200"/>
            </a:xfrm>
            <a:prstGeom prst="roundRect">
              <a:avLst>
                <a:gd name="adj" fmla="val 2439"/>
              </a:avLst>
            </a:prstGeom>
            <a:solidFill>
              <a:srgbClr val="14171B"/>
            </a:solidFill>
            <a:ln w="9525" cap="flat">
              <a:solidFill>
                <a:srgbClr val="2A2E35"/>
              </a:solidFill>
              <a:miter lim="800000"/>
            </a:ln>
          </p:spPr>
          <p:txBody>
            <a:bodyPr/>
            <a:lstStyle/>
            <a:p>
              <a:endParaRPr lang="en-US"/>
            </a:p>
          </p:txBody>
        </p:sp>
        <p:sp>
          <p:nvSpPr>
            <p:cNvPr id="43" name="circle 44"/>
            <p:cNvSpPr/>
            <p:nvPr/>
          </p:nvSpPr>
          <p:spPr>
            <a:xfrm>
              <a:off x="7820025" y="1981200"/>
              <a:ext cx="57150" cy="57150"/>
            </a:xfrm>
            <a:prstGeom prst="ellipse">
              <a:avLst/>
            </a:prstGeom>
            <a:solidFill>
              <a:srgbClr val="4A5058"/>
            </a:solidFill>
            <a:ln>
              <a:noFill/>
            </a:ln>
          </p:spPr>
          <p:txBody>
            <a:bodyPr/>
            <a:lstStyle/>
            <a:p>
              <a:endParaRPr lang="en-US"/>
            </a:p>
          </p:txBody>
        </p:sp>
        <p:sp>
          <p:nvSpPr>
            <p:cNvPr id="44" name="circle 45"/>
            <p:cNvSpPr/>
            <p:nvPr/>
          </p:nvSpPr>
          <p:spPr>
            <a:xfrm>
              <a:off x="7934325" y="1981200"/>
              <a:ext cx="57150" cy="57150"/>
            </a:xfrm>
            <a:prstGeom prst="ellipse">
              <a:avLst/>
            </a:prstGeom>
            <a:solidFill>
              <a:srgbClr val="4A5058"/>
            </a:solidFill>
            <a:ln>
              <a:noFill/>
            </a:ln>
          </p:spPr>
          <p:txBody>
            <a:bodyPr/>
            <a:lstStyle/>
            <a:p>
              <a:endParaRPr lang="en-US"/>
            </a:p>
          </p:txBody>
        </p:sp>
        <p:sp>
          <p:nvSpPr>
            <p:cNvPr id="45" name="circle 46"/>
            <p:cNvSpPr/>
            <p:nvPr/>
          </p:nvSpPr>
          <p:spPr>
            <a:xfrm>
              <a:off x="8048625" y="1981200"/>
              <a:ext cx="57150" cy="57150"/>
            </a:xfrm>
            <a:prstGeom prst="ellipse">
              <a:avLst/>
            </a:prstGeom>
            <a:solidFill>
              <a:srgbClr val="4A5058"/>
            </a:solidFill>
            <a:ln>
              <a:noFill/>
            </a:ln>
          </p:spPr>
          <p:txBody>
            <a:bodyPr/>
            <a:lstStyle/>
            <a:p>
              <a:endParaRPr lang="en-US"/>
            </a:p>
          </p:txBody>
        </p:sp>
        <p:pic>
          <p:nvPicPr>
            <p:cNvPr id="46" name="Picture 47"/>
            <p:cNvPicPr>
              <a:picLocks noChangeAspect="1"/>
            </p:cNvPicPr>
            <p:nvPr/>
          </p:nvPicPr>
          <p:blipFill>
            <a:blip r:embed="rId3"/>
            <a:stretch>
              <a:fillRect/>
            </a:stretch>
          </p:blipFill>
          <p:spPr>
            <a:xfrm>
              <a:off x="7696200" y="2114550"/>
              <a:ext cx="3886200" cy="2914650"/>
            </a:xfrm>
            <a:prstGeom prst="roundRect">
              <a:avLst>
                <a:gd name="adj" fmla="val 2614"/>
              </a:avLst>
            </a:prstGeom>
          </p:spPr>
        </p:pic>
        <p:sp>
          <p:nvSpPr>
            <p:cNvPr id="47" name="path 48"/>
            <p:cNvSpPr/>
            <p:nvPr/>
          </p:nvSpPr>
          <p:spPr>
            <a:xfrm>
              <a:off x="7581900" y="1790700"/>
              <a:ext cx="228600" cy="228600"/>
            </a:xfrm>
            <a:custGeom>
              <a:avLst/>
              <a:gdLst/>
              <a:ahLst/>
              <a:cxnLst/>
              <a:rect l="0" t="0" r="r" b="b"/>
              <a:pathLst>
                <a:path w="228600" h="228600" fill="none">
                  <a:moveTo>
                    <a:pt x="0" y="228600"/>
                  </a:moveTo>
                  <a:lnTo>
                    <a:pt x="0" y="0"/>
                  </a:lnTo>
                  <a:lnTo>
                    <a:pt x="228600" y="0"/>
                  </a:lnTo>
                </a:path>
              </a:pathLst>
            </a:custGeom>
            <a:noFill/>
            <a:ln w="19050" cap="flat">
              <a:solidFill>
                <a:srgbClr val="FF5B1F"/>
              </a:solidFill>
              <a:miter lim="800000"/>
            </a:ln>
          </p:spPr>
          <p:txBody>
            <a:bodyPr/>
            <a:lstStyle/>
            <a:p>
              <a:endParaRPr lang="en-US"/>
            </a:p>
          </p:txBody>
        </p:sp>
        <p:sp>
          <p:nvSpPr>
            <p:cNvPr id="48" name="path 49"/>
            <p:cNvSpPr/>
            <p:nvPr/>
          </p:nvSpPr>
          <p:spPr>
            <a:xfrm>
              <a:off x="11468100" y="1790700"/>
              <a:ext cx="228600" cy="228600"/>
            </a:xfrm>
            <a:custGeom>
              <a:avLst/>
              <a:gdLst/>
              <a:ahLst/>
              <a:cxnLst/>
              <a:rect l="0" t="0" r="r" b="b"/>
              <a:pathLst>
                <a:path w="228600" h="228600" fill="none">
                  <a:moveTo>
                    <a:pt x="0" y="0"/>
                  </a:moveTo>
                  <a:lnTo>
                    <a:pt x="228600" y="0"/>
                  </a:lnTo>
                  <a:lnTo>
                    <a:pt x="228600" y="228600"/>
                  </a:lnTo>
                </a:path>
              </a:pathLst>
            </a:custGeom>
            <a:noFill/>
            <a:ln w="19050" cap="flat">
              <a:solidFill>
                <a:srgbClr val="FF5B1F"/>
              </a:solidFill>
              <a:miter lim="800000"/>
            </a:ln>
          </p:spPr>
          <p:txBody>
            <a:bodyPr/>
            <a:lstStyle/>
            <a:p>
              <a:endParaRPr lang="en-US"/>
            </a:p>
          </p:txBody>
        </p:sp>
        <p:sp>
          <p:nvSpPr>
            <p:cNvPr id="49" name="path 50"/>
            <p:cNvSpPr/>
            <p:nvPr/>
          </p:nvSpPr>
          <p:spPr>
            <a:xfrm>
              <a:off x="7581900" y="4914900"/>
              <a:ext cx="228600" cy="228600"/>
            </a:xfrm>
            <a:custGeom>
              <a:avLst/>
              <a:gdLst/>
              <a:ahLst/>
              <a:cxnLst/>
              <a:rect l="0" t="0" r="r" b="b"/>
              <a:pathLst>
                <a:path w="228600" h="228600" fill="none">
                  <a:moveTo>
                    <a:pt x="0" y="0"/>
                  </a:moveTo>
                  <a:lnTo>
                    <a:pt x="0" y="228600"/>
                  </a:lnTo>
                  <a:lnTo>
                    <a:pt x="228600" y="228600"/>
                  </a:lnTo>
                </a:path>
              </a:pathLst>
            </a:custGeom>
            <a:noFill/>
            <a:ln w="19050" cap="flat">
              <a:solidFill>
                <a:srgbClr val="FF5B1F"/>
              </a:solidFill>
              <a:miter lim="800000"/>
            </a:ln>
          </p:spPr>
          <p:txBody>
            <a:bodyPr/>
            <a:lstStyle/>
            <a:p>
              <a:endParaRPr lang="en-US"/>
            </a:p>
          </p:txBody>
        </p:sp>
        <p:sp>
          <p:nvSpPr>
            <p:cNvPr id="50" name="path 51"/>
            <p:cNvSpPr/>
            <p:nvPr/>
          </p:nvSpPr>
          <p:spPr>
            <a:xfrm>
              <a:off x="11468100" y="4914900"/>
              <a:ext cx="228600" cy="228600"/>
            </a:xfrm>
            <a:custGeom>
              <a:avLst/>
              <a:gdLst/>
              <a:ahLst/>
              <a:cxnLst/>
              <a:rect l="0" t="0" r="r" b="b"/>
              <a:pathLst>
                <a:path w="228600" h="228600" fill="none">
                  <a:moveTo>
                    <a:pt x="0" y="228600"/>
                  </a:moveTo>
                  <a:lnTo>
                    <a:pt x="228600" y="228600"/>
                  </a:lnTo>
                  <a:lnTo>
                    <a:pt x="228600" y="0"/>
                  </a:lnTo>
                </a:path>
              </a:pathLst>
            </a:custGeom>
            <a:noFill/>
            <a:ln w="19050" cap="flat">
              <a:solidFill>
                <a:srgbClr val="FF5B1F"/>
              </a:solidFill>
              <a:miter lim="800000"/>
            </a:ln>
          </p:spPr>
          <p:txBody>
            <a:bodyPr/>
            <a:lstStyle/>
            <a:p>
              <a:endParaRPr lang="en-US"/>
            </a:p>
          </p:txBody>
        </p:sp>
      </p:grpSp>
      <p:grpSp>
        <p:nvGrpSpPr>
          <p:cNvPr id="55" name="poster-tag"/>
          <p:cNvGrpSpPr/>
          <p:nvPr/>
        </p:nvGrpSpPr>
        <p:grpSpPr>
          <a:xfrm>
            <a:off x="7696200" y="5257800"/>
            <a:ext cx="3886200" cy="266700"/>
            <a:chOff x="7696200" y="5257800"/>
            <a:chExt cx="3886200" cy="266700"/>
          </a:xfrm>
        </p:grpSpPr>
        <p:sp>
          <p:nvSpPr>
            <p:cNvPr id="52" name="rect 53"/>
            <p:cNvSpPr/>
            <p:nvPr/>
          </p:nvSpPr>
          <p:spPr>
            <a:xfrm>
              <a:off x="7696200" y="5257800"/>
              <a:ext cx="2362200" cy="266700"/>
            </a:xfrm>
            <a:prstGeom prst="roundRect">
              <a:avLst>
                <a:gd name="adj" fmla="val 7143"/>
              </a:avLst>
            </a:prstGeom>
            <a:noFill/>
            <a:ln w="9525" cap="flat">
              <a:solidFill>
                <a:srgbClr val="9C9A94">
                  <a:alpha val="50000"/>
                </a:srgbClr>
              </a:solidFill>
              <a:miter lim="800000"/>
            </a:ln>
          </p:spPr>
          <p:txBody>
            <a:bodyPr/>
            <a:lstStyle/>
            <a:p>
              <a:endParaRPr lang="en-US"/>
            </a:p>
          </p:txBody>
        </p:sp>
        <p:sp>
          <p:nvSpPr>
            <p:cNvPr id="53" name="Text 54"/>
            <p:cNvSpPr txBox="1"/>
            <p:nvPr/>
          </p:nvSpPr>
          <p:spPr>
            <a:xfrm>
              <a:off x="7829550" y="5299075"/>
              <a:ext cx="2129504"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Consolas"/>
                  <a:ea typeface="Consolas"/>
                  <a:cs typeface="Consolas"/>
                </a:rPr>
                <a:t>8+ windows → 1 workspace</a:t>
              </a:r>
              <a:endParaRPr lang="en-US" sz="1200" dirty="0"/>
            </a:p>
          </p:txBody>
        </p:sp>
        <p:sp>
          <p:nvSpPr>
            <p:cNvPr id="54" name="Text 55"/>
            <p:cNvSpPr txBox="1"/>
            <p:nvPr/>
          </p:nvSpPr>
          <p:spPr>
            <a:xfrm>
              <a:off x="10795623" y="5299075"/>
              <a:ext cx="786777" cy="212090"/>
            </a:xfrm>
            <a:prstGeom prst="rect">
              <a:avLst/>
            </a:prstGeom>
            <a:noFill/>
          </p:spPr>
          <p:txBody>
            <a:bodyPr wrap="none" lIns="0" tIns="0" rIns="0" bIns="0" rtlCol="0" anchor="t">
              <a:noAutofit/>
            </a:bodyPr>
            <a:lstStyle/>
            <a:p>
              <a:pPr algn="r">
                <a:spcBef>
                  <a:spcPts val="0"/>
                </a:spcBef>
                <a:spcAft>
                  <a:spcPts val="0"/>
                </a:spcAft>
              </a:pPr>
              <a:r>
                <a:rPr lang="en-US" sz="1200" b="0" spc="150" dirty="0">
                  <a:solidFill>
                    <a:srgbClr val="9C9A94"/>
                  </a:solidFill>
                  <a:latin typeface="Consolas"/>
                  <a:ea typeface="Consolas"/>
                  <a:cs typeface="Consolas"/>
                </a:rPr>
                <a:t>FIG. 03</a:t>
              </a:r>
              <a:endParaRPr lang="en-US" sz="1200" dirty="0"/>
            </a:p>
          </p:txBody>
        </p:sp>
      </p:grpSp>
      <p:grpSp>
        <p:nvGrpSpPr>
          <p:cNvPr id="64" name="studios-strip"/>
          <p:cNvGrpSpPr/>
          <p:nvPr/>
        </p:nvGrpSpPr>
        <p:grpSpPr>
          <a:xfrm>
            <a:off x="609600" y="5753100"/>
            <a:ext cx="10972800" cy="498158"/>
            <a:chOff x="609600" y="5753100"/>
            <a:chExt cx="10972800" cy="498158"/>
          </a:xfrm>
        </p:grpSpPr>
        <p:sp>
          <p:nvSpPr>
            <p:cNvPr id="56" name="line 57"/>
            <p:cNvSpPr/>
            <p:nvPr/>
          </p:nvSpPr>
          <p:spPr>
            <a:xfrm>
              <a:off x="609600" y="5753100"/>
              <a:ext cx="10972800" cy="95"/>
            </a:xfrm>
            <a:custGeom>
              <a:avLst/>
              <a:gdLst/>
              <a:ahLst/>
              <a:cxnLst/>
              <a:rect l="0" t="0" r="r" b="b"/>
              <a:pathLst>
                <a:path w="10972800" h="95" fill="none">
                  <a:moveTo>
                    <a:pt x="0" y="0"/>
                  </a:moveTo>
                  <a:lnTo>
                    <a:pt x="10972800" y="0"/>
                  </a:lnTo>
                </a:path>
              </a:pathLst>
            </a:custGeom>
            <a:noFill/>
            <a:ln w="9525" cap="flat">
              <a:solidFill>
                <a:srgbClr val="2A2E35"/>
              </a:solidFill>
              <a:miter lim="800000"/>
            </a:ln>
          </p:spPr>
          <p:txBody>
            <a:bodyPr/>
            <a:lstStyle/>
            <a:p>
              <a:endParaRPr lang="en-US"/>
            </a:p>
          </p:txBody>
        </p:sp>
        <p:sp>
          <p:nvSpPr>
            <p:cNvPr id="57" name="Text 58"/>
            <p:cNvSpPr txBox="1"/>
            <p:nvPr/>
          </p:nvSpPr>
          <p:spPr>
            <a:xfrm>
              <a:off x="609600" y="5797550"/>
              <a:ext cx="1428500" cy="447040"/>
            </a:xfrm>
            <a:prstGeom prst="rect">
              <a:avLst/>
            </a:prstGeom>
            <a:noFill/>
          </p:spPr>
          <p:txBody>
            <a:bodyPr wrap="none" lIns="0" tIns="0" rIns="0" bIns="0" rtlCol="0" anchor="t">
              <a:noAutofit/>
            </a:bodyPr>
            <a:lstStyle/>
            <a:p>
              <a:pPr algn="l">
                <a:lnSpc>
                  <a:spcPts val="1700"/>
                </a:lnSpc>
                <a:spcBef>
                  <a:spcPts val="0"/>
                </a:spcBef>
                <a:spcAft>
                  <a:spcPts val="0"/>
                </a:spcAft>
              </a:pPr>
              <a:r>
                <a:rPr lang="en-US" sz="1200" b="0" spc="150" dirty="0">
                  <a:solidFill>
                    <a:srgbClr val="9C9A94"/>
                  </a:solidFill>
                  <a:latin typeface="Consolas"/>
                  <a:ea typeface="Consolas"/>
                  <a:cs typeface="Consolas"/>
                </a:rPr>
                <a:t>ONE APP</a:t>
              </a:r>
              <a:endParaRPr lang="en-US" sz="1200" dirty="0"/>
            </a:p>
            <a:p>
              <a:pPr algn="l">
                <a:lnSpc>
                  <a:spcPts val="1700"/>
                </a:lnSpc>
                <a:spcBef>
                  <a:spcPts val="0"/>
                </a:spcBef>
                <a:spcAft>
                  <a:spcPts val="0"/>
                </a:spcAft>
              </a:pPr>
              <a:r>
                <a:rPr lang="en-US" sz="1200" b="0" spc="150" dirty="0">
                  <a:solidFill>
                    <a:srgbClr val="EDE9E2"/>
                  </a:solidFill>
                  <a:latin typeface="Consolas"/>
                  <a:ea typeface="Consolas"/>
                  <a:cs typeface="Consolas"/>
                </a:rPr>
                <a:t>THREE STUDIOS</a:t>
              </a:r>
              <a:endParaRPr lang="en-US" sz="1200" dirty="0"/>
            </a:p>
          </p:txBody>
        </p:sp>
        <p:sp>
          <p:nvSpPr>
            <p:cNvPr id="58" name="rect 59"/>
            <p:cNvSpPr/>
            <p:nvPr/>
          </p:nvSpPr>
          <p:spPr>
            <a:xfrm>
              <a:off x="2381250" y="5857875"/>
              <a:ext cx="95250" cy="95250"/>
            </a:xfrm>
            <a:prstGeom prst="rect">
              <a:avLst/>
            </a:prstGeom>
            <a:solidFill>
              <a:srgbClr val="FF5B1F"/>
            </a:solidFill>
            <a:ln>
              <a:noFill/>
            </a:ln>
          </p:spPr>
          <p:txBody>
            <a:bodyPr/>
            <a:lstStyle/>
            <a:p>
              <a:endParaRPr lang="en-US"/>
            </a:p>
          </p:txBody>
        </p:sp>
        <p:sp>
          <p:nvSpPr>
            <p:cNvPr id="59" name="Text 60"/>
            <p:cNvSpPr txBox="1"/>
            <p:nvPr/>
          </p:nvSpPr>
          <p:spPr>
            <a:xfrm>
              <a:off x="2552700" y="5797550"/>
              <a:ext cx="2209217" cy="453707"/>
            </a:xfrm>
            <a:prstGeom prst="rect">
              <a:avLst/>
            </a:prstGeom>
            <a:noFill/>
          </p:spPr>
          <p:txBody>
            <a:bodyPr wrap="none" lIns="0" tIns="0" rIns="0" bIns="0" rtlCol="0" anchor="t">
              <a:noAutofit/>
            </a:bodyPr>
            <a:lstStyle/>
            <a:p>
              <a:pPr algn="l">
                <a:lnSpc>
                  <a:spcPts val="1700"/>
                </a:lnSpc>
                <a:spcBef>
                  <a:spcPts val="0"/>
                </a:spcBef>
                <a:spcAft>
                  <a:spcPts val="0"/>
                </a:spcAft>
              </a:pPr>
              <a:r>
                <a:rPr lang="en-US" sz="1350" b="1" dirty="0">
                  <a:solidFill>
                    <a:srgbClr val="EDE9E2"/>
                  </a:solidFill>
                  <a:latin typeface="Segoe UI"/>
                  <a:ea typeface="Segoe UI"/>
                  <a:cs typeface="Segoe UI"/>
                </a:rPr>
                <a:t>Coding Workspace</a:t>
              </a:r>
              <a:endParaRPr lang="en-US" sz="1350" dirty="0"/>
            </a:p>
            <a:p>
              <a:pPr algn="l">
                <a:lnSpc>
                  <a:spcPts val="1700"/>
                </a:lnSpc>
                <a:spcBef>
                  <a:spcPts val="0"/>
                </a:spcBef>
                <a:spcAft>
                  <a:spcPts val="0"/>
                </a:spcAft>
              </a:pPr>
              <a:r>
                <a:rPr lang="en-US" sz="1200" b="0" dirty="0">
                  <a:solidFill>
                    <a:srgbClr val="9C9A94"/>
                  </a:solidFill>
                  <a:latin typeface="Segoe UI"/>
                  <a:ea typeface="Segoe UI"/>
                  <a:cs typeface="Segoe UI"/>
                </a:rPr>
                <a:t>run AI agents in a terminal grid</a:t>
              </a:r>
              <a:endParaRPr lang="en-US" sz="1200" dirty="0"/>
            </a:p>
          </p:txBody>
        </p:sp>
        <p:sp>
          <p:nvSpPr>
            <p:cNvPr id="60" name="rect 61"/>
            <p:cNvSpPr/>
            <p:nvPr/>
          </p:nvSpPr>
          <p:spPr>
            <a:xfrm>
              <a:off x="5448300" y="5857875"/>
              <a:ext cx="95250" cy="95250"/>
            </a:xfrm>
            <a:prstGeom prst="rect">
              <a:avLst/>
            </a:prstGeom>
            <a:solidFill>
              <a:srgbClr val="3D8BFF"/>
            </a:solidFill>
            <a:ln>
              <a:noFill/>
            </a:ln>
          </p:spPr>
          <p:txBody>
            <a:bodyPr/>
            <a:lstStyle/>
            <a:p>
              <a:endParaRPr lang="en-US"/>
            </a:p>
          </p:txBody>
        </p:sp>
        <p:sp>
          <p:nvSpPr>
            <p:cNvPr id="61" name="Text 62"/>
            <p:cNvSpPr txBox="1"/>
            <p:nvPr/>
          </p:nvSpPr>
          <p:spPr>
            <a:xfrm>
              <a:off x="5619750" y="5797550"/>
              <a:ext cx="2068211" cy="453707"/>
            </a:xfrm>
            <a:prstGeom prst="rect">
              <a:avLst/>
            </a:prstGeom>
            <a:noFill/>
          </p:spPr>
          <p:txBody>
            <a:bodyPr wrap="none" lIns="0" tIns="0" rIns="0" bIns="0" rtlCol="0" anchor="t">
              <a:noAutofit/>
            </a:bodyPr>
            <a:lstStyle/>
            <a:p>
              <a:pPr algn="l">
                <a:lnSpc>
                  <a:spcPts val="1700"/>
                </a:lnSpc>
                <a:spcBef>
                  <a:spcPts val="0"/>
                </a:spcBef>
                <a:spcAft>
                  <a:spcPts val="0"/>
                </a:spcAft>
              </a:pPr>
              <a:r>
                <a:rPr lang="en-US" sz="1350" b="1" dirty="0">
                  <a:solidFill>
                    <a:srgbClr val="EDE9E2"/>
                  </a:solidFill>
                  <a:latin typeface="Segoe UI"/>
                  <a:ea typeface="Segoe UI"/>
                  <a:cs typeface="Segoe UI"/>
                </a:rPr>
                <a:t>Writing Studio</a:t>
              </a:r>
              <a:endParaRPr lang="en-US" sz="1350" dirty="0"/>
            </a:p>
            <a:p>
              <a:pPr algn="l">
                <a:lnSpc>
                  <a:spcPts val="1700"/>
                </a:lnSpc>
                <a:spcBef>
                  <a:spcPts val="0"/>
                </a:spcBef>
                <a:spcAft>
                  <a:spcPts val="0"/>
                </a:spcAft>
              </a:pPr>
              <a:r>
                <a:rPr lang="en-US" sz="1200" b="0" dirty="0">
                  <a:solidFill>
                    <a:srgbClr val="9C9A94"/>
                  </a:solidFill>
                  <a:latin typeface="Segoe UI"/>
                  <a:ea typeface="Segoe UI"/>
                  <a:cs typeface="Segoe UI"/>
                </a:rPr>
                <a:t>draft documents with AI help</a:t>
              </a:r>
              <a:endParaRPr lang="en-US" sz="1200" dirty="0"/>
            </a:p>
          </p:txBody>
        </p:sp>
        <p:sp>
          <p:nvSpPr>
            <p:cNvPr id="62" name="rect 63"/>
            <p:cNvSpPr/>
            <p:nvPr/>
          </p:nvSpPr>
          <p:spPr>
            <a:xfrm>
              <a:off x="8515350" y="5857875"/>
              <a:ext cx="95250" cy="95250"/>
            </a:xfrm>
            <a:prstGeom prst="rect">
              <a:avLst/>
            </a:prstGeom>
            <a:solidFill>
              <a:srgbClr val="A28BFF"/>
            </a:solidFill>
            <a:ln>
              <a:noFill/>
            </a:ln>
          </p:spPr>
          <p:txBody>
            <a:bodyPr/>
            <a:lstStyle/>
            <a:p>
              <a:endParaRPr lang="en-US"/>
            </a:p>
          </p:txBody>
        </p:sp>
        <p:sp>
          <p:nvSpPr>
            <p:cNvPr id="63" name="Text 64"/>
            <p:cNvSpPr txBox="1"/>
            <p:nvPr/>
          </p:nvSpPr>
          <p:spPr>
            <a:xfrm>
              <a:off x="8686800" y="5797550"/>
              <a:ext cx="1990356" cy="453707"/>
            </a:xfrm>
            <a:prstGeom prst="rect">
              <a:avLst/>
            </a:prstGeom>
            <a:noFill/>
          </p:spPr>
          <p:txBody>
            <a:bodyPr wrap="none" lIns="0" tIns="0" rIns="0" bIns="0" rtlCol="0" anchor="t">
              <a:noAutofit/>
            </a:bodyPr>
            <a:lstStyle/>
            <a:p>
              <a:pPr algn="l">
                <a:lnSpc>
                  <a:spcPts val="1700"/>
                </a:lnSpc>
                <a:spcBef>
                  <a:spcPts val="0"/>
                </a:spcBef>
                <a:spcAft>
                  <a:spcPts val="0"/>
                </a:spcAft>
              </a:pPr>
              <a:r>
                <a:rPr lang="en-US" sz="1350" b="1" dirty="0">
                  <a:solidFill>
                    <a:srgbClr val="EDE9E2"/>
                  </a:solidFill>
                  <a:latin typeface="Segoe UI"/>
                  <a:ea typeface="Segoe UI"/>
                  <a:cs typeface="Segoe UI"/>
                </a:rPr>
                <a:t>Presentation Studio</a:t>
              </a:r>
              <a:endParaRPr lang="en-US" sz="1350" dirty="0"/>
            </a:p>
            <a:p>
              <a:pPr algn="l">
                <a:lnSpc>
                  <a:spcPts val="1700"/>
                </a:lnSpc>
                <a:spcBef>
                  <a:spcPts val="0"/>
                </a:spcBef>
                <a:spcAft>
                  <a:spcPts val="0"/>
                </a:spcAft>
              </a:pPr>
              <a:r>
                <a:rPr lang="en-US" sz="1200" b="0" dirty="0">
                  <a:solidFill>
                    <a:srgbClr val="9C9A94"/>
                  </a:solidFill>
                  <a:latin typeface="Segoe UI"/>
                  <a:ea typeface="Segoe UI"/>
                  <a:cs typeface="Segoe UI"/>
                </a:rPr>
                <a:t>turn a brief into a slide deck</a:t>
              </a:r>
              <a:endParaRPr lang="en-US" sz="1200" dirty="0"/>
            </a:p>
          </p:txBody>
        </p:sp>
      </p:grpSp>
      <p:grpSp>
        <p:nvGrpSpPr>
          <p:cNvPr id="67" name="progress-rule"/>
          <p:cNvGrpSpPr/>
          <p:nvPr/>
        </p:nvGrpSpPr>
        <p:grpSpPr>
          <a:xfrm>
            <a:off x="609600" y="6381750"/>
            <a:ext cx="10972800" cy="38100"/>
            <a:chOff x="609600" y="6381750"/>
            <a:chExt cx="10972800" cy="38100"/>
          </a:xfrm>
        </p:grpSpPr>
        <p:sp>
          <p:nvSpPr>
            <p:cNvPr id="65" name="line 66"/>
            <p:cNvSpPr/>
            <p:nvPr/>
          </p:nvSpPr>
          <p:spPr>
            <a:xfrm>
              <a:off x="609600" y="6400800"/>
              <a:ext cx="10972800" cy="95"/>
            </a:xfrm>
            <a:custGeom>
              <a:avLst/>
              <a:gdLst/>
              <a:ahLst/>
              <a:cxnLst/>
              <a:rect l="0" t="0" r="r" b="b"/>
              <a:pathLst>
                <a:path w="10972800" h="95" fill="none">
                  <a:moveTo>
                    <a:pt x="0" y="0"/>
                  </a:moveTo>
                  <a:lnTo>
                    <a:pt x="10972800" y="0"/>
                  </a:lnTo>
                </a:path>
              </a:pathLst>
            </a:custGeom>
            <a:noFill/>
            <a:ln w="9525" cap="flat">
              <a:solidFill>
                <a:srgbClr val="2A2E35"/>
              </a:solidFill>
              <a:miter lim="800000"/>
            </a:ln>
          </p:spPr>
          <p:txBody>
            <a:bodyPr/>
            <a:lstStyle/>
            <a:p>
              <a:endParaRPr lang="en-US"/>
            </a:p>
          </p:txBody>
        </p:sp>
        <p:sp>
          <p:nvSpPr>
            <p:cNvPr id="66" name="rect 67"/>
            <p:cNvSpPr/>
            <p:nvPr/>
          </p:nvSpPr>
          <p:spPr>
            <a:xfrm>
              <a:off x="609600" y="6381750"/>
              <a:ext cx="2057400" cy="38100"/>
            </a:xfrm>
            <a:prstGeom prst="roundRect">
              <a:avLst>
                <a:gd name="adj" fmla="val 50000"/>
              </a:avLst>
            </a:prstGeom>
            <a:solidFill>
              <a:srgbClr val="FF5B1F"/>
            </a:solidFill>
            <a:ln>
              <a:noFill/>
            </a:ln>
          </p:spPr>
          <p:txBody>
            <a:bodyPr/>
            <a:lstStyle/>
            <a:p>
              <a:endParaRPr lang="en-US"/>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600" fill="hold"/>
                                        <p:tgtEl>
                                          <p:spTgt spid="6"/>
                                        </p:tgtEl>
                                        <p:attrNameLst>
                                          <p:attrName>ppt_y</p:attrName>
                                        </p:attrNameLst>
                                      </p:cBhvr>
                                      <p:tavLst>
                                        <p:tav tm="0">
                                          <p:val>
                                            <p:strVal val="#ppt_y+.1"/>
                                          </p:val>
                                        </p:tav>
                                        <p:tav tm="100000">
                                          <p:val>
                                            <p:strVal val="#ppt_y"/>
                                          </p:val>
                                        </p:tav>
                                      </p:tavLst>
                                    </p:anim>
                                    <p:animEffect transition="in" filter="fade">
                                      <p:cBhvr>
                                        <p:cTn id="8" dur="600"/>
                                        <p:tgtEl>
                                          <p:spTgt spid="6"/>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0-#ppt_w/2"/>
                                          </p:val>
                                        </p:tav>
                                        <p:tav tm="100000">
                                          <p:val>
                                            <p:strVal val="#ppt_x"/>
                                          </p:val>
                                        </p:tav>
                                      </p:tavLst>
                                    </p:anim>
                                    <p:anim calcmode="lin" valueType="num">
                                      <p:cBhvr additive="base">
                                        <p:cTn id="14" dur="500" fill="hold"/>
                                        <p:tgtEl>
                                          <p:spTgt spid="15"/>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2" presetClass="entr" presetSubtype="8" fill="hold" nodeType="afterEffect">
                                  <p:stCondLst>
                                    <p:cond delay="0"/>
                                  </p:stCondLst>
                                  <p:childTnLst>
                                    <p:set>
                                      <p:cBhvr>
                                        <p:cTn id="17" dur="1" fill="hold">
                                          <p:stCondLst>
                                            <p:cond delay="0"/>
                                          </p:stCondLst>
                                        </p:cTn>
                                        <p:tgtEl>
                                          <p:spTgt spid="21"/>
                                        </p:tgtEl>
                                        <p:attrNameLst>
                                          <p:attrName>style.visibility</p:attrName>
                                        </p:attrNameLst>
                                      </p:cBhvr>
                                      <p:to>
                                        <p:strVal val="visible"/>
                                      </p:to>
                                    </p:set>
                                    <p:anim calcmode="lin" valueType="num">
                                      <p:cBhvr additive="base">
                                        <p:cTn id="18" dur="500" fill="hold"/>
                                        <p:tgtEl>
                                          <p:spTgt spid="21"/>
                                        </p:tgtEl>
                                        <p:attrNameLst>
                                          <p:attrName>ppt_x</p:attrName>
                                        </p:attrNameLst>
                                      </p:cBhvr>
                                      <p:tavLst>
                                        <p:tav tm="0">
                                          <p:val>
                                            <p:strVal val="0-#ppt_w/2"/>
                                          </p:val>
                                        </p:tav>
                                        <p:tav tm="100000">
                                          <p:val>
                                            <p:strVal val="#ppt_x"/>
                                          </p:val>
                                        </p:tav>
                                      </p:tavLst>
                                    </p:anim>
                                    <p:anim calcmode="lin" valueType="num">
                                      <p:cBhvr additive="base">
                                        <p:cTn id="19" dur="500" fill="hold"/>
                                        <p:tgtEl>
                                          <p:spTgt spid="21"/>
                                        </p:tgtEl>
                                        <p:attrNameLst>
                                          <p:attrName>ppt_y</p:attrName>
                                        </p:attrNameLst>
                                      </p:cBhvr>
                                      <p:tavLst>
                                        <p:tav tm="0">
                                          <p:val>
                                            <p:strVal val="#ppt_y"/>
                                          </p:val>
                                        </p:tav>
                                        <p:tav tm="100000">
                                          <p:val>
                                            <p:strVal val="#ppt_y"/>
                                          </p:val>
                                        </p:tav>
                                      </p:tavLst>
                                    </p:anim>
                                  </p:childTnLst>
                                </p:cTn>
                              </p:par>
                            </p:childTnLst>
                          </p:cTn>
                        </p:par>
                        <p:par>
                          <p:cTn id="20" fill="hold">
                            <p:stCondLst>
                              <p:cond delay="1000"/>
                            </p:stCondLst>
                            <p:childTnLst>
                              <p:par>
                                <p:cTn id="21" presetID="2" presetClass="entr" presetSubtype="8" fill="hold" nodeType="after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fill="hold"/>
                                        <p:tgtEl>
                                          <p:spTgt spid="27"/>
                                        </p:tgtEl>
                                        <p:attrNameLst>
                                          <p:attrName>ppt_x</p:attrName>
                                        </p:attrNameLst>
                                      </p:cBhvr>
                                      <p:tavLst>
                                        <p:tav tm="0">
                                          <p:val>
                                            <p:strVal val="0-#ppt_w/2"/>
                                          </p:val>
                                        </p:tav>
                                        <p:tav tm="100000">
                                          <p:val>
                                            <p:strVal val="#ppt_x"/>
                                          </p:val>
                                        </p:tav>
                                      </p:tavLst>
                                    </p:anim>
                                    <p:anim calcmode="lin" valueType="num">
                                      <p:cBhvr additive="base">
                                        <p:cTn id="24" dur="500" fill="hold"/>
                                        <p:tgtEl>
                                          <p:spTgt spid="27"/>
                                        </p:tgtEl>
                                        <p:attrNameLst>
                                          <p:attrName>ppt_y</p:attrName>
                                        </p:attrNameLst>
                                      </p:cBhvr>
                                      <p:tavLst>
                                        <p:tav tm="0">
                                          <p:val>
                                            <p:strVal val="#ppt_y"/>
                                          </p:val>
                                        </p:tav>
                                        <p:tav tm="100000">
                                          <p:val>
                                            <p:strVal val="#ppt_y"/>
                                          </p:val>
                                        </p:tav>
                                      </p:tavLst>
                                    </p:anim>
                                  </p:childTnLst>
                                </p:cTn>
                              </p:par>
                            </p:childTnLst>
                          </p:cTn>
                        </p:par>
                        <p:par>
                          <p:cTn id="25" fill="hold">
                            <p:stCondLst>
                              <p:cond delay="1500"/>
                            </p:stCondLst>
                            <p:childTnLst>
                              <p:par>
                                <p:cTn id="26" presetID="2" presetClass="entr" presetSubtype="8" fill="hold" nodeType="afterEffect">
                                  <p:stCondLst>
                                    <p:cond delay="0"/>
                                  </p:stCondLst>
                                  <p:childTnLst>
                                    <p:set>
                                      <p:cBhvr>
                                        <p:cTn id="27" dur="1" fill="hold">
                                          <p:stCondLst>
                                            <p:cond delay="0"/>
                                          </p:stCondLst>
                                        </p:cTn>
                                        <p:tgtEl>
                                          <p:spTgt spid="33"/>
                                        </p:tgtEl>
                                        <p:attrNameLst>
                                          <p:attrName>style.visibility</p:attrName>
                                        </p:attrNameLst>
                                      </p:cBhvr>
                                      <p:to>
                                        <p:strVal val="visible"/>
                                      </p:to>
                                    </p:set>
                                    <p:anim calcmode="lin" valueType="num">
                                      <p:cBhvr additive="base">
                                        <p:cTn id="28" dur="500" fill="hold"/>
                                        <p:tgtEl>
                                          <p:spTgt spid="33"/>
                                        </p:tgtEl>
                                        <p:attrNameLst>
                                          <p:attrName>ppt_x</p:attrName>
                                        </p:attrNameLst>
                                      </p:cBhvr>
                                      <p:tavLst>
                                        <p:tav tm="0">
                                          <p:val>
                                            <p:strVal val="0-#ppt_w/2"/>
                                          </p:val>
                                        </p:tav>
                                        <p:tav tm="100000">
                                          <p:val>
                                            <p:strVal val="#ppt_x"/>
                                          </p:val>
                                        </p:tav>
                                      </p:tavLst>
                                    </p:anim>
                                    <p:anim calcmode="lin" valueType="num">
                                      <p:cBhvr additive="base">
                                        <p:cTn id="29" dur="500" fill="hold"/>
                                        <p:tgtEl>
                                          <p:spTgt spid="33"/>
                                        </p:tgtEl>
                                        <p:attrNameLst>
                                          <p:attrName>ppt_y</p:attrName>
                                        </p:attrNameLst>
                                      </p:cBhvr>
                                      <p:tavLst>
                                        <p:tav tm="0">
                                          <p:val>
                                            <p:strVal val="#ppt_y"/>
                                          </p:val>
                                        </p:tav>
                                        <p:tav tm="100000">
                                          <p:val>
                                            <p:strVal val="#ppt_y"/>
                                          </p:val>
                                        </p:tav>
                                      </p:tavLst>
                                    </p:anim>
                                  </p:childTnLst>
                                </p:cTn>
                              </p:par>
                            </p:childTnLst>
                          </p:cTn>
                        </p:par>
                        <p:par>
                          <p:cTn id="30" fill="hold">
                            <p:stCondLst>
                              <p:cond delay="2000"/>
                            </p:stCondLst>
                            <p:childTnLst>
                              <p:par>
                                <p:cTn id="31" presetID="2" presetClass="entr" presetSubtype="8" fill="hold" nodeType="afterEffect">
                                  <p:stCondLst>
                                    <p:cond delay="0"/>
                                  </p:stCondLst>
                                  <p:childTnLst>
                                    <p:set>
                                      <p:cBhvr>
                                        <p:cTn id="32" dur="1" fill="hold">
                                          <p:stCondLst>
                                            <p:cond delay="0"/>
                                          </p:stCondLst>
                                        </p:cTn>
                                        <p:tgtEl>
                                          <p:spTgt spid="40"/>
                                        </p:tgtEl>
                                        <p:attrNameLst>
                                          <p:attrName>style.visibility</p:attrName>
                                        </p:attrNameLst>
                                      </p:cBhvr>
                                      <p:to>
                                        <p:strVal val="visible"/>
                                      </p:to>
                                    </p:set>
                                    <p:anim calcmode="lin" valueType="num">
                                      <p:cBhvr additive="base">
                                        <p:cTn id="33" dur="500" fill="hold"/>
                                        <p:tgtEl>
                                          <p:spTgt spid="40"/>
                                        </p:tgtEl>
                                        <p:attrNameLst>
                                          <p:attrName>ppt_x</p:attrName>
                                        </p:attrNameLst>
                                      </p:cBhvr>
                                      <p:tavLst>
                                        <p:tav tm="0">
                                          <p:val>
                                            <p:strVal val="0-#ppt_w/2"/>
                                          </p:val>
                                        </p:tav>
                                        <p:tav tm="100000">
                                          <p:val>
                                            <p:strVal val="#ppt_x"/>
                                          </p:val>
                                        </p:tav>
                                      </p:tavLst>
                                    </p:anim>
                                    <p:anim calcmode="lin" valueType="num">
                                      <p:cBhvr additive="base">
                                        <p:cTn id="34" dur="500" fill="hold"/>
                                        <p:tgtEl>
                                          <p:spTgt spid="40"/>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51"/>
                                        </p:tgtEl>
                                        <p:attrNameLst>
                                          <p:attrName>style.visibility</p:attrName>
                                        </p:attrNameLst>
                                      </p:cBhvr>
                                      <p:to>
                                        <p:strVal val="visible"/>
                                      </p:to>
                                    </p:set>
                                    <p:animEffect transition="in" filter="fade">
                                      <p:cBhvr>
                                        <p:cTn id="39" dur="600"/>
                                        <p:tgtEl>
                                          <p:spTgt spid="51"/>
                                        </p:tgtEl>
                                      </p:cBhvr>
                                    </p:animEffect>
                                  </p:childTnLst>
                                </p:cTn>
                              </p:par>
                              <p:par>
                                <p:cTn id="40" presetID="10" presetClass="entr" presetSubtype="0" fill="hold" nodeType="withEffect">
                                  <p:stCondLst>
                                    <p:cond delay="0"/>
                                  </p:stCondLst>
                                  <p:childTnLst>
                                    <p:set>
                                      <p:cBhvr>
                                        <p:cTn id="41" dur="1" fill="hold">
                                          <p:stCondLst>
                                            <p:cond delay="0"/>
                                          </p:stCondLst>
                                        </p:cTn>
                                        <p:tgtEl>
                                          <p:spTgt spid="55"/>
                                        </p:tgtEl>
                                        <p:attrNameLst>
                                          <p:attrName>style.visibility</p:attrName>
                                        </p:attrNameLst>
                                      </p:cBhvr>
                                      <p:to>
                                        <p:strVal val="visible"/>
                                      </p:to>
                                    </p:set>
                                    <p:animEffect transition="in" filter="fade">
                                      <p:cBhvr>
                                        <p:cTn id="42" dur="600"/>
                                        <p:tgtEl>
                                          <p:spTgt spid="55"/>
                                        </p:tgtEl>
                                      </p:cBhvr>
                                    </p:animEffect>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64"/>
                                        </p:tgtEl>
                                        <p:attrNameLst>
                                          <p:attrName>style.visibility</p:attrName>
                                        </p:attrNameLst>
                                      </p:cBhvr>
                                      <p:to>
                                        <p:strVal val="visible"/>
                                      </p:to>
                                    </p:set>
                                    <p:anim calcmode="lin" valueType="num">
                                      <p:cBhvr>
                                        <p:cTn id="47" dur="600" fill="hold"/>
                                        <p:tgtEl>
                                          <p:spTgt spid="64"/>
                                        </p:tgtEl>
                                        <p:attrNameLst>
                                          <p:attrName>ppt_y</p:attrName>
                                        </p:attrNameLst>
                                      </p:cBhvr>
                                      <p:tavLst>
                                        <p:tav tm="0">
                                          <p:val>
                                            <p:strVal val="#ppt_y+.1"/>
                                          </p:val>
                                        </p:tav>
                                        <p:tav tm="100000">
                                          <p:val>
                                            <p:strVal val="#ppt_y"/>
                                          </p:val>
                                        </p:tav>
                                      </p:tavLst>
                                    </p:anim>
                                    <p:animEffect transition="in" filter="fade">
                                      <p:cBhvr>
                                        <p:cTn id="48" dur="6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B0D"/>
        </a:solidFill>
        <a:effectLst/>
      </p:bgPr>
    </p:bg>
    <p:spTree>
      <p:nvGrpSpPr>
        <p:cNvPr id="1" name=""/>
        <p:cNvGrpSpPr/>
        <p:nvPr/>
      </p:nvGrpSpPr>
      <p:grpSpPr>
        <a:xfrm>
          <a:off x="0" y="0"/>
          <a:ext cx="0" cy="0"/>
          <a:chOff x="0" y="0"/>
          <a:chExt cx="0" cy="0"/>
        </a:xfrm>
      </p:grpSpPr>
      <p:grpSp>
        <p:nvGrpSpPr>
          <p:cNvPr id="4" name="cursor-kicker"/>
          <p:cNvGrpSpPr/>
          <p:nvPr/>
        </p:nvGrpSpPr>
        <p:grpSpPr>
          <a:xfrm>
            <a:off x="609600" y="419100"/>
            <a:ext cx="2498038" cy="415290"/>
            <a:chOff x="609600" y="419100"/>
            <a:chExt cx="2498038" cy="415290"/>
          </a:xfrm>
        </p:grpSpPr>
        <p:sp>
          <p:nvSpPr>
            <p:cNvPr id="2" name="rect 3"/>
            <p:cNvSpPr/>
            <p:nvPr/>
          </p:nvSpPr>
          <p:spPr>
            <a:xfrm>
              <a:off x="609600" y="419100"/>
              <a:ext cx="457200" cy="57150"/>
            </a:xfrm>
            <a:prstGeom prst="roundRect">
              <a:avLst>
                <a:gd name="adj" fmla="val 50000"/>
              </a:avLst>
            </a:prstGeom>
            <a:solidFill>
              <a:srgbClr val="FF5B1F"/>
            </a:solidFill>
            <a:ln>
              <a:noFill/>
            </a:ln>
          </p:spPr>
          <p:txBody>
            <a:bodyPr/>
            <a:lstStyle/>
            <a:p>
              <a:endParaRPr lang="en-US"/>
            </a:p>
          </p:txBody>
        </p:sp>
        <p:sp>
          <p:nvSpPr>
            <p:cNvPr id="3" name="Text 4"/>
            <p:cNvSpPr txBox="1"/>
            <p:nvPr/>
          </p:nvSpPr>
          <p:spPr>
            <a:xfrm>
              <a:off x="609600" y="622300"/>
              <a:ext cx="2498038" cy="212090"/>
            </a:xfrm>
            <a:prstGeom prst="rect">
              <a:avLst/>
            </a:prstGeom>
            <a:noFill/>
          </p:spPr>
          <p:txBody>
            <a:bodyPr wrap="none" lIns="0" tIns="0" rIns="0" bIns="0" rtlCol="0" anchor="t">
              <a:noAutofit/>
            </a:bodyPr>
            <a:lstStyle/>
            <a:p>
              <a:pPr algn="l">
                <a:spcBef>
                  <a:spcPts val="0"/>
                </a:spcBef>
                <a:spcAft>
                  <a:spcPts val="0"/>
                </a:spcAft>
              </a:pPr>
              <a:r>
                <a:rPr lang="en-US" sz="1200" b="0" spc="150" dirty="0">
                  <a:solidFill>
                    <a:srgbClr val="9C9A94"/>
                  </a:solidFill>
                  <a:latin typeface="Consolas"/>
                  <a:ea typeface="Consolas"/>
                  <a:cs typeface="Consolas"/>
                </a:rPr>
                <a:t>YZPZCODE / AGENT ROSTER</a:t>
              </a:r>
              <a:endParaRPr lang="en-US" sz="1200" dirty="0"/>
            </a:p>
          </p:txBody>
        </p:sp>
      </p:grpSp>
      <p:sp>
        <p:nvSpPr>
          <p:cNvPr id="5" name="Text 6"/>
          <p:cNvSpPr txBox="1"/>
          <p:nvPr/>
        </p:nvSpPr>
        <p:spPr>
          <a:xfrm>
            <a:off x="10795623" y="622300"/>
            <a:ext cx="786777" cy="212090"/>
          </a:xfrm>
          <a:prstGeom prst="rect">
            <a:avLst/>
          </a:prstGeom>
          <a:noFill/>
        </p:spPr>
        <p:txBody>
          <a:bodyPr wrap="none" lIns="0" tIns="0" rIns="0" bIns="0" rtlCol="0" anchor="t">
            <a:noAutofit/>
          </a:bodyPr>
          <a:lstStyle/>
          <a:p>
            <a:pPr algn="r">
              <a:spcBef>
                <a:spcPts val="0"/>
              </a:spcBef>
              <a:spcAft>
                <a:spcPts val="0"/>
              </a:spcAft>
            </a:pPr>
            <a:r>
              <a:rPr lang="en-US" sz="1200" b="0" spc="150" dirty="0">
                <a:solidFill>
                  <a:srgbClr val="9C9A94"/>
                </a:solidFill>
                <a:latin typeface="Consolas"/>
                <a:ea typeface="Consolas"/>
                <a:cs typeface="Consolas"/>
              </a:rPr>
              <a:t>04 / 16</a:t>
            </a:r>
            <a:endParaRPr lang="en-US" sz="1200" dirty="0"/>
          </a:p>
        </p:txBody>
      </p:sp>
      <p:sp>
        <p:nvSpPr>
          <p:cNvPr id="6" name="Text 7"/>
          <p:cNvSpPr txBox="1"/>
          <p:nvPr/>
        </p:nvSpPr>
        <p:spPr>
          <a:xfrm>
            <a:off x="609600" y="882650"/>
            <a:ext cx="7589103" cy="1054735"/>
          </a:xfrm>
          <a:prstGeom prst="rect">
            <a:avLst/>
          </a:prstGeom>
          <a:noFill/>
        </p:spPr>
        <p:txBody>
          <a:bodyPr wrap="none" lIns="0" tIns="0" rIns="0" bIns="0" rtlCol="0" anchor="t">
            <a:noAutofit/>
          </a:bodyPr>
          <a:lstStyle/>
          <a:p>
            <a:pPr algn="l">
              <a:lnSpc>
                <a:spcPts val="3900"/>
              </a:lnSpc>
              <a:spcBef>
                <a:spcPts val="0"/>
              </a:spcBef>
              <a:spcAft>
                <a:spcPts val="0"/>
              </a:spcAft>
            </a:pPr>
            <a:r>
              <a:rPr lang="en-US" sz="3300" b="1" dirty="0">
                <a:solidFill>
                  <a:srgbClr val="EDE9E2"/>
                </a:solidFill>
                <a:latin typeface="Bahnschrift"/>
                <a:ea typeface="Bahnschrift"/>
                <a:cs typeface="Bahnschrift"/>
              </a:rPr>
              <a:t>Nine core agents, </a:t>
            </a:r>
            <a:r>
              <a:rPr lang="en-US" sz="3300" b="1" dirty="0">
                <a:solidFill>
                  <a:srgbClr val="FF5B1F"/>
                </a:solidFill>
                <a:latin typeface="Bahnschrift"/>
                <a:ea typeface="Bahnschrift"/>
                <a:cs typeface="Bahnschrift"/>
              </a:rPr>
              <a:t>26</a:t>
            </a:r>
            <a:r>
              <a:rPr lang="en-US" sz="3300" b="1" dirty="0">
                <a:solidFill>
                  <a:srgbClr val="EDE9E2"/>
                </a:solidFill>
                <a:latin typeface="Bahnschrift"/>
                <a:ea typeface="Bahnschrift"/>
                <a:cs typeface="Bahnschrift"/>
              </a:rPr>
              <a:t> in total,</a:t>
            </a:r>
            <a:endParaRPr lang="en-US" sz="3300" dirty="0"/>
          </a:p>
          <a:p>
            <a:pPr algn="l">
              <a:lnSpc>
                <a:spcPts val="3900"/>
              </a:lnSpc>
              <a:spcBef>
                <a:spcPts val="0"/>
              </a:spcBef>
              <a:spcAft>
                <a:spcPts val="0"/>
              </a:spcAft>
            </a:pPr>
            <a:r>
              <a:rPr lang="en-US" sz="3300" b="1" dirty="0">
                <a:solidFill>
                  <a:srgbClr val="EDE9E2"/>
                </a:solidFill>
                <a:latin typeface="Bahnschrift"/>
                <a:ea typeface="Bahnschrift"/>
                <a:cs typeface="Bahnschrift"/>
              </a:rPr>
              <a:t>detected and launched from one dialog</a:t>
            </a:r>
            <a:endParaRPr lang="en-US" sz="3300" dirty="0"/>
          </a:p>
        </p:txBody>
      </p:sp>
      <p:grpSp>
        <p:nvGrpSpPr>
          <p:cNvPr id="61" name="agent-grid"/>
          <p:cNvGrpSpPr/>
          <p:nvPr/>
        </p:nvGrpSpPr>
        <p:grpSpPr>
          <a:xfrm>
            <a:off x="609600" y="2057400"/>
            <a:ext cx="6800850" cy="3762375"/>
            <a:chOff x="609600" y="2057400"/>
            <a:chExt cx="6800850" cy="3762375"/>
          </a:xfrm>
        </p:grpSpPr>
        <p:sp>
          <p:nvSpPr>
            <p:cNvPr id="7" name="rect 8"/>
            <p:cNvSpPr/>
            <p:nvPr/>
          </p:nvSpPr>
          <p:spPr>
            <a:xfrm>
              <a:off x="609600" y="2057400"/>
              <a:ext cx="2190750" cy="1190625"/>
            </a:xfrm>
            <a:prstGeom prst="roundRect">
              <a:avLst>
                <a:gd name="adj" fmla="val 1600"/>
              </a:avLst>
            </a:prstGeom>
            <a:solidFill>
              <a:srgbClr val="14171B"/>
            </a:solidFill>
            <a:ln w="9525" cap="flat">
              <a:solidFill>
                <a:srgbClr val="2A2E35"/>
              </a:solidFill>
              <a:miter lim="800000"/>
            </a:ln>
          </p:spPr>
          <p:txBody>
            <a:bodyPr/>
            <a:lstStyle/>
            <a:p>
              <a:endParaRPr lang="en-US"/>
            </a:p>
          </p:txBody>
        </p:sp>
        <p:sp>
          <p:nvSpPr>
            <p:cNvPr id="8" name="circle 9"/>
            <p:cNvSpPr/>
            <p:nvPr/>
          </p:nvSpPr>
          <p:spPr>
            <a:xfrm>
              <a:off x="2595563" y="2233613"/>
              <a:ext cx="66675" cy="66675"/>
            </a:xfrm>
            <a:prstGeom prst="ellipse">
              <a:avLst/>
            </a:prstGeom>
            <a:solidFill>
              <a:srgbClr val="3D8BFF"/>
            </a:solidFill>
            <a:ln>
              <a:noFill/>
            </a:ln>
          </p:spPr>
          <p:txBody>
            <a:bodyPr/>
            <a:lstStyle/>
            <a:p>
              <a:endParaRPr lang="en-US"/>
            </a:p>
          </p:txBody>
        </p:sp>
        <p:sp>
          <p:nvSpPr>
            <p:cNvPr id="9" name="Text 10"/>
            <p:cNvSpPr txBox="1"/>
            <p:nvPr/>
          </p:nvSpPr>
          <p:spPr>
            <a:xfrm>
              <a:off x="762000" y="2146300"/>
              <a:ext cx="1142464" cy="263525"/>
            </a:xfrm>
            <a:prstGeom prst="rect">
              <a:avLst/>
            </a:prstGeom>
            <a:noFill/>
          </p:spPr>
          <p:txBody>
            <a:bodyPr wrap="none" lIns="0" tIns="0" rIns="0" bIns="0" rtlCol="0" anchor="t">
              <a:noAutofit/>
            </a:bodyPr>
            <a:lstStyle/>
            <a:p>
              <a:pPr algn="l">
                <a:spcBef>
                  <a:spcPts val="0"/>
                </a:spcBef>
                <a:spcAft>
                  <a:spcPts val="0"/>
                </a:spcAft>
              </a:pPr>
              <a:r>
                <a:rPr lang="en-US" sz="1500" b="1" dirty="0">
                  <a:solidFill>
                    <a:srgbClr val="EDE9E2"/>
                  </a:solidFill>
                  <a:latin typeface="Bahnschrift"/>
                  <a:ea typeface="Bahnschrift"/>
                  <a:cs typeface="Bahnschrift"/>
                </a:rPr>
                <a:t>Claude Code</a:t>
              </a:r>
              <a:endParaRPr lang="en-US" sz="1500" dirty="0"/>
            </a:p>
          </p:txBody>
        </p:sp>
        <p:sp>
          <p:nvSpPr>
            <p:cNvPr id="10" name="rect 11"/>
            <p:cNvSpPr/>
            <p:nvPr/>
          </p:nvSpPr>
          <p:spPr>
            <a:xfrm>
              <a:off x="762000" y="2438400"/>
              <a:ext cx="857250" cy="228600"/>
            </a:xfrm>
            <a:prstGeom prst="roundRect">
              <a:avLst>
                <a:gd name="adj" fmla="val 8333"/>
              </a:avLst>
            </a:prstGeom>
            <a:noFill/>
            <a:ln w="9525" cap="flat">
              <a:solidFill>
                <a:srgbClr val="9C9A94">
                  <a:alpha val="50000"/>
                </a:srgbClr>
              </a:solidFill>
              <a:miter lim="800000"/>
            </a:ln>
          </p:spPr>
          <p:txBody>
            <a:bodyPr/>
            <a:lstStyle/>
            <a:p>
              <a:endParaRPr lang="en-US"/>
            </a:p>
          </p:txBody>
        </p:sp>
        <p:sp>
          <p:nvSpPr>
            <p:cNvPr id="11" name="Text 12"/>
            <p:cNvSpPr txBox="1"/>
            <p:nvPr/>
          </p:nvSpPr>
          <p:spPr>
            <a:xfrm>
              <a:off x="857250" y="2460625"/>
              <a:ext cx="735235"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FF5B1F"/>
                  </a:solidFill>
                  <a:latin typeface="Consolas"/>
                  <a:ea typeface="Consolas"/>
                  <a:cs typeface="Consolas"/>
                </a:rPr>
                <a:t>$</a:t>
              </a:r>
              <a:r>
                <a:rPr lang="en-US" sz="1200" b="0" dirty="0">
                  <a:solidFill>
                    <a:srgbClr val="EDE9E2"/>
                  </a:solidFill>
                  <a:latin typeface="Consolas"/>
                  <a:ea typeface="Consolas"/>
                  <a:cs typeface="Consolas"/>
                </a:rPr>
                <a:t> claude</a:t>
              </a:r>
              <a:endParaRPr lang="en-US" sz="1200" dirty="0"/>
            </a:p>
          </p:txBody>
        </p:sp>
        <p:sp>
          <p:nvSpPr>
            <p:cNvPr id="12" name="Text 13"/>
            <p:cNvSpPr txBox="1"/>
            <p:nvPr/>
          </p:nvSpPr>
          <p:spPr>
            <a:xfrm>
              <a:off x="762000" y="2743200"/>
              <a:ext cx="1452955" cy="424815"/>
            </a:xfrm>
            <a:prstGeom prst="rect">
              <a:avLst/>
            </a:prstGeom>
            <a:noFill/>
          </p:spPr>
          <p:txBody>
            <a:bodyPr wrap="none" lIns="0" tIns="0" rIns="0" bIns="0" rtlCol="0" anchor="t">
              <a:noAutofit/>
            </a:bodyPr>
            <a:lstStyle/>
            <a:p>
              <a:pPr algn="l">
                <a:lnSpc>
                  <a:spcPts val="1600"/>
                </a:lnSpc>
                <a:spcBef>
                  <a:spcPts val="0"/>
                </a:spcBef>
                <a:spcAft>
                  <a:spcPts val="0"/>
                </a:spcAft>
              </a:pPr>
              <a:r>
                <a:rPr lang="en-US" sz="1200" b="0" dirty="0">
                  <a:solidFill>
                    <a:srgbClr val="9C9A94"/>
                  </a:solidFill>
                  <a:latin typeface="Segoe UI"/>
                  <a:ea typeface="Segoe UI"/>
                  <a:cs typeface="Segoe UI"/>
                </a:rPr>
                <a:t>Deep thinker that</a:t>
              </a:r>
              <a:endParaRPr lang="en-US" sz="1200" dirty="0"/>
            </a:p>
            <a:p>
              <a:pPr algn="l">
                <a:lnSpc>
                  <a:spcPts val="1600"/>
                </a:lnSpc>
                <a:spcBef>
                  <a:spcPts val="0"/>
                </a:spcBef>
                <a:spcAft>
                  <a:spcPts val="0"/>
                </a:spcAft>
              </a:pPr>
              <a:r>
                <a:rPr lang="en-US" sz="1200" b="0" dirty="0">
                  <a:solidFill>
                    <a:srgbClr val="9C9A94"/>
                  </a:solidFill>
                  <a:latin typeface="Segoe UI"/>
                  <a:ea typeface="Segoe UI"/>
                  <a:cs typeface="Segoe UI"/>
                </a:rPr>
                <a:t>reworks big projects</a:t>
              </a:r>
              <a:endParaRPr lang="en-US" sz="1200" dirty="0"/>
            </a:p>
          </p:txBody>
        </p:sp>
        <p:sp>
          <p:nvSpPr>
            <p:cNvPr id="13" name="rect 14"/>
            <p:cNvSpPr/>
            <p:nvPr/>
          </p:nvSpPr>
          <p:spPr>
            <a:xfrm>
              <a:off x="2914650" y="2057400"/>
              <a:ext cx="2190750" cy="1190625"/>
            </a:xfrm>
            <a:prstGeom prst="roundRect">
              <a:avLst>
                <a:gd name="adj" fmla="val 1600"/>
              </a:avLst>
            </a:prstGeom>
            <a:solidFill>
              <a:srgbClr val="14171B"/>
            </a:solidFill>
            <a:ln w="9525" cap="flat">
              <a:solidFill>
                <a:srgbClr val="2A2E35"/>
              </a:solidFill>
              <a:miter lim="800000"/>
            </a:ln>
          </p:spPr>
          <p:txBody>
            <a:bodyPr/>
            <a:lstStyle/>
            <a:p>
              <a:endParaRPr lang="en-US"/>
            </a:p>
          </p:txBody>
        </p:sp>
        <p:sp>
          <p:nvSpPr>
            <p:cNvPr id="14" name="circle 15"/>
            <p:cNvSpPr/>
            <p:nvPr/>
          </p:nvSpPr>
          <p:spPr>
            <a:xfrm>
              <a:off x="4900613" y="2233613"/>
              <a:ext cx="66675" cy="66675"/>
            </a:xfrm>
            <a:prstGeom prst="ellipse">
              <a:avLst/>
            </a:prstGeom>
            <a:solidFill>
              <a:srgbClr val="3D8BFF"/>
            </a:solidFill>
            <a:ln>
              <a:noFill/>
            </a:ln>
          </p:spPr>
          <p:txBody>
            <a:bodyPr/>
            <a:lstStyle/>
            <a:p>
              <a:endParaRPr lang="en-US"/>
            </a:p>
          </p:txBody>
        </p:sp>
        <p:sp>
          <p:nvSpPr>
            <p:cNvPr id="15" name="Text 16"/>
            <p:cNvSpPr txBox="1"/>
            <p:nvPr/>
          </p:nvSpPr>
          <p:spPr>
            <a:xfrm>
              <a:off x="3067050" y="2146300"/>
              <a:ext cx="1336328" cy="263525"/>
            </a:xfrm>
            <a:prstGeom prst="rect">
              <a:avLst/>
            </a:prstGeom>
            <a:noFill/>
          </p:spPr>
          <p:txBody>
            <a:bodyPr wrap="none" lIns="0" tIns="0" rIns="0" bIns="0" rtlCol="0" anchor="t">
              <a:noAutofit/>
            </a:bodyPr>
            <a:lstStyle/>
            <a:p>
              <a:pPr algn="l">
                <a:spcBef>
                  <a:spcPts val="0"/>
                </a:spcBef>
                <a:spcAft>
                  <a:spcPts val="0"/>
                </a:spcAft>
              </a:pPr>
              <a:r>
                <a:rPr lang="en-US" sz="1500" b="1" dirty="0">
                  <a:solidFill>
                    <a:srgbClr val="EDE9E2"/>
                  </a:solidFill>
                  <a:latin typeface="Bahnschrift"/>
                  <a:ea typeface="Bahnschrift"/>
                  <a:cs typeface="Bahnschrift"/>
                </a:rPr>
                <a:t>Antigravity CLI</a:t>
              </a:r>
              <a:endParaRPr lang="en-US" sz="1500" dirty="0"/>
            </a:p>
          </p:txBody>
        </p:sp>
        <p:sp>
          <p:nvSpPr>
            <p:cNvPr id="16" name="rect 17"/>
            <p:cNvSpPr/>
            <p:nvPr/>
          </p:nvSpPr>
          <p:spPr>
            <a:xfrm>
              <a:off x="3067050" y="2438400"/>
              <a:ext cx="609600" cy="228600"/>
            </a:xfrm>
            <a:prstGeom prst="roundRect">
              <a:avLst>
                <a:gd name="adj" fmla="val 8333"/>
              </a:avLst>
            </a:prstGeom>
            <a:noFill/>
            <a:ln w="9525" cap="flat">
              <a:solidFill>
                <a:srgbClr val="9C9A94">
                  <a:alpha val="50000"/>
                </a:srgbClr>
              </a:solidFill>
              <a:miter lim="800000"/>
            </a:ln>
          </p:spPr>
          <p:txBody>
            <a:bodyPr/>
            <a:lstStyle/>
            <a:p>
              <a:endParaRPr lang="en-US"/>
            </a:p>
          </p:txBody>
        </p:sp>
        <p:sp>
          <p:nvSpPr>
            <p:cNvPr id="17" name="Text 18"/>
            <p:cNvSpPr txBox="1"/>
            <p:nvPr/>
          </p:nvSpPr>
          <p:spPr>
            <a:xfrm>
              <a:off x="3162300" y="2460625"/>
              <a:ext cx="473809"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FF5B1F"/>
                  </a:solidFill>
                  <a:latin typeface="Consolas"/>
                  <a:ea typeface="Consolas"/>
                  <a:cs typeface="Consolas"/>
                </a:rPr>
                <a:t>$</a:t>
              </a:r>
              <a:r>
                <a:rPr lang="en-US" sz="1200" b="0" dirty="0">
                  <a:solidFill>
                    <a:srgbClr val="EDE9E2"/>
                  </a:solidFill>
                  <a:latin typeface="Consolas"/>
                  <a:ea typeface="Consolas"/>
                  <a:cs typeface="Consolas"/>
                </a:rPr>
                <a:t> agy</a:t>
              </a:r>
              <a:endParaRPr lang="en-US" sz="1200" dirty="0"/>
            </a:p>
          </p:txBody>
        </p:sp>
        <p:sp>
          <p:nvSpPr>
            <p:cNvPr id="18" name="Text 19"/>
            <p:cNvSpPr txBox="1"/>
            <p:nvPr/>
          </p:nvSpPr>
          <p:spPr>
            <a:xfrm>
              <a:off x="3067050" y="2743200"/>
              <a:ext cx="1606498" cy="424815"/>
            </a:xfrm>
            <a:prstGeom prst="rect">
              <a:avLst/>
            </a:prstGeom>
            <a:noFill/>
          </p:spPr>
          <p:txBody>
            <a:bodyPr wrap="none" lIns="0" tIns="0" rIns="0" bIns="0" rtlCol="0" anchor="t">
              <a:noAutofit/>
            </a:bodyPr>
            <a:lstStyle/>
            <a:p>
              <a:pPr algn="l">
                <a:lnSpc>
                  <a:spcPts val="1600"/>
                </a:lnSpc>
                <a:spcBef>
                  <a:spcPts val="0"/>
                </a:spcBef>
                <a:spcAft>
                  <a:spcPts val="0"/>
                </a:spcAft>
              </a:pPr>
              <a:r>
                <a:rPr lang="en-US" sz="1200" b="0" dirty="0">
                  <a:solidFill>
                    <a:srgbClr val="9C9A94"/>
                  </a:solidFill>
                  <a:latin typeface="Segoe UI"/>
                  <a:ea typeface="Segoe UI"/>
                  <a:cs typeface="Segoe UI"/>
                </a:rPr>
                <a:t>Runs tasks on its own,</a:t>
              </a:r>
              <a:endParaRPr lang="en-US" sz="1200" dirty="0"/>
            </a:p>
            <a:p>
              <a:pPr algn="l">
                <a:lnSpc>
                  <a:spcPts val="1600"/>
                </a:lnSpc>
                <a:spcBef>
                  <a:spcPts val="0"/>
                </a:spcBef>
                <a:spcAft>
                  <a:spcPts val="0"/>
                </a:spcAft>
              </a:pPr>
              <a:r>
                <a:rPr lang="en-US" sz="1200" b="0" dirty="0">
                  <a:solidFill>
                    <a:srgbClr val="9C9A94"/>
                  </a:solidFill>
                  <a:latin typeface="Segoe UI"/>
                  <a:ea typeface="Segoe UI"/>
                  <a:cs typeface="Segoe UI"/>
                </a:rPr>
                <a:t>powered by Google AI</a:t>
              </a:r>
              <a:endParaRPr lang="en-US" sz="1200" dirty="0"/>
            </a:p>
          </p:txBody>
        </p:sp>
        <p:sp>
          <p:nvSpPr>
            <p:cNvPr id="19" name="rect 20"/>
            <p:cNvSpPr/>
            <p:nvPr/>
          </p:nvSpPr>
          <p:spPr>
            <a:xfrm>
              <a:off x="5219700" y="2057400"/>
              <a:ext cx="2190750" cy="1190625"/>
            </a:xfrm>
            <a:prstGeom prst="roundRect">
              <a:avLst>
                <a:gd name="adj" fmla="val 1600"/>
              </a:avLst>
            </a:prstGeom>
            <a:solidFill>
              <a:srgbClr val="14171B"/>
            </a:solidFill>
            <a:ln w="9525" cap="flat">
              <a:solidFill>
                <a:srgbClr val="2A2E35"/>
              </a:solidFill>
              <a:miter lim="800000"/>
            </a:ln>
          </p:spPr>
          <p:txBody>
            <a:bodyPr/>
            <a:lstStyle/>
            <a:p>
              <a:endParaRPr lang="en-US"/>
            </a:p>
          </p:txBody>
        </p:sp>
        <p:sp>
          <p:nvSpPr>
            <p:cNvPr id="20" name="circle 21"/>
            <p:cNvSpPr/>
            <p:nvPr/>
          </p:nvSpPr>
          <p:spPr>
            <a:xfrm>
              <a:off x="7205663" y="2233613"/>
              <a:ext cx="66675" cy="66675"/>
            </a:xfrm>
            <a:prstGeom prst="ellipse">
              <a:avLst/>
            </a:prstGeom>
            <a:solidFill>
              <a:srgbClr val="3D8BFF"/>
            </a:solidFill>
            <a:ln>
              <a:noFill/>
            </a:ln>
          </p:spPr>
          <p:txBody>
            <a:bodyPr/>
            <a:lstStyle/>
            <a:p>
              <a:endParaRPr lang="en-US"/>
            </a:p>
          </p:txBody>
        </p:sp>
        <p:sp>
          <p:nvSpPr>
            <p:cNvPr id="21" name="Text 22"/>
            <p:cNvSpPr txBox="1"/>
            <p:nvPr/>
          </p:nvSpPr>
          <p:spPr>
            <a:xfrm>
              <a:off x="5372100" y="2146300"/>
              <a:ext cx="923159" cy="263525"/>
            </a:xfrm>
            <a:prstGeom prst="rect">
              <a:avLst/>
            </a:prstGeom>
            <a:noFill/>
          </p:spPr>
          <p:txBody>
            <a:bodyPr wrap="none" lIns="0" tIns="0" rIns="0" bIns="0" rtlCol="0" anchor="t">
              <a:noAutofit/>
            </a:bodyPr>
            <a:lstStyle/>
            <a:p>
              <a:pPr algn="l">
                <a:spcBef>
                  <a:spcPts val="0"/>
                </a:spcBef>
                <a:spcAft>
                  <a:spcPts val="0"/>
                </a:spcAft>
              </a:pPr>
              <a:r>
                <a:rPr lang="en-US" sz="1500" b="1" dirty="0">
                  <a:solidFill>
                    <a:srgbClr val="EDE9E2"/>
                  </a:solidFill>
                  <a:latin typeface="Bahnschrift"/>
                  <a:ea typeface="Bahnschrift"/>
                  <a:cs typeface="Bahnschrift"/>
                </a:rPr>
                <a:t>Codex CLI</a:t>
              </a:r>
              <a:endParaRPr lang="en-US" sz="1500" dirty="0"/>
            </a:p>
          </p:txBody>
        </p:sp>
        <p:sp>
          <p:nvSpPr>
            <p:cNvPr id="22" name="rect 23"/>
            <p:cNvSpPr/>
            <p:nvPr/>
          </p:nvSpPr>
          <p:spPr>
            <a:xfrm>
              <a:off x="5372100" y="2438400"/>
              <a:ext cx="781050" cy="228600"/>
            </a:xfrm>
            <a:prstGeom prst="roundRect">
              <a:avLst>
                <a:gd name="adj" fmla="val 8333"/>
              </a:avLst>
            </a:prstGeom>
            <a:noFill/>
            <a:ln w="9525" cap="flat">
              <a:solidFill>
                <a:srgbClr val="9C9A94">
                  <a:alpha val="50000"/>
                </a:srgbClr>
              </a:solidFill>
              <a:miter lim="800000"/>
            </a:ln>
          </p:spPr>
          <p:txBody>
            <a:bodyPr/>
            <a:lstStyle/>
            <a:p>
              <a:endParaRPr lang="en-US"/>
            </a:p>
          </p:txBody>
        </p:sp>
        <p:sp>
          <p:nvSpPr>
            <p:cNvPr id="23" name="Text 24"/>
            <p:cNvSpPr txBox="1"/>
            <p:nvPr/>
          </p:nvSpPr>
          <p:spPr>
            <a:xfrm>
              <a:off x="5467350" y="2460625"/>
              <a:ext cx="648093"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FF5B1F"/>
                  </a:solidFill>
                  <a:latin typeface="Consolas"/>
                  <a:ea typeface="Consolas"/>
                  <a:cs typeface="Consolas"/>
                </a:rPr>
                <a:t>$</a:t>
              </a:r>
              <a:r>
                <a:rPr lang="en-US" sz="1200" b="0" dirty="0">
                  <a:solidFill>
                    <a:srgbClr val="EDE9E2"/>
                  </a:solidFill>
                  <a:latin typeface="Consolas"/>
                  <a:ea typeface="Consolas"/>
                  <a:cs typeface="Consolas"/>
                </a:rPr>
                <a:t> codex</a:t>
              </a:r>
              <a:endParaRPr lang="en-US" sz="1200" dirty="0"/>
            </a:p>
          </p:txBody>
        </p:sp>
        <p:sp>
          <p:nvSpPr>
            <p:cNvPr id="24" name="Text 25"/>
            <p:cNvSpPr txBox="1"/>
            <p:nvPr/>
          </p:nvSpPr>
          <p:spPr>
            <a:xfrm>
              <a:off x="5372100" y="2743200"/>
              <a:ext cx="1278594" cy="424815"/>
            </a:xfrm>
            <a:prstGeom prst="rect">
              <a:avLst/>
            </a:prstGeom>
            <a:noFill/>
          </p:spPr>
          <p:txBody>
            <a:bodyPr wrap="none" lIns="0" tIns="0" rIns="0" bIns="0" rtlCol="0" anchor="t">
              <a:noAutofit/>
            </a:bodyPr>
            <a:lstStyle/>
            <a:p>
              <a:pPr algn="l">
                <a:lnSpc>
                  <a:spcPts val="1600"/>
                </a:lnSpc>
                <a:spcBef>
                  <a:spcPts val="0"/>
                </a:spcBef>
                <a:spcAft>
                  <a:spcPts val="0"/>
                </a:spcAft>
              </a:pPr>
              <a:r>
                <a:rPr lang="en-US" sz="1200" b="0" dirty="0">
                  <a:solidFill>
                    <a:srgbClr val="9C9A94"/>
                  </a:solidFill>
                  <a:latin typeface="Segoe UI"/>
                  <a:ea typeface="Segoe UI"/>
                  <a:cs typeface="Segoe UI"/>
                </a:rPr>
                <a:t>Precise code, plus</a:t>
              </a:r>
              <a:endParaRPr lang="en-US" sz="1200" dirty="0"/>
            </a:p>
            <a:p>
              <a:pPr algn="l">
                <a:lnSpc>
                  <a:spcPts val="1600"/>
                </a:lnSpc>
                <a:spcBef>
                  <a:spcPts val="0"/>
                </a:spcBef>
                <a:spcAft>
                  <a:spcPts val="0"/>
                </a:spcAft>
              </a:pPr>
              <a:r>
                <a:rPr lang="en-US" sz="1200" b="0" dirty="0">
                  <a:solidFill>
                    <a:srgbClr val="9C9A94"/>
                  </a:solidFill>
                  <a:latin typeface="Segoe UI"/>
                  <a:ea typeface="Segoe UI"/>
                  <a:cs typeface="Segoe UI"/>
                </a:rPr>
                <a:t>tests that check it</a:t>
              </a:r>
              <a:endParaRPr lang="en-US" sz="1200" dirty="0"/>
            </a:p>
          </p:txBody>
        </p:sp>
        <p:sp>
          <p:nvSpPr>
            <p:cNvPr id="25" name="rect 26"/>
            <p:cNvSpPr/>
            <p:nvPr/>
          </p:nvSpPr>
          <p:spPr>
            <a:xfrm>
              <a:off x="609600" y="3343275"/>
              <a:ext cx="2190750" cy="1190625"/>
            </a:xfrm>
            <a:prstGeom prst="roundRect">
              <a:avLst>
                <a:gd name="adj" fmla="val 1600"/>
              </a:avLst>
            </a:prstGeom>
            <a:solidFill>
              <a:srgbClr val="14171B"/>
            </a:solidFill>
            <a:ln w="9525" cap="flat">
              <a:solidFill>
                <a:srgbClr val="2A2E35"/>
              </a:solidFill>
              <a:miter lim="800000"/>
            </a:ln>
          </p:spPr>
          <p:txBody>
            <a:bodyPr/>
            <a:lstStyle/>
            <a:p>
              <a:endParaRPr lang="en-US"/>
            </a:p>
          </p:txBody>
        </p:sp>
        <p:sp>
          <p:nvSpPr>
            <p:cNvPr id="26" name="circle 27"/>
            <p:cNvSpPr/>
            <p:nvPr/>
          </p:nvSpPr>
          <p:spPr>
            <a:xfrm>
              <a:off x="2595563" y="3519488"/>
              <a:ext cx="66675" cy="66675"/>
            </a:xfrm>
            <a:prstGeom prst="ellipse">
              <a:avLst/>
            </a:prstGeom>
            <a:solidFill>
              <a:srgbClr val="3D8BFF"/>
            </a:solidFill>
            <a:ln>
              <a:noFill/>
            </a:ln>
          </p:spPr>
          <p:txBody>
            <a:bodyPr/>
            <a:lstStyle/>
            <a:p>
              <a:endParaRPr lang="en-US"/>
            </a:p>
          </p:txBody>
        </p:sp>
        <p:sp>
          <p:nvSpPr>
            <p:cNvPr id="27" name="Text 28"/>
            <p:cNvSpPr txBox="1"/>
            <p:nvPr/>
          </p:nvSpPr>
          <p:spPr>
            <a:xfrm>
              <a:off x="762000" y="3432175"/>
              <a:ext cx="934187" cy="263525"/>
            </a:xfrm>
            <a:prstGeom prst="rect">
              <a:avLst/>
            </a:prstGeom>
            <a:noFill/>
          </p:spPr>
          <p:txBody>
            <a:bodyPr wrap="none" lIns="0" tIns="0" rIns="0" bIns="0" rtlCol="0" anchor="t">
              <a:noAutofit/>
            </a:bodyPr>
            <a:lstStyle/>
            <a:p>
              <a:pPr algn="l">
                <a:spcBef>
                  <a:spcPts val="0"/>
                </a:spcBef>
                <a:spcAft>
                  <a:spcPts val="0"/>
                </a:spcAft>
              </a:pPr>
              <a:r>
                <a:rPr lang="en-US" sz="1500" b="1" dirty="0">
                  <a:solidFill>
                    <a:srgbClr val="EDE9E2"/>
                  </a:solidFill>
                  <a:latin typeface="Bahnschrift"/>
                  <a:ea typeface="Bahnschrift"/>
                  <a:cs typeface="Bahnschrift"/>
                </a:rPr>
                <a:t>OpenCode</a:t>
              </a:r>
              <a:endParaRPr lang="en-US" sz="1500" dirty="0"/>
            </a:p>
          </p:txBody>
        </p:sp>
        <p:sp>
          <p:nvSpPr>
            <p:cNvPr id="28" name="rect 29"/>
            <p:cNvSpPr/>
            <p:nvPr/>
          </p:nvSpPr>
          <p:spPr>
            <a:xfrm>
              <a:off x="762000" y="3724275"/>
              <a:ext cx="1028700" cy="228600"/>
            </a:xfrm>
            <a:prstGeom prst="roundRect">
              <a:avLst>
                <a:gd name="adj" fmla="val 8333"/>
              </a:avLst>
            </a:prstGeom>
            <a:noFill/>
            <a:ln w="9525" cap="flat">
              <a:solidFill>
                <a:srgbClr val="9C9A94">
                  <a:alpha val="50000"/>
                </a:srgbClr>
              </a:solidFill>
              <a:miter lim="800000"/>
            </a:ln>
          </p:spPr>
          <p:txBody>
            <a:bodyPr/>
            <a:lstStyle/>
            <a:p>
              <a:endParaRPr lang="en-US"/>
            </a:p>
          </p:txBody>
        </p:sp>
        <p:sp>
          <p:nvSpPr>
            <p:cNvPr id="29" name="Text 30"/>
            <p:cNvSpPr txBox="1"/>
            <p:nvPr/>
          </p:nvSpPr>
          <p:spPr>
            <a:xfrm>
              <a:off x="857250" y="3746500"/>
              <a:ext cx="909518"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FF5B1F"/>
                  </a:solidFill>
                  <a:latin typeface="Consolas"/>
                  <a:ea typeface="Consolas"/>
                  <a:cs typeface="Consolas"/>
                </a:rPr>
                <a:t>$</a:t>
              </a:r>
              <a:r>
                <a:rPr lang="en-US" sz="1200" b="0" dirty="0">
                  <a:solidFill>
                    <a:srgbClr val="EDE9E2"/>
                  </a:solidFill>
                  <a:latin typeface="Consolas"/>
                  <a:ea typeface="Consolas"/>
                  <a:cs typeface="Consolas"/>
                </a:rPr>
                <a:t> opencode</a:t>
              </a:r>
              <a:endParaRPr lang="en-US" sz="1200" dirty="0"/>
            </a:p>
          </p:txBody>
        </p:sp>
        <p:sp>
          <p:nvSpPr>
            <p:cNvPr id="30" name="Text 31"/>
            <p:cNvSpPr txBox="1"/>
            <p:nvPr/>
          </p:nvSpPr>
          <p:spPr>
            <a:xfrm>
              <a:off x="762000" y="4029075"/>
              <a:ext cx="1357765" cy="424815"/>
            </a:xfrm>
            <a:prstGeom prst="rect">
              <a:avLst/>
            </a:prstGeom>
            <a:noFill/>
          </p:spPr>
          <p:txBody>
            <a:bodyPr wrap="none" lIns="0" tIns="0" rIns="0" bIns="0" rtlCol="0" anchor="t">
              <a:noAutofit/>
            </a:bodyPr>
            <a:lstStyle/>
            <a:p>
              <a:pPr algn="l">
                <a:lnSpc>
                  <a:spcPts val="1600"/>
                </a:lnSpc>
                <a:spcBef>
                  <a:spcPts val="0"/>
                </a:spcBef>
                <a:spcAft>
                  <a:spcPts val="0"/>
                </a:spcAft>
              </a:pPr>
              <a:r>
                <a:rPr lang="en-US" sz="1200" b="0" dirty="0">
                  <a:solidFill>
                    <a:srgbClr val="9C9A94"/>
                  </a:solidFill>
                  <a:latin typeface="Segoe UI"/>
                  <a:ea typeface="Segoe UI"/>
                  <a:cs typeface="Segoe UI"/>
                </a:rPr>
                <a:t>Open-source, fully</a:t>
              </a:r>
              <a:endParaRPr lang="en-US" sz="1200" dirty="0"/>
            </a:p>
            <a:p>
              <a:pPr algn="l">
                <a:lnSpc>
                  <a:spcPts val="1600"/>
                </a:lnSpc>
                <a:spcBef>
                  <a:spcPts val="0"/>
                </a:spcBef>
                <a:spcAft>
                  <a:spcPts val="0"/>
                </a:spcAft>
              </a:pPr>
              <a:r>
                <a:rPr lang="en-US" sz="1200" b="0" dirty="0">
                  <a:solidFill>
                    <a:srgbClr val="9C9A94"/>
                  </a:solidFill>
                  <a:latin typeface="Segoe UI"/>
                  <a:ea typeface="Segoe UI"/>
                  <a:cs typeface="Segoe UI"/>
                </a:rPr>
                <a:t>customizable, local</a:t>
              </a:r>
              <a:endParaRPr lang="en-US" sz="1200" dirty="0"/>
            </a:p>
          </p:txBody>
        </p:sp>
        <p:sp>
          <p:nvSpPr>
            <p:cNvPr id="31" name="rect 32"/>
            <p:cNvSpPr/>
            <p:nvPr/>
          </p:nvSpPr>
          <p:spPr>
            <a:xfrm>
              <a:off x="2914650" y="3343275"/>
              <a:ext cx="2190750" cy="1190625"/>
            </a:xfrm>
            <a:prstGeom prst="roundRect">
              <a:avLst>
                <a:gd name="adj" fmla="val 1600"/>
              </a:avLst>
            </a:prstGeom>
            <a:solidFill>
              <a:srgbClr val="14171B"/>
            </a:solidFill>
            <a:ln w="9525" cap="flat">
              <a:solidFill>
                <a:srgbClr val="2A2E35"/>
              </a:solidFill>
              <a:miter lim="800000"/>
            </a:ln>
          </p:spPr>
          <p:txBody>
            <a:bodyPr/>
            <a:lstStyle/>
            <a:p>
              <a:endParaRPr lang="en-US"/>
            </a:p>
          </p:txBody>
        </p:sp>
        <p:sp>
          <p:nvSpPr>
            <p:cNvPr id="32" name="circle 33"/>
            <p:cNvSpPr/>
            <p:nvPr/>
          </p:nvSpPr>
          <p:spPr>
            <a:xfrm>
              <a:off x="4900613" y="3519488"/>
              <a:ext cx="66675" cy="66675"/>
            </a:xfrm>
            <a:prstGeom prst="ellipse">
              <a:avLst/>
            </a:prstGeom>
            <a:solidFill>
              <a:srgbClr val="3D8BFF"/>
            </a:solidFill>
            <a:ln>
              <a:noFill/>
            </a:ln>
          </p:spPr>
          <p:txBody>
            <a:bodyPr/>
            <a:lstStyle/>
            <a:p>
              <a:endParaRPr lang="en-US"/>
            </a:p>
          </p:txBody>
        </p:sp>
        <p:sp>
          <p:nvSpPr>
            <p:cNvPr id="33" name="Text 34"/>
            <p:cNvSpPr txBox="1"/>
            <p:nvPr/>
          </p:nvSpPr>
          <p:spPr>
            <a:xfrm>
              <a:off x="3067050" y="3432175"/>
              <a:ext cx="992617" cy="263525"/>
            </a:xfrm>
            <a:prstGeom prst="rect">
              <a:avLst/>
            </a:prstGeom>
            <a:noFill/>
          </p:spPr>
          <p:txBody>
            <a:bodyPr wrap="none" lIns="0" tIns="0" rIns="0" bIns="0" rtlCol="0" anchor="t">
              <a:noAutofit/>
            </a:bodyPr>
            <a:lstStyle/>
            <a:p>
              <a:pPr algn="l">
                <a:spcBef>
                  <a:spcPts val="0"/>
                </a:spcBef>
                <a:spcAft>
                  <a:spcPts val="0"/>
                </a:spcAft>
              </a:pPr>
              <a:r>
                <a:rPr lang="en-US" sz="1500" b="1" dirty="0">
                  <a:solidFill>
                    <a:srgbClr val="EDE9E2"/>
                  </a:solidFill>
                  <a:latin typeface="Bahnschrift"/>
                  <a:ea typeface="Bahnschrift"/>
                  <a:cs typeface="Bahnschrift"/>
                </a:rPr>
                <a:t>Cursor CLI</a:t>
              </a:r>
              <a:endParaRPr lang="en-US" sz="1500" dirty="0"/>
            </a:p>
          </p:txBody>
        </p:sp>
        <p:sp>
          <p:nvSpPr>
            <p:cNvPr id="34" name="rect 35"/>
            <p:cNvSpPr/>
            <p:nvPr/>
          </p:nvSpPr>
          <p:spPr>
            <a:xfrm>
              <a:off x="3067050" y="3724275"/>
              <a:ext cx="857250" cy="228600"/>
            </a:xfrm>
            <a:prstGeom prst="roundRect">
              <a:avLst>
                <a:gd name="adj" fmla="val 8333"/>
              </a:avLst>
            </a:prstGeom>
            <a:noFill/>
            <a:ln w="9525" cap="flat">
              <a:solidFill>
                <a:srgbClr val="9C9A94">
                  <a:alpha val="50000"/>
                </a:srgbClr>
              </a:solidFill>
              <a:miter lim="800000"/>
            </a:ln>
          </p:spPr>
          <p:txBody>
            <a:bodyPr/>
            <a:lstStyle/>
            <a:p>
              <a:endParaRPr lang="en-US"/>
            </a:p>
          </p:txBody>
        </p:sp>
        <p:sp>
          <p:nvSpPr>
            <p:cNvPr id="35" name="Text 36"/>
            <p:cNvSpPr txBox="1"/>
            <p:nvPr/>
          </p:nvSpPr>
          <p:spPr>
            <a:xfrm>
              <a:off x="3162300" y="3746500"/>
              <a:ext cx="735235"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FF5B1F"/>
                  </a:solidFill>
                  <a:latin typeface="Consolas"/>
                  <a:ea typeface="Consolas"/>
                  <a:cs typeface="Consolas"/>
                </a:rPr>
                <a:t>$</a:t>
              </a:r>
              <a:r>
                <a:rPr lang="en-US" sz="1200" b="0" dirty="0">
                  <a:solidFill>
                    <a:srgbClr val="EDE9E2"/>
                  </a:solidFill>
                  <a:latin typeface="Consolas"/>
                  <a:ea typeface="Consolas"/>
                  <a:cs typeface="Consolas"/>
                </a:rPr>
                <a:t> cursor</a:t>
              </a:r>
              <a:endParaRPr lang="en-US" sz="1200" dirty="0"/>
            </a:p>
          </p:txBody>
        </p:sp>
        <p:sp>
          <p:nvSpPr>
            <p:cNvPr id="36" name="Text 37"/>
            <p:cNvSpPr txBox="1"/>
            <p:nvPr/>
          </p:nvSpPr>
          <p:spPr>
            <a:xfrm>
              <a:off x="3067050" y="4029075"/>
              <a:ext cx="1632734" cy="424815"/>
            </a:xfrm>
            <a:prstGeom prst="rect">
              <a:avLst/>
            </a:prstGeom>
            <a:noFill/>
          </p:spPr>
          <p:txBody>
            <a:bodyPr wrap="none" lIns="0" tIns="0" rIns="0" bIns="0" rtlCol="0" anchor="t">
              <a:noAutofit/>
            </a:bodyPr>
            <a:lstStyle/>
            <a:p>
              <a:pPr algn="l">
                <a:lnSpc>
                  <a:spcPts val="1600"/>
                </a:lnSpc>
                <a:spcBef>
                  <a:spcPts val="0"/>
                </a:spcBef>
                <a:spcAft>
                  <a:spcPts val="0"/>
                </a:spcAft>
              </a:pPr>
              <a:r>
                <a:rPr lang="en-US" sz="1200" b="0" dirty="0">
                  <a:solidFill>
                    <a:srgbClr val="9C9A94"/>
                  </a:solidFill>
                  <a:latin typeface="Segoe UI"/>
                  <a:ea typeface="Segoe UI"/>
                  <a:cs typeface="Segoe UI"/>
                </a:rPr>
                <a:t>Edits files itself,</a:t>
              </a:r>
              <a:endParaRPr lang="en-US" sz="1200" dirty="0"/>
            </a:p>
            <a:p>
              <a:pPr algn="l">
                <a:lnSpc>
                  <a:spcPts val="1600"/>
                </a:lnSpc>
                <a:spcBef>
                  <a:spcPts val="0"/>
                </a:spcBef>
                <a:spcAft>
                  <a:spcPts val="0"/>
                </a:spcAft>
              </a:pPr>
              <a:r>
                <a:rPr lang="en-US" sz="1200" b="0" dirty="0">
                  <a:solidFill>
                    <a:srgbClr val="9C9A94"/>
                  </a:solidFill>
                  <a:latin typeface="Segoe UI"/>
                  <a:ea typeface="Segoe UI"/>
                  <a:cs typeface="Segoe UI"/>
                </a:rPr>
                <a:t>indexes your codebase</a:t>
              </a:r>
              <a:endParaRPr lang="en-US" sz="1200" dirty="0"/>
            </a:p>
          </p:txBody>
        </p:sp>
        <p:sp>
          <p:nvSpPr>
            <p:cNvPr id="37" name="rect 38"/>
            <p:cNvSpPr/>
            <p:nvPr/>
          </p:nvSpPr>
          <p:spPr>
            <a:xfrm>
              <a:off x="5219700" y="3343275"/>
              <a:ext cx="2190750" cy="1190625"/>
            </a:xfrm>
            <a:prstGeom prst="roundRect">
              <a:avLst>
                <a:gd name="adj" fmla="val 1600"/>
              </a:avLst>
            </a:prstGeom>
            <a:solidFill>
              <a:srgbClr val="14171B"/>
            </a:solidFill>
            <a:ln w="9525" cap="flat">
              <a:solidFill>
                <a:srgbClr val="2A2E35"/>
              </a:solidFill>
              <a:miter lim="800000"/>
            </a:ln>
          </p:spPr>
          <p:txBody>
            <a:bodyPr/>
            <a:lstStyle/>
            <a:p>
              <a:endParaRPr lang="en-US"/>
            </a:p>
          </p:txBody>
        </p:sp>
        <p:sp>
          <p:nvSpPr>
            <p:cNvPr id="38" name="circle 39"/>
            <p:cNvSpPr/>
            <p:nvPr/>
          </p:nvSpPr>
          <p:spPr>
            <a:xfrm>
              <a:off x="7205663" y="3519488"/>
              <a:ext cx="66675" cy="66675"/>
            </a:xfrm>
            <a:prstGeom prst="ellipse">
              <a:avLst/>
            </a:prstGeom>
            <a:solidFill>
              <a:srgbClr val="3D8BFF"/>
            </a:solidFill>
            <a:ln>
              <a:noFill/>
            </a:ln>
          </p:spPr>
          <p:txBody>
            <a:bodyPr/>
            <a:lstStyle/>
            <a:p>
              <a:endParaRPr lang="en-US"/>
            </a:p>
          </p:txBody>
        </p:sp>
        <p:sp>
          <p:nvSpPr>
            <p:cNvPr id="39" name="Text 40"/>
            <p:cNvSpPr txBox="1"/>
            <p:nvPr/>
          </p:nvSpPr>
          <p:spPr>
            <a:xfrm>
              <a:off x="5372100" y="3432175"/>
              <a:ext cx="380263" cy="263525"/>
            </a:xfrm>
            <a:prstGeom prst="rect">
              <a:avLst/>
            </a:prstGeom>
            <a:noFill/>
          </p:spPr>
          <p:txBody>
            <a:bodyPr wrap="none" lIns="0" tIns="0" rIns="0" bIns="0" rtlCol="0" anchor="t">
              <a:noAutofit/>
            </a:bodyPr>
            <a:lstStyle/>
            <a:p>
              <a:pPr algn="l">
                <a:spcBef>
                  <a:spcPts val="0"/>
                </a:spcBef>
                <a:spcAft>
                  <a:spcPts val="0"/>
                </a:spcAft>
              </a:pPr>
              <a:r>
                <a:rPr lang="en-US" sz="1500" b="1" dirty="0">
                  <a:solidFill>
                    <a:srgbClr val="EDE9E2"/>
                  </a:solidFill>
                  <a:latin typeface="Bahnschrift"/>
                  <a:ea typeface="Bahnschrift"/>
                  <a:cs typeface="Bahnschrift"/>
                </a:rPr>
                <a:t>Kilo</a:t>
              </a:r>
              <a:endParaRPr lang="en-US" sz="1500" dirty="0"/>
            </a:p>
          </p:txBody>
        </p:sp>
        <p:sp>
          <p:nvSpPr>
            <p:cNvPr id="40" name="rect 41"/>
            <p:cNvSpPr/>
            <p:nvPr/>
          </p:nvSpPr>
          <p:spPr>
            <a:xfrm>
              <a:off x="5372100" y="3724275"/>
              <a:ext cx="695325" cy="228600"/>
            </a:xfrm>
            <a:prstGeom prst="roundRect">
              <a:avLst>
                <a:gd name="adj" fmla="val 8333"/>
              </a:avLst>
            </a:prstGeom>
            <a:noFill/>
            <a:ln w="9525" cap="flat">
              <a:solidFill>
                <a:srgbClr val="9C9A94">
                  <a:alpha val="50000"/>
                </a:srgbClr>
              </a:solidFill>
              <a:miter lim="800000"/>
            </a:ln>
          </p:spPr>
          <p:txBody>
            <a:bodyPr/>
            <a:lstStyle/>
            <a:p>
              <a:endParaRPr lang="en-US"/>
            </a:p>
          </p:txBody>
        </p:sp>
        <p:sp>
          <p:nvSpPr>
            <p:cNvPr id="41" name="Text 42"/>
            <p:cNvSpPr txBox="1"/>
            <p:nvPr/>
          </p:nvSpPr>
          <p:spPr>
            <a:xfrm>
              <a:off x="5467350" y="3746500"/>
              <a:ext cx="560951"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FF5B1F"/>
                  </a:solidFill>
                  <a:latin typeface="Consolas"/>
                  <a:ea typeface="Consolas"/>
                  <a:cs typeface="Consolas"/>
                </a:rPr>
                <a:t>$</a:t>
              </a:r>
              <a:r>
                <a:rPr lang="en-US" sz="1200" b="0" dirty="0">
                  <a:solidFill>
                    <a:srgbClr val="EDE9E2"/>
                  </a:solidFill>
                  <a:latin typeface="Consolas"/>
                  <a:ea typeface="Consolas"/>
                  <a:cs typeface="Consolas"/>
                </a:rPr>
                <a:t> kilo</a:t>
              </a:r>
              <a:endParaRPr lang="en-US" sz="1200" dirty="0"/>
            </a:p>
          </p:txBody>
        </p:sp>
        <p:sp>
          <p:nvSpPr>
            <p:cNvPr id="42" name="Text 43"/>
            <p:cNvSpPr txBox="1"/>
            <p:nvPr/>
          </p:nvSpPr>
          <p:spPr>
            <a:xfrm>
              <a:off x="5372100" y="4029075"/>
              <a:ext cx="1377732" cy="424815"/>
            </a:xfrm>
            <a:prstGeom prst="rect">
              <a:avLst/>
            </a:prstGeom>
            <a:noFill/>
          </p:spPr>
          <p:txBody>
            <a:bodyPr wrap="none" lIns="0" tIns="0" rIns="0" bIns="0" rtlCol="0" anchor="t">
              <a:noAutofit/>
            </a:bodyPr>
            <a:lstStyle/>
            <a:p>
              <a:pPr algn="l">
                <a:lnSpc>
                  <a:spcPts val="1600"/>
                </a:lnSpc>
                <a:spcBef>
                  <a:spcPts val="0"/>
                </a:spcBef>
                <a:spcAft>
                  <a:spcPts val="0"/>
                </a:spcAft>
              </a:pPr>
              <a:r>
                <a:rPr lang="en-US" sz="1200" b="0" dirty="0">
                  <a:solidFill>
                    <a:srgbClr val="9C9A94"/>
                  </a:solidFill>
                  <a:latin typeface="Segoe UI"/>
                  <a:ea typeface="Segoe UI"/>
                  <a:cs typeface="Segoe UI"/>
                </a:rPr>
                <a:t>Fast, works natively</a:t>
              </a:r>
              <a:endParaRPr lang="en-US" sz="1200" dirty="0"/>
            </a:p>
            <a:p>
              <a:pPr algn="l">
                <a:lnSpc>
                  <a:spcPts val="1600"/>
                </a:lnSpc>
                <a:spcBef>
                  <a:spcPts val="0"/>
                </a:spcBef>
                <a:spcAft>
                  <a:spcPts val="0"/>
                </a:spcAft>
              </a:pPr>
              <a:r>
                <a:rPr lang="en-US" sz="1200" b="0" dirty="0">
                  <a:solidFill>
                    <a:srgbClr val="9C9A94"/>
                  </a:solidFill>
                  <a:latin typeface="Segoe UI"/>
                  <a:ea typeface="Segoe UI"/>
                  <a:cs typeface="Segoe UI"/>
                </a:rPr>
                <a:t>in the terminal</a:t>
              </a:r>
              <a:endParaRPr lang="en-US" sz="1200" dirty="0"/>
            </a:p>
          </p:txBody>
        </p:sp>
        <p:sp>
          <p:nvSpPr>
            <p:cNvPr id="43" name="rect 44"/>
            <p:cNvSpPr/>
            <p:nvPr/>
          </p:nvSpPr>
          <p:spPr>
            <a:xfrm>
              <a:off x="609600" y="4629150"/>
              <a:ext cx="2190750" cy="1190625"/>
            </a:xfrm>
            <a:prstGeom prst="roundRect">
              <a:avLst>
                <a:gd name="adj" fmla="val 1600"/>
              </a:avLst>
            </a:prstGeom>
            <a:solidFill>
              <a:srgbClr val="14171B"/>
            </a:solidFill>
            <a:ln w="9525" cap="flat">
              <a:solidFill>
                <a:srgbClr val="2A2E35"/>
              </a:solidFill>
              <a:miter lim="800000"/>
            </a:ln>
          </p:spPr>
          <p:txBody>
            <a:bodyPr/>
            <a:lstStyle/>
            <a:p>
              <a:endParaRPr lang="en-US"/>
            </a:p>
          </p:txBody>
        </p:sp>
        <p:sp>
          <p:nvSpPr>
            <p:cNvPr id="44" name="circle 45"/>
            <p:cNvSpPr/>
            <p:nvPr/>
          </p:nvSpPr>
          <p:spPr>
            <a:xfrm>
              <a:off x="2595563" y="4805363"/>
              <a:ext cx="66675" cy="66675"/>
            </a:xfrm>
            <a:prstGeom prst="ellipse">
              <a:avLst/>
            </a:prstGeom>
            <a:solidFill>
              <a:srgbClr val="3D8BFF"/>
            </a:solidFill>
            <a:ln>
              <a:noFill/>
            </a:ln>
          </p:spPr>
          <p:txBody>
            <a:bodyPr/>
            <a:lstStyle/>
            <a:p>
              <a:endParaRPr lang="en-US"/>
            </a:p>
          </p:txBody>
        </p:sp>
        <p:sp>
          <p:nvSpPr>
            <p:cNvPr id="45" name="Text 46"/>
            <p:cNvSpPr txBox="1"/>
            <p:nvPr/>
          </p:nvSpPr>
          <p:spPr>
            <a:xfrm>
              <a:off x="762000" y="4718050"/>
              <a:ext cx="741968" cy="263525"/>
            </a:xfrm>
            <a:prstGeom prst="rect">
              <a:avLst/>
            </a:prstGeom>
            <a:noFill/>
          </p:spPr>
          <p:txBody>
            <a:bodyPr wrap="none" lIns="0" tIns="0" rIns="0" bIns="0" rtlCol="0" anchor="t">
              <a:noAutofit/>
            </a:bodyPr>
            <a:lstStyle/>
            <a:p>
              <a:pPr algn="l">
                <a:spcBef>
                  <a:spcPts val="0"/>
                </a:spcBef>
                <a:spcAft>
                  <a:spcPts val="0"/>
                </a:spcAft>
              </a:pPr>
              <a:r>
                <a:rPr lang="en-US" sz="1500" b="1" dirty="0">
                  <a:solidFill>
                    <a:srgbClr val="EDE9E2"/>
                  </a:solidFill>
                  <a:latin typeface="Bahnschrift"/>
                  <a:ea typeface="Bahnschrift"/>
                  <a:cs typeface="Bahnschrift"/>
                </a:rPr>
                <a:t>Hermes</a:t>
              </a:r>
              <a:endParaRPr lang="en-US" sz="1500" dirty="0"/>
            </a:p>
          </p:txBody>
        </p:sp>
        <p:sp>
          <p:nvSpPr>
            <p:cNvPr id="46" name="rect 47"/>
            <p:cNvSpPr/>
            <p:nvPr/>
          </p:nvSpPr>
          <p:spPr>
            <a:xfrm>
              <a:off x="762000" y="5010150"/>
              <a:ext cx="857250" cy="228600"/>
            </a:xfrm>
            <a:prstGeom prst="roundRect">
              <a:avLst>
                <a:gd name="adj" fmla="val 8333"/>
              </a:avLst>
            </a:prstGeom>
            <a:noFill/>
            <a:ln w="9525" cap="flat">
              <a:solidFill>
                <a:srgbClr val="9C9A94">
                  <a:alpha val="50000"/>
                </a:srgbClr>
              </a:solidFill>
              <a:miter lim="800000"/>
            </a:ln>
          </p:spPr>
          <p:txBody>
            <a:bodyPr/>
            <a:lstStyle/>
            <a:p>
              <a:endParaRPr lang="en-US"/>
            </a:p>
          </p:txBody>
        </p:sp>
        <p:sp>
          <p:nvSpPr>
            <p:cNvPr id="47" name="Text 48"/>
            <p:cNvSpPr txBox="1"/>
            <p:nvPr/>
          </p:nvSpPr>
          <p:spPr>
            <a:xfrm>
              <a:off x="857250" y="5032375"/>
              <a:ext cx="735235"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FF5B1F"/>
                  </a:solidFill>
                  <a:latin typeface="Consolas"/>
                  <a:ea typeface="Consolas"/>
                  <a:cs typeface="Consolas"/>
                </a:rPr>
                <a:t>$</a:t>
              </a:r>
              <a:r>
                <a:rPr lang="en-US" sz="1200" b="0" dirty="0">
                  <a:solidFill>
                    <a:srgbClr val="EDE9E2"/>
                  </a:solidFill>
                  <a:latin typeface="Consolas"/>
                  <a:ea typeface="Consolas"/>
                  <a:cs typeface="Consolas"/>
                </a:rPr>
                <a:t> hermes</a:t>
              </a:r>
              <a:endParaRPr lang="en-US" sz="1200" dirty="0"/>
            </a:p>
          </p:txBody>
        </p:sp>
        <p:sp>
          <p:nvSpPr>
            <p:cNvPr id="48" name="Text 49"/>
            <p:cNvSpPr txBox="1"/>
            <p:nvPr/>
          </p:nvSpPr>
          <p:spPr>
            <a:xfrm>
              <a:off x="762000" y="5314950"/>
              <a:ext cx="1537079" cy="424815"/>
            </a:xfrm>
            <a:prstGeom prst="rect">
              <a:avLst/>
            </a:prstGeom>
            <a:noFill/>
          </p:spPr>
          <p:txBody>
            <a:bodyPr wrap="none" lIns="0" tIns="0" rIns="0" bIns="0" rtlCol="0" anchor="t">
              <a:noAutofit/>
            </a:bodyPr>
            <a:lstStyle/>
            <a:p>
              <a:pPr algn="l">
                <a:lnSpc>
                  <a:spcPts val="1600"/>
                </a:lnSpc>
                <a:spcBef>
                  <a:spcPts val="0"/>
                </a:spcBef>
                <a:spcAft>
                  <a:spcPts val="0"/>
                </a:spcAft>
              </a:pPr>
              <a:r>
                <a:rPr lang="en-US" sz="1200" b="0" dirty="0">
                  <a:solidFill>
                    <a:srgbClr val="9C9A94"/>
                  </a:solidFill>
                  <a:latin typeface="Segoe UI"/>
                  <a:ea typeface="Segoe UI"/>
                  <a:cs typeface="Segoe UI"/>
                </a:rPr>
                <a:t>Compact assistant</a:t>
              </a:r>
              <a:endParaRPr lang="en-US" sz="1200" dirty="0"/>
            </a:p>
            <a:p>
              <a:pPr algn="l">
                <a:lnSpc>
                  <a:spcPts val="1600"/>
                </a:lnSpc>
                <a:spcBef>
                  <a:spcPts val="0"/>
                </a:spcBef>
                <a:spcAft>
                  <a:spcPts val="0"/>
                </a:spcAft>
              </a:pPr>
              <a:r>
                <a:rPr lang="en-US" sz="1200" b="0" dirty="0">
                  <a:solidFill>
                    <a:srgbClr val="9C9A94"/>
                  </a:solidFill>
                  <a:latin typeface="Segoe UI"/>
                  <a:ea typeface="Segoe UI"/>
                  <a:cs typeface="Segoe UI"/>
                </a:rPr>
                <a:t>that works on its own</a:t>
              </a:r>
              <a:endParaRPr lang="en-US" sz="1200" dirty="0"/>
            </a:p>
          </p:txBody>
        </p:sp>
        <p:sp>
          <p:nvSpPr>
            <p:cNvPr id="49" name="rect 50"/>
            <p:cNvSpPr/>
            <p:nvPr/>
          </p:nvSpPr>
          <p:spPr>
            <a:xfrm>
              <a:off x="2914650" y="4629150"/>
              <a:ext cx="2190750" cy="1190625"/>
            </a:xfrm>
            <a:prstGeom prst="roundRect">
              <a:avLst>
                <a:gd name="adj" fmla="val 1600"/>
              </a:avLst>
            </a:prstGeom>
            <a:solidFill>
              <a:srgbClr val="14171B"/>
            </a:solidFill>
            <a:ln w="9525" cap="flat">
              <a:solidFill>
                <a:srgbClr val="2A2E35"/>
              </a:solidFill>
              <a:miter lim="800000"/>
            </a:ln>
          </p:spPr>
          <p:txBody>
            <a:bodyPr/>
            <a:lstStyle/>
            <a:p>
              <a:endParaRPr lang="en-US"/>
            </a:p>
          </p:txBody>
        </p:sp>
        <p:sp>
          <p:nvSpPr>
            <p:cNvPr id="50" name="circle 51"/>
            <p:cNvSpPr/>
            <p:nvPr/>
          </p:nvSpPr>
          <p:spPr>
            <a:xfrm>
              <a:off x="4900613" y="4805363"/>
              <a:ext cx="66675" cy="66675"/>
            </a:xfrm>
            <a:prstGeom prst="ellipse">
              <a:avLst/>
            </a:prstGeom>
            <a:solidFill>
              <a:srgbClr val="3D8BFF"/>
            </a:solidFill>
            <a:ln>
              <a:noFill/>
            </a:ln>
          </p:spPr>
          <p:txBody>
            <a:bodyPr/>
            <a:lstStyle/>
            <a:p>
              <a:endParaRPr lang="en-US"/>
            </a:p>
          </p:txBody>
        </p:sp>
        <p:sp>
          <p:nvSpPr>
            <p:cNvPr id="51" name="Text 52"/>
            <p:cNvSpPr txBox="1"/>
            <p:nvPr/>
          </p:nvSpPr>
          <p:spPr>
            <a:xfrm>
              <a:off x="3067050" y="4718050"/>
              <a:ext cx="211165" cy="263525"/>
            </a:xfrm>
            <a:prstGeom prst="rect">
              <a:avLst/>
            </a:prstGeom>
            <a:noFill/>
          </p:spPr>
          <p:txBody>
            <a:bodyPr wrap="none" lIns="0" tIns="0" rIns="0" bIns="0" rtlCol="0" anchor="t">
              <a:noAutofit/>
            </a:bodyPr>
            <a:lstStyle/>
            <a:p>
              <a:pPr algn="l">
                <a:spcBef>
                  <a:spcPts val="0"/>
                </a:spcBef>
                <a:spcAft>
                  <a:spcPts val="0"/>
                </a:spcAft>
              </a:pPr>
              <a:r>
                <a:rPr lang="en-US" sz="1500" b="1" dirty="0">
                  <a:solidFill>
                    <a:srgbClr val="EDE9E2"/>
                  </a:solidFill>
                  <a:latin typeface="Bahnschrift"/>
                  <a:ea typeface="Bahnschrift"/>
                  <a:cs typeface="Bahnschrift"/>
                </a:rPr>
                <a:t>Pi</a:t>
              </a:r>
              <a:endParaRPr lang="en-US" sz="1500" dirty="0"/>
            </a:p>
          </p:txBody>
        </p:sp>
        <p:sp>
          <p:nvSpPr>
            <p:cNvPr id="52" name="rect 53"/>
            <p:cNvSpPr/>
            <p:nvPr/>
          </p:nvSpPr>
          <p:spPr>
            <a:xfrm>
              <a:off x="3067050" y="5010150"/>
              <a:ext cx="523875" cy="228600"/>
            </a:xfrm>
            <a:prstGeom prst="roundRect">
              <a:avLst>
                <a:gd name="adj" fmla="val 8333"/>
              </a:avLst>
            </a:prstGeom>
            <a:noFill/>
            <a:ln w="9525" cap="flat">
              <a:solidFill>
                <a:srgbClr val="9C9A94">
                  <a:alpha val="50000"/>
                </a:srgbClr>
              </a:solidFill>
              <a:miter lim="800000"/>
            </a:ln>
          </p:spPr>
          <p:txBody>
            <a:bodyPr/>
            <a:lstStyle/>
            <a:p>
              <a:endParaRPr lang="en-US"/>
            </a:p>
          </p:txBody>
        </p:sp>
        <p:sp>
          <p:nvSpPr>
            <p:cNvPr id="53" name="Text 54"/>
            <p:cNvSpPr txBox="1"/>
            <p:nvPr/>
          </p:nvSpPr>
          <p:spPr>
            <a:xfrm>
              <a:off x="3162300" y="5032375"/>
              <a:ext cx="386667"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FF5B1F"/>
                  </a:solidFill>
                  <a:latin typeface="Consolas"/>
                  <a:ea typeface="Consolas"/>
                  <a:cs typeface="Consolas"/>
                </a:rPr>
                <a:t>$</a:t>
              </a:r>
              <a:r>
                <a:rPr lang="en-US" sz="1200" b="0" dirty="0">
                  <a:solidFill>
                    <a:srgbClr val="EDE9E2"/>
                  </a:solidFill>
                  <a:latin typeface="Consolas"/>
                  <a:ea typeface="Consolas"/>
                  <a:cs typeface="Consolas"/>
                </a:rPr>
                <a:t> pi</a:t>
              </a:r>
              <a:endParaRPr lang="en-US" sz="1200" dirty="0"/>
            </a:p>
          </p:txBody>
        </p:sp>
        <p:sp>
          <p:nvSpPr>
            <p:cNvPr id="54" name="Text 55"/>
            <p:cNvSpPr txBox="1"/>
            <p:nvPr/>
          </p:nvSpPr>
          <p:spPr>
            <a:xfrm>
              <a:off x="3067050" y="5314950"/>
              <a:ext cx="1512856" cy="424815"/>
            </a:xfrm>
            <a:prstGeom prst="rect">
              <a:avLst/>
            </a:prstGeom>
            <a:noFill/>
          </p:spPr>
          <p:txBody>
            <a:bodyPr wrap="none" lIns="0" tIns="0" rIns="0" bIns="0" rtlCol="0" anchor="t">
              <a:noAutofit/>
            </a:bodyPr>
            <a:lstStyle/>
            <a:p>
              <a:pPr algn="l">
                <a:lnSpc>
                  <a:spcPts val="1600"/>
                </a:lnSpc>
                <a:spcBef>
                  <a:spcPts val="0"/>
                </a:spcBef>
                <a:spcAft>
                  <a:spcPts val="0"/>
                </a:spcAft>
              </a:pPr>
              <a:r>
                <a:rPr lang="en-US" sz="1200" b="0" dirty="0">
                  <a:solidFill>
                    <a:srgbClr val="9C9A94"/>
                  </a:solidFill>
                  <a:latin typeface="Segoe UI"/>
                  <a:ea typeface="Segoe UI"/>
                  <a:cs typeface="Segoe UI"/>
                </a:rPr>
                <a:t>Minimalist harness,</a:t>
              </a:r>
              <a:endParaRPr lang="en-US" sz="1200" dirty="0"/>
            </a:p>
            <a:p>
              <a:pPr algn="l">
                <a:lnSpc>
                  <a:spcPts val="1600"/>
                </a:lnSpc>
                <a:spcBef>
                  <a:spcPts val="0"/>
                </a:spcBef>
                <a:spcAft>
                  <a:spcPts val="0"/>
                </a:spcAft>
              </a:pPr>
              <a:r>
                <a:rPr lang="en-US" sz="1200" b="0" dirty="0">
                  <a:solidFill>
                    <a:srgbClr val="9C9A94"/>
                  </a:solidFill>
                  <a:latin typeface="Segoe UI"/>
                  <a:ea typeface="Segoe UI"/>
                  <a:cs typeface="Segoe UI"/>
                </a:rPr>
                <a:t>with extension hooks</a:t>
              </a:r>
              <a:endParaRPr lang="en-US" sz="1200" dirty="0"/>
            </a:p>
          </p:txBody>
        </p:sp>
        <p:sp>
          <p:nvSpPr>
            <p:cNvPr id="55" name="rect 56"/>
            <p:cNvSpPr/>
            <p:nvPr/>
          </p:nvSpPr>
          <p:spPr>
            <a:xfrm>
              <a:off x="5219700" y="4629150"/>
              <a:ext cx="2190750" cy="1190625"/>
            </a:xfrm>
            <a:prstGeom prst="roundRect">
              <a:avLst>
                <a:gd name="adj" fmla="val 1600"/>
              </a:avLst>
            </a:prstGeom>
            <a:solidFill>
              <a:srgbClr val="14171B"/>
            </a:solidFill>
            <a:ln w="9525" cap="flat">
              <a:solidFill>
                <a:srgbClr val="2A2E35"/>
              </a:solidFill>
              <a:miter lim="800000"/>
            </a:ln>
          </p:spPr>
          <p:txBody>
            <a:bodyPr/>
            <a:lstStyle/>
            <a:p>
              <a:endParaRPr lang="en-US"/>
            </a:p>
          </p:txBody>
        </p:sp>
        <p:sp>
          <p:nvSpPr>
            <p:cNvPr id="56" name="circle 57"/>
            <p:cNvSpPr/>
            <p:nvPr/>
          </p:nvSpPr>
          <p:spPr>
            <a:xfrm>
              <a:off x="7205663" y="4805363"/>
              <a:ext cx="66675" cy="66675"/>
            </a:xfrm>
            <a:prstGeom prst="ellipse">
              <a:avLst/>
            </a:prstGeom>
            <a:solidFill>
              <a:srgbClr val="3D8BFF"/>
            </a:solidFill>
            <a:ln>
              <a:noFill/>
            </a:ln>
          </p:spPr>
          <p:txBody>
            <a:bodyPr/>
            <a:lstStyle/>
            <a:p>
              <a:endParaRPr lang="en-US"/>
            </a:p>
          </p:txBody>
        </p:sp>
        <p:sp>
          <p:nvSpPr>
            <p:cNvPr id="57" name="Text 58"/>
            <p:cNvSpPr txBox="1"/>
            <p:nvPr/>
          </p:nvSpPr>
          <p:spPr>
            <a:xfrm>
              <a:off x="5372100" y="4718050"/>
              <a:ext cx="1427649" cy="263525"/>
            </a:xfrm>
            <a:prstGeom prst="rect">
              <a:avLst/>
            </a:prstGeom>
            <a:noFill/>
          </p:spPr>
          <p:txBody>
            <a:bodyPr wrap="none" lIns="0" tIns="0" rIns="0" bIns="0" rtlCol="0" anchor="t">
              <a:noAutofit/>
            </a:bodyPr>
            <a:lstStyle/>
            <a:p>
              <a:pPr algn="l">
                <a:spcBef>
                  <a:spcPts val="0"/>
                </a:spcBef>
                <a:spcAft>
                  <a:spcPts val="0"/>
                </a:spcAft>
              </a:pPr>
              <a:r>
                <a:rPr lang="en-US" sz="1500" b="1" dirty="0">
                  <a:solidFill>
                    <a:srgbClr val="EDE9E2"/>
                  </a:solidFill>
                  <a:latin typeface="Bahnschrift"/>
                  <a:ea typeface="Bahnschrift"/>
                  <a:cs typeface="Bahnschrift"/>
                </a:rPr>
                <a:t>Command Code</a:t>
              </a:r>
              <a:endParaRPr lang="en-US" sz="1500" dirty="0"/>
            </a:p>
          </p:txBody>
        </p:sp>
        <p:sp>
          <p:nvSpPr>
            <p:cNvPr id="58" name="rect 59"/>
            <p:cNvSpPr/>
            <p:nvPr/>
          </p:nvSpPr>
          <p:spPr>
            <a:xfrm>
              <a:off x="5372100" y="5010150"/>
              <a:ext cx="1200150" cy="228600"/>
            </a:xfrm>
            <a:prstGeom prst="roundRect">
              <a:avLst>
                <a:gd name="adj" fmla="val 8333"/>
              </a:avLst>
            </a:prstGeom>
            <a:noFill/>
            <a:ln w="9525" cap="flat">
              <a:solidFill>
                <a:srgbClr val="9C9A94">
                  <a:alpha val="50000"/>
                </a:srgbClr>
              </a:solidFill>
              <a:miter lim="800000"/>
            </a:ln>
          </p:spPr>
          <p:txBody>
            <a:bodyPr/>
            <a:lstStyle/>
            <a:p>
              <a:endParaRPr lang="en-US"/>
            </a:p>
          </p:txBody>
        </p:sp>
        <p:sp>
          <p:nvSpPr>
            <p:cNvPr id="59" name="Text 60"/>
            <p:cNvSpPr txBox="1"/>
            <p:nvPr/>
          </p:nvSpPr>
          <p:spPr>
            <a:xfrm>
              <a:off x="5467350" y="5032375"/>
              <a:ext cx="1083802"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FF5B1F"/>
                  </a:solidFill>
                  <a:latin typeface="Consolas"/>
                  <a:ea typeface="Consolas"/>
                  <a:cs typeface="Consolas"/>
                </a:rPr>
                <a:t>$</a:t>
              </a:r>
              <a:r>
                <a:rPr lang="en-US" sz="1200" b="0" dirty="0">
                  <a:solidFill>
                    <a:srgbClr val="EDE9E2"/>
                  </a:solidFill>
                  <a:latin typeface="Consolas"/>
                  <a:ea typeface="Consolas"/>
                  <a:cs typeface="Consolas"/>
                </a:rPr>
                <a:t> cmd / cmdc</a:t>
              </a:r>
              <a:endParaRPr lang="en-US" sz="1200" dirty="0"/>
            </a:p>
          </p:txBody>
        </p:sp>
        <p:sp>
          <p:nvSpPr>
            <p:cNvPr id="60" name="Text 61"/>
            <p:cNvSpPr txBox="1"/>
            <p:nvPr/>
          </p:nvSpPr>
          <p:spPr>
            <a:xfrm>
              <a:off x="5372100" y="5314950"/>
              <a:ext cx="1696426" cy="424815"/>
            </a:xfrm>
            <a:prstGeom prst="rect">
              <a:avLst/>
            </a:prstGeom>
            <a:noFill/>
          </p:spPr>
          <p:txBody>
            <a:bodyPr wrap="none" lIns="0" tIns="0" rIns="0" bIns="0" rtlCol="0" anchor="t">
              <a:noAutofit/>
            </a:bodyPr>
            <a:lstStyle/>
            <a:p>
              <a:pPr algn="l">
                <a:lnSpc>
                  <a:spcPts val="1600"/>
                </a:lnSpc>
                <a:spcBef>
                  <a:spcPts val="0"/>
                </a:spcBef>
                <a:spcAft>
                  <a:spcPts val="0"/>
                </a:spcAft>
              </a:pPr>
              <a:r>
                <a:rPr lang="en-US" sz="1200" b="0" dirty="0">
                  <a:solidFill>
                    <a:srgbClr val="9C9A94"/>
                  </a:solidFill>
                  <a:latin typeface="Segoe UI"/>
                  <a:ea typeface="Segoe UI"/>
                  <a:cs typeface="Segoe UI"/>
                </a:rPr>
                <a:t>Coordinates commands</a:t>
              </a:r>
              <a:endParaRPr lang="en-US" sz="1200" dirty="0"/>
            </a:p>
            <a:p>
              <a:pPr algn="l">
                <a:lnSpc>
                  <a:spcPts val="1600"/>
                </a:lnSpc>
                <a:spcBef>
                  <a:spcPts val="0"/>
                </a:spcBef>
                <a:spcAft>
                  <a:spcPts val="0"/>
                </a:spcAft>
              </a:pPr>
              <a:r>
                <a:rPr lang="en-US" sz="1200" b="0" dirty="0">
                  <a:solidFill>
                    <a:srgbClr val="9C9A94"/>
                  </a:solidFill>
                  <a:latin typeface="Segoe UI"/>
                  <a:ea typeface="Segoe UI"/>
                  <a:cs typeface="Segoe UI"/>
                </a:rPr>
                <a:t>and scripts</a:t>
              </a:r>
              <a:endParaRPr lang="en-US" sz="1200" dirty="0"/>
            </a:p>
          </p:txBody>
        </p:sp>
      </p:grpSp>
      <p:grpSp>
        <p:nvGrpSpPr>
          <p:cNvPr id="73" name="screen-feed"/>
          <p:cNvGrpSpPr/>
          <p:nvPr/>
        </p:nvGrpSpPr>
        <p:grpSpPr>
          <a:xfrm>
            <a:off x="7791450" y="2095500"/>
            <a:ext cx="3790950" cy="2825115"/>
            <a:chOff x="7791450" y="2095500"/>
            <a:chExt cx="3790950" cy="2825115"/>
          </a:xfrm>
        </p:grpSpPr>
        <p:sp>
          <p:nvSpPr>
            <p:cNvPr id="63" name="rect 64"/>
            <p:cNvSpPr/>
            <p:nvPr/>
          </p:nvSpPr>
          <p:spPr>
            <a:xfrm>
              <a:off x="7905750" y="2209800"/>
              <a:ext cx="3562350" cy="2143125"/>
            </a:xfrm>
            <a:prstGeom prst="roundRect">
              <a:avLst>
                <a:gd name="adj" fmla="val 3556"/>
              </a:avLst>
            </a:prstGeom>
            <a:solidFill>
              <a:srgbClr val="14171B"/>
            </a:solidFill>
            <a:ln w="9525" cap="flat">
              <a:solidFill>
                <a:srgbClr val="2A2E35"/>
              </a:solidFill>
              <a:miter lim="800000"/>
            </a:ln>
          </p:spPr>
          <p:txBody>
            <a:bodyPr/>
            <a:lstStyle/>
            <a:p>
              <a:endParaRPr lang="en-US"/>
            </a:p>
          </p:txBody>
        </p:sp>
        <p:sp>
          <p:nvSpPr>
            <p:cNvPr id="64" name="circle 65"/>
            <p:cNvSpPr/>
            <p:nvPr/>
          </p:nvSpPr>
          <p:spPr>
            <a:xfrm>
              <a:off x="8024813" y="2290763"/>
              <a:ext cx="66675" cy="66675"/>
            </a:xfrm>
            <a:prstGeom prst="ellipse">
              <a:avLst/>
            </a:prstGeom>
            <a:solidFill>
              <a:srgbClr val="4A5058"/>
            </a:solidFill>
            <a:ln>
              <a:noFill/>
            </a:ln>
          </p:spPr>
          <p:txBody>
            <a:bodyPr/>
            <a:lstStyle/>
            <a:p>
              <a:endParaRPr lang="en-US"/>
            </a:p>
          </p:txBody>
        </p:sp>
        <p:sp>
          <p:nvSpPr>
            <p:cNvPr id="65" name="circle 66"/>
            <p:cNvSpPr/>
            <p:nvPr/>
          </p:nvSpPr>
          <p:spPr>
            <a:xfrm>
              <a:off x="8139113" y="2290763"/>
              <a:ext cx="66675" cy="66675"/>
            </a:xfrm>
            <a:prstGeom prst="ellipse">
              <a:avLst/>
            </a:prstGeom>
            <a:solidFill>
              <a:srgbClr val="4A5058"/>
            </a:solidFill>
            <a:ln>
              <a:noFill/>
            </a:ln>
          </p:spPr>
          <p:txBody>
            <a:bodyPr/>
            <a:lstStyle/>
            <a:p>
              <a:endParaRPr lang="en-US"/>
            </a:p>
          </p:txBody>
        </p:sp>
        <p:sp>
          <p:nvSpPr>
            <p:cNvPr id="66" name="circle 67"/>
            <p:cNvSpPr/>
            <p:nvPr/>
          </p:nvSpPr>
          <p:spPr>
            <a:xfrm>
              <a:off x="8253413" y="2290763"/>
              <a:ext cx="66675" cy="66675"/>
            </a:xfrm>
            <a:prstGeom prst="ellipse">
              <a:avLst/>
            </a:prstGeom>
            <a:solidFill>
              <a:srgbClr val="4A5058"/>
            </a:solidFill>
            <a:ln>
              <a:noFill/>
            </a:ln>
          </p:spPr>
          <p:txBody>
            <a:bodyPr/>
            <a:lstStyle/>
            <a:p>
              <a:endParaRPr lang="en-US"/>
            </a:p>
          </p:txBody>
        </p:sp>
        <p:pic>
          <p:nvPicPr>
            <p:cNvPr id="67" name="Picture 68"/>
            <p:cNvPicPr>
              <a:picLocks noChangeAspect="1"/>
            </p:cNvPicPr>
            <p:nvPr/>
          </p:nvPicPr>
          <p:blipFill>
            <a:blip r:embed="rId3"/>
            <a:stretch>
              <a:fillRect/>
            </a:stretch>
          </p:blipFill>
          <p:spPr>
            <a:xfrm>
              <a:off x="7905750" y="2438400"/>
              <a:ext cx="3562350" cy="1914525"/>
            </a:xfrm>
            <a:prstGeom prst="roundRect">
              <a:avLst>
                <a:gd name="adj" fmla="val 3980"/>
              </a:avLst>
            </a:prstGeom>
          </p:spPr>
        </p:pic>
        <p:sp>
          <p:nvSpPr>
            <p:cNvPr id="68" name="path 69"/>
            <p:cNvSpPr/>
            <p:nvPr/>
          </p:nvSpPr>
          <p:spPr>
            <a:xfrm>
              <a:off x="7791450" y="2095500"/>
              <a:ext cx="228600" cy="228600"/>
            </a:xfrm>
            <a:custGeom>
              <a:avLst/>
              <a:gdLst/>
              <a:ahLst/>
              <a:cxnLst/>
              <a:rect l="0" t="0" r="r" b="b"/>
              <a:pathLst>
                <a:path w="228600" h="228600" fill="none">
                  <a:moveTo>
                    <a:pt x="0" y="228600"/>
                  </a:moveTo>
                  <a:lnTo>
                    <a:pt x="0" y="0"/>
                  </a:lnTo>
                  <a:lnTo>
                    <a:pt x="228600" y="0"/>
                  </a:lnTo>
                </a:path>
              </a:pathLst>
            </a:custGeom>
            <a:noFill/>
            <a:ln w="19050" cap="flat">
              <a:solidFill>
                <a:srgbClr val="3D8BFF"/>
              </a:solidFill>
              <a:miter lim="800000"/>
            </a:ln>
          </p:spPr>
          <p:txBody>
            <a:bodyPr/>
            <a:lstStyle/>
            <a:p>
              <a:endParaRPr lang="en-US"/>
            </a:p>
          </p:txBody>
        </p:sp>
        <p:sp>
          <p:nvSpPr>
            <p:cNvPr id="69" name="path 70"/>
            <p:cNvSpPr/>
            <p:nvPr/>
          </p:nvSpPr>
          <p:spPr>
            <a:xfrm>
              <a:off x="11353800" y="2095500"/>
              <a:ext cx="228600" cy="228600"/>
            </a:xfrm>
            <a:custGeom>
              <a:avLst/>
              <a:gdLst/>
              <a:ahLst/>
              <a:cxnLst/>
              <a:rect l="0" t="0" r="r" b="b"/>
              <a:pathLst>
                <a:path w="228600" h="228600" fill="none">
                  <a:moveTo>
                    <a:pt x="228600" y="228600"/>
                  </a:moveTo>
                  <a:lnTo>
                    <a:pt x="228600" y="0"/>
                  </a:lnTo>
                  <a:lnTo>
                    <a:pt x="0" y="0"/>
                  </a:lnTo>
                </a:path>
              </a:pathLst>
            </a:custGeom>
            <a:noFill/>
            <a:ln w="19050" cap="flat">
              <a:solidFill>
                <a:srgbClr val="3D8BFF"/>
              </a:solidFill>
              <a:miter lim="800000"/>
            </a:ln>
          </p:spPr>
          <p:txBody>
            <a:bodyPr/>
            <a:lstStyle/>
            <a:p>
              <a:endParaRPr lang="en-US"/>
            </a:p>
          </p:txBody>
        </p:sp>
        <p:sp>
          <p:nvSpPr>
            <p:cNvPr id="70" name="path 71"/>
            <p:cNvSpPr/>
            <p:nvPr/>
          </p:nvSpPr>
          <p:spPr>
            <a:xfrm>
              <a:off x="7791450" y="4238625"/>
              <a:ext cx="228600" cy="228600"/>
            </a:xfrm>
            <a:custGeom>
              <a:avLst/>
              <a:gdLst/>
              <a:ahLst/>
              <a:cxnLst/>
              <a:rect l="0" t="0" r="r" b="b"/>
              <a:pathLst>
                <a:path w="228600" h="228600" fill="none">
                  <a:moveTo>
                    <a:pt x="0" y="0"/>
                  </a:moveTo>
                  <a:lnTo>
                    <a:pt x="0" y="228600"/>
                  </a:lnTo>
                  <a:lnTo>
                    <a:pt x="228600" y="228600"/>
                  </a:lnTo>
                </a:path>
              </a:pathLst>
            </a:custGeom>
            <a:noFill/>
            <a:ln w="19050" cap="flat">
              <a:solidFill>
                <a:srgbClr val="3D8BFF"/>
              </a:solidFill>
              <a:miter lim="800000"/>
            </a:ln>
          </p:spPr>
          <p:txBody>
            <a:bodyPr/>
            <a:lstStyle/>
            <a:p>
              <a:endParaRPr lang="en-US"/>
            </a:p>
          </p:txBody>
        </p:sp>
        <p:sp>
          <p:nvSpPr>
            <p:cNvPr id="71" name="path 72"/>
            <p:cNvSpPr/>
            <p:nvPr/>
          </p:nvSpPr>
          <p:spPr>
            <a:xfrm>
              <a:off x="11353800" y="4238625"/>
              <a:ext cx="228600" cy="228600"/>
            </a:xfrm>
            <a:custGeom>
              <a:avLst/>
              <a:gdLst/>
              <a:ahLst/>
              <a:cxnLst/>
              <a:rect l="0" t="0" r="r" b="b"/>
              <a:pathLst>
                <a:path w="228600" h="228600" fill="none">
                  <a:moveTo>
                    <a:pt x="228600" y="0"/>
                  </a:moveTo>
                  <a:lnTo>
                    <a:pt x="228600" y="228600"/>
                  </a:lnTo>
                  <a:lnTo>
                    <a:pt x="0" y="228600"/>
                  </a:lnTo>
                </a:path>
              </a:pathLst>
            </a:custGeom>
            <a:noFill/>
            <a:ln w="19050" cap="flat">
              <a:solidFill>
                <a:srgbClr val="3D8BFF"/>
              </a:solidFill>
              <a:miter lim="800000"/>
            </a:ln>
          </p:spPr>
          <p:txBody>
            <a:bodyPr/>
            <a:lstStyle/>
            <a:p>
              <a:endParaRPr lang="en-US"/>
            </a:p>
          </p:txBody>
        </p:sp>
        <p:sp>
          <p:nvSpPr>
            <p:cNvPr id="72" name="Text 73"/>
            <p:cNvSpPr txBox="1"/>
            <p:nvPr/>
          </p:nvSpPr>
          <p:spPr>
            <a:xfrm>
              <a:off x="7905750" y="4495800"/>
              <a:ext cx="2107757" cy="424815"/>
            </a:xfrm>
            <a:prstGeom prst="rect">
              <a:avLst/>
            </a:prstGeom>
            <a:noFill/>
          </p:spPr>
          <p:txBody>
            <a:bodyPr wrap="none" lIns="0" tIns="0" rIns="0" bIns="0" rtlCol="0" anchor="t">
              <a:noAutofit/>
            </a:bodyPr>
            <a:lstStyle/>
            <a:p>
              <a:pPr algn="l">
                <a:lnSpc>
                  <a:spcPts val="1600"/>
                </a:lnSpc>
                <a:spcBef>
                  <a:spcPts val="0"/>
                </a:spcBef>
                <a:spcAft>
                  <a:spcPts val="0"/>
                </a:spcAft>
              </a:pPr>
              <a:r>
                <a:rPr lang="en-US" sz="1200" b="0" dirty="0">
                  <a:solidFill>
                    <a:srgbClr val="9C9A94"/>
                  </a:solidFill>
                  <a:latin typeface="Segoe UI"/>
                  <a:ea typeface="Segoe UI"/>
                  <a:cs typeface="Segoe UI"/>
                </a:rPr>
                <a:t>Searchable spawn dialog with</a:t>
              </a:r>
              <a:endParaRPr lang="en-US" sz="1200" dirty="0"/>
            </a:p>
            <a:p>
              <a:pPr algn="l">
                <a:lnSpc>
                  <a:spcPts val="1600"/>
                </a:lnSpc>
                <a:spcBef>
                  <a:spcPts val="0"/>
                </a:spcBef>
                <a:spcAft>
                  <a:spcPts val="0"/>
                </a:spcAft>
              </a:pPr>
              <a:r>
                <a:rPr lang="en-US" sz="1200" b="0" dirty="0">
                  <a:solidFill>
                    <a:srgbClr val="9C9A94"/>
                  </a:solidFill>
                  <a:latin typeface="Segoe UI"/>
                  <a:ea typeface="Segoe UI"/>
                  <a:cs typeface="Segoe UI"/>
                </a:rPr>
                <a:t>real-time status badges</a:t>
              </a:r>
              <a:endParaRPr lang="en-US" sz="1200" dirty="0"/>
            </a:p>
          </p:txBody>
        </p:sp>
      </p:grpSp>
      <p:grpSp>
        <p:nvGrpSpPr>
          <p:cNvPr id="77" name="plain-words"/>
          <p:cNvGrpSpPr/>
          <p:nvPr/>
        </p:nvGrpSpPr>
        <p:grpSpPr>
          <a:xfrm>
            <a:off x="7905750" y="5010150"/>
            <a:ext cx="3562350" cy="948690"/>
            <a:chOff x="7905750" y="5010150"/>
            <a:chExt cx="3562350" cy="948690"/>
          </a:xfrm>
        </p:grpSpPr>
        <p:sp>
          <p:nvSpPr>
            <p:cNvPr id="74" name="line 75"/>
            <p:cNvSpPr/>
            <p:nvPr/>
          </p:nvSpPr>
          <p:spPr>
            <a:xfrm>
              <a:off x="7905750" y="5010150"/>
              <a:ext cx="3562350" cy="95"/>
            </a:xfrm>
            <a:custGeom>
              <a:avLst/>
              <a:gdLst/>
              <a:ahLst/>
              <a:cxnLst/>
              <a:rect l="0" t="0" r="r" b="b"/>
              <a:pathLst>
                <a:path w="3562350" h="95" fill="none">
                  <a:moveTo>
                    <a:pt x="0" y="0"/>
                  </a:moveTo>
                  <a:lnTo>
                    <a:pt x="3562350" y="0"/>
                  </a:lnTo>
                </a:path>
              </a:pathLst>
            </a:custGeom>
            <a:noFill/>
            <a:ln w="9525" cap="flat">
              <a:solidFill>
                <a:srgbClr val="2A2E35"/>
              </a:solidFill>
              <a:miter lim="800000"/>
            </a:ln>
          </p:spPr>
          <p:txBody>
            <a:bodyPr/>
            <a:lstStyle/>
            <a:p>
              <a:endParaRPr lang="en-US"/>
            </a:p>
          </p:txBody>
        </p:sp>
        <p:sp>
          <p:nvSpPr>
            <p:cNvPr id="75" name="Text 76"/>
            <p:cNvSpPr txBox="1"/>
            <p:nvPr/>
          </p:nvSpPr>
          <p:spPr>
            <a:xfrm>
              <a:off x="7905750" y="5099050"/>
              <a:ext cx="1535454" cy="212090"/>
            </a:xfrm>
            <a:prstGeom prst="rect">
              <a:avLst/>
            </a:prstGeom>
            <a:noFill/>
          </p:spPr>
          <p:txBody>
            <a:bodyPr wrap="none" lIns="0" tIns="0" rIns="0" bIns="0" rtlCol="0" anchor="t">
              <a:noAutofit/>
            </a:bodyPr>
            <a:lstStyle/>
            <a:p>
              <a:pPr algn="l">
                <a:spcBef>
                  <a:spcPts val="0"/>
                </a:spcBef>
                <a:spcAft>
                  <a:spcPts val="0"/>
                </a:spcAft>
              </a:pPr>
              <a:r>
                <a:rPr lang="en-US" sz="1200" b="0" spc="150" dirty="0">
                  <a:solidFill>
                    <a:srgbClr val="9C9A94"/>
                  </a:solidFill>
                  <a:latin typeface="Consolas"/>
                  <a:ea typeface="Consolas"/>
                  <a:cs typeface="Consolas"/>
                </a:rPr>
                <a:t>IN PLAIN WORDS</a:t>
              </a:r>
              <a:endParaRPr lang="en-US" sz="1200" dirty="0"/>
            </a:p>
          </p:txBody>
        </p:sp>
        <p:sp>
          <p:nvSpPr>
            <p:cNvPr id="76" name="Text 77"/>
            <p:cNvSpPr txBox="1"/>
            <p:nvPr/>
          </p:nvSpPr>
          <p:spPr>
            <a:xfrm>
              <a:off x="7905750" y="5302250"/>
              <a:ext cx="2689967" cy="656590"/>
            </a:xfrm>
            <a:prstGeom prst="rect">
              <a:avLst/>
            </a:prstGeom>
            <a:noFill/>
          </p:spPr>
          <p:txBody>
            <a:bodyPr wrap="none" lIns="0" tIns="0" rIns="0" bIns="0" rtlCol="0" anchor="t">
              <a:noAutofit/>
            </a:bodyPr>
            <a:lstStyle/>
            <a:p>
              <a:pPr algn="l">
                <a:lnSpc>
                  <a:spcPts val="1700"/>
                </a:lnSpc>
                <a:spcBef>
                  <a:spcPts val="0"/>
                </a:spcBef>
                <a:spcAft>
                  <a:spcPts val="0"/>
                </a:spcAft>
              </a:pPr>
              <a:r>
                <a:rPr lang="en-US" sz="1200" b="0" dirty="0">
                  <a:solidFill>
                    <a:srgbClr val="EDE9E2"/>
                  </a:solidFill>
                  <a:latin typeface="Segoe UI"/>
                  <a:ea typeface="Segoe UI"/>
                  <a:cs typeface="Segoe UI"/>
                </a:rPr>
                <a:t>An agent is an AI assistant that writes</a:t>
              </a:r>
              <a:endParaRPr lang="en-US" sz="1200" dirty="0"/>
            </a:p>
            <a:p>
              <a:pPr algn="l">
                <a:lnSpc>
                  <a:spcPts val="1700"/>
                </a:lnSpc>
                <a:spcBef>
                  <a:spcPts val="0"/>
                </a:spcBef>
                <a:spcAft>
                  <a:spcPts val="0"/>
                </a:spcAft>
              </a:pPr>
              <a:r>
                <a:rPr lang="en-US" sz="1200" b="0" dirty="0">
                  <a:solidFill>
                    <a:srgbClr val="EDE9E2"/>
                  </a:solidFill>
                  <a:latin typeface="Segoe UI"/>
                  <a:ea typeface="Segoe UI"/>
                  <a:cs typeface="Segoe UI"/>
                </a:rPr>
                <a:t>and fixes software for you. One dialog</a:t>
              </a:r>
              <a:endParaRPr lang="en-US" sz="1200" dirty="0"/>
            </a:p>
            <a:p>
              <a:pPr algn="l">
                <a:lnSpc>
                  <a:spcPts val="1700"/>
                </a:lnSpc>
                <a:spcBef>
                  <a:spcPts val="0"/>
                </a:spcBef>
                <a:spcAft>
                  <a:spcPts val="0"/>
                </a:spcAft>
              </a:pPr>
              <a:r>
                <a:rPr lang="en-US" sz="1200" b="1" dirty="0">
                  <a:solidFill>
                    <a:srgbClr val="3D8BFF"/>
                  </a:solidFill>
                  <a:latin typeface="Segoe UI"/>
                  <a:ea typeface="Segoe UI"/>
                  <a:cs typeface="Segoe UI"/>
                </a:rPr>
                <a:t>finds</a:t>
              </a:r>
              <a:r>
                <a:rPr lang="en-US" sz="1200" b="0" dirty="0">
                  <a:solidFill>
                    <a:srgbClr val="EDE9E2"/>
                  </a:solidFill>
                  <a:latin typeface="Segoe UI"/>
                  <a:ea typeface="Segoe UI"/>
                  <a:cs typeface="Segoe UI"/>
                </a:rPr>
                <a:t> it, </a:t>
              </a:r>
              <a:r>
                <a:rPr lang="en-US" sz="1200" b="1" dirty="0">
                  <a:solidFill>
                    <a:srgbClr val="3D8BFF"/>
                  </a:solidFill>
                  <a:latin typeface="Segoe UI"/>
                  <a:ea typeface="Segoe UI"/>
                  <a:cs typeface="Segoe UI"/>
                </a:rPr>
                <a:t>starts</a:t>
              </a:r>
              <a:r>
                <a:rPr lang="en-US" sz="1200" b="0" dirty="0">
                  <a:solidFill>
                    <a:srgbClr val="EDE9E2"/>
                  </a:solidFill>
                  <a:latin typeface="Segoe UI"/>
                  <a:ea typeface="Segoe UI"/>
                  <a:cs typeface="Segoe UI"/>
                </a:rPr>
                <a:t> it, </a:t>
              </a:r>
              <a:r>
                <a:rPr lang="en-US" sz="1200" b="1" dirty="0">
                  <a:solidFill>
                    <a:srgbClr val="3D8BFF"/>
                  </a:solidFill>
                  <a:latin typeface="Segoe UI"/>
                  <a:ea typeface="Segoe UI"/>
                  <a:cs typeface="Segoe UI"/>
                </a:rPr>
                <a:t>keeps</a:t>
              </a:r>
              <a:r>
                <a:rPr lang="en-US" sz="1200" b="0" dirty="0">
                  <a:solidFill>
                    <a:srgbClr val="EDE9E2"/>
                  </a:solidFill>
                  <a:latin typeface="Segoe UI"/>
                  <a:ea typeface="Segoe UI"/>
                  <a:cs typeface="Segoe UI"/>
                </a:rPr>
                <a:t> it running.</a:t>
              </a:r>
              <a:endParaRPr lang="en-US" sz="1200" dirty="0"/>
            </a:p>
          </p:txBody>
        </p:sp>
      </p:grpSp>
      <p:grpSp>
        <p:nvGrpSpPr>
          <p:cNvPr id="81" name="footer-rule"/>
          <p:cNvGrpSpPr/>
          <p:nvPr/>
        </p:nvGrpSpPr>
        <p:grpSpPr>
          <a:xfrm>
            <a:off x="609600" y="6038850"/>
            <a:ext cx="10972800" cy="358140"/>
            <a:chOff x="609600" y="6038850"/>
            <a:chExt cx="10972800" cy="358140"/>
          </a:xfrm>
        </p:grpSpPr>
        <p:sp>
          <p:nvSpPr>
            <p:cNvPr id="78" name="line 79"/>
            <p:cNvSpPr/>
            <p:nvPr/>
          </p:nvSpPr>
          <p:spPr>
            <a:xfrm>
              <a:off x="609600" y="6057900"/>
              <a:ext cx="10972800" cy="95"/>
            </a:xfrm>
            <a:custGeom>
              <a:avLst/>
              <a:gdLst/>
              <a:ahLst/>
              <a:cxnLst/>
              <a:rect l="0" t="0" r="r" b="b"/>
              <a:pathLst>
                <a:path w="10972800" h="95" fill="none">
                  <a:moveTo>
                    <a:pt x="0" y="0"/>
                  </a:moveTo>
                  <a:lnTo>
                    <a:pt x="10972800" y="0"/>
                  </a:lnTo>
                </a:path>
              </a:pathLst>
            </a:custGeom>
            <a:noFill/>
            <a:ln w="9525" cap="flat">
              <a:solidFill>
                <a:srgbClr val="2A2E35"/>
              </a:solidFill>
              <a:miter lim="800000"/>
            </a:ln>
          </p:spPr>
          <p:txBody>
            <a:bodyPr/>
            <a:lstStyle/>
            <a:p>
              <a:endParaRPr lang="en-US"/>
            </a:p>
          </p:txBody>
        </p:sp>
        <p:sp>
          <p:nvSpPr>
            <p:cNvPr id="79" name="rect 80"/>
            <p:cNvSpPr/>
            <p:nvPr/>
          </p:nvSpPr>
          <p:spPr>
            <a:xfrm>
              <a:off x="609600" y="6038850"/>
              <a:ext cx="2743200" cy="38100"/>
            </a:xfrm>
            <a:prstGeom prst="roundRect">
              <a:avLst>
                <a:gd name="adj" fmla="val 50000"/>
              </a:avLst>
            </a:prstGeom>
            <a:solidFill>
              <a:srgbClr val="FF5B1F"/>
            </a:solidFill>
            <a:ln>
              <a:noFill/>
            </a:ln>
          </p:spPr>
          <p:txBody>
            <a:bodyPr/>
            <a:lstStyle/>
            <a:p>
              <a:endParaRPr lang="en-US"/>
            </a:p>
          </p:txBody>
        </p:sp>
        <p:sp>
          <p:nvSpPr>
            <p:cNvPr id="80" name="Text 81"/>
            <p:cNvSpPr txBox="1"/>
            <p:nvPr/>
          </p:nvSpPr>
          <p:spPr>
            <a:xfrm>
              <a:off x="609600" y="6172200"/>
              <a:ext cx="3301972"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Segoe UI"/>
                  <a:ea typeface="Segoe UI"/>
                  <a:cs typeface="Segoe UI"/>
                </a:rPr>
                <a:t>Not affiliated with or endorsed by the vendors.</a:t>
              </a:r>
              <a:endParaRPr lang="en-US" sz="120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600" fill="hold"/>
                                        <p:tgtEl>
                                          <p:spTgt spid="6"/>
                                        </p:tgtEl>
                                        <p:attrNameLst>
                                          <p:attrName>ppt_y</p:attrName>
                                        </p:attrNameLst>
                                      </p:cBhvr>
                                      <p:tavLst>
                                        <p:tav tm="0">
                                          <p:val>
                                            <p:strVal val="#ppt_y+.1"/>
                                          </p:val>
                                        </p:tav>
                                        <p:tav tm="100000">
                                          <p:val>
                                            <p:strVal val="#ppt_y"/>
                                          </p:val>
                                        </p:tav>
                                      </p:tavLst>
                                    </p:anim>
                                    <p:animEffect transition="in" filter="fade">
                                      <p:cBhvr>
                                        <p:cTn id="8" dur="600"/>
                                        <p:tgtEl>
                                          <p:spTgt spid="6"/>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1"/>
                                        </p:tgtEl>
                                        <p:attrNameLst>
                                          <p:attrName>style.visibility</p:attrName>
                                        </p:attrNameLst>
                                      </p:cBhvr>
                                      <p:to>
                                        <p:strVal val="visible"/>
                                      </p:to>
                                    </p:set>
                                    <p:anim calcmode="lin" valueType="num">
                                      <p:cBhvr additive="base">
                                        <p:cTn id="13" dur="600" fill="hold"/>
                                        <p:tgtEl>
                                          <p:spTgt spid="61"/>
                                        </p:tgtEl>
                                        <p:attrNameLst>
                                          <p:attrName>ppt_x</p:attrName>
                                        </p:attrNameLst>
                                      </p:cBhvr>
                                      <p:tavLst>
                                        <p:tav tm="0">
                                          <p:val>
                                            <p:strVal val="0-#ppt_w/2"/>
                                          </p:val>
                                        </p:tav>
                                        <p:tav tm="100000">
                                          <p:val>
                                            <p:strVal val="#ppt_x"/>
                                          </p:val>
                                        </p:tav>
                                      </p:tavLst>
                                    </p:anim>
                                    <p:anim calcmode="lin" valueType="num">
                                      <p:cBhvr additive="base">
                                        <p:cTn id="14" dur="600" fill="hold"/>
                                        <p:tgtEl>
                                          <p:spTgt spid="6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73"/>
                                        </p:tgtEl>
                                        <p:attrNameLst>
                                          <p:attrName>style.visibility</p:attrName>
                                        </p:attrNameLst>
                                      </p:cBhvr>
                                      <p:to>
                                        <p:strVal val="visible"/>
                                      </p:to>
                                    </p:set>
                                    <p:anim calcmode="lin" valueType="num">
                                      <p:cBhvr additive="base">
                                        <p:cTn id="19" dur="600" fill="hold"/>
                                        <p:tgtEl>
                                          <p:spTgt spid="73"/>
                                        </p:tgtEl>
                                        <p:attrNameLst>
                                          <p:attrName>ppt_x</p:attrName>
                                        </p:attrNameLst>
                                      </p:cBhvr>
                                      <p:tavLst>
                                        <p:tav tm="0">
                                          <p:val>
                                            <p:strVal val="1+#ppt_w/2"/>
                                          </p:val>
                                        </p:tav>
                                        <p:tav tm="100000">
                                          <p:val>
                                            <p:strVal val="#ppt_x"/>
                                          </p:val>
                                        </p:tav>
                                      </p:tavLst>
                                    </p:anim>
                                    <p:anim calcmode="lin" valueType="num">
                                      <p:cBhvr additive="base">
                                        <p:cTn id="20" dur="600" fill="hold"/>
                                        <p:tgtEl>
                                          <p:spTgt spid="73"/>
                                        </p:tgtEl>
                                        <p:attrNameLst>
                                          <p:attrName>ppt_y</p:attrName>
                                        </p:attrNameLst>
                                      </p:cBhvr>
                                      <p:tavLst>
                                        <p:tav tm="0">
                                          <p:val>
                                            <p:strVal val="#ppt_y"/>
                                          </p:val>
                                        </p:tav>
                                        <p:tav tm="100000">
                                          <p:val>
                                            <p:strVal val="#ppt_y"/>
                                          </p:val>
                                        </p:tav>
                                      </p:tavLst>
                                    </p:anim>
                                  </p:childTnLst>
                                </p:cTn>
                              </p:par>
                            </p:childTnLst>
                          </p:cTn>
                        </p:par>
                        <p:par>
                          <p:cTn id="21" fill="hold">
                            <p:stCondLst>
                              <p:cond delay="600"/>
                            </p:stCondLst>
                            <p:childTnLst>
                              <p:par>
                                <p:cTn id="22" presetID="10" presetClass="entr" presetSubtype="0" fill="hold" nodeType="afterEffect">
                                  <p:stCondLst>
                                    <p:cond delay="0"/>
                                  </p:stCondLst>
                                  <p:childTnLst>
                                    <p:set>
                                      <p:cBhvr>
                                        <p:cTn id="23" dur="1" fill="hold">
                                          <p:stCondLst>
                                            <p:cond delay="0"/>
                                          </p:stCondLst>
                                        </p:cTn>
                                        <p:tgtEl>
                                          <p:spTgt spid="77"/>
                                        </p:tgtEl>
                                        <p:attrNameLst>
                                          <p:attrName>style.visibility</p:attrName>
                                        </p:attrNameLst>
                                      </p:cBhvr>
                                      <p:to>
                                        <p:strVal val="visible"/>
                                      </p:to>
                                    </p:set>
                                    <p:animEffect transition="in" filter="fade">
                                      <p:cBhvr>
                                        <p:cTn id="24"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B0D"/>
        </a:solidFill>
        <a:effectLst/>
      </p:bgPr>
    </p:bg>
    <p:spTree>
      <p:nvGrpSpPr>
        <p:cNvPr id="1" name=""/>
        <p:cNvGrpSpPr/>
        <p:nvPr/>
      </p:nvGrpSpPr>
      <p:grpSpPr>
        <a:xfrm>
          <a:off x="0" y="0"/>
          <a:ext cx="0" cy="0"/>
          <a:chOff x="0" y="0"/>
          <a:chExt cx="0" cy="0"/>
        </a:xfrm>
      </p:grpSpPr>
      <p:grpSp>
        <p:nvGrpSpPr>
          <p:cNvPr id="6" name="cursor-kicker"/>
          <p:cNvGrpSpPr/>
          <p:nvPr/>
        </p:nvGrpSpPr>
        <p:grpSpPr>
          <a:xfrm>
            <a:off x="609600" y="419100"/>
            <a:ext cx="3567577" cy="415290"/>
            <a:chOff x="609600" y="419100"/>
            <a:chExt cx="3567577" cy="415290"/>
          </a:xfrm>
        </p:grpSpPr>
        <p:sp>
          <p:nvSpPr>
            <p:cNvPr id="4" name="rect 5"/>
            <p:cNvSpPr/>
            <p:nvPr/>
          </p:nvSpPr>
          <p:spPr>
            <a:xfrm>
              <a:off x="609600" y="419100"/>
              <a:ext cx="457200" cy="57150"/>
            </a:xfrm>
            <a:prstGeom prst="roundRect">
              <a:avLst>
                <a:gd name="adj" fmla="val 50000"/>
              </a:avLst>
            </a:prstGeom>
            <a:solidFill>
              <a:srgbClr val="FF5B1F"/>
            </a:solidFill>
            <a:ln>
              <a:noFill/>
            </a:ln>
          </p:spPr>
          <p:txBody>
            <a:bodyPr/>
            <a:lstStyle/>
            <a:p>
              <a:endParaRPr lang="en-US"/>
            </a:p>
          </p:txBody>
        </p:sp>
        <p:sp>
          <p:nvSpPr>
            <p:cNvPr id="5" name="Text 6"/>
            <p:cNvSpPr txBox="1"/>
            <p:nvPr/>
          </p:nvSpPr>
          <p:spPr>
            <a:xfrm>
              <a:off x="609600" y="622300"/>
              <a:ext cx="3567577" cy="212090"/>
            </a:xfrm>
            <a:prstGeom prst="rect">
              <a:avLst/>
            </a:prstGeom>
            <a:noFill/>
          </p:spPr>
          <p:txBody>
            <a:bodyPr wrap="none" lIns="0" tIns="0" rIns="0" bIns="0" rtlCol="0" anchor="t">
              <a:noAutofit/>
            </a:bodyPr>
            <a:lstStyle/>
            <a:p>
              <a:pPr algn="l">
                <a:spcBef>
                  <a:spcPts val="0"/>
                </a:spcBef>
                <a:spcAft>
                  <a:spcPts val="0"/>
                </a:spcAft>
              </a:pPr>
              <a:r>
                <a:rPr lang="en-US" sz="1200" b="0" spc="150" dirty="0">
                  <a:solidFill>
                    <a:srgbClr val="9C9A94"/>
                  </a:solidFill>
                  <a:latin typeface="Consolas"/>
                  <a:ea typeface="Consolas"/>
                  <a:cs typeface="Consolas"/>
                </a:rPr>
                <a:t>YZPZCODE / DETECTED AGENTS &amp; CLIS</a:t>
              </a:r>
              <a:endParaRPr lang="en-US" sz="1200" dirty="0"/>
            </a:p>
          </p:txBody>
        </p:sp>
      </p:grpSp>
      <p:sp>
        <p:nvSpPr>
          <p:cNvPr id="7" name="Text 8"/>
          <p:cNvSpPr txBox="1"/>
          <p:nvPr/>
        </p:nvSpPr>
        <p:spPr>
          <a:xfrm>
            <a:off x="10795623" y="622300"/>
            <a:ext cx="786777" cy="212090"/>
          </a:xfrm>
          <a:prstGeom prst="rect">
            <a:avLst/>
          </a:prstGeom>
          <a:noFill/>
        </p:spPr>
        <p:txBody>
          <a:bodyPr wrap="none" lIns="0" tIns="0" rIns="0" bIns="0" rtlCol="0" anchor="t">
            <a:noAutofit/>
          </a:bodyPr>
          <a:lstStyle/>
          <a:p>
            <a:pPr algn="r">
              <a:spcBef>
                <a:spcPts val="0"/>
              </a:spcBef>
              <a:spcAft>
                <a:spcPts val="0"/>
              </a:spcAft>
            </a:pPr>
            <a:r>
              <a:rPr lang="en-US" sz="1200" b="0" spc="150" dirty="0">
                <a:solidFill>
                  <a:srgbClr val="9C9A94"/>
                </a:solidFill>
                <a:latin typeface="Consolas"/>
                <a:ea typeface="Consolas"/>
                <a:cs typeface="Consolas"/>
              </a:rPr>
              <a:t>05 / 16</a:t>
            </a:r>
            <a:endParaRPr lang="en-US" sz="1200" dirty="0"/>
          </a:p>
        </p:txBody>
      </p:sp>
      <p:sp>
        <p:nvSpPr>
          <p:cNvPr id="8" name="Text 9"/>
          <p:cNvSpPr txBox="1"/>
          <p:nvPr/>
        </p:nvSpPr>
        <p:spPr>
          <a:xfrm>
            <a:off x="609600" y="914400"/>
            <a:ext cx="6132476" cy="818198"/>
          </a:xfrm>
          <a:prstGeom prst="rect">
            <a:avLst/>
          </a:prstGeom>
          <a:noFill/>
        </p:spPr>
        <p:txBody>
          <a:bodyPr wrap="none" lIns="0" tIns="0" rIns="0" bIns="0" rtlCol="0" anchor="t">
            <a:noAutofit/>
          </a:bodyPr>
          <a:lstStyle/>
          <a:p>
            <a:pPr algn="l">
              <a:lnSpc>
                <a:spcPts val="3000"/>
              </a:lnSpc>
              <a:spcBef>
                <a:spcPts val="0"/>
              </a:spcBef>
              <a:spcAft>
                <a:spcPts val="0"/>
              </a:spcAft>
            </a:pPr>
            <a:r>
              <a:rPr lang="en-US" sz="2550" b="1" dirty="0">
                <a:solidFill>
                  <a:srgbClr val="EDE9E2"/>
                </a:solidFill>
                <a:latin typeface="Bahnschrift"/>
                <a:ea typeface="Bahnschrift"/>
                <a:cs typeface="Bahnschrift"/>
              </a:rPr>
              <a:t>Beyond the core nine: </a:t>
            </a:r>
            <a:r>
              <a:rPr lang="en-US" sz="2550" b="1" dirty="0">
                <a:solidFill>
                  <a:srgbClr val="FF5B1F"/>
                </a:solidFill>
                <a:latin typeface="Bahnschrift"/>
                <a:ea typeface="Bahnschrift"/>
                <a:cs typeface="Bahnschrift"/>
              </a:rPr>
              <a:t>17 more agents</a:t>
            </a:r>
            <a:endParaRPr lang="en-US" sz="2550" dirty="0"/>
          </a:p>
          <a:p>
            <a:pPr algn="l">
              <a:lnSpc>
                <a:spcPts val="3000"/>
              </a:lnSpc>
              <a:spcBef>
                <a:spcPts val="0"/>
              </a:spcBef>
              <a:spcAft>
                <a:spcPts val="0"/>
              </a:spcAft>
            </a:pPr>
            <a:r>
              <a:rPr lang="en-US" sz="2550" b="1" dirty="0">
                <a:solidFill>
                  <a:srgbClr val="EDE9E2"/>
                </a:solidFill>
                <a:latin typeface="Bahnschrift"/>
                <a:ea typeface="Bahnschrift"/>
                <a:cs typeface="Bahnschrift"/>
              </a:rPr>
              <a:t>and </a:t>
            </a:r>
            <a:r>
              <a:rPr lang="en-US" sz="2550" b="1" dirty="0">
                <a:solidFill>
                  <a:srgbClr val="3D8BFF"/>
                </a:solidFill>
                <a:latin typeface="Bahnschrift"/>
                <a:ea typeface="Bahnschrift"/>
                <a:cs typeface="Bahnschrift"/>
              </a:rPr>
              <a:t>10 service CLIs</a:t>
            </a:r>
            <a:r>
              <a:rPr lang="en-US" sz="2550" b="1" dirty="0">
                <a:solidFill>
                  <a:srgbClr val="EDE9E2"/>
                </a:solidFill>
                <a:latin typeface="Bahnschrift"/>
                <a:ea typeface="Bahnschrift"/>
                <a:cs typeface="Bahnschrift"/>
              </a:rPr>
              <a:t>, tracked in one place</a:t>
            </a:r>
            <a:endParaRPr lang="en-US" sz="2550" dirty="0"/>
          </a:p>
        </p:txBody>
      </p:sp>
      <p:sp>
        <p:nvSpPr>
          <p:cNvPr id="9" name="Text 10"/>
          <p:cNvSpPr txBox="1"/>
          <p:nvPr/>
        </p:nvSpPr>
        <p:spPr>
          <a:xfrm>
            <a:off x="609600" y="1790700"/>
            <a:ext cx="6908530" cy="224790"/>
          </a:xfrm>
          <a:prstGeom prst="rect">
            <a:avLst/>
          </a:prstGeom>
          <a:noFill/>
        </p:spPr>
        <p:txBody>
          <a:bodyPr wrap="none" lIns="0" tIns="0" rIns="0" bIns="0" rtlCol="0" anchor="t">
            <a:noAutofit/>
          </a:bodyPr>
          <a:lstStyle/>
          <a:p>
            <a:pPr algn="l">
              <a:spcBef>
                <a:spcPts val="0"/>
              </a:spcBef>
              <a:spcAft>
                <a:spcPts val="0"/>
              </a:spcAft>
            </a:pPr>
            <a:r>
              <a:rPr lang="en-US" sz="1200" b="1" dirty="0">
                <a:solidFill>
                  <a:srgbClr val="EDE9E2"/>
                </a:solidFill>
                <a:latin typeface="Segoe UI"/>
                <a:ea typeface="Segoe UI"/>
                <a:cs typeface="Segoe UI"/>
              </a:rPr>
              <a:t>CLI</a:t>
            </a:r>
            <a:r>
              <a:rPr lang="en-US" sz="1200" b="0" dirty="0">
                <a:solidFill>
                  <a:srgbClr val="9C9A94"/>
                </a:solidFill>
                <a:latin typeface="Segoe UI"/>
                <a:ea typeface="Segoe UI"/>
                <a:cs typeface="Segoe UI"/>
              </a:rPr>
              <a:t> = a program you run by typing a short command. The tag beside each name is that command.</a:t>
            </a:r>
            <a:endParaRPr lang="en-US" sz="1200" dirty="0"/>
          </a:p>
        </p:txBody>
      </p:sp>
      <p:grpSp>
        <p:nvGrpSpPr>
          <p:cNvPr id="13" name="rules"/>
          <p:cNvGrpSpPr/>
          <p:nvPr/>
        </p:nvGrpSpPr>
        <p:grpSpPr>
          <a:xfrm>
            <a:off x="609600" y="2209800"/>
            <a:ext cx="10972800" cy="3467100"/>
            <a:chOff x="609600" y="2209800"/>
            <a:chExt cx="10972800" cy="3467100"/>
          </a:xfrm>
        </p:grpSpPr>
        <p:sp>
          <p:nvSpPr>
            <p:cNvPr id="10" name="line 11"/>
            <p:cNvSpPr/>
            <p:nvPr/>
          </p:nvSpPr>
          <p:spPr>
            <a:xfrm>
              <a:off x="609600" y="3181350"/>
              <a:ext cx="5676900" cy="95"/>
            </a:xfrm>
            <a:custGeom>
              <a:avLst/>
              <a:gdLst/>
              <a:ahLst/>
              <a:cxnLst/>
              <a:rect l="0" t="0" r="r" b="b"/>
              <a:pathLst>
                <a:path w="5676900" h="95" fill="none">
                  <a:moveTo>
                    <a:pt x="0" y="0"/>
                  </a:moveTo>
                  <a:lnTo>
                    <a:pt x="5676900" y="0"/>
                  </a:lnTo>
                </a:path>
              </a:pathLst>
            </a:custGeom>
            <a:noFill/>
            <a:ln w="9525" cap="flat">
              <a:solidFill>
                <a:srgbClr val="2A2E35"/>
              </a:solidFill>
              <a:miter lim="800000"/>
            </a:ln>
          </p:spPr>
          <p:txBody>
            <a:bodyPr/>
            <a:lstStyle/>
            <a:p>
              <a:endParaRPr lang="en-US"/>
            </a:p>
          </p:txBody>
        </p:sp>
        <p:sp>
          <p:nvSpPr>
            <p:cNvPr id="11" name="line 12"/>
            <p:cNvSpPr/>
            <p:nvPr/>
          </p:nvSpPr>
          <p:spPr>
            <a:xfrm>
              <a:off x="7162800" y="3181350"/>
              <a:ext cx="4419600" cy="95"/>
            </a:xfrm>
            <a:custGeom>
              <a:avLst/>
              <a:gdLst/>
              <a:ahLst/>
              <a:cxnLst/>
              <a:rect l="0" t="0" r="r" b="b"/>
              <a:pathLst>
                <a:path w="4419600" h="95" fill="none">
                  <a:moveTo>
                    <a:pt x="0" y="0"/>
                  </a:moveTo>
                  <a:lnTo>
                    <a:pt x="4419600" y="0"/>
                  </a:lnTo>
                </a:path>
              </a:pathLst>
            </a:custGeom>
            <a:noFill/>
            <a:ln w="9525" cap="flat">
              <a:solidFill>
                <a:srgbClr val="2A2E35"/>
              </a:solidFill>
              <a:miter lim="800000"/>
            </a:ln>
          </p:spPr>
          <p:txBody>
            <a:bodyPr/>
            <a:lstStyle/>
            <a:p>
              <a:endParaRPr lang="en-US"/>
            </a:p>
          </p:txBody>
        </p:sp>
        <p:sp>
          <p:nvSpPr>
            <p:cNvPr id="12" name="line 13"/>
            <p:cNvSpPr/>
            <p:nvPr/>
          </p:nvSpPr>
          <p:spPr>
            <a:xfrm>
              <a:off x="6705600" y="2209800"/>
              <a:ext cx="95" cy="3467100"/>
            </a:xfrm>
            <a:custGeom>
              <a:avLst/>
              <a:gdLst/>
              <a:ahLst/>
              <a:cxnLst/>
              <a:rect l="0" t="0" r="r" b="b"/>
              <a:pathLst>
                <a:path w="95" h="3467100" fill="none">
                  <a:moveTo>
                    <a:pt x="0" y="0"/>
                  </a:moveTo>
                  <a:lnTo>
                    <a:pt x="0" y="3467100"/>
                  </a:lnTo>
                </a:path>
              </a:pathLst>
            </a:custGeom>
            <a:noFill/>
            <a:ln w="9525" cap="flat">
              <a:solidFill>
                <a:srgbClr val="2A2E35"/>
              </a:solidFill>
              <a:miter lim="800000"/>
            </a:ln>
          </p:spPr>
          <p:txBody>
            <a:bodyPr/>
            <a:lstStyle/>
            <a:p>
              <a:endParaRPr lang="en-US"/>
            </a:p>
          </p:txBody>
        </p:sp>
      </p:grpSp>
      <p:grpSp>
        <p:nvGrpSpPr>
          <p:cNvPr id="18" name="numeral-26"/>
          <p:cNvGrpSpPr/>
          <p:nvPr/>
        </p:nvGrpSpPr>
        <p:grpSpPr>
          <a:xfrm>
            <a:off x="571500" y="1917700"/>
            <a:ext cx="3857002" cy="1511300"/>
            <a:chOff x="571500" y="1917700"/>
            <a:chExt cx="3857002" cy="1511300"/>
          </a:xfrm>
        </p:grpSpPr>
        <p:sp>
          <p:nvSpPr>
            <p:cNvPr id="14" name="Text 15"/>
            <p:cNvSpPr txBox="1"/>
            <p:nvPr/>
          </p:nvSpPr>
          <p:spPr>
            <a:xfrm>
              <a:off x="571500" y="1917700"/>
              <a:ext cx="1227400" cy="1511300"/>
            </a:xfrm>
            <a:prstGeom prst="rect">
              <a:avLst/>
            </a:prstGeom>
            <a:noFill/>
          </p:spPr>
          <p:txBody>
            <a:bodyPr wrap="none" lIns="0" tIns="0" rIns="0" bIns="0" rtlCol="0" anchor="t">
              <a:noAutofit/>
            </a:bodyPr>
            <a:lstStyle/>
            <a:p>
              <a:pPr algn="l">
                <a:spcBef>
                  <a:spcPts val="0"/>
                </a:spcBef>
                <a:spcAft>
                  <a:spcPts val="0"/>
                </a:spcAft>
              </a:pPr>
              <a:r>
                <a:rPr lang="en-US" sz="9000" b="1" dirty="0">
                  <a:solidFill>
                    <a:srgbClr val="FF5B1F"/>
                  </a:solidFill>
                  <a:latin typeface="Bahnschrift"/>
                  <a:ea typeface="Bahnschrift"/>
                  <a:cs typeface="Bahnschrift"/>
                </a:rPr>
                <a:t>26</a:t>
              </a:r>
              <a:endParaRPr lang="en-US" sz="9000" dirty="0"/>
            </a:p>
          </p:txBody>
        </p:sp>
        <p:sp>
          <p:nvSpPr>
            <p:cNvPr id="15" name="Text 16"/>
            <p:cNvSpPr txBox="1"/>
            <p:nvPr/>
          </p:nvSpPr>
          <p:spPr>
            <a:xfrm>
              <a:off x="2209800" y="2254250"/>
              <a:ext cx="1494456" cy="295593"/>
            </a:xfrm>
            <a:prstGeom prst="rect">
              <a:avLst/>
            </a:prstGeom>
            <a:noFill/>
          </p:spPr>
          <p:txBody>
            <a:bodyPr wrap="none" lIns="0" tIns="0" rIns="0" bIns="0" rtlCol="0" anchor="t">
              <a:noAutofit/>
            </a:bodyPr>
            <a:lstStyle/>
            <a:p>
              <a:pPr algn="l">
                <a:spcBef>
                  <a:spcPts val="0"/>
                </a:spcBef>
                <a:spcAft>
                  <a:spcPts val="0"/>
                </a:spcAft>
              </a:pPr>
              <a:r>
                <a:rPr lang="en-US" sz="1650" b="1" dirty="0">
                  <a:solidFill>
                    <a:srgbClr val="EDE9E2"/>
                  </a:solidFill>
                  <a:latin typeface="Segoe UI"/>
                  <a:ea typeface="Segoe UI"/>
                  <a:cs typeface="Segoe UI"/>
                </a:rPr>
                <a:t>AI coding CLIs</a:t>
              </a:r>
              <a:endParaRPr lang="en-US" sz="1650" dirty="0"/>
            </a:p>
          </p:txBody>
        </p:sp>
        <p:sp>
          <p:nvSpPr>
            <p:cNvPr id="16" name="Text 17"/>
            <p:cNvSpPr txBox="1"/>
            <p:nvPr/>
          </p:nvSpPr>
          <p:spPr>
            <a:xfrm>
              <a:off x="2209800" y="2578100"/>
              <a:ext cx="2105823" cy="192722"/>
            </a:xfrm>
            <a:prstGeom prst="rect">
              <a:avLst/>
            </a:prstGeom>
            <a:noFill/>
          </p:spPr>
          <p:txBody>
            <a:bodyPr wrap="none" lIns="0" tIns="0" rIns="0" bIns="0" rtlCol="0" anchor="t">
              <a:noAutofit/>
            </a:bodyPr>
            <a:lstStyle/>
            <a:p>
              <a:pPr algn="l">
                <a:spcBef>
                  <a:spcPts val="0"/>
                </a:spcBef>
                <a:spcAft>
                  <a:spcPts val="0"/>
                </a:spcAft>
              </a:pPr>
              <a:r>
                <a:rPr lang="en-US" sz="1050" b="0" spc="75" dirty="0">
                  <a:solidFill>
                    <a:srgbClr val="9C9A94"/>
                  </a:solidFill>
                  <a:latin typeface="Consolas"/>
                  <a:ea typeface="Consolas"/>
                  <a:cs typeface="Consolas"/>
                </a:rPr>
                <a:t>9 core + 17 listed below</a:t>
              </a:r>
              <a:endParaRPr lang="en-US" sz="1050" dirty="0"/>
            </a:p>
          </p:txBody>
        </p:sp>
        <p:sp>
          <p:nvSpPr>
            <p:cNvPr id="17" name="Text 18"/>
            <p:cNvSpPr txBox="1"/>
            <p:nvPr/>
          </p:nvSpPr>
          <p:spPr>
            <a:xfrm>
              <a:off x="2209800" y="2832100"/>
              <a:ext cx="2218702" cy="208756"/>
            </a:xfrm>
            <a:prstGeom prst="rect">
              <a:avLst/>
            </a:prstGeom>
            <a:noFill/>
          </p:spPr>
          <p:txBody>
            <a:bodyPr wrap="none" lIns="0" tIns="0" rIns="0" bIns="0" rtlCol="0" anchor="t">
              <a:noAutofit/>
            </a:bodyPr>
            <a:lstStyle/>
            <a:p>
              <a:pPr algn="l">
                <a:spcBef>
                  <a:spcPts val="0"/>
                </a:spcBef>
                <a:spcAft>
                  <a:spcPts val="0"/>
                </a:spcAft>
              </a:pPr>
              <a:r>
                <a:rPr lang="en-US" sz="1125" b="0" dirty="0">
                  <a:solidFill>
                    <a:srgbClr val="9C9A94"/>
                  </a:solidFill>
                  <a:latin typeface="Segoe UI"/>
                  <a:ea typeface="Segoe UI"/>
                  <a:cs typeface="Segoe UI"/>
                </a:rPr>
                <a:t>Assistants that write code for you</a:t>
              </a:r>
              <a:endParaRPr lang="en-US" sz="1125" dirty="0"/>
            </a:p>
          </p:txBody>
        </p:sp>
      </p:grpSp>
      <p:grpSp>
        <p:nvGrpSpPr>
          <p:cNvPr id="104" name="agents-17"/>
          <p:cNvGrpSpPr/>
          <p:nvPr/>
        </p:nvGrpSpPr>
        <p:grpSpPr>
          <a:xfrm>
            <a:off x="609600" y="3324225"/>
            <a:ext cx="5495925" cy="2142649"/>
            <a:chOff x="609600" y="3324225"/>
            <a:chExt cx="5495925" cy="2142649"/>
          </a:xfrm>
        </p:grpSpPr>
        <p:sp>
          <p:nvSpPr>
            <p:cNvPr id="19" name="rect 20"/>
            <p:cNvSpPr/>
            <p:nvPr/>
          </p:nvSpPr>
          <p:spPr>
            <a:xfrm>
              <a:off x="609600" y="3324225"/>
              <a:ext cx="209550" cy="209550"/>
            </a:xfrm>
            <a:prstGeom prst="roundRect">
              <a:avLst>
                <a:gd name="adj" fmla="val 9091"/>
              </a:avLst>
            </a:prstGeom>
            <a:solidFill>
              <a:srgbClr val="FF5B1F">
                <a:alpha val="16000"/>
              </a:srgbClr>
            </a:solidFill>
            <a:ln>
              <a:noFill/>
            </a:ln>
          </p:spPr>
          <p:txBody>
            <a:bodyPr/>
            <a:lstStyle/>
            <a:p>
              <a:endParaRPr lang="en-US"/>
            </a:p>
          </p:txBody>
        </p:sp>
        <p:sp>
          <p:nvSpPr>
            <p:cNvPr id="20" name="rect 21"/>
            <p:cNvSpPr/>
            <p:nvPr/>
          </p:nvSpPr>
          <p:spPr>
            <a:xfrm>
              <a:off x="609600" y="3562350"/>
              <a:ext cx="209550" cy="209550"/>
            </a:xfrm>
            <a:prstGeom prst="roundRect">
              <a:avLst>
                <a:gd name="adj" fmla="val 9091"/>
              </a:avLst>
            </a:prstGeom>
            <a:solidFill>
              <a:srgbClr val="FF5B1F">
                <a:alpha val="16000"/>
              </a:srgbClr>
            </a:solidFill>
            <a:ln>
              <a:noFill/>
            </a:ln>
          </p:spPr>
          <p:txBody>
            <a:bodyPr/>
            <a:lstStyle/>
            <a:p>
              <a:endParaRPr lang="en-US"/>
            </a:p>
          </p:txBody>
        </p:sp>
        <p:sp>
          <p:nvSpPr>
            <p:cNvPr id="21" name="rect 22"/>
            <p:cNvSpPr/>
            <p:nvPr/>
          </p:nvSpPr>
          <p:spPr>
            <a:xfrm>
              <a:off x="609600" y="3800475"/>
              <a:ext cx="209550" cy="209550"/>
            </a:xfrm>
            <a:prstGeom prst="roundRect">
              <a:avLst>
                <a:gd name="adj" fmla="val 9091"/>
              </a:avLst>
            </a:prstGeom>
            <a:solidFill>
              <a:srgbClr val="FF5B1F">
                <a:alpha val="16000"/>
              </a:srgbClr>
            </a:solidFill>
            <a:ln>
              <a:noFill/>
            </a:ln>
          </p:spPr>
          <p:txBody>
            <a:bodyPr/>
            <a:lstStyle/>
            <a:p>
              <a:endParaRPr lang="en-US"/>
            </a:p>
          </p:txBody>
        </p:sp>
        <p:sp>
          <p:nvSpPr>
            <p:cNvPr id="22" name="rect 23"/>
            <p:cNvSpPr/>
            <p:nvPr/>
          </p:nvSpPr>
          <p:spPr>
            <a:xfrm>
              <a:off x="609600" y="4038600"/>
              <a:ext cx="209550" cy="209550"/>
            </a:xfrm>
            <a:prstGeom prst="roundRect">
              <a:avLst>
                <a:gd name="adj" fmla="val 9091"/>
              </a:avLst>
            </a:prstGeom>
            <a:solidFill>
              <a:srgbClr val="FF5B1F">
                <a:alpha val="16000"/>
              </a:srgbClr>
            </a:solidFill>
            <a:ln>
              <a:noFill/>
            </a:ln>
          </p:spPr>
          <p:txBody>
            <a:bodyPr/>
            <a:lstStyle/>
            <a:p>
              <a:endParaRPr lang="en-US"/>
            </a:p>
          </p:txBody>
        </p:sp>
        <p:sp>
          <p:nvSpPr>
            <p:cNvPr id="23" name="rect 24"/>
            <p:cNvSpPr/>
            <p:nvPr/>
          </p:nvSpPr>
          <p:spPr>
            <a:xfrm>
              <a:off x="609600" y="4276725"/>
              <a:ext cx="209550" cy="209550"/>
            </a:xfrm>
            <a:prstGeom prst="roundRect">
              <a:avLst>
                <a:gd name="adj" fmla="val 9091"/>
              </a:avLst>
            </a:prstGeom>
            <a:solidFill>
              <a:srgbClr val="FF5B1F">
                <a:alpha val="16000"/>
              </a:srgbClr>
            </a:solidFill>
            <a:ln>
              <a:noFill/>
            </a:ln>
          </p:spPr>
          <p:txBody>
            <a:bodyPr/>
            <a:lstStyle/>
            <a:p>
              <a:endParaRPr lang="en-US"/>
            </a:p>
          </p:txBody>
        </p:sp>
        <p:sp>
          <p:nvSpPr>
            <p:cNvPr id="24" name="rect 25"/>
            <p:cNvSpPr/>
            <p:nvPr/>
          </p:nvSpPr>
          <p:spPr>
            <a:xfrm>
              <a:off x="609600" y="4514850"/>
              <a:ext cx="209550" cy="209550"/>
            </a:xfrm>
            <a:prstGeom prst="roundRect">
              <a:avLst>
                <a:gd name="adj" fmla="val 9091"/>
              </a:avLst>
            </a:prstGeom>
            <a:solidFill>
              <a:srgbClr val="FF5B1F">
                <a:alpha val="16000"/>
              </a:srgbClr>
            </a:solidFill>
            <a:ln>
              <a:noFill/>
            </a:ln>
          </p:spPr>
          <p:txBody>
            <a:bodyPr/>
            <a:lstStyle/>
            <a:p>
              <a:endParaRPr lang="en-US"/>
            </a:p>
          </p:txBody>
        </p:sp>
        <p:sp>
          <p:nvSpPr>
            <p:cNvPr id="25" name="rect 26"/>
            <p:cNvSpPr/>
            <p:nvPr/>
          </p:nvSpPr>
          <p:spPr>
            <a:xfrm>
              <a:off x="609600" y="4752975"/>
              <a:ext cx="209550" cy="209550"/>
            </a:xfrm>
            <a:prstGeom prst="roundRect">
              <a:avLst>
                <a:gd name="adj" fmla="val 9091"/>
              </a:avLst>
            </a:prstGeom>
            <a:solidFill>
              <a:srgbClr val="FF5B1F">
                <a:alpha val="16000"/>
              </a:srgbClr>
            </a:solidFill>
            <a:ln>
              <a:noFill/>
            </a:ln>
          </p:spPr>
          <p:txBody>
            <a:bodyPr/>
            <a:lstStyle/>
            <a:p>
              <a:endParaRPr lang="en-US"/>
            </a:p>
          </p:txBody>
        </p:sp>
        <p:sp>
          <p:nvSpPr>
            <p:cNvPr id="26" name="rect 27"/>
            <p:cNvSpPr/>
            <p:nvPr/>
          </p:nvSpPr>
          <p:spPr>
            <a:xfrm>
              <a:off x="609600" y="4991100"/>
              <a:ext cx="209550" cy="209550"/>
            </a:xfrm>
            <a:prstGeom prst="roundRect">
              <a:avLst>
                <a:gd name="adj" fmla="val 9091"/>
              </a:avLst>
            </a:prstGeom>
            <a:solidFill>
              <a:srgbClr val="FF5B1F">
                <a:alpha val="16000"/>
              </a:srgbClr>
            </a:solidFill>
            <a:ln>
              <a:noFill/>
            </a:ln>
          </p:spPr>
          <p:txBody>
            <a:bodyPr/>
            <a:lstStyle/>
            <a:p>
              <a:endParaRPr lang="en-US"/>
            </a:p>
          </p:txBody>
        </p:sp>
        <p:sp>
          <p:nvSpPr>
            <p:cNvPr id="27" name="rect 28"/>
            <p:cNvSpPr/>
            <p:nvPr/>
          </p:nvSpPr>
          <p:spPr>
            <a:xfrm>
              <a:off x="609600" y="5229225"/>
              <a:ext cx="209550" cy="209550"/>
            </a:xfrm>
            <a:prstGeom prst="roundRect">
              <a:avLst>
                <a:gd name="adj" fmla="val 9091"/>
              </a:avLst>
            </a:prstGeom>
            <a:solidFill>
              <a:srgbClr val="FF5B1F">
                <a:alpha val="16000"/>
              </a:srgbClr>
            </a:solidFill>
            <a:ln>
              <a:noFill/>
            </a:ln>
          </p:spPr>
          <p:txBody>
            <a:bodyPr/>
            <a:lstStyle/>
            <a:p>
              <a:endParaRPr lang="en-US"/>
            </a:p>
          </p:txBody>
        </p:sp>
        <p:sp>
          <p:nvSpPr>
            <p:cNvPr id="28" name="rect 29"/>
            <p:cNvSpPr/>
            <p:nvPr/>
          </p:nvSpPr>
          <p:spPr>
            <a:xfrm>
              <a:off x="3543300" y="3324225"/>
              <a:ext cx="209550" cy="209550"/>
            </a:xfrm>
            <a:prstGeom prst="roundRect">
              <a:avLst>
                <a:gd name="adj" fmla="val 9091"/>
              </a:avLst>
            </a:prstGeom>
            <a:solidFill>
              <a:srgbClr val="FF5B1F">
                <a:alpha val="16000"/>
              </a:srgbClr>
            </a:solidFill>
            <a:ln>
              <a:noFill/>
            </a:ln>
          </p:spPr>
          <p:txBody>
            <a:bodyPr/>
            <a:lstStyle/>
            <a:p>
              <a:endParaRPr lang="en-US"/>
            </a:p>
          </p:txBody>
        </p:sp>
        <p:sp>
          <p:nvSpPr>
            <p:cNvPr id="29" name="rect 30"/>
            <p:cNvSpPr/>
            <p:nvPr/>
          </p:nvSpPr>
          <p:spPr>
            <a:xfrm>
              <a:off x="3543300" y="3562350"/>
              <a:ext cx="209550" cy="209550"/>
            </a:xfrm>
            <a:prstGeom prst="roundRect">
              <a:avLst>
                <a:gd name="adj" fmla="val 9091"/>
              </a:avLst>
            </a:prstGeom>
            <a:solidFill>
              <a:srgbClr val="FF5B1F">
                <a:alpha val="16000"/>
              </a:srgbClr>
            </a:solidFill>
            <a:ln>
              <a:noFill/>
            </a:ln>
          </p:spPr>
          <p:txBody>
            <a:bodyPr/>
            <a:lstStyle/>
            <a:p>
              <a:endParaRPr lang="en-US"/>
            </a:p>
          </p:txBody>
        </p:sp>
        <p:sp>
          <p:nvSpPr>
            <p:cNvPr id="30" name="rect 31"/>
            <p:cNvSpPr/>
            <p:nvPr/>
          </p:nvSpPr>
          <p:spPr>
            <a:xfrm>
              <a:off x="3543300" y="3800475"/>
              <a:ext cx="209550" cy="209550"/>
            </a:xfrm>
            <a:prstGeom prst="roundRect">
              <a:avLst>
                <a:gd name="adj" fmla="val 9091"/>
              </a:avLst>
            </a:prstGeom>
            <a:solidFill>
              <a:srgbClr val="FF5B1F">
                <a:alpha val="16000"/>
              </a:srgbClr>
            </a:solidFill>
            <a:ln>
              <a:noFill/>
            </a:ln>
          </p:spPr>
          <p:txBody>
            <a:bodyPr/>
            <a:lstStyle/>
            <a:p>
              <a:endParaRPr lang="en-US"/>
            </a:p>
          </p:txBody>
        </p:sp>
        <p:sp>
          <p:nvSpPr>
            <p:cNvPr id="31" name="rect 32"/>
            <p:cNvSpPr/>
            <p:nvPr/>
          </p:nvSpPr>
          <p:spPr>
            <a:xfrm>
              <a:off x="3543300" y="4038600"/>
              <a:ext cx="209550" cy="209550"/>
            </a:xfrm>
            <a:prstGeom prst="roundRect">
              <a:avLst>
                <a:gd name="adj" fmla="val 9091"/>
              </a:avLst>
            </a:prstGeom>
            <a:solidFill>
              <a:srgbClr val="FF5B1F">
                <a:alpha val="16000"/>
              </a:srgbClr>
            </a:solidFill>
            <a:ln>
              <a:noFill/>
            </a:ln>
          </p:spPr>
          <p:txBody>
            <a:bodyPr/>
            <a:lstStyle/>
            <a:p>
              <a:endParaRPr lang="en-US"/>
            </a:p>
          </p:txBody>
        </p:sp>
        <p:sp>
          <p:nvSpPr>
            <p:cNvPr id="32" name="rect 33"/>
            <p:cNvSpPr/>
            <p:nvPr/>
          </p:nvSpPr>
          <p:spPr>
            <a:xfrm>
              <a:off x="3543300" y="4276725"/>
              <a:ext cx="209550" cy="209550"/>
            </a:xfrm>
            <a:prstGeom prst="roundRect">
              <a:avLst>
                <a:gd name="adj" fmla="val 9091"/>
              </a:avLst>
            </a:prstGeom>
            <a:solidFill>
              <a:srgbClr val="FF5B1F">
                <a:alpha val="16000"/>
              </a:srgbClr>
            </a:solidFill>
            <a:ln>
              <a:noFill/>
            </a:ln>
          </p:spPr>
          <p:txBody>
            <a:bodyPr/>
            <a:lstStyle/>
            <a:p>
              <a:endParaRPr lang="en-US"/>
            </a:p>
          </p:txBody>
        </p:sp>
        <p:sp>
          <p:nvSpPr>
            <p:cNvPr id="33" name="rect 34"/>
            <p:cNvSpPr/>
            <p:nvPr/>
          </p:nvSpPr>
          <p:spPr>
            <a:xfrm>
              <a:off x="3543300" y="4514850"/>
              <a:ext cx="209550" cy="209550"/>
            </a:xfrm>
            <a:prstGeom prst="roundRect">
              <a:avLst>
                <a:gd name="adj" fmla="val 9091"/>
              </a:avLst>
            </a:prstGeom>
            <a:solidFill>
              <a:srgbClr val="FF5B1F">
                <a:alpha val="16000"/>
              </a:srgbClr>
            </a:solidFill>
            <a:ln>
              <a:noFill/>
            </a:ln>
          </p:spPr>
          <p:txBody>
            <a:bodyPr/>
            <a:lstStyle/>
            <a:p>
              <a:endParaRPr lang="en-US"/>
            </a:p>
          </p:txBody>
        </p:sp>
        <p:sp>
          <p:nvSpPr>
            <p:cNvPr id="34" name="rect 35"/>
            <p:cNvSpPr/>
            <p:nvPr/>
          </p:nvSpPr>
          <p:spPr>
            <a:xfrm>
              <a:off x="3543300" y="4752975"/>
              <a:ext cx="209550" cy="209550"/>
            </a:xfrm>
            <a:prstGeom prst="roundRect">
              <a:avLst>
                <a:gd name="adj" fmla="val 9091"/>
              </a:avLst>
            </a:prstGeom>
            <a:solidFill>
              <a:srgbClr val="FF5B1F">
                <a:alpha val="16000"/>
              </a:srgbClr>
            </a:solidFill>
            <a:ln>
              <a:noFill/>
            </a:ln>
          </p:spPr>
          <p:txBody>
            <a:bodyPr/>
            <a:lstStyle/>
            <a:p>
              <a:endParaRPr lang="en-US"/>
            </a:p>
          </p:txBody>
        </p:sp>
        <p:sp>
          <p:nvSpPr>
            <p:cNvPr id="35" name="rect 36"/>
            <p:cNvSpPr/>
            <p:nvPr/>
          </p:nvSpPr>
          <p:spPr>
            <a:xfrm>
              <a:off x="3543300" y="4991100"/>
              <a:ext cx="209550" cy="209550"/>
            </a:xfrm>
            <a:prstGeom prst="roundRect">
              <a:avLst>
                <a:gd name="adj" fmla="val 9091"/>
              </a:avLst>
            </a:prstGeom>
            <a:solidFill>
              <a:srgbClr val="FF5B1F">
                <a:alpha val="16000"/>
              </a:srgbClr>
            </a:solidFill>
            <a:ln>
              <a:noFill/>
            </a:ln>
          </p:spPr>
          <p:txBody>
            <a:bodyPr/>
            <a:lstStyle/>
            <a:p>
              <a:endParaRPr lang="en-US"/>
            </a:p>
          </p:txBody>
        </p:sp>
        <p:sp>
          <p:nvSpPr>
            <p:cNvPr id="36" name="Text 37"/>
            <p:cNvSpPr txBox="1"/>
            <p:nvPr/>
          </p:nvSpPr>
          <p:spPr>
            <a:xfrm>
              <a:off x="640861" y="3378200"/>
              <a:ext cx="147027" cy="141288"/>
            </a:xfrm>
            <a:prstGeom prst="rect">
              <a:avLst/>
            </a:prstGeom>
            <a:noFill/>
          </p:spPr>
          <p:txBody>
            <a:bodyPr wrap="none" lIns="0" tIns="0" rIns="0" bIns="0" rtlCol="0" anchor="t">
              <a:noAutofit/>
            </a:bodyPr>
            <a:lstStyle/>
            <a:p>
              <a:pPr algn="ctr">
                <a:spcBef>
                  <a:spcPts val="0"/>
                </a:spcBef>
                <a:spcAft>
                  <a:spcPts val="0"/>
                </a:spcAft>
              </a:pPr>
              <a:r>
                <a:rPr lang="en-US" sz="750" b="1" dirty="0">
                  <a:solidFill>
                    <a:srgbClr val="FF5B1F"/>
                  </a:solidFill>
                  <a:latin typeface="Consolas"/>
                  <a:ea typeface="Consolas"/>
                  <a:cs typeface="Consolas"/>
                </a:rPr>
                <a:t>CL</a:t>
              </a:r>
              <a:endParaRPr lang="en-US" sz="750" dirty="0"/>
            </a:p>
          </p:txBody>
        </p:sp>
        <p:sp>
          <p:nvSpPr>
            <p:cNvPr id="37" name="Text 38"/>
            <p:cNvSpPr txBox="1"/>
            <p:nvPr/>
          </p:nvSpPr>
          <p:spPr>
            <a:xfrm>
              <a:off x="640861" y="3616325"/>
              <a:ext cx="147027" cy="141288"/>
            </a:xfrm>
            <a:prstGeom prst="rect">
              <a:avLst/>
            </a:prstGeom>
            <a:noFill/>
          </p:spPr>
          <p:txBody>
            <a:bodyPr wrap="none" lIns="0" tIns="0" rIns="0" bIns="0" rtlCol="0" anchor="t">
              <a:noAutofit/>
            </a:bodyPr>
            <a:lstStyle/>
            <a:p>
              <a:pPr algn="ctr">
                <a:spcBef>
                  <a:spcPts val="0"/>
                </a:spcBef>
                <a:spcAft>
                  <a:spcPts val="0"/>
                </a:spcAft>
              </a:pPr>
              <a:r>
                <a:rPr lang="en-US" sz="750" b="1" dirty="0">
                  <a:solidFill>
                    <a:srgbClr val="FF5B1F"/>
                  </a:solidFill>
                  <a:latin typeface="Consolas"/>
                  <a:ea typeface="Consolas"/>
                  <a:cs typeface="Consolas"/>
                </a:rPr>
                <a:t>DV</a:t>
              </a:r>
              <a:endParaRPr lang="en-US" sz="750" dirty="0"/>
            </a:p>
          </p:txBody>
        </p:sp>
        <p:sp>
          <p:nvSpPr>
            <p:cNvPr id="38" name="Text 39"/>
            <p:cNvSpPr txBox="1"/>
            <p:nvPr/>
          </p:nvSpPr>
          <p:spPr>
            <a:xfrm>
              <a:off x="640861" y="3854450"/>
              <a:ext cx="147027" cy="141288"/>
            </a:xfrm>
            <a:prstGeom prst="rect">
              <a:avLst/>
            </a:prstGeom>
            <a:noFill/>
          </p:spPr>
          <p:txBody>
            <a:bodyPr wrap="none" lIns="0" tIns="0" rIns="0" bIns="0" rtlCol="0" anchor="t">
              <a:noAutofit/>
            </a:bodyPr>
            <a:lstStyle/>
            <a:p>
              <a:pPr algn="ctr">
                <a:spcBef>
                  <a:spcPts val="0"/>
                </a:spcBef>
                <a:spcAft>
                  <a:spcPts val="0"/>
                </a:spcAft>
              </a:pPr>
              <a:r>
                <a:rPr lang="en-US" sz="750" b="1" dirty="0">
                  <a:solidFill>
                    <a:srgbClr val="FF5B1F"/>
                  </a:solidFill>
                  <a:latin typeface="Consolas"/>
                  <a:ea typeface="Consolas"/>
                  <a:cs typeface="Consolas"/>
                </a:rPr>
                <a:t>KM</a:t>
              </a:r>
              <a:endParaRPr lang="en-US" sz="750" dirty="0"/>
            </a:p>
          </p:txBody>
        </p:sp>
        <p:sp>
          <p:nvSpPr>
            <p:cNvPr id="39" name="Text 40"/>
            <p:cNvSpPr txBox="1"/>
            <p:nvPr/>
          </p:nvSpPr>
          <p:spPr>
            <a:xfrm>
              <a:off x="640861" y="4092575"/>
              <a:ext cx="147027" cy="141288"/>
            </a:xfrm>
            <a:prstGeom prst="rect">
              <a:avLst/>
            </a:prstGeom>
            <a:noFill/>
          </p:spPr>
          <p:txBody>
            <a:bodyPr wrap="none" lIns="0" tIns="0" rIns="0" bIns="0" rtlCol="0" anchor="t">
              <a:noAutofit/>
            </a:bodyPr>
            <a:lstStyle/>
            <a:p>
              <a:pPr algn="ctr">
                <a:spcBef>
                  <a:spcPts val="0"/>
                </a:spcBef>
                <a:spcAft>
                  <a:spcPts val="0"/>
                </a:spcAft>
              </a:pPr>
              <a:r>
                <a:rPr lang="en-US" sz="750" b="1" dirty="0">
                  <a:solidFill>
                    <a:srgbClr val="FF5B1F"/>
                  </a:solidFill>
                  <a:latin typeface="Consolas"/>
                  <a:ea typeface="Consolas"/>
                  <a:cs typeface="Consolas"/>
                </a:rPr>
                <a:t>CP</a:t>
              </a:r>
              <a:endParaRPr lang="en-US" sz="750" dirty="0"/>
            </a:p>
          </p:txBody>
        </p:sp>
        <p:sp>
          <p:nvSpPr>
            <p:cNvPr id="40" name="Text 41"/>
            <p:cNvSpPr txBox="1"/>
            <p:nvPr/>
          </p:nvSpPr>
          <p:spPr>
            <a:xfrm>
              <a:off x="640861" y="4330700"/>
              <a:ext cx="147027" cy="141288"/>
            </a:xfrm>
            <a:prstGeom prst="rect">
              <a:avLst/>
            </a:prstGeom>
            <a:noFill/>
          </p:spPr>
          <p:txBody>
            <a:bodyPr wrap="none" lIns="0" tIns="0" rIns="0" bIns="0" rtlCol="0" anchor="t">
              <a:noAutofit/>
            </a:bodyPr>
            <a:lstStyle/>
            <a:p>
              <a:pPr algn="ctr">
                <a:spcBef>
                  <a:spcPts val="0"/>
                </a:spcBef>
                <a:spcAft>
                  <a:spcPts val="0"/>
                </a:spcAft>
              </a:pPr>
              <a:r>
                <a:rPr lang="en-US" sz="750" b="1" dirty="0">
                  <a:solidFill>
                    <a:srgbClr val="FF5B1F"/>
                  </a:solidFill>
                  <a:latin typeface="Consolas"/>
                  <a:ea typeface="Consolas"/>
                  <a:cs typeface="Consolas"/>
                </a:rPr>
                <a:t>MV</a:t>
              </a:r>
              <a:endParaRPr lang="en-US" sz="750" dirty="0"/>
            </a:p>
          </p:txBody>
        </p:sp>
        <p:sp>
          <p:nvSpPr>
            <p:cNvPr id="41" name="Text 42"/>
            <p:cNvSpPr txBox="1"/>
            <p:nvPr/>
          </p:nvSpPr>
          <p:spPr>
            <a:xfrm>
              <a:off x="640861" y="4568825"/>
              <a:ext cx="147027" cy="141288"/>
            </a:xfrm>
            <a:prstGeom prst="rect">
              <a:avLst/>
            </a:prstGeom>
            <a:noFill/>
          </p:spPr>
          <p:txBody>
            <a:bodyPr wrap="none" lIns="0" tIns="0" rIns="0" bIns="0" rtlCol="0" anchor="t">
              <a:noAutofit/>
            </a:bodyPr>
            <a:lstStyle/>
            <a:p>
              <a:pPr algn="ctr">
                <a:spcBef>
                  <a:spcPts val="0"/>
                </a:spcBef>
                <a:spcAft>
                  <a:spcPts val="0"/>
                </a:spcAft>
              </a:pPr>
              <a:r>
                <a:rPr lang="en-US" sz="750" b="1" dirty="0">
                  <a:solidFill>
                    <a:srgbClr val="FF5B1F"/>
                  </a:solidFill>
                  <a:latin typeface="Consolas"/>
                  <a:ea typeface="Consolas"/>
                  <a:cs typeface="Consolas"/>
                </a:rPr>
                <a:t>AD</a:t>
              </a:r>
              <a:endParaRPr lang="en-US" sz="750" dirty="0"/>
            </a:p>
          </p:txBody>
        </p:sp>
        <p:sp>
          <p:nvSpPr>
            <p:cNvPr id="42" name="Text 43"/>
            <p:cNvSpPr txBox="1"/>
            <p:nvPr/>
          </p:nvSpPr>
          <p:spPr>
            <a:xfrm>
              <a:off x="640861" y="4806950"/>
              <a:ext cx="147027" cy="141288"/>
            </a:xfrm>
            <a:prstGeom prst="rect">
              <a:avLst/>
            </a:prstGeom>
            <a:noFill/>
          </p:spPr>
          <p:txBody>
            <a:bodyPr wrap="none" lIns="0" tIns="0" rIns="0" bIns="0" rtlCol="0" anchor="t">
              <a:noAutofit/>
            </a:bodyPr>
            <a:lstStyle/>
            <a:p>
              <a:pPr algn="ctr">
                <a:spcBef>
                  <a:spcPts val="0"/>
                </a:spcBef>
                <a:spcAft>
                  <a:spcPts val="0"/>
                </a:spcAft>
              </a:pPr>
              <a:r>
                <a:rPr lang="en-US" sz="750" b="1" dirty="0">
                  <a:solidFill>
                    <a:srgbClr val="FF5B1F"/>
                  </a:solidFill>
                  <a:latin typeface="Consolas"/>
                  <a:ea typeface="Consolas"/>
                  <a:cs typeface="Consolas"/>
                </a:rPr>
                <a:t>RX</a:t>
              </a:r>
              <a:endParaRPr lang="en-US" sz="750" dirty="0"/>
            </a:p>
          </p:txBody>
        </p:sp>
        <p:sp>
          <p:nvSpPr>
            <p:cNvPr id="43" name="Text 44"/>
            <p:cNvSpPr txBox="1"/>
            <p:nvPr/>
          </p:nvSpPr>
          <p:spPr>
            <a:xfrm>
              <a:off x="640861" y="5045075"/>
              <a:ext cx="147027" cy="141288"/>
            </a:xfrm>
            <a:prstGeom prst="rect">
              <a:avLst/>
            </a:prstGeom>
            <a:noFill/>
          </p:spPr>
          <p:txBody>
            <a:bodyPr wrap="none" lIns="0" tIns="0" rIns="0" bIns="0" rtlCol="0" anchor="t">
              <a:noAutofit/>
            </a:bodyPr>
            <a:lstStyle/>
            <a:p>
              <a:pPr algn="ctr">
                <a:spcBef>
                  <a:spcPts val="0"/>
                </a:spcBef>
                <a:spcAft>
                  <a:spcPts val="0"/>
                </a:spcAft>
              </a:pPr>
              <a:r>
                <a:rPr lang="en-US" sz="750" b="1" dirty="0">
                  <a:solidFill>
                    <a:srgbClr val="FF5B1F"/>
                  </a:solidFill>
                  <a:latin typeface="Consolas"/>
                  <a:ea typeface="Consolas"/>
                  <a:cs typeface="Consolas"/>
                </a:rPr>
                <a:t>DH</a:t>
              </a:r>
              <a:endParaRPr lang="en-US" sz="750" dirty="0"/>
            </a:p>
          </p:txBody>
        </p:sp>
        <p:sp>
          <p:nvSpPr>
            <p:cNvPr id="44" name="Text 45"/>
            <p:cNvSpPr txBox="1"/>
            <p:nvPr/>
          </p:nvSpPr>
          <p:spPr>
            <a:xfrm>
              <a:off x="640861" y="5283200"/>
              <a:ext cx="147027" cy="141288"/>
            </a:xfrm>
            <a:prstGeom prst="rect">
              <a:avLst/>
            </a:prstGeom>
            <a:noFill/>
          </p:spPr>
          <p:txBody>
            <a:bodyPr wrap="none" lIns="0" tIns="0" rIns="0" bIns="0" rtlCol="0" anchor="t">
              <a:noAutofit/>
            </a:bodyPr>
            <a:lstStyle/>
            <a:p>
              <a:pPr algn="ctr">
                <a:spcBef>
                  <a:spcPts val="0"/>
                </a:spcBef>
                <a:spcAft>
                  <a:spcPts val="0"/>
                </a:spcAft>
              </a:pPr>
              <a:r>
                <a:rPr lang="en-US" sz="750" b="1" dirty="0">
                  <a:solidFill>
                    <a:srgbClr val="FF5B1F"/>
                  </a:solidFill>
                  <a:latin typeface="Consolas"/>
                  <a:ea typeface="Consolas"/>
                  <a:cs typeface="Consolas"/>
                </a:rPr>
                <a:t>MM</a:t>
              </a:r>
              <a:endParaRPr lang="en-US" sz="750" dirty="0"/>
            </a:p>
          </p:txBody>
        </p:sp>
        <p:sp>
          <p:nvSpPr>
            <p:cNvPr id="45" name="Text 46"/>
            <p:cNvSpPr txBox="1"/>
            <p:nvPr/>
          </p:nvSpPr>
          <p:spPr>
            <a:xfrm>
              <a:off x="3574561" y="3378200"/>
              <a:ext cx="147027" cy="141288"/>
            </a:xfrm>
            <a:prstGeom prst="rect">
              <a:avLst/>
            </a:prstGeom>
            <a:noFill/>
          </p:spPr>
          <p:txBody>
            <a:bodyPr wrap="none" lIns="0" tIns="0" rIns="0" bIns="0" rtlCol="0" anchor="t">
              <a:noAutofit/>
            </a:bodyPr>
            <a:lstStyle/>
            <a:p>
              <a:pPr algn="ctr">
                <a:spcBef>
                  <a:spcPts val="0"/>
                </a:spcBef>
                <a:spcAft>
                  <a:spcPts val="0"/>
                </a:spcAft>
              </a:pPr>
              <a:r>
                <a:rPr lang="en-US" sz="750" b="1" dirty="0">
                  <a:solidFill>
                    <a:srgbClr val="FF5B1F"/>
                  </a:solidFill>
                  <a:latin typeface="Consolas"/>
                  <a:ea typeface="Consolas"/>
                  <a:cs typeface="Consolas"/>
                </a:rPr>
                <a:t>GK</a:t>
              </a:r>
              <a:endParaRPr lang="en-US" sz="750" dirty="0"/>
            </a:p>
          </p:txBody>
        </p:sp>
        <p:sp>
          <p:nvSpPr>
            <p:cNvPr id="46" name="Text 47"/>
            <p:cNvSpPr txBox="1"/>
            <p:nvPr/>
          </p:nvSpPr>
          <p:spPr>
            <a:xfrm>
              <a:off x="3574561" y="3616325"/>
              <a:ext cx="147027" cy="141288"/>
            </a:xfrm>
            <a:prstGeom prst="rect">
              <a:avLst/>
            </a:prstGeom>
            <a:noFill/>
          </p:spPr>
          <p:txBody>
            <a:bodyPr wrap="none" lIns="0" tIns="0" rIns="0" bIns="0" rtlCol="0" anchor="t">
              <a:noAutofit/>
            </a:bodyPr>
            <a:lstStyle/>
            <a:p>
              <a:pPr algn="ctr">
                <a:spcBef>
                  <a:spcPts val="0"/>
                </a:spcBef>
                <a:spcAft>
                  <a:spcPts val="0"/>
                </a:spcAft>
              </a:pPr>
              <a:r>
                <a:rPr lang="en-US" sz="750" b="1" dirty="0">
                  <a:solidFill>
                    <a:srgbClr val="FF5B1F"/>
                  </a:solidFill>
                  <a:latin typeface="Consolas"/>
                  <a:ea typeface="Consolas"/>
                  <a:cs typeface="Consolas"/>
                </a:rPr>
                <a:t>TR</a:t>
              </a:r>
              <a:endParaRPr lang="en-US" sz="750" dirty="0"/>
            </a:p>
          </p:txBody>
        </p:sp>
        <p:sp>
          <p:nvSpPr>
            <p:cNvPr id="47" name="Text 48"/>
            <p:cNvSpPr txBox="1"/>
            <p:nvPr/>
          </p:nvSpPr>
          <p:spPr>
            <a:xfrm>
              <a:off x="3574561" y="3854450"/>
              <a:ext cx="147027" cy="141288"/>
            </a:xfrm>
            <a:prstGeom prst="rect">
              <a:avLst/>
            </a:prstGeom>
            <a:noFill/>
          </p:spPr>
          <p:txBody>
            <a:bodyPr wrap="none" lIns="0" tIns="0" rIns="0" bIns="0" rtlCol="0" anchor="t">
              <a:noAutofit/>
            </a:bodyPr>
            <a:lstStyle/>
            <a:p>
              <a:pPr algn="ctr">
                <a:spcBef>
                  <a:spcPts val="0"/>
                </a:spcBef>
                <a:spcAft>
                  <a:spcPts val="0"/>
                </a:spcAft>
              </a:pPr>
              <a:r>
                <a:rPr lang="en-US" sz="750" b="1" dirty="0">
                  <a:solidFill>
                    <a:srgbClr val="FF5B1F"/>
                  </a:solidFill>
                  <a:latin typeface="Consolas"/>
                  <a:ea typeface="Consolas"/>
                  <a:cs typeface="Consolas"/>
                </a:rPr>
                <a:t>QD</a:t>
              </a:r>
              <a:endParaRPr lang="en-US" sz="750" dirty="0"/>
            </a:p>
          </p:txBody>
        </p:sp>
        <p:sp>
          <p:nvSpPr>
            <p:cNvPr id="48" name="Text 49"/>
            <p:cNvSpPr txBox="1"/>
            <p:nvPr/>
          </p:nvSpPr>
          <p:spPr>
            <a:xfrm>
              <a:off x="3574561" y="4092575"/>
              <a:ext cx="147027" cy="141288"/>
            </a:xfrm>
            <a:prstGeom prst="rect">
              <a:avLst/>
            </a:prstGeom>
            <a:noFill/>
          </p:spPr>
          <p:txBody>
            <a:bodyPr wrap="none" lIns="0" tIns="0" rIns="0" bIns="0" rtlCol="0" anchor="t">
              <a:noAutofit/>
            </a:bodyPr>
            <a:lstStyle/>
            <a:p>
              <a:pPr algn="ctr">
                <a:spcBef>
                  <a:spcPts val="0"/>
                </a:spcBef>
                <a:spcAft>
                  <a:spcPts val="0"/>
                </a:spcAft>
              </a:pPr>
              <a:r>
                <a:rPr lang="en-US" sz="750" b="1" dirty="0">
                  <a:solidFill>
                    <a:srgbClr val="FF5B1F"/>
                  </a:solidFill>
                  <a:latin typeface="Consolas"/>
                  <a:ea typeface="Consolas"/>
                  <a:cs typeface="Consolas"/>
                </a:rPr>
                <a:t>KR</a:t>
              </a:r>
              <a:endParaRPr lang="en-US" sz="750" dirty="0"/>
            </a:p>
          </p:txBody>
        </p:sp>
        <p:sp>
          <p:nvSpPr>
            <p:cNvPr id="49" name="Text 50"/>
            <p:cNvSpPr txBox="1"/>
            <p:nvPr/>
          </p:nvSpPr>
          <p:spPr>
            <a:xfrm>
              <a:off x="3574561" y="4330700"/>
              <a:ext cx="147027" cy="141288"/>
            </a:xfrm>
            <a:prstGeom prst="rect">
              <a:avLst/>
            </a:prstGeom>
            <a:noFill/>
          </p:spPr>
          <p:txBody>
            <a:bodyPr wrap="none" lIns="0" tIns="0" rIns="0" bIns="0" rtlCol="0" anchor="t">
              <a:noAutofit/>
            </a:bodyPr>
            <a:lstStyle/>
            <a:p>
              <a:pPr algn="ctr">
                <a:spcBef>
                  <a:spcPts val="0"/>
                </a:spcBef>
                <a:spcAft>
                  <a:spcPts val="0"/>
                </a:spcAft>
              </a:pPr>
              <a:r>
                <a:rPr lang="en-US" sz="750" b="1" dirty="0">
                  <a:solidFill>
                    <a:srgbClr val="FF5B1F"/>
                  </a:solidFill>
                  <a:latin typeface="Consolas"/>
                  <a:ea typeface="Consolas"/>
                  <a:cs typeface="Consolas"/>
                </a:rPr>
                <a:t>DT</a:t>
              </a:r>
              <a:endParaRPr lang="en-US" sz="750" dirty="0"/>
            </a:p>
          </p:txBody>
        </p:sp>
        <p:sp>
          <p:nvSpPr>
            <p:cNvPr id="50" name="Text 51"/>
            <p:cNvSpPr txBox="1"/>
            <p:nvPr/>
          </p:nvSpPr>
          <p:spPr>
            <a:xfrm>
              <a:off x="3574561" y="4568825"/>
              <a:ext cx="147027" cy="141288"/>
            </a:xfrm>
            <a:prstGeom prst="rect">
              <a:avLst/>
            </a:prstGeom>
            <a:noFill/>
          </p:spPr>
          <p:txBody>
            <a:bodyPr wrap="none" lIns="0" tIns="0" rIns="0" bIns="0" rtlCol="0" anchor="t">
              <a:noAutofit/>
            </a:bodyPr>
            <a:lstStyle/>
            <a:p>
              <a:pPr algn="ctr">
                <a:spcBef>
                  <a:spcPts val="0"/>
                </a:spcBef>
                <a:spcAft>
                  <a:spcPts val="0"/>
                </a:spcAft>
              </a:pPr>
              <a:r>
                <a:rPr lang="en-US" sz="750" b="1" dirty="0">
                  <a:solidFill>
                    <a:srgbClr val="FF5B1F"/>
                  </a:solidFill>
                  <a:latin typeface="Consolas"/>
                  <a:ea typeface="Consolas"/>
                  <a:cs typeface="Consolas"/>
                </a:rPr>
                <a:t>AM</a:t>
              </a:r>
              <a:endParaRPr lang="en-US" sz="750" dirty="0"/>
            </a:p>
          </p:txBody>
        </p:sp>
        <p:sp>
          <p:nvSpPr>
            <p:cNvPr id="51" name="Text 52"/>
            <p:cNvSpPr txBox="1"/>
            <p:nvPr/>
          </p:nvSpPr>
          <p:spPr>
            <a:xfrm>
              <a:off x="3574561" y="4806950"/>
              <a:ext cx="147027" cy="141288"/>
            </a:xfrm>
            <a:prstGeom prst="rect">
              <a:avLst/>
            </a:prstGeom>
            <a:noFill/>
          </p:spPr>
          <p:txBody>
            <a:bodyPr wrap="none" lIns="0" tIns="0" rIns="0" bIns="0" rtlCol="0" anchor="t">
              <a:noAutofit/>
            </a:bodyPr>
            <a:lstStyle/>
            <a:p>
              <a:pPr algn="ctr">
                <a:spcBef>
                  <a:spcPts val="0"/>
                </a:spcBef>
                <a:spcAft>
                  <a:spcPts val="0"/>
                </a:spcAft>
              </a:pPr>
              <a:r>
                <a:rPr lang="en-US" sz="750" b="1" dirty="0">
                  <a:solidFill>
                    <a:srgbClr val="FF5B1F"/>
                  </a:solidFill>
                  <a:latin typeface="Consolas"/>
                  <a:ea typeface="Consolas"/>
                  <a:cs typeface="Consolas"/>
                </a:rPr>
                <a:t>CB</a:t>
              </a:r>
              <a:endParaRPr lang="en-US" sz="750" dirty="0"/>
            </a:p>
          </p:txBody>
        </p:sp>
        <p:sp>
          <p:nvSpPr>
            <p:cNvPr id="52" name="Text 53"/>
            <p:cNvSpPr txBox="1"/>
            <p:nvPr/>
          </p:nvSpPr>
          <p:spPr>
            <a:xfrm>
              <a:off x="3574561" y="5045075"/>
              <a:ext cx="147027" cy="141288"/>
            </a:xfrm>
            <a:prstGeom prst="rect">
              <a:avLst/>
            </a:prstGeom>
            <a:noFill/>
          </p:spPr>
          <p:txBody>
            <a:bodyPr wrap="none" lIns="0" tIns="0" rIns="0" bIns="0" rtlCol="0" anchor="t">
              <a:noAutofit/>
            </a:bodyPr>
            <a:lstStyle/>
            <a:p>
              <a:pPr algn="ctr">
                <a:spcBef>
                  <a:spcPts val="0"/>
                </a:spcBef>
                <a:spcAft>
                  <a:spcPts val="0"/>
                </a:spcAft>
              </a:pPr>
              <a:r>
                <a:rPr lang="en-US" sz="750" b="1" dirty="0">
                  <a:solidFill>
                    <a:srgbClr val="FF5B1F"/>
                  </a:solidFill>
                  <a:latin typeface="Consolas"/>
                  <a:ea typeface="Consolas"/>
                  <a:cs typeface="Consolas"/>
                </a:rPr>
                <a:t>AC</a:t>
              </a:r>
              <a:endParaRPr lang="en-US" sz="750" dirty="0"/>
            </a:p>
          </p:txBody>
        </p:sp>
        <p:sp>
          <p:nvSpPr>
            <p:cNvPr id="53" name="Text 54"/>
            <p:cNvSpPr txBox="1"/>
            <p:nvPr/>
          </p:nvSpPr>
          <p:spPr>
            <a:xfrm>
              <a:off x="914400" y="3333750"/>
              <a:ext cx="681777" cy="228124"/>
            </a:xfrm>
            <a:prstGeom prst="rect">
              <a:avLst/>
            </a:prstGeom>
            <a:noFill/>
          </p:spPr>
          <p:txBody>
            <a:bodyPr wrap="none" lIns="0" tIns="0" rIns="0" bIns="0" rtlCol="0" anchor="t">
              <a:noAutofit/>
            </a:bodyPr>
            <a:lstStyle/>
            <a:p>
              <a:pPr algn="l">
                <a:spcBef>
                  <a:spcPts val="0"/>
                </a:spcBef>
                <a:spcAft>
                  <a:spcPts val="0"/>
                </a:spcAft>
              </a:pPr>
              <a:r>
                <a:rPr lang="en-US" sz="1275" b="0" dirty="0">
                  <a:solidFill>
                    <a:srgbClr val="EDE9E2"/>
                  </a:solidFill>
                  <a:latin typeface="Segoe UI"/>
                  <a:ea typeface="Segoe UI"/>
                  <a:cs typeface="Segoe UI"/>
                </a:rPr>
                <a:t>Cline CLI</a:t>
              </a:r>
              <a:endParaRPr lang="en-US" sz="1275" dirty="0"/>
            </a:p>
          </p:txBody>
        </p:sp>
        <p:sp>
          <p:nvSpPr>
            <p:cNvPr id="54" name="Text 55"/>
            <p:cNvSpPr txBox="1"/>
            <p:nvPr/>
          </p:nvSpPr>
          <p:spPr>
            <a:xfrm>
              <a:off x="914400" y="3571875"/>
              <a:ext cx="1389181" cy="228124"/>
            </a:xfrm>
            <a:prstGeom prst="rect">
              <a:avLst/>
            </a:prstGeom>
            <a:noFill/>
          </p:spPr>
          <p:txBody>
            <a:bodyPr wrap="none" lIns="0" tIns="0" rIns="0" bIns="0" rtlCol="0" anchor="t">
              <a:noAutofit/>
            </a:bodyPr>
            <a:lstStyle/>
            <a:p>
              <a:pPr algn="l">
                <a:spcBef>
                  <a:spcPts val="0"/>
                </a:spcBef>
                <a:spcAft>
                  <a:spcPts val="0"/>
                </a:spcAft>
              </a:pPr>
              <a:r>
                <a:rPr lang="en-US" sz="1275" b="0" dirty="0">
                  <a:solidFill>
                    <a:srgbClr val="EDE9E2"/>
                  </a:solidFill>
                  <a:latin typeface="Segoe UI"/>
                  <a:ea typeface="Segoe UI"/>
                  <a:cs typeface="Segoe UI"/>
                </a:rPr>
                <a:t>Devin for Terminal</a:t>
              </a:r>
              <a:endParaRPr lang="en-US" sz="1275" dirty="0"/>
            </a:p>
          </p:txBody>
        </p:sp>
        <p:sp>
          <p:nvSpPr>
            <p:cNvPr id="55" name="Text 56"/>
            <p:cNvSpPr txBox="1"/>
            <p:nvPr/>
          </p:nvSpPr>
          <p:spPr>
            <a:xfrm>
              <a:off x="914400" y="3810000"/>
              <a:ext cx="1073180" cy="228124"/>
            </a:xfrm>
            <a:prstGeom prst="rect">
              <a:avLst/>
            </a:prstGeom>
            <a:noFill/>
          </p:spPr>
          <p:txBody>
            <a:bodyPr wrap="none" lIns="0" tIns="0" rIns="0" bIns="0" rtlCol="0" anchor="t">
              <a:noAutofit/>
            </a:bodyPr>
            <a:lstStyle/>
            <a:p>
              <a:pPr algn="l">
                <a:spcBef>
                  <a:spcPts val="0"/>
                </a:spcBef>
                <a:spcAft>
                  <a:spcPts val="0"/>
                </a:spcAft>
              </a:pPr>
              <a:r>
                <a:rPr lang="en-US" sz="1275" b="0" dirty="0">
                  <a:solidFill>
                    <a:srgbClr val="EDE9E2"/>
                  </a:solidFill>
                  <a:latin typeface="Segoe UI"/>
                  <a:ea typeface="Segoe UI"/>
                  <a:cs typeface="Segoe UI"/>
                </a:rPr>
                <a:t>Kimi Code CLI</a:t>
              </a:r>
              <a:endParaRPr lang="en-US" sz="1275" dirty="0"/>
            </a:p>
          </p:txBody>
        </p:sp>
        <p:sp>
          <p:nvSpPr>
            <p:cNvPr id="56" name="Text 57"/>
            <p:cNvSpPr txBox="1"/>
            <p:nvPr/>
          </p:nvSpPr>
          <p:spPr>
            <a:xfrm>
              <a:off x="914400" y="4048125"/>
              <a:ext cx="1425196" cy="228124"/>
            </a:xfrm>
            <a:prstGeom prst="rect">
              <a:avLst/>
            </a:prstGeom>
            <a:noFill/>
          </p:spPr>
          <p:txBody>
            <a:bodyPr wrap="none" lIns="0" tIns="0" rIns="0" bIns="0" rtlCol="0" anchor="t">
              <a:noAutofit/>
            </a:bodyPr>
            <a:lstStyle/>
            <a:p>
              <a:pPr algn="l">
                <a:spcBef>
                  <a:spcPts val="0"/>
                </a:spcBef>
                <a:spcAft>
                  <a:spcPts val="0"/>
                </a:spcAft>
              </a:pPr>
              <a:r>
                <a:rPr lang="en-US" sz="1275" b="0" dirty="0">
                  <a:solidFill>
                    <a:srgbClr val="EDE9E2"/>
                  </a:solidFill>
                  <a:latin typeface="Segoe UI"/>
                  <a:ea typeface="Segoe UI"/>
                  <a:cs typeface="Segoe UI"/>
                </a:rPr>
                <a:t>GitHub Copilot CLI</a:t>
              </a:r>
              <a:endParaRPr lang="en-US" sz="1275" dirty="0"/>
            </a:p>
          </p:txBody>
        </p:sp>
        <p:sp>
          <p:nvSpPr>
            <p:cNvPr id="57" name="Text 58"/>
            <p:cNvSpPr txBox="1"/>
            <p:nvPr/>
          </p:nvSpPr>
          <p:spPr>
            <a:xfrm>
              <a:off x="914400" y="4286250"/>
              <a:ext cx="922211" cy="228124"/>
            </a:xfrm>
            <a:prstGeom prst="rect">
              <a:avLst/>
            </a:prstGeom>
            <a:noFill/>
          </p:spPr>
          <p:txBody>
            <a:bodyPr wrap="none" lIns="0" tIns="0" rIns="0" bIns="0" rtlCol="0" anchor="t">
              <a:noAutofit/>
            </a:bodyPr>
            <a:lstStyle/>
            <a:p>
              <a:pPr algn="l">
                <a:spcBef>
                  <a:spcPts val="0"/>
                </a:spcBef>
                <a:spcAft>
                  <a:spcPts val="0"/>
                </a:spcAft>
              </a:pPr>
              <a:r>
                <a:rPr lang="en-US" sz="1275" b="0" dirty="0">
                  <a:solidFill>
                    <a:srgbClr val="EDE9E2"/>
                  </a:solidFill>
                  <a:latin typeface="Segoe UI"/>
                  <a:ea typeface="Segoe UI"/>
                  <a:cs typeface="Segoe UI"/>
                </a:rPr>
                <a:t>Mistral Vibe</a:t>
              </a:r>
              <a:endParaRPr lang="en-US" sz="1275" dirty="0"/>
            </a:p>
          </p:txBody>
        </p:sp>
        <p:sp>
          <p:nvSpPr>
            <p:cNvPr id="58" name="Text 59"/>
            <p:cNvSpPr txBox="1"/>
            <p:nvPr/>
          </p:nvSpPr>
          <p:spPr>
            <a:xfrm>
              <a:off x="914400" y="4524375"/>
              <a:ext cx="433286" cy="228124"/>
            </a:xfrm>
            <a:prstGeom prst="rect">
              <a:avLst/>
            </a:prstGeom>
            <a:noFill/>
          </p:spPr>
          <p:txBody>
            <a:bodyPr wrap="none" lIns="0" tIns="0" rIns="0" bIns="0" rtlCol="0" anchor="t">
              <a:noAutofit/>
            </a:bodyPr>
            <a:lstStyle/>
            <a:p>
              <a:pPr algn="l">
                <a:spcBef>
                  <a:spcPts val="0"/>
                </a:spcBef>
                <a:spcAft>
                  <a:spcPts val="0"/>
                </a:spcAft>
              </a:pPr>
              <a:r>
                <a:rPr lang="en-US" sz="1275" b="0" dirty="0">
                  <a:solidFill>
                    <a:srgbClr val="EDE9E2"/>
                  </a:solidFill>
                  <a:latin typeface="Segoe UI"/>
                  <a:ea typeface="Segoe UI"/>
                  <a:cs typeface="Segoe UI"/>
                </a:rPr>
                <a:t>Aider</a:t>
              </a:r>
              <a:endParaRPr lang="en-US" sz="1275" dirty="0"/>
            </a:p>
          </p:txBody>
        </p:sp>
        <p:sp>
          <p:nvSpPr>
            <p:cNvPr id="59" name="Text 60"/>
            <p:cNvSpPr txBox="1"/>
            <p:nvPr/>
          </p:nvSpPr>
          <p:spPr>
            <a:xfrm>
              <a:off x="914400" y="4762500"/>
              <a:ext cx="1479795" cy="228124"/>
            </a:xfrm>
            <a:prstGeom prst="rect">
              <a:avLst/>
            </a:prstGeom>
            <a:noFill/>
          </p:spPr>
          <p:txBody>
            <a:bodyPr wrap="none" lIns="0" tIns="0" rIns="0" bIns="0" rtlCol="0" anchor="t">
              <a:noAutofit/>
            </a:bodyPr>
            <a:lstStyle/>
            <a:p>
              <a:pPr algn="l">
                <a:spcBef>
                  <a:spcPts val="0"/>
                </a:spcBef>
                <a:spcAft>
                  <a:spcPts val="0"/>
                </a:spcAft>
              </a:pPr>
              <a:r>
                <a:rPr lang="en-US" sz="1275" b="0" dirty="0">
                  <a:solidFill>
                    <a:srgbClr val="EDE9E2"/>
                  </a:solidFill>
                  <a:latin typeface="Segoe UI"/>
                  <a:ea typeface="Segoe UI"/>
                  <a:cs typeface="Segoe UI"/>
                </a:rPr>
                <a:t>DeepSeek Reasonix</a:t>
              </a:r>
              <a:endParaRPr lang="en-US" sz="1275" dirty="0"/>
            </a:p>
          </p:txBody>
        </p:sp>
        <p:sp>
          <p:nvSpPr>
            <p:cNvPr id="60" name="Text 61"/>
            <p:cNvSpPr txBox="1"/>
            <p:nvPr/>
          </p:nvSpPr>
          <p:spPr>
            <a:xfrm>
              <a:off x="914400" y="5000625"/>
              <a:ext cx="1416809" cy="228124"/>
            </a:xfrm>
            <a:prstGeom prst="rect">
              <a:avLst/>
            </a:prstGeom>
            <a:noFill/>
          </p:spPr>
          <p:txBody>
            <a:bodyPr wrap="none" lIns="0" tIns="0" rIns="0" bIns="0" rtlCol="0" anchor="t">
              <a:noAutofit/>
            </a:bodyPr>
            <a:lstStyle/>
            <a:p>
              <a:pPr algn="l">
                <a:spcBef>
                  <a:spcPts val="0"/>
                </a:spcBef>
                <a:spcAft>
                  <a:spcPts val="0"/>
                </a:spcAft>
              </a:pPr>
              <a:r>
                <a:rPr lang="en-US" sz="1275" b="0" dirty="0">
                  <a:solidFill>
                    <a:srgbClr val="EDE9E2"/>
                  </a:solidFill>
                  <a:latin typeface="Segoe UI"/>
                  <a:ea typeface="Segoe UI"/>
                  <a:cs typeface="Segoe UI"/>
                </a:rPr>
                <a:t>DeepSeek Harness</a:t>
              </a:r>
              <a:endParaRPr lang="en-US" sz="1275" dirty="0"/>
            </a:p>
          </p:txBody>
        </p:sp>
        <p:sp>
          <p:nvSpPr>
            <p:cNvPr id="61" name="Text 62"/>
            <p:cNvSpPr txBox="1"/>
            <p:nvPr/>
          </p:nvSpPr>
          <p:spPr>
            <a:xfrm>
              <a:off x="914400" y="5238750"/>
              <a:ext cx="916290" cy="228124"/>
            </a:xfrm>
            <a:prstGeom prst="rect">
              <a:avLst/>
            </a:prstGeom>
            <a:noFill/>
          </p:spPr>
          <p:txBody>
            <a:bodyPr wrap="none" lIns="0" tIns="0" rIns="0" bIns="0" rtlCol="0" anchor="t">
              <a:noAutofit/>
            </a:bodyPr>
            <a:lstStyle/>
            <a:p>
              <a:pPr algn="l">
                <a:spcBef>
                  <a:spcPts val="0"/>
                </a:spcBef>
                <a:spcAft>
                  <a:spcPts val="0"/>
                </a:spcAft>
              </a:pPr>
              <a:r>
                <a:rPr lang="en-US" sz="1275" b="0" dirty="0">
                  <a:solidFill>
                    <a:srgbClr val="EDE9E2"/>
                  </a:solidFill>
                  <a:latin typeface="Segoe UI"/>
                  <a:ea typeface="Segoe UI"/>
                  <a:cs typeface="Segoe UI"/>
                </a:rPr>
                <a:t>MiMo Code</a:t>
              </a:r>
              <a:endParaRPr lang="en-US" sz="1275" dirty="0"/>
            </a:p>
          </p:txBody>
        </p:sp>
        <p:sp>
          <p:nvSpPr>
            <p:cNvPr id="62" name="Text 63"/>
            <p:cNvSpPr txBox="1"/>
            <p:nvPr/>
          </p:nvSpPr>
          <p:spPr>
            <a:xfrm>
              <a:off x="3848100" y="3333750"/>
              <a:ext cx="669032" cy="228124"/>
            </a:xfrm>
            <a:prstGeom prst="rect">
              <a:avLst/>
            </a:prstGeom>
            <a:noFill/>
          </p:spPr>
          <p:txBody>
            <a:bodyPr wrap="none" lIns="0" tIns="0" rIns="0" bIns="0" rtlCol="0" anchor="t">
              <a:noAutofit/>
            </a:bodyPr>
            <a:lstStyle/>
            <a:p>
              <a:pPr algn="l">
                <a:spcBef>
                  <a:spcPts val="0"/>
                </a:spcBef>
                <a:spcAft>
                  <a:spcPts val="0"/>
                </a:spcAft>
              </a:pPr>
              <a:r>
                <a:rPr lang="en-US" sz="1275" b="0" dirty="0">
                  <a:solidFill>
                    <a:srgbClr val="EDE9E2"/>
                  </a:solidFill>
                  <a:latin typeface="Segoe UI"/>
                  <a:ea typeface="Segoe UI"/>
                  <a:cs typeface="Segoe UI"/>
                </a:rPr>
                <a:t>Grok CLI</a:t>
              </a:r>
              <a:endParaRPr lang="en-US" sz="1275" dirty="0"/>
            </a:p>
          </p:txBody>
        </p:sp>
        <p:sp>
          <p:nvSpPr>
            <p:cNvPr id="63" name="Text 64"/>
            <p:cNvSpPr txBox="1"/>
            <p:nvPr/>
          </p:nvSpPr>
          <p:spPr>
            <a:xfrm>
              <a:off x="3848100" y="3571875"/>
              <a:ext cx="618462" cy="228124"/>
            </a:xfrm>
            <a:prstGeom prst="rect">
              <a:avLst/>
            </a:prstGeom>
            <a:noFill/>
          </p:spPr>
          <p:txBody>
            <a:bodyPr wrap="none" lIns="0" tIns="0" rIns="0" bIns="0" rtlCol="0" anchor="t">
              <a:noAutofit/>
            </a:bodyPr>
            <a:lstStyle/>
            <a:p>
              <a:pPr algn="l">
                <a:spcBef>
                  <a:spcPts val="0"/>
                </a:spcBef>
                <a:spcAft>
                  <a:spcPts val="0"/>
                </a:spcAft>
              </a:pPr>
              <a:r>
                <a:rPr lang="en-US" sz="1275" b="0" dirty="0">
                  <a:solidFill>
                    <a:srgbClr val="EDE9E2"/>
                  </a:solidFill>
                  <a:latin typeface="Segoe UI"/>
                  <a:ea typeface="Segoe UI"/>
                  <a:cs typeface="Segoe UI"/>
                </a:rPr>
                <a:t>Trae CLI</a:t>
              </a:r>
              <a:endParaRPr lang="en-US" sz="1275" dirty="0"/>
            </a:p>
          </p:txBody>
        </p:sp>
        <p:sp>
          <p:nvSpPr>
            <p:cNvPr id="64" name="Text 65"/>
            <p:cNvSpPr txBox="1"/>
            <p:nvPr/>
          </p:nvSpPr>
          <p:spPr>
            <a:xfrm>
              <a:off x="3848100" y="3810000"/>
              <a:ext cx="783986" cy="228124"/>
            </a:xfrm>
            <a:prstGeom prst="rect">
              <a:avLst/>
            </a:prstGeom>
            <a:noFill/>
          </p:spPr>
          <p:txBody>
            <a:bodyPr wrap="none" lIns="0" tIns="0" rIns="0" bIns="0" rtlCol="0" anchor="t">
              <a:noAutofit/>
            </a:bodyPr>
            <a:lstStyle/>
            <a:p>
              <a:pPr algn="l">
                <a:spcBef>
                  <a:spcPts val="0"/>
                </a:spcBef>
                <a:spcAft>
                  <a:spcPts val="0"/>
                </a:spcAft>
              </a:pPr>
              <a:r>
                <a:rPr lang="en-US" sz="1275" b="0" dirty="0">
                  <a:solidFill>
                    <a:srgbClr val="EDE9E2"/>
                  </a:solidFill>
                  <a:latin typeface="Segoe UI"/>
                  <a:ea typeface="Segoe UI"/>
                  <a:cs typeface="Segoe UI"/>
                </a:rPr>
                <a:t>Qoder CLI</a:t>
              </a:r>
              <a:endParaRPr lang="en-US" sz="1275" dirty="0"/>
            </a:p>
          </p:txBody>
        </p:sp>
        <p:sp>
          <p:nvSpPr>
            <p:cNvPr id="65" name="Text 66"/>
            <p:cNvSpPr txBox="1"/>
            <p:nvPr/>
          </p:nvSpPr>
          <p:spPr>
            <a:xfrm>
              <a:off x="3848100" y="4048125"/>
              <a:ext cx="608266" cy="228124"/>
            </a:xfrm>
            <a:prstGeom prst="rect">
              <a:avLst/>
            </a:prstGeom>
            <a:noFill/>
          </p:spPr>
          <p:txBody>
            <a:bodyPr wrap="none" lIns="0" tIns="0" rIns="0" bIns="0" rtlCol="0" anchor="t">
              <a:noAutofit/>
            </a:bodyPr>
            <a:lstStyle/>
            <a:p>
              <a:pPr algn="l">
                <a:spcBef>
                  <a:spcPts val="0"/>
                </a:spcBef>
                <a:spcAft>
                  <a:spcPts val="0"/>
                </a:spcAft>
              </a:pPr>
              <a:r>
                <a:rPr lang="en-US" sz="1275" b="0" dirty="0">
                  <a:solidFill>
                    <a:srgbClr val="EDE9E2"/>
                  </a:solidFill>
                  <a:latin typeface="Segoe UI"/>
                  <a:ea typeface="Segoe UI"/>
                  <a:cs typeface="Segoe UI"/>
                </a:rPr>
                <a:t>Kiro CLI</a:t>
              </a:r>
              <a:endParaRPr lang="en-US" sz="1275" dirty="0"/>
            </a:p>
          </p:txBody>
        </p:sp>
        <p:sp>
          <p:nvSpPr>
            <p:cNvPr id="66" name="Text 67"/>
            <p:cNvSpPr txBox="1"/>
            <p:nvPr/>
          </p:nvSpPr>
          <p:spPr>
            <a:xfrm>
              <a:off x="3848100" y="4286250"/>
              <a:ext cx="1075483" cy="228124"/>
            </a:xfrm>
            <a:prstGeom prst="rect">
              <a:avLst/>
            </a:prstGeom>
            <a:noFill/>
          </p:spPr>
          <p:txBody>
            <a:bodyPr wrap="none" lIns="0" tIns="0" rIns="0" bIns="0" rtlCol="0" anchor="t">
              <a:noAutofit/>
            </a:bodyPr>
            <a:lstStyle/>
            <a:p>
              <a:pPr algn="l">
                <a:spcBef>
                  <a:spcPts val="0"/>
                </a:spcBef>
                <a:spcAft>
                  <a:spcPts val="0"/>
                </a:spcAft>
              </a:pPr>
              <a:r>
                <a:rPr lang="en-US" sz="1275" b="0" dirty="0">
                  <a:solidFill>
                    <a:srgbClr val="EDE9E2"/>
                  </a:solidFill>
                  <a:latin typeface="Segoe UI"/>
                  <a:ea typeface="Segoe UI"/>
                  <a:cs typeface="Segoe UI"/>
                </a:rPr>
                <a:t>DeepSeek TUI</a:t>
              </a:r>
              <a:endParaRPr lang="en-US" sz="1275" dirty="0"/>
            </a:p>
          </p:txBody>
        </p:sp>
        <p:sp>
          <p:nvSpPr>
            <p:cNvPr id="67" name="Text 68"/>
            <p:cNvSpPr txBox="1"/>
            <p:nvPr/>
          </p:nvSpPr>
          <p:spPr>
            <a:xfrm>
              <a:off x="3848100" y="4524375"/>
              <a:ext cx="390774" cy="228124"/>
            </a:xfrm>
            <a:prstGeom prst="rect">
              <a:avLst/>
            </a:prstGeom>
            <a:noFill/>
          </p:spPr>
          <p:txBody>
            <a:bodyPr wrap="none" lIns="0" tIns="0" rIns="0" bIns="0" rtlCol="0" anchor="t">
              <a:noAutofit/>
            </a:bodyPr>
            <a:lstStyle/>
            <a:p>
              <a:pPr algn="l">
                <a:spcBef>
                  <a:spcPts val="0"/>
                </a:spcBef>
                <a:spcAft>
                  <a:spcPts val="0"/>
                </a:spcAft>
              </a:pPr>
              <a:r>
                <a:rPr lang="en-US" sz="1275" b="0" dirty="0">
                  <a:solidFill>
                    <a:srgbClr val="EDE9E2"/>
                  </a:solidFill>
                  <a:latin typeface="Segoe UI"/>
                  <a:ea typeface="Segoe UI"/>
                  <a:cs typeface="Segoe UI"/>
                </a:rPr>
                <a:t>Amp</a:t>
              </a:r>
              <a:endParaRPr lang="en-US" sz="1275" dirty="0"/>
            </a:p>
          </p:txBody>
        </p:sp>
        <p:sp>
          <p:nvSpPr>
            <p:cNvPr id="68" name="Text 69"/>
            <p:cNvSpPr txBox="1"/>
            <p:nvPr/>
          </p:nvSpPr>
          <p:spPr>
            <a:xfrm>
              <a:off x="3848100" y="4762500"/>
              <a:ext cx="1336226" cy="228124"/>
            </a:xfrm>
            <a:prstGeom prst="rect">
              <a:avLst/>
            </a:prstGeom>
            <a:noFill/>
          </p:spPr>
          <p:txBody>
            <a:bodyPr wrap="none" lIns="0" tIns="0" rIns="0" bIns="0" rtlCol="0" anchor="t">
              <a:noAutofit/>
            </a:bodyPr>
            <a:lstStyle/>
            <a:p>
              <a:pPr algn="l">
                <a:spcBef>
                  <a:spcPts val="0"/>
                </a:spcBef>
                <a:spcAft>
                  <a:spcPts val="0"/>
                </a:spcAft>
              </a:pPr>
              <a:r>
                <a:rPr lang="en-US" sz="1275" b="0" dirty="0">
                  <a:solidFill>
                    <a:srgbClr val="EDE9E2"/>
                  </a:solidFill>
                  <a:latin typeface="Segoe UI"/>
                  <a:ea typeface="Segoe UI"/>
                  <a:cs typeface="Segoe UI"/>
                </a:rPr>
                <a:t>CodeBuddy Code</a:t>
              </a:r>
              <a:endParaRPr lang="en-US" sz="1275" dirty="0"/>
            </a:p>
          </p:txBody>
        </p:sp>
        <p:sp>
          <p:nvSpPr>
            <p:cNvPr id="69" name="Text 70"/>
            <p:cNvSpPr txBox="1"/>
            <p:nvPr/>
          </p:nvSpPr>
          <p:spPr>
            <a:xfrm>
              <a:off x="3848100" y="5000625"/>
              <a:ext cx="1112156" cy="228124"/>
            </a:xfrm>
            <a:prstGeom prst="rect">
              <a:avLst/>
            </a:prstGeom>
            <a:noFill/>
          </p:spPr>
          <p:txBody>
            <a:bodyPr wrap="none" lIns="0" tIns="0" rIns="0" bIns="0" rtlCol="0" anchor="t">
              <a:noAutofit/>
            </a:bodyPr>
            <a:lstStyle/>
            <a:p>
              <a:pPr algn="l">
                <a:spcBef>
                  <a:spcPts val="0"/>
                </a:spcBef>
                <a:spcAft>
                  <a:spcPts val="0"/>
                </a:spcAft>
              </a:pPr>
              <a:r>
                <a:rPr lang="en-US" sz="1275" b="0" dirty="0">
                  <a:solidFill>
                    <a:srgbClr val="EDE9E2"/>
                  </a:solidFill>
                  <a:latin typeface="Segoe UI"/>
                  <a:ea typeface="Segoe UI"/>
                  <a:cs typeface="Segoe UI"/>
                </a:rPr>
                <a:t>AtomCode CLI</a:t>
              </a:r>
              <a:endParaRPr lang="en-US" sz="1275" dirty="0"/>
            </a:p>
          </p:txBody>
        </p:sp>
        <p:sp>
          <p:nvSpPr>
            <p:cNvPr id="70" name="rect 71"/>
            <p:cNvSpPr/>
            <p:nvPr/>
          </p:nvSpPr>
          <p:spPr>
            <a:xfrm>
              <a:off x="2571750" y="3324225"/>
              <a:ext cx="523875" cy="209550"/>
            </a:xfrm>
            <a:prstGeom prst="roundRect">
              <a:avLst>
                <a:gd name="adj" fmla="val 9091"/>
              </a:avLst>
            </a:prstGeom>
            <a:noFill/>
            <a:ln w="9525" cap="flat">
              <a:solidFill>
                <a:srgbClr val="FF5B1F">
                  <a:alpha val="55000"/>
                </a:srgbClr>
              </a:solidFill>
              <a:miter lim="800000"/>
            </a:ln>
          </p:spPr>
          <p:txBody>
            <a:bodyPr/>
            <a:lstStyle/>
            <a:p>
              <a:endParaRPr lang="en-US"/>
            </a:p>
          </p:txBody>
        </p:sp>
        <p:sp>
          <p:nvSpPr>
            <p:cNvPr id="71" name="rect 72"/>
            <p:cNvSpPr/>
            <p:nvPr/>
          </p:nvSpPr>
          <p:spPr>
            <a:xfrm>
              <a:off x="2571750" y="3562350"/>
              <a:ext cx="523875" cy="209550"/>
            </a:xfrm>
            <a:prstGeom prst="roundRect">
              <a:avLst>
                <a:gd name="adj" fmla="val 9091"/>
              </a:avLst>
            </a:prstGeom>
            <a:noFill/>
            <a:ln w="9525" cap="flat">
              <a:solidFill>
                <a:srgbClr val="FF5B1F">
                  <a:alpha val="55000"/>
                </a:srgbClr>
              </a:solidFill>
              <a:miter lim="800000"/>
            </a:ln>
          </p:spPr>
          <p:txBody>
            <a:bodyPr/>
            <a:lstStyle/>
            <a:p>
              <a:endParaRPr lang="en-US"/>
            </a:p>
          </p:txBody>
        </p:sp>
        <p:sp>
          <p:nvSpPr>
            <p:cNvPr id="72" name="rect 73"/>
            <p:cNvSpPr/>
            <p:nvPr/>
          </p:nvSpPr>
          <p:spPr>
            <a:xfrm>
              <a:off x="2571750" y="3800475"/>
              <a:ext cx="447675" cy="209550"/>
            </a:xfrm>
            <a:prstGeom prst="roundRect">
              <a:avLst>
                <a:gd name="adj" fmla="val 9091"/>
              </a:avLst>
            </a:prstGeom>
            <a:noFill/>
            <a:ln w="9525" cap="flat">
              <a:solidFill>
                <a:srgbClr val="FF5B1F">
                  <a:alpha val="55000"/>
                </a:srgbClr>
              </a:solidFill>
              <a:miter lim="800000"/>
            </a:ln>
          </p:spPr>
          <p:txBody>
            <a:bodyPr/>
            <a:lstStyle/>
            <a:p>
              <a:endParaRPr lang="en-US"/>
            </a:p>
          </p:txBody>
        </p:sp>
        <p:sp>
          <p:nvSpPr>
            <p:cNvPr id="73" name="rect 74"/>
            <p:cNvSpPr/>
            <p:nvPr/>
          </p:nvSpPr>
          <p:spPr>
            <a:xfrm>
              <a:off x="2571750" y="4038600"/>
              <a:ext cx="666750" cy="209550"/>
            </a:xfrm>
            <a:prstGeom prst="roundRect">
              <a:avLst>
                <a:gd name="adj" fmla="val 9091"/>
              </a:avLst>
            </a:prstGeom>
            <a:noFill/>
            <a:ln w="9525" cap="flat">
              <a:solidFill>
                <a:srgbClr val="FF5B1F">
                  <a:alpha val="55000"/>
                </a:srgbClr>
              </a:solidFill>
              <a:miter lim="800000"/>
            </a:ln>
          </p:spPr>
          <p:txBody>
            <a:bodyPr/>
            <a:lstStyle/>
            <a:p>
              <a:endParaRPr lang="en-US"/>
            </a:p>
          </p:txBody>
        </p:sp>
        <p:sp>
          <p:nvSpPr>
            <p:cNvPr id="74" name="rect 75"/>
            <p:cNvSpPr/>
            <p:nvPr/>
          </p:nvSpPr>
          <p:spPr>
            <a:xfrm>
              <a:off x="2571750" y="4276725"/>
              <a:ext cx="447675" cy="209550"/>
            </a:xfrm>
            <a:prstGeom prst="roundRect">
              <a:avLst>
                <a:gd name="adj" fmla="val 9091"/>
              </a:avLst>
            </a:prstGeom>
            <a:noFill/>
            <a:ln w="9525" cap="flat">
              <a:solidFill>
                <a:srgbClr val="FF5B1F">
                  <a:alpha val="55000"/>
                </a:srgbClr>
              </a:solidFill>
              <a:miter lim="800000"/>
            </a:ln>
          </p:spPr>
          <p:txBody>
            <a:bodyPr/>
            <a:lstStyle/>
            <a:p>
              <a:endParaRPr lang="en-US"/>
            </a:p>
          </p:txBody>
        </p:sp>
        <p:sp>
          <p:nvSpPr>
            <p:cNvPr id="75" name="rect 76"/>
            <p:cNvSpPr/>
            <p:nvPr/>
          </p:nvSpPr>
          <p:spPr>
            <a:xfrm>
              <a:off x="2571750" y="4514850"/>
              <a:ext cx="523875" cy="209550"/>
            </a:xfrm>
            <a:prstGeom prst="roundRect">
              <a:avLst>
                <a:gd name="adj" fmla="val 9091"/>
              </a:avLst>
            </a:prstGeom>
            <a:noFill/>
            <a:ln w="9525" cap="flat">
              <a:solidFill>
                <a:srgbClr val="FF5B1F">
                  <a:alpha val="55000"/>
                </a:srgbClr>
              </a:solidFill>
              <a:miter lim="800000"/>
            </a:ln>
          </p:spPr>
          <p:txBody>
            <a:bodyPr/>
            <a:lstStyle/>
            <a:p>
              <a:endParaRPr lang="en-US"/>
            </a:p>
          </p:txBody>
        </p:sp>
        <p:sp>
          <p:nvSpPr>
            <p:cNvPr id="76" name="rect 77"/>
            <p:cNvSpPr/>
            <p:nvPr/>
          </p:nvSpPr>
          <p:spPr>
            <a:xfrm>
              <a:off x="2571750" y="4752975"/>
              <a:ext cx="742950" cy="209550"/>
            </a:xfrm>
            <a:prstGeom prst="roundRect">
              <a:avLst>
                <a:gd name="adj" fmla="val 9091"/>
              </a:avLst>
            </a:prstGeom>
            <a:noFill/>
            <a:ln w="9525" cap="flat">
              <a:solidFill>
                <a:srgbClr val="FF5B1F">
                  <a:alpha val="55000"/>
                </a:srgbClr>
              </a:solidFill>
              <a:miter lim="800000"/>
            </a:ln>
          </p:spPr>
          <p:txBody>
            <a:bodyPr/>
            <a:lstStyle/>
            <a:p>
              <a:endParaRPr lang="en-US"/>
            </a:p>
          </p:txBody>
        </p:sp>
        <p:sp>
          <p:nvSpPr>
            <p:cNvPr id="77" name="rect 78"/>
            <p:cNvSpPr/>
            <p:nvPr/>
          </p:nvSpPr>
          <p:spPr>
            <a:xfrm>
              <a:off x="2571750" y="4991100"/>
              <a:ext cx="371475" cy="209550"/>
            </a:xfrm>
            <a:prstGeom prst="roundRect">
              <a:avLst>
                <a:gd name="adj" fmla="val 9091"/>
              </a:avLst>
            </a:prstGeom>
            <a:noFill/>
            <a:ln w="9525" cap="flat">
              <a:solidFill>
                <a:srgbClr val="FF5B1F">
                  <a:alpha val="55000"/>
                </a:srgbClr>
              </a:solidFill>
              <a:miter lim="800000"/>
            </a:ln>
          </p:spPr>
          <p:txBody>
            <a:bodyPr/>
            <a:lstStyle/>
            <a:p>
              <a:endParaRPr lang="en-US"/>
            </a:p>
          </p:txBody>
        </p:sp>
        <p:sp>
          <p:nvSpPr>
            <p:cNvPr id="78" name="rect 79"/>
            <p:cNvSpPr/>
            <p:nvPr/>
          </p:nvSpPr>
          <p:spPr>
            <a:xfrm>
              <a:off x="2571750" y="5229225"/>
              <a:ext cx="447675" cy="209550"/>
            </a:xfrm>
            <a:prstGeom prst="roundRect">
              <a:avLst>
                <a:gd name="adj" fmla="val 9091"/>
              </a:avLst>
            </a:prstGeom>
            <a:noFill/>
            <a:ln w="9525" cap="flat">
              <a:solidFill>
                <a:srgbClr val="FF5B1F">
                  <a:alpha val="55000"/>
                </a:srgbClr>
              </a:solidFill>
              <a:miter lim="800000"/>
            </a:ln>
          </p:spPr>
          <p:txBody>
            <a:bodyPr/>
            <a:lstStyle/>
            <a:p>
              <a:endParaRPr lang="en-US"/>
            </a:p>
          </p:txBody>
        </p:sp>
        <p:sp>
          <p:nvSpPr>
            <p:cNvPr id="79" name="rect 80"/>
            <p:cNvSpPr/>
            <p:nvPr/>
          </p:nvSpPr>
          <p:spPr>
            <a:xfrm>
              <a:off x="5295900" y="3324225"/>
              <a:ext cx="447675" cy="209550"/>
            </a:xfrm>
            <a:prstGeom prst="roundRect">
              <a:avLst>
                <a:gd name="adj" fmla="val 9091"/>
              </a:avLst>
            </a:prstGeom>
            <a:noFill/>
            <a:ln w="9525" cap="flat">
              <a:solidFill>
                <a:srgbClr val="FF5B1F">
                  <a:alpha val="55000"/>
                </a:srgbClr>
              </a:solidFill>
              <a:miter lim="800000"/>
            </a:ln>
          </p:spPr>
          <p:txBody>
            <a:bodyPr/>
            <a:lstStyle/>
            <a:p>
              <a:endParaRPr lang="en-US"/>
            </a:p>
          </p:txBody>
        </p:sp>
        <p:sp>
          <p:nvSpPr>
            <p:cNvPr id="80" name="rect 81"/>
            <p:cNvSpPr/>
            <p:nvPr/>
          </p:nvSpPr>
          <p:spPr>
            <a:xfrm>
              <a:off x="5295900" y="3562350"/>
              <a:ext cx="666750" cy="209550"/>
            </a:xfrm>
            <a:prstGeom prst="roundRect">
              <a:avLst>
                <a:gd name="adj" fmla="val 9091"/>
              </a:avLst>
            </a:prstGeom>
            <a:noFill/>
            <a:ln w="9525" cap="flat">
              <a:solidFill>
                <a:srgbClr val="FF5B1F">
                  <a:alpha val="55000"/>
                </a:srgbClr>
              </a:solidFill>
              <a:miter lim="800000"/>
            </a:ln>
          </p:spPr>
          <p:txBody>
            <a:bodyPr/>
            <a:lstStyle/>
            <a:p>
              <a:endParaRPr lang="en-US"/>
            </a:p>
          </p:txBody>
        </p:sp>
        <p:sp>
          <p:nvSpPr>
            <p:cNvPr id="81" name="rect 82"/>
            <p:cNvSpPr/>
            <p:nvPr/>
          </p:nvSpPr>
          <p:spPr>
            <a:xfrm>
              <a:off x="5295900" y="3800475"/>
              <a:ext cx="523875" cy="209550"/>
            </a:xfrm>
            <a:prstGeom prst="roundRect">
              <a:avLst>
                <a:gd name="adj" fmla="val 9091"/>
              </a:avLst>
            </a:prstGeom>
            <a:noFill/>
            <a:ln w="9525" cap="flat">
              <a:solidFill>
                <a:srgbClr val="FF5B1F">
                  <a:alpha val="55000"/>
                </a:srgbClr>
              </a:solidFill>
              <a:miter lim="800000"/>
            </a:ln>
          </p:spPr>
          <p:txBody>
            <a:bodyPr/>
            <a:lstStyle/>
            <a:p>
              <a:endParaRPr lang="en-US"/>
            </a:p>
          </p:txBody>
        </p:sp>
        <p:sp>
          <p:nvSpPr>
            <p:cNvPr id="82" name="rect 83"/>
            <p:cNvSpPr/>
            <p:nvPr/>
          </p:nvSpPr>
          <p:spPr>
            <a:xfrm>
              <a:off x="5295900" y="4038600"/>
              <a:ext cx="742950" cy="209550"/>
            </a:xfrm>
            <a:prstGeom prst="roundRect">
              <a:avLst>
                <a:gd name="adj" fmla="val 9091"/>
              </a:avLst>
            </a:prstGeom>
            <a:noFill/>
            <a:ln w="9525" cap="flat">
              <a:solidFill>
                <a:srgbClr val="FF5B1F">
                  <a:alpha val="55000"/>
                </a:srgbClr>
              </a:solidFill>
              <a:miter lim="800000"/>
            </a:ln>
          </p:spPr>
          <p:txBody>
            <a:bodyPr/>
            <a:lstStyle/>
            <a:p>
              <a:endParaRPr lang="en-US"/>
            </a:p>
          </p:txBody>
        </p:sp>
        <p:sp>
          <p:nvSpPr>
            <p:cNvPr id="83" name="rect 84"/>
            <p:cNvSpPr/>
            <p:nvPr/>
          </p:nvSpPr>
          <p:spPr>
            <a:xfrm>
              <a:off x="5295900" y="4276725"/>
              <a:ext cx="742950" cy="209550"/>
            </a:xfrm>
            <a:prstGeom prst="roundRect">
              <a:avLst>
                <a:gd name="adj" fmla="val 9091"/>
              </a:avLst>
            </a:prstGeom>
            <a:noFill/>
            <a:ln w="9525" cap="flat">
              <a:solidFill>
                <a:srgbClr val="FF5B1F">
                  <a:alpha val="55000"/>
                </a:srgbClr>
              </a:solidFill>
              <a:miter lim="800000"/>
            </a:ln>
          </p:spPr>
          <p:txBody>
            <a:bodyPr/>
            <a:lstStyle/>
            <a:p>
              <a:endParaRPr lang="en-US"/>
            </a:p>
          </p:txBody>
        </p:sp>
        <p:sp>
          <p:nvSpPr>
            <p:cNvPr id="84" name="rect 85"/>
            <p:cNvSpPr/>
            <p:nvPr/>
          </p:nvSpPr>
          <p:spPr>
            <a:xfrm>
              <a:off x="5295900" y="4514850"/>
              <a:ext cx="371475" cy="209550"/>
            </a:xfrm>
            <a:prstGeom prst="roundRect">
              <a:avLst>
                <a:gd name="adj" fmla="val 9091"/>
              </a:avLst>
            </a:prstGeom>
            <a:noFill/>
            <a:ln w="9525" cap="flat">
              <a:solidFill>
                <a:srgbClr val="FF5B1F">
                  <a:alpha val="55000"/>
                </a:srgbClr>
              </a:solidFill>
              <a:miter lim="800000"/>
            </a:ln>
          </p:spPr>
          <p:txBody>
            <a:bodyPr/>
            <a:lstStyle/>
            <a:p>
              <a:endParaRPr lang="en-US"/>
            </a:p>
          </p:txBody>
        </p:sp>
        <p:sp>
          <p:nvSpPr>
            <p:cNvPr id="85" name="rect 86"/>
            <p:cNvSpPr/>
            <p:nvPr/>
          </p:nvSpPr>
          <p:spPr>
            <a:xfrm>
              <a:off x="5295900" y="4752975"/>
              <a:ext cx="809625" cy="209550"/>
            </a:xfrm>
            <a:prstGeom prst="roundRect">
              <a:avLst>
                <a:gd name="adj" fmla="val 9091"/>
              </a:avLst>
            </a:prstGeom>
            <a:noFill/>
            <a:ln w="9525" cap="flat">
              <a:solidFill>
                <a:srgbClr val="FF5B1F">
                  <a:alpha val="55000"/>
                </a:srgbClr>
              </a:solidFill>
              <a:miter lim="800000"/>
            </a:ln>
          </p:spPr>
          <p:txBody>
            <a:bodyPr/>
            <a:lstStyle/>
            <a:p>
              <a:endParaRPr lang="en-US"/>
            </a:p>
          </p:txBody>
        </p:sp>
        <p:sp>
          <p:nvSpPr>
            <p:cNvPr id="86" name="rect 87"/>
            <p:cNvSpPr/>
            <p:nvPr/>
          </p:nvSpPr>
          <p:spPr>
            <a:xfrm>
              <a:off x="5295900" y="4991100"/>
              <a:ext cx="742950" cy="209550"/>
            </a:xfrm>
            <a:prstGeom prst="roundRect">
              <a:avLst>
                <a:gd name="adj" fmla="val 9091"/>
              </a:avLst>
            </a:prstGeom>
            <a:noFill/>
            <a:ln w="9525" cap="flat">
              <a:solidFill>
                <a:srgbClr val="FF5B1F">
                  <a:alpha val="55000"/>
                </a:srgbClr>
              </a:solidFill>
              <a:miter lim="800000"/>
            </a:ln>
          </p:spPr>
          <p:txBody>
            <a:bodyPr/>
            <a:lstStyle/>
            <a:p>
              <a:endParaRPr lang="en-US"/>
            </a:p>
          </p:txBody>
        </p:sp>
        <p:sp>
          <p:nvSpPr>
            <p:cNvPr id="87" name="Text 88"/>
            <p:cNvSpPr txBox="1"/>
            <p:nvPr/>
          </p:nvSpPr>
          <p:spPr>
            <a:xfrm>
              <a:off x="2647950" y="3349625"/>
              <a:ext cx="419346"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F6B69A"/>
                  </a:solidFill>
                  <a:latin typeface="Consolas"/>
                  <a:ea typeface="Consolas"/>
                  <a:cs typeface="Consolas"/>
                </a:rPr>
                <a:t>cline</a:t>
              </a:r>
              <a:endParaRPr lang="en-US" sz="1050" dirty="0"/>
            </a:p>
          </p:txBody>
        </p:sp>
        <p:sp>
          <p:nvSpPr>
            <p:cNvPr id="88" name="Text 89"/>
            <p:cNvSpPr txBox="1"/>
            <p:nvPr/>
          </p:nvSpPr>
          <p:spPr>
            <a:xfrm>
              <a:off x="2647950" y="3587750"/>
              <a:ext cx="419346"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F6B69A"/>
                  </a:solidFill>
                  <a:latin typeface="Consolas"/>
                  <a:ea typeface="Consolas"/>
                  <a:cs typeface="Consolas"/>
                </a:rPr>
                <a:t>devin</a:t>
              </a:r>
              <a:endParaRPr lang="en-US" sz="1050" dirty="0"/>
            </a:p>
          </p:txBody>
        </p:sp>
        <p:sp>
          <p:nvSpPr>
            <p:cNvPr id="89" name="Text 90"/>
            <p:cNvSpPr txBox="1"/>
            <p:nvPr/>
          </p:nvSpPr>
          <p:spPr>
            <a:xfrm>
              <a:off x="2647950" y="3825875"/>
              <a:ext cx="343096"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F6B69A"/>
                  </a:solidFill>
                  <a:latin typeface="Consolas"/>
                  <a:ea typeface="Consolas"/>
                  <a:cs typeface="Consolas"/>
                </a:rPr>
                <a:t>kimi</a:t>
              </a:r>
              <a:endParaRPr lang="en-US" sz="1050" dirty="0"/>
            </a:p>
          </p:txBody>
        </p:sp>
        <p:sp>
          <p:nvSpPr>
            <p:cNvPr id="90" name="Text 91"/>
            <p:cNvSpPr txBox="1"/>
            <p:nvPr/>
          </p:nvSpPr>
          <p:spPr>
            <a:xfrm>
              <a:off x="2647950" y="4064000"/>
              <a:ext cx="571844"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F6B69A"/>
                  </a:solidFill>
                  <a:latin typeface="Consolas"/>
                  <a:ea typeface="Consolas"/>
                  <a:cs typeface="Consolas"/>
                </a:rPr>
                <a:t>copilot</a:t>
              </a:r>
              <a:endParaRPr lang="en-US" sz="1050" dirty="0"/>
            </a:p>
          </p:txBody>
        </p:sp>
        <p:sp>
          <p:nvSpPr>
            <p:cNvPr id="91" name="Text 92"/>
            <p:cNvSpPr txBox="1"/>
            <p:nvPr/>
          </p:nvSpPr>
          <p:spPr>
            <a:xfrm>
              <a:off x="2647950" y="4302125"/>
              <a:ext cx="343096"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F6B69A"/>
                  </a:solidFill>
                  <a:latin typeface="Consolas"/>
                  <a:ea typeface="Consolas"/>
                  <a:cs typeface="Consolas"/>
                </a:rPr>
                <a:t>vibe</a:t>
              </a:r>
              <a:endParaRPr lang="en-US" sz="1050" dirty="0"/>
            </a:p>
          </p:txBody>
        </p:sp>
        <p:sp>
          <p:nvSpPr>
            <p:cNvPr id="92" name="Text 93"/>
            <p:cNvSpPr txBox="1"/>
            <p:nvPr/>
          </p:nvSpPr>
          <p:spPr>
            <a:xfrm>
              <a:off x="2647950" y="4540250"/>
              <a:ext cx="419346"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F6B69A"/>
                  </a:solidFill>
                  <a:latin typeface="Consolas"/>
                  <a:ea typeface="Consolas"/>
                  <a:cs typeface="Consolas"/>
                </a:rPr>
                <a:t>aider</a:t>
              </a:r>
              <a:endParaRPr lang="en-US" sz="1050" dirty="0"/>
            </a:p>
          </p:txBody>
        </p:sp>
        <p:sp>
          <p:nvSpPr>
            <p:cNvPr id="93" name="Text 94"/>
            <p:cNvSpPr txBox="1"/>
            <p:nvPr/>
          </p:nvSpPr>
          <p:spPr>
            <a:xfrm>
              <a:off x="2647950" y="4778375"/>
              <a:ext cx="648093"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F6B69A"/>
                  </a:solidFill>
                  <a:latin typeface="Consolas"/>
                  <a:ea typeface="Consolas"/>
                  <a:cs typeface="Consolas"/>
                </a:rPr>
                <a:t>reasonix</a:t>
              </a:r>
              <a:endParaRPr lang="en-US" sz="1050" dirty="0"/>
            </a:p>
          </p:txBody>
        </p:sp>
        <p:sp>
          <p:nvSpPr>
            <p:cNvPr id="94" name="Text 95"/>
            <p:cNvSpPr txBox="1"/>
            <p:nvPr/>
          </p:nvSpPr>
          <p:spPr>
            <a:xfrm>
              <a:off x="2647950" y="5016500"/>
              <a:ext cx="266847"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F6B69A"/>
                  </a:solidFill>
                  <a:latin typeface="Consolas"/>
                  <a:ea typeface="Consolas"/>
                  <a:cs typeface="Consolas"/>
                </a:rPr>
                <a:t>dsh</a:t>
              </a:r>
              <a:endParaRPr lang="en-US" sz="1050" dirty="0"/>
            </a:p>
          </p:txBody>
        </p:sp>
        <p:sp>
          <p:nvSpPr>
            <p:cNvPr id="95" name="Text 96"/>
            <p:cNvSpPr txBox="1"/>
            <p:nvPr/>
          </p:nvSpPr>
          <p:spPr>
            <a:xfrm>
              <a:off x="2647950" y="5254625"/>
              <a:ext cx="343096"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F6B69A"/>
                  </a:solidFill>
                  <a:latin typeface="Consolas"/>
                  <a:ea typeface="Consolas"/>
                  <a:cs typeface="Consolas"/>
                </a:rPr>
                <a:t>mimo</a:t>
              </a:r>
              <a:endParaRPr lang="en-US" sz="1050" dirty="0"/>
            </a:p>
          </p:txBody>
        </p:sp>
        <p:sp>
          <p:nvSpPr>
            <p:cNvPr id="96" name="Text 97"/>
            <p:cNvSpPr txBox="1"/>
            <p:nvPr/>
          </p:nvSpPr>
          <p:spPr>
            <a:xfrm>
              <a:off x="5372100" y="3349625"/>
              <a:ext cx="343096"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F6B69A"/>
                  </a:solidFill>
                  <a:latin typeface="Consolas"/>
                  <a:ea typeface="Consolas"/>
                  <a:cs typeface="Consolas"/>
                </a:rPr>
                <a:t>grok</a:t>
              </a:r>
              <a:endParaRPr lang="en-US" sz="1050" dirty="0"/>
            </a:p>
          </p:txBody>
        </p:sp>
        <p:sp>
          <p:nvSpPr>
            <p:cNvPr id="97" name="Text 98"/>
            <p:cNvSpPr txBox="1"/>
            <p:nvPr/>
          </p:nvSpPr>
          <p:spPr>
            <a:xfrm>
              <a:off x="5372100" y="3587750"/>
              <a:ext cx="571844"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F6B69A"/>
                  </a:solidFill>
                  <a:latin typeface="Consolas"/>
                  <a:ea typeface="Consolas"/>
                  <a:cs typeface="Consolas"/>
                </a:rPr>
                <a:t>traecli</a:t>
              </a:r>
              <a:endParaRPr lang="en-US" sz="1050" dirty="0"/>
            </a:p>
          </p:txBody>
        </p:sp>
        <p:sp>
          <p:nvSpPr>
            <p:cNvPr id="98" name="Text 99"/>
            <p:cNvSpPr txBox="1"/>
            <p:nvPr/>
          </p:nvSpPr>
          <p:spPr>
            <a:xfrm>
              <a:off x="5372100" y="3825875"/>
              <a:ext cx="419346"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F6B69A"/>
                  </a:solidFill>
                  <a:latin typeface="Consolas"/>
                  <a:ea typeface="Consolas"/>
                  <a:cs typeface="Consolas"/>
                </a:rPr>
                <a:t>qoder</a:t>
              </a:r>
              <a:endParaRPr lang="en-US" sz="1050" dirty="0"/>
            </a:p>
          </p:txBody>
        </p:sp>
        <p:sp>
          <p:nvSpPr>
            <p:cNvPr id="99" name="Text 100"/>
            <p:cNvSpPr txBox="1"/>
            <p:nvPr/>
          </p:nvSpPr>
          <p:spPr>
            <a:xfrm>
              <a:off x="5372100" y="4064000"/>
              <a:ext cx="648093"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F6B69A"/>
                  </a:solidFill>
                  <a:latin typeface="Consolas"/>
                  <a:ea typeface="Consolas"/>
                  <a:cs typeface="Consolas"/>
                </a:rPr>
                <a:t>kiro-cli</a:t>
              </a:r>
              <a:endParaRPr lang="en-US" sz="1050" dirty="0"/>
            </a:p>
          </p:txBody>
        </p:sp>
        <p:sp>
          <p:nvSpPr>
            <p:cNvPr id="100" name="Text 101"/>
            <p:cNvSpPr txBox="1"/>
            <p:nvPr/>
          </p:nvSpPr>
          <p:spPr>
            <a:xfrm>
              <a:off x="5372100" y="4302125"/>
              <a:ext cx="648093"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F6B69A"/>
                  </a:solidFill>
                  <a:latin typeface="Consolas"/>
                  <a:ea typeface="Consolas"/>
                  <a:cs typeface="Consolas"/>
                </a:rPr>
                <a:t>deepseek</a:t>
              </a:r>
              <a:endParaRPr lang="en-US" sz="1050" dirty="0"/>
            </a:p>
          </p:txBody>
        </p:sp>
        <p:sp>
          <p:nvSpPr>
            <p:cNvPr id="101" name="Text 102"/>
            <p:cNvSpPr txBox="1"/>
            <p:nvPr/>
          </p:nvSpPr>
          <p:spPr>
            <a:xfrm>
              <a:off x="5372100" y="4540250"/>
              <a:ext cx="266847"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F6B69A"/>
                  </a:solidFill>
                  <a:latin typeface="Consolas"/>
                  <a:ea typeface="Consolas"/>
                  <a:cs typeface="Consolas"/>
                </a:rPr>
                <a:t>amp</a:t>
              </a:r>
              <a:endParaRPr lang="en-US" sz="1050" dirty="0"/>
            </a:p>
          </p:txBody>
        </p:sp>
        <p:sp>
          <p:nvSpPr>
            <p:cNvPr id="102" name="Text 103"/>
            <p:cNvSpPr txBox="1"/>
            <p:nvPr/>
          </p:nvSpPr>
          <p:spPr>
            <a:xfrm>
              <a:off x="5372100" y="4778375"/>
              <a:ext cx="724342"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F6B69A"/>
                  </a:solidFill>
                  <a:latin typeface="Consolas"/>
                  <a:ea typeface="Consolas"/>
                  <a:cs typeface="Consolas"/>
                </a:rPr>
                <a:t>codebuddy</a:t>
              </a:r>
              <a:endParaRPr lang="en-US" sz="1050" dirty="0"/>
            </a:p>
          </p:txBody>
        </p:sp>
        <p:sp>
          <p:nvSpPr>
            <p:cNvPr id="103" name="Text 104"/>
            <p:cNvSpPr txBox="1"/>
            <p:nvPr/>
          </p:nvSpPr>
          <p:spPr>
            <a:xfrm>
              <a:off x="5372100" y="5016500"/>
              <a:ext cx="648093"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F6B69A"/>
                  </a:solidFill>
                  <a:latin typeface="Consolas"/>
                  <a:ea typeface="Consolas"/>
                  <a:cs typeface="Consolas"/>
                </a:rPr>
                <a:t>atomcode</a:t>
              </a:r>
              <a:endParaRPr lang="en-US" sz="1050" dirty="0"/>
            </a:p>
          </p:txBody>
        </p:sp>
      </p:grpSp>
      <p:grpSp>
        <p:nvGrpSpPr>
          <p:cNvPr id="109" name="numeral-10"/>
          <p:cNvGrpSpPr/>
          <p:nvPr/>
        </p:nvGrpSpPr>
        <p:grpSpPr>
          <a:xfrm>
            <a:off x="7124700" y="1917700"/>
            <a:ext cx="4020175" cy="1511300"/>
            <a:chOff x="7124700" y="1917700"/>
            <a:chExt cx="4020175" cy="1511300"/>
          </a:xfrm>
        </p:grpSpPr>
        <p:sp>
          <p:nvSpPr>
            <p:cNvPr id="105" name="Text 106"/>
            <p:cNvSpPr txBox="1"/>
            <p:nvPr/>
          </p:nvSpPr>
          <p:spPr>
            <a:xfrm>
              <a:off x="7124700" y="1917700"/>
              <a:ext cx="1089258" cy="1511300"/>
            </a:xfrm>
            <a:prstGeom prst="rect">
              <a:avLst/>
            </a:prstGeom>
            <a:noFill/>
          </p:spPr>
          <p:txBody>
            <a:bodyPr wrap="none" lIns="0" tIns="0" rIns="0" bIns="0" rtlCol="0" anchor="t">
              <a:noAutofit/>
            </a:bodyPr>
            <a:lstStyle/>
            <a:p>
              <a:pPr algn="l">
                <a:spcBef>
                  <a:spcPts val="0"/>
                </a:spcBef>
                <a:spcAft>
                  <a:spcPts val="0"/>
                </a:spcAft>
              </a:pPr>
              <a:r>
                <a:rPr lang="en-US" sz="9000" b="1" dirty="0">
                  <a:solidFill>
                    <a:srgbClr val="3D8BFF"/>
                  </a:solidFill>
                  <a:latin typeface="Bahnschrift"/>
                  <a:ea typeface="Bahnschrift"/>
                  <a:cs typeface="Bahnschrift"/>
                </a:rPr>
                <a:t>10</a:t>
              </a:r>
              <a:endParaRPr lang="en-US" sz="9000" dirty="0"/>
            </a:p>
          </p:txBody>
        </p:sp>
        <p:sp>
          <p:nvSpPr>
            <p:cNvPr id="106" name="Text 107"/>
            <p:cNvSpPr txBox="1"/>
            <p:nvPr/>
          </p:nvSpPr>
          <p:spPr>
            <a:xfrm>
              <a:off x="8763000" y="2254250"/>
              <a:ext cx="2004702" cy="295593"/>
            </a:xfrm>
            <a:prstGeom prst="rect">
              <a:avLst/>
            </a:prstGeom>
            <a:noFill/>
          </p:spPr>
          <p:txBody>
            <a:bodyPr wrap="none" lIns="0" tIns="0" rIns="0" bIns="0" rtlCol="0" anchor="t">
              <a:noAutofit/>
            </a:bodyPr>
            <a:lstStyle/>
            <a:p>
              <a:pPr algn="l">
                <a:spcBef>
                  <a:spcPts val="0"/>
                </a:spcBef>
                <a:spcAft>
                  <a:spcPts val="0"/>
                </a:spcAft>
              </a:pPr>
              <a:r>
                <a:rPr lang="en-US" sz="1650" b="1" dirty="0">
                  <a:solidFill>
                    <a:srgbClr val="EDE9E2"/>
                  </a:solidFill>
                  <a:latin typeface="Segoe UI"/>
                  <a:ea typeface="Segoe UI"/>
                  <a:cs typeface="Segoe UI"/>
                </a:rPr>
                <a:t>developer tool CLIs</a:t>
              </a:r>
              <a:endParaRPr lang="en-US" sz="1650" dirty="0"/>
            </a:p>
          </p:txBody>
        </p:sp>
        <p:sp>
          <p:nvSpPr>
            <p:cNvPr id="107" name="Text 108"/>
            <p:cNvSpPr txBox="1"/>
            <p:nvPr/>
          </p:nvSpPr>
          <p:spPr>
            <a:xfrm>
              <a:off x="8763000" y="2578100"/>
              <a:ext cx="1933512" cy="192722"/>
            </a:xfrm>
            <a:prstGeom prst="rect">
              <a:avLst/>
            </a:prstGeom>
            <a:noFill/>
          </p:spPr>
          <p:txBody>
            <a:bodyPr wrap="none" lIns="0" tIns="0" rIns="0" bIns="0" rtlCol="0" anchor="t">
              <a:noAutofit/>
            </a:bodyPr>
            <a:lstStyle/>
            <a:p>
              <a:pPr algn="l">
                <a:spcBef>
                  <a:spcPts val="0"/>
                </a:spcBef>
                <a:spcAft>
                  <a:spcPts val="0"/>
                </a:spcAft>
              </a:pPr>
              <a:r>
                <a:rPr lang="en-US" sz="1050" b="0" spc="75" dirty="0">
                  <a:solidFill>
                    <a:srgbClr val="9C9A94"/>
                  </a:solidFill>
                  <a:latin typeface="Consolas"/>
                  <a:ea typeface="Consolas"/>
                  <a:cs typeface="Consolas"/>
                </a:rPr>
                <a:t>install + auth tracked</a:t>
              </a:r>
              <a:endParaRPr lang="en-US" sz="1050" dirty="0"/>
            </a:p>
          </p:txBody>
        </p:sp>
        <p:sp>
          <p:nvSpPr>
            <p:cNvPr id="108" name="Text 109"/>
            <p:cNvSpPr txBox="1"/>
            <p:nvPr/>
          </p:nvSpPr>
          <p:spPr>
            <a:xfrm>
              <a:off x="8763000" y="2832100"/>
              <a:ext cx="2381875" cy="208756"/>
            </a:xfrm>
            <a:prstGeom prst="rect">
              <a:avLst/>
            </a:prstGeom>
            <a:noFill/>
          </p:spPr>
          <p:txBody>
            <a:bodyPr wrap="none" lIns="0" tIns="0" rIns="0" bIns="0" rtlCol="0" anchor="t">
              <a:noAutofit/>
            </a:bodyPr>
            <a:lstStyle/>
            <a:p>
              <a:pPr algn="l">
                <a:spcBef>
                  <a:spcPts val="0"/>
                </a:spcBef>
                <a:spcAft>
                  <a:spcPts val="0"/>
                </a:spcAft>
              </a:pPr>
              <a:r>
                <a:rPr lang="en-US" sz="1125" b="0" dirty="0">
                  <a:solidFill>
                    <a:srgbClr val="9C9A94"/>
                  </a:solidFill>
                  <a:latin typeface="Segoe UI"/>
                  <a:ea typeface="Segoe UI"/>
                  <a:cs typeface="Segoe UI"/>
                </a:rPr>
                <a:t>Connect your app to online services</a:t>
              </a:r>
              <a:endParaRPr lang="en-US" sz="1125" dirty="0"/>
            </a:p>
          </p:txBody>
        </p:sp>
      </p:grpSp>
      <p:grpSp>
        <p:nvGrpSpPr>
          <p:cNvPr id="160" name="clis-10"/>
          <p:cNvGrpSpPr/>
          <p:nvPr/>
        </p:nvGrpSpPr>
        <p:grpSpPr>
          <a:xfrm>
            <a:off x="7162800" y="3324225"/>
            <a:ext cx="2934338" cy="2380774"/>
            <a:chOff x="7162800" y="3324225"/>
            <a:chExt cx="2934338" cy="2380774"/>
          </a:xfrm>
        </p:grpSpPr>
        <p:sp>
          <p:nvSpPr>
            <p:cNvPr id="110" name="rect 111"/>
            <p:cNvSpPr/>
            <p:nvPr/>
          </p:nvSpPr>
          <p:spPr>
            <a:xfrm>
              <a:off x="7162800" y="3324225"/>
              <a:ext cx="209550" cy="209550"/>
            </a:xfrm>
            <a:prstGeom prst="roundRect">
              <a:avLst>
                <a:gd name="adj" fmla="val 9091"/>
              </a:avLst>
            </a:prstGeom>
            <a:solidFill>
              <a:srgbClr val="3D8BFF">
                <a:alpha val="16000"/>
              </a:srgbClr>
            </a:solidFill>
            <a:ln>
              <a:noFill/>
            </a:ln>
          </p:spPr>
          <p:txBody>
            <a:bodyPr/>
            <a:lstStyle/>
            <a:p>
              <a:endParaRPr lang="en-US"/>
            </a:p>
          </p:txBody>
        </p:sp>
        <p:sp>
          <p:nvSpPr>
            <p:cNvPr id="111" name="rect 112"/>
            <p:cNvSpPr/>
            <p:nvPr/>
          </p:nvSpPr>
          <p:spPr>
            <a:xfrm>
              <a:off x="7162800" y="3562350"/>
              <a:ext cx="209550" cy="209550"/>
            </a:xfrm>
            <a:prstGeom prst="roundRect">
              <a:avLst>
                <a:gd name="adj" fmla="val 9091"/>
              </a:avLst>
            </a:prstGeom>
            <a:solidFill>
              <a:srgbClr val="3D8BFF">
                <a:alpha val="16000"/>
              </a:srgbClr>
            </a:solidFill>
            <a:ln>
              <a:noFill/>
            </a:ln>
          </p:spPr>
          <p:txBody>
            <a:bodyPr/>
            <a:lstStyle/>
            <a:p>
              <a:endParaRPr lang="en-US"/>
            </a:p>
          </p:txBody>
        </p:sp>
        <p:sp>
          <p:nvSpPr>
            <p:cNvPr id="112" name="rect 113"/>
            <p:cNvSpPr/>
            <p:nvPr/>
          </p:nvSpPr>
          <p:spPr>
            <a:xfrm>
              <a:off x="7162800" y="3800475"/>
              <a:ext cx="209550" cy="209550"/>
            </a:xfrm>
            <a:prstGeom prst="roundRect">
              <a:avLst>
                <a:gd name="adj" fmla="val 9091"/>
              </a:avLst>
            </a:prstGeom>
            <a:solidFill>
              <a:srgbClr val="3D8BFF">
                <a:alpha val="16000"/>
              </a:srgbClr>
            </a:solidFill>
            <a:ln>
              <a:noFill/>
            </a:ln>
          </p:spPr>
          <p:txBody>
            <a:bodyPr/>
            <a:lstStyle/>
            <a:p>
              <a:endParaRPr lang="en-US"/>
            </a:p>
          </p:txBody>
        </p:sp>
        <p:sp>
          <p:nvSpPr>
            <p:cNvPr id="113" name="rect 114"/>
            <p:cNvSpPr/>
            <p:nvPr/>
          </p:nvSpPr>
          <p:spPr>
            <a:xfrm>
              <a:off x="7162800" y="4038600"/>
              <a:ext cx="209550" cy="209550"/>
            </a:xfrm>
            <a:prstGeom prst="roundRect">
              <a:avLst>
                <a:gd name="adj" fmla="val 9091"/>
              </a:avLst>
            </a:prstGeom>
            <a:solidFill>
              <a:srgbClr val="3D8BFF">
                <a:alpha val="16000"/>
              </a:srgbClr>
            </a:solidFill>
            <a:ln>
              <a:noFill/>
            </a:ln>
          </p:spPr>
          <p:txBody>
            <a:bodyPr/>
            <a:lstStyle/>
            <a:p>
              <a:endParaRPr lang="en-US"/>
            </a:p>
          </p:txBody>
        </p:sp>
        <p:sp>
          <p:nvSpPr>
            <p:cNvPr id="114" name="rect 115"/>
            <p:cNvSpPr/>
            <p:nvPr/>
          </p:nvSpPr>
          <p:spPr>
            <a:xfrm>
              <a:off x="7162800" y="4276725"/>
              <a:ext cx="209550" cy="209550"/>
            </a:xfrm>
            <a:prstGeom prst="roundRect">
              <a:avLst>
                <a:gd name="adj" fmla="val 9091"/>
              </a:avLst>
            </a:prstGeom>
            <a:solidFill>
              <a:srgbClr val="3D8BFF">
                <a:alpha val="16000"/>
              </a:srgbClr>
            </a:solidFill>
            <a:ln>
              <a:noFill/>
            </a:ln>
          </p:spPr>
          <p:txBody>
            <a:bodyPr/>
            <a:lstStyle/>
            <a:p>
              <a:endParaRPr lang="en-US"/>
            </a:p>
          </p:txBody>
        </p:sp>
        <p:sp>
          <p:nvSpPr>
            <p:cNvPr id="115" name="rect 116"/>
            <p:cNvSpPr/>
            <p:nvPr/>
          </p:nvSpPr>
          <p:spPr>
            <a:xfrm>
              <a:off x="7162800" y="4514850"/>
              <a:ext cx="209550" cy="209550"/>
            </a:xfrm>
            <a:prstGeom prst="roundRect">
              <a:avLst>
                <a:gd name="adj" fmla="val 9091"/>
              </a:avLst>
            </a:prstGeom>
            <a:solidFill>
              <a:srgbClr val="3D8BFF">
                <a:alpha val="16000"/>
              </a:srgbClr>
            </a:solidFill>
            <a:ln>
              <a:noFill/>
            </a:ln>
          </p:spPr>
          <p:txBody>
            <a:bodyPr/>
            <a:lstStyle/>
            <a:p>
              <a:endParaRPr lang="en-US"/>
            </a:p>
          </p:txBody>
        </p:sp>
        <p:sp>
          <p:nvSpPr>
            <p:cNvPr id="116" name="rect 117"/>
            <p:cNvSpPr/>
            <p:nvPr/>
          </p:nvSpPr>
          <p:spPr>
            <a:xfrm>
              <a:off x="7162800" y="4752975"/>
              <a:ext cx="209550" cy="209550"/>
            </a:xfrm>
            <a:prstGeom prst="roundRect">
              <a:avLst>
                <a:gd name="adj" fmla="val 9091"/>
              </a:avLst>
            </a:prstGeom>
            <a:solidFill>
              <a:srgbClr val="3D8BFF">
                <a:alpha val="16000"/>
              </a:srgbClr>
            </a:solidFill>
            <a:ln>
              <a:noFill/>
            </a:ln>
          </p:spPr>
          <p:txBody>
            <a:bodyPr/>
            <a:lstStyle/>
            <a:p>
              <a:endParaRPr lang="en-US"/>
            </a:p>
          </p:txBody>
        </p:sp>
        <p:sp>
          <p:nvSpPr>
            <p:cNvPr id="117" name="rect 118"/>
            <p:cNvSpPr/>
            <p:nvPr/>
          </p:nvSpPr>
          <p:spPr>
            <a:xfrm>
              <a:off x="7162800" y="4991100"/>
              <a:ext cx="209550" cy="209550"/>
            </a:xfrm>
            <a:prstGeom prst="roundRect">
              <a:avLst>
                <a:gd name="adj" fmla="val 9091"/>
              </a:avLst>
            </a:prstGeom>
            <a:solidFill>
              <a:srgbClr val="3D8BFF">
                <a:alpha val="16000"/>
              </a:srgbClr>
            </a:solidFill>
            <a:ln>
              <a:noFill/>
            </a:ln>
          </p:spPr>
          <p:txBody>
            <a:bodyPr/>
            <a:lstStyle/>
            <a:p>
              <a:endParaRPr lang="en-US"/>
            </a:p>
          </p:txBody>
        </p:sp>
        <p:sp>
          <p:nvSpPr>
            <p:cNvPr id="118" name="rect 119"/>
            <p:cNvSpPr/>
            <p:nvPr/>
          </p:nvSpPr>
          <p:spPr>
            <a:xfrm>
              <a:off x="7162800" y="5229225"/>
              <a:ext cx="209550" cy="209550"/>
            </a:xfrm>
            <a:prstGeom prst="roundRect">
              <a:avLst>
                <a:gd name="adj" fmla="val 9091"/>
              </a:avLst>
            </a:prstGeom>
            <a:solidFill>
              <a:srgbClr val="3D8BFF">
                <a:alpha val="16000"/>
              </a:srgbClr>
            </a:solidFill>
            <a:ln>
              <a:noFill/>
            </a:ln>
          </p:spPr>
          <p:txBody>
            <a:bodyPr/>
            <a:lstStyle/>
            <a:p>
              <a:endParaRPr lang="en-US"/>
            </a:p>
          </p:txBody>
        </p:sp>
        <p:sp>
          <p:nvSpPr>
            <p:cNvPr id="119" name="rect 120"/>
            <p:cNvSpPr/>
            <p:nvPr/>
          </p:nvSpPr>
          <p:spPr>
            <a:xfrm>
              <a:off x="7162800" y="5467350"/>
              <a:ext cx="209550" cy="209550"/>
            </a:xfrm>
            <a:prstGeom prst="roundRect">
              <a:avLst>
                <a:gd name="adj" fmla="val 9091"/>
              </a:avLst>
            </a:prstGeom>
            <a:solidFill>
              <a:srgbClr val="3D8BFF">
                <a:alpha val="16000"/>
              </a:srgbClr>
            </a:solidFill>
            <a:ln>
              <a:noFill/>
            </a:ln>
          </p:spPr>
          <p:txBody>
            <a:bodyPr/>
            <a:lstStyle/>
            <a:p>
              <a:endParaRPr lang="en-US"/>
            </a:p>
          </p:txBody>
        </p:sp>
        <p:sp>
          <p:nvSpPr>
            <p:cNvPr id="120" name="Text 121"/>
            <p:cNvSpPr txBox="1"/>
            <p:nvPr/>
          </p:nvSpPr>
          <p:spPr>
            <a:xfrm>
              <a:off x="7194061" y="3378200"/>
              <a:ext cx="147027" cy="141288"/>
            </a:xfrm>
            <a:prstGeom prst="rect">
              <a:avLst/>
            </a:prstGeom>
            <a:noFill/>
          </p:spPr>
          <p:txBody>
            <a:bodyPr wrap="none" lIns="0" tIns="0" rIns="0" bIns="0" rtlCol="0" anchor="t">
              <a:noAutofit/>
            </a:bodyPr>
            <a:lstStyle/>
            <a:p>
              <a:pPr algn="ctr">
                <a:spcBef>
                  <a:spcPts val="0"/>
                </a:spcBef>
                <a:spcAft>
                  <a:spcPts val="0"/>
                </a:spcAft>
              </a:pPr>
              <a:r>
                <a:rPr lang="en-US" sz="750" b="1" dirty="0">
                  <a:solidFill>
                    <a:srgbClr val="3D8BFF"/>
                  </a:solidFill>
                  <a:latin typeface="Consolas"/>
                  <a:ea typeface="Consolas"/>
                  <a:cs typeface="Consolas"/>
                </a:rPr>
                <a:t>GH</a:t>
              </a:r>
              <a:endParaRPr lang="en-US" sz="750" dirty="0"/>
            </a:p>
          </p:txBody>
        </p:sp>
        <p:sp>
          <p:nvSpPr>
            <p:cNvPr id="121" name="Text 122"/>
            <p:cNvSpPr txBox="1"/>
            <p:nvPr/>
          </p:nvSpPr>
          <p:spPr>
            <a:xfrm>
              <a:off x="7194061" y="3616325"/>
              <a:ext cx="147027" cy="141288"/>
            </a:xfrm>
            <a:prstGeom prst="rect">
              <a:avLst/>
            </a:prstGeom>
            <a:noFill/>
          </p:spPr>
          <p:txBody>
            <a:bodyPr wrap="none" lIns="0" tIns="0" rIns="0" bIns="0" rtlCol="0" anchor="t">
              <a:noAutofit/>
            </a:bodyPr>
            <a:lstStyle/>
            <a:p>
              <a:pPr algn="ctr">
                <a:spcBef>
                  <a:spcPts val="0"/>
                </a:spcBef>
                <a:spcAft>
                  <a:spcPts val="0"/>
                </a:spcAft>
              </a:pPr>
              <a:r>
                <a:rPr lang="en-US" sz="750" b="1" dirty="0">
                  <a:solidFill>
                    <a:srgbClr val="3D8BFF"/>
                  </a:solidFill>
                  <a:latin typeface="Consolas"/>
                  <a:ea typeface="Consolas"/>
                  <a:cs typeface="Consolas"/>
                </a:rPr>
                <a:t>SB</a:t>
              </a:r>
              <a:endParaRPr lang="en-US" sz="750" dirty="0"/>
            </a:p>
          </p:txBody>
        </p:sp>
        <p:sp>
          <p:nvSpPr>
            <p:cNvPr id="122" name="Text 123"/>
            <p:cNvSpPr txBox="1"/>
            <p:nvPr/>
          </p:nvSpPr>
          <p:spPr>
            <a:xfrm>
              <a:off x="7194061" y="3854450"/>
              <a:ext cx="147027" cy="141288"/>
            </a:xfrm>
            <a:prstGeom prst="rect">
              <a:avLst/>
            </a:prstGeom>
            <a:noFill/>
          </p:spPr>
          <p:txBody>
            <a:bodyPr wrap="none" lIns="0" tIns="0" rIns="0" bIns="0" rtlCol="0" anchor="t">
              <a:noAutofit/>
            </a:bodyPr>
            <a:lstStyle/>
            <a:p>
              <a:pPr algn="ctr">
                <a:spcBef>
                  <a:spcPts val="0"/>
                </a:spcBef>
                <a:spcAft>
                  <a:spcPts val="0"/>
                </a:spcAft>
              </a:pPr>
              <a:r>
                <a:rPr lang="en-US" sz="750" b="1" dirty="0">
                  <a:solidFill>
                    <a:srgbClr val="3D8BFF"/>
                  </a:solidFill>
                  <a:latin typeface="Consolas"/>
                  <a:ea typeface="Consolas"/>
                  <a:cs typeface="Consolas"/>
                </a:rPr>
                <a:t>ST</a:t>
              </a:r>
              <a:endParaRPr lang="en-US" sz="750" dirty="0"/>
            </a:p>
          </p:txBody>
        </p:sp>
        <p:sp>
          <p:nvSpPr>
            <p:cNvPr id="123" name="Text 124"/>
            <p:cNvSpPr txBox="1"/>
            <p:nvPr/>
          </p:nvSpPr>
          <p:spPr>
            <a:xfrm>
              <a:off x="7194061" y="4092575"/>
              <a:ext cx="147027" cy="141288"/>
            </a:xfrm>
            <a:prstGeom prst="rect">
              <a:avLst/>
            </a:prstGeom>
            <a:noFill/>
          </p:spPr>
          <p:txBody>
            <a:bodyPr wrap="none" lIns="0" tIns="0" rIns="0" bIns="0" rtlCol="0" anchor="t">
              <a:noAutofit/>
            </a:bodyPr>
            <a:lstStyle/>
            <a:p>
              <a:pPr algn="ctr">
                <a:spcBef>
                  <a:spcPts val="0"/>
                </a:spcBef>
                <a:spcAft>
                  <a:spcPts val="0"/>
                </a:spcAft>
              </a:pPr>
              <a:r>
                <a:rPr lang="en-US" sz="750" b="1" dirty="0">
                  <a:solidFill>
                    <a:srgbClr val="3D8BFF"/>
                  </a:solidFill>
                  <a:latin typeface="Consolas"/>
                  <a:ea typeface="Consolas"/>
                  <a:cs typeface="Consolas"/>
                </a:rPr>
                <a:t>VC</a:t>
              </a:r>
              <a:endParaRPr lang="en-US" sz="750" dirty="0"/>
            </a:p>
          </p:txBody>
        </p:sp>
        <p:sp>
          <p:nvSpPr>
            <p:cNvPr id="124" name="Text 125"/>
            <p:cNvSpPr txBox="1"/>
            <p:nvPr/>
          </p:nvSpPr>
          <p:spPr>
            <a:xfrm>
              <a:off x="7194061" y="4330700"/>
              <a:ext cx="147027" cy="141288"/>
            </a:xfrm>
            <a:prstGeom prst="rect">
              <a:avLst/>
            </a:prstGeom>
            <a:noFill/>
          </p:spPr>
          <p:txBody>
            <a:bodyPr wrap="none" lIns="0" tIns="0" rIns="0" bIns="0" rtlCol="0" anchor="t">
              <a:noAutofit/>
            </a:bodyPr>
            <a:lstStyle/>
            <a:p>
              <a:pPr algn="ctr">
                <a:spcBef>
                  <a:spcPts val="0"/>
                </a:spcBef>
                <a:spcAft>
                  <a:spcPts val="0"/>
                </a:spcAft>
              </a:pPr>
              <a:r>
                <a:rPr lang="en-US" sz="750" b="1" dirty="0">
                  <a:solidFill>
                    <a:srgbClr val="3D8BFF"/>
                  </a:solidFill>
                  <a:latin typeface="Consolas"/>
                  <a:ea typeface="Consolas"/>
                  <a:cs typeface="Consolas"/>
                </a:rPr>
                <a:t>VL</a:t>
              </a:r>
              <a:endParaRPr lang="en-US" sz="750" dirty="0"/>
            </a:p>
          </p:txBody>
        </p:sp>
        <p:sp>
          <p:nvSpPr>
            <p:cNvPr id="125" name="Text 126"/>
            <p:cNvSpPr txBox="1"/>
            <p:nvPr/>
          </p:nvSpPr>
          <p:spPr>
            <a:xfrm>
              <a:off x="7194061" y="4568825"/>
              <a:ext cx="147027" cy="141288"/>
            </a:xfrm>
            <a:prstGeom prst="rect">
              <a:avLst/>
            </a:prstGeom>
            <a:noFill/>
          </p:spPr>
          <p:txBody>
            <a:bodyPr wrap="none" lIns="0" tIns="0" rIns="0" bIns="0" rtlCol="0" anchor="t">
              <a:noAutofit/>
            </a:bodyPr>
            <a:lstStyle/>
            <a:p>
              <a:pPr algn="ctr">
                <a:spcBef>
                  <a:spcPts val="0"/>
                </a:spcBef>
                <a:spcAft>
                  <a:spcPts val="0"/>
                </a:spcAft>
              </a:pPr>
              <a:r>
                <a:rPr lang="en-US" sz="750" b="1" dirty="0">
                  <a:solidFill>
                    <a:srgbClr val="3D8BFF"/>
                  </a:solidFill>
                  <a:latin typeface="Consolas"/>
                  <a:ea typeface="Consolas"/>
                  <a:cs typeface="Consolas"/>
                </a:rPr>
                <a:t>PH</a:t>
              </a:r>
              <a:endParaRPr lang="en-US" sz="750" dirty="0"/>
            </a:p>
          </p:txBody>
        </p:sp>
        <p:sp>
          <p:nvSpPr>
            <p:cNvPr id="126" name="Text 127"/>
            <p:cNvSpPr txBox="1"/>
            <p:nvPr/>
          </p:nvSpPr>
          <p:spPr>
            <a:xfrm>
              <a:off x="7194061" y="4806950"/>
              <a:ext cx="147027" cy="141288"/>
            </a:xfrm>
            <a:prstGeom prst="rect">
              <a:avLst/>
            </a:prstGeom>
            <a:noFill/>
          </p:spPr>
          <p:txBody>
            <a:bodyPr wrap="none" lIns="0" tIns="0" rIns="0" bIns="0" rtlCol="0" anchor="t">
              <a:noAutofit/>
            </a:bodyPr>
            <a:lstStyle/>
            <a:p>
              <a:pPr algn="ctr">
                <a:spcBef>
                  <a:spcPts val="0"/>
                </a:spcBef>
                <a:spcAft>
                  <a:spcPts val="0"/>
                </a:spcAft>
              </a:pPr>
              <a:r>
                <a:rPr lang="en-US" sz="750" b="1" dirty="0">
                  <a:solidFill>
                    <a:srgbClr val="3D8BFF"/>
                  </a:solidFill>
                  <a:latin typeface="Consolas"/>
                  <a:ea typeface="Consolas"/>
                  <a:cs typeface="Consolas"/>
                </a:rPr>
                <a:t>EL</a:t>
              </a:r>
              <a:endParaRPr lang="en-US" sz="750" dirty="0"/>
            </a:p>
          </p:txBody>
        </p:sp>
        <p:sp>
          <p:nvSpPr>
            <p:cNvPr id="127" name="Text 128"/>
            <p:cNvSpPr txBox="1"/>
            <p:nvPr/>
          </p:nvSpPr>
          <p:spPr>
            <a:xfrm>
              <a:off x="7194061" y="5045075"/>
              <a:ext cx="147027" cy="141288"/>
            </a:xfrm>
            <a:prstGeom prst="rect">
              <a:avLst/>
            </a:prstGeom>
            <a:noFill/>
          </p:spPr>
          <p:txBody>
            <a:bodyPr wrap="none" lIns="0" tIns="0" rIns="0" bIns="0" rtlCol="0" anchor="t">
              <a:noAutofit/>
            </a:bodyPr>
            <a:lstStyle/>
            <a:p>
              <a:pPr algn="ctr">
                <a:spcBef>
                  <a:spcPts val="0"/>
                </a:spcBef>
                <a:spcAft>
                  <a:spcPts val="0"/>
                </a:spcAft>
              </a:pPr>
              <a:r>
                <a:rPr lang="en-US" sz="750" b="1" dirty="0">
                  <a:solidFill>
                    <a:srgbClr val="3D8BFF"/>
                  </a:solidFill>
                  <a:latin typeface="Consolas"/>
                  <a:ea typeface="Consolas"/>
                  <a:cs typeface="Consolas"/>
                </a:rPr>
                <a:t>GW</a:t>
              </a:r>
              <a:endParaRPr lang="en-US" sz="750" dirty="0"/>
            </a:p>
          </p:txBody>
        </p:sp>
        <p:sp>
          <p:nvSpPr>
            <p:cNvPr id="128" name="Text 129"/>
            <p:cNvSpPr txBox="1"/>
            <p:nvPr/>
          </p:nvSpPr>
          <p:spPr>
            <a:xfrm>
              <a:off x="7194061" y="5283200"/>
              <a:ext cx="147027" cy="141288"/>
            </a:xfrm>
            <a:prstGeom prst="rect">
              <a:avLst/>
            </a:prstGeom>
            <a:noFill/>
          </p:spPr>
          <p:txBody>
            <a:bodyPr wrap="none" lIns="0" tIns="0" rIns="0" bIns="0" rtlCol="0" anchor="t">
              <a:noAutofit/>
            </a:bodyPr>
            <a:lstStyle/>
            <a:p>
              <a:pPr algn="ctr">
                <a:spcBef>
                  <a:spcPts val="0"/>
                </a:spcBef>
                <a:spcAft>
                  <a:spcPts val="0"/>
                </a:spcAft>
              </a:pPr>
              <a:r>
                <a:rPr lang="en-US" sz="750" b="1" dirty="0">
                  <a:solidFill>
                    <a:srgbClr val="3D8BFF"/>
                  </a:solidFill>
                  <a:latin typeface="Consolas"/>
                  <a:ea typeface="Consolas"/>
                  <a:cs typeface="Consolas"/>
                </a:rPr>
                <a:t>AM</a:t>
              </a:r>
              <a:endParaRPr lang="en-US" sz="750" dirty="0"/>
            </a:p>
          </p:txBody>
        </p:sp>
        <p:sp>
          <p:nvSpPr>
            <p:cNvPr id="129" name="Text 130"/>
            <p:cNvSpPr txBox="1"/>
            <p:nvPr/>
          </p:nvSpPr>
          <p:spPr>
            <a:xfrm>
              <a:off x="7194061" y="5521325"/>
              <a:ext cx="147027" cy="141288"/>
            </a:xfrm>
            <a:prstGeom prst="rect">
              <a:avLst/>
            </a:prstGeom>
            <a:noFill/>
          </p:spPr>
          <p:txBody>
            <a:bodyPr wrap="none" lIns="0" tIns="0" rIns="0" bIns="0" rtlCol="0" anchor="t">
              <a:noAutofit/>
            </a:bodyPr>
            <a:lstStyle/>
            <a:p>
              <a:pPr algn="ctr">
                <a:spcBef>
                  <a:spcPts val="0"/>
                </a:spcBef>
                <a:spcAft>
                  <a:spcPts val="0"/>
                </a:spcAft>
              </a:pPr>
              <a:r>
                <a:rPr lang="en-US" sz="750" b="1" dirty="0">
                  <a:solidFill>
                    <a:srgbClr val="3D8BFF"/>
                  </a:solidFill>
                  <a:latin typeface="Consolas"/>
                  <a:ea typeface="Consolas"/>
                  <a:cs typeface="Consolas"/>
                </a:rPr>
                <a:t>RP</a:t>
              </a:r>
              <a:endParaRPr lang="en-US" sz="750" dirty="0"/>
            </a:p>
          </p:txBody>
        </p:sp>
        <p:sp>
          <p:nvSpPr>
            <p:cNvPr id="130" name="Text 131"/>
            <p:cNvSpPr txBox="1"/>
            <p:nvPr/>
          </p:nvSpPr>
          <p:spPr>
            <a:xfrm>
              <a:off x="7467600" y="3333750"/>
              <a:ext cx="839819" cy="228124"/>
            </a:xfrm>
            <a:prstGeom prst="rect">
              <a:avLst/>
            </a:prstGeom>
            <a:noFill/>
          </p:spPr>
          <p:txBody>
            <a:bodyPr wrap="none" lIns="0" tIns="0" rIns="0" bIns="0" rtlCol="0" anchor="t">
              <a:noAutofit/>
            </a:bodyPr>
            <a:lstStyle/>
            <a:p>
              <a:pPr algn="l">
                <a:spcBef>
                  <a:spcPts val="0"/>
                </a:spcBef>
                <a:spcAft>
                  <a:spcPts val="0"/>
                </a:spcAft>
              </a:pPr>
              <a:r>
                <a:rPr lang="en-US" sz="1275" b="0" dirty="0">
                  <a:solidFill>
                    <a:srgbClr val="EDE9E2"/>
                  </a:solidFill>
                  <a:latin typeface="Segoe UI"/>
                  <a:ea typeface="Segoe UI"/>
                  <a:cs typeface="Segoe UI"/>
                </a:rPr>
                <a:t>GitHub CLI</a:t>
              </a:r>
              <a:endParaRPr lang="en-US" sz="1275" dirty="0"/>
            </a:p>
          </p:txBody>
        </p:sp>
        <p:sp>
          <p:nvSpPr>
            <p:cNvPr id="131" name="Text 132"/>
            <p:cNvSpPr txBox="1"/>
            <p:nvPr/>
          </p:nvSpPr>
          <p:spPr>
            <a:xfrm>
              <a:off x="7467600" y="3571875"/>
              <a:ext cx="751753" cy="228124"/>
            </a:xfrm>
            <a:prstGeom prst="rect">
              <a:avLst/>
            </a:prstGeom>
            <a:noFill/>
          </p:spPr>
          <p:txBody>
            <a:bodyPr wrap="none" lIns="0" tIns="0" rIns="0" bIns="0" rtlCol="0" anchor="t">
              <a:noAutofit/>
            </a:bodyPr>
            <a:lstStyle/>
            <a:p>
              <a:pPr algn="l">
                <a:spcBef>
                  <a:spcPts val="0"/>
                </a:spcBef>
                <a:spcAft>
                  <a:spcPts val="0"/>
                </a:spcAft>
              </a:pPr>
              <a:r>
                <a:rPr lang="en-US" sz="1275" b="0" dirty="0">
                  <a:solidFill>
                    <a:srgbClr val="EDE9E2"/>
                  </a:solidFill>
                  <a:latin typeface="Segoe UI"/>
                  <a:ea typeface="Segoe UI"/>
                  <a:cs typeface="Segoe UI"/>
                </a:rPr>
                <a:t>Supabase</a:t>
              </a:r>
              <a:endParaRPr lang="en-US" sz="1275" dirty="0"/>
            </a:p>
          </p:txBody>
        </p:sp>
        <p:sp>
          <p:nvSpPr>
            <p:cNvPr id="132" name="Text 133"/>
            <p:cNvSpPr txBox="1"/>
            <p:nvPr/>
          </p:nvSpPr>
          <p:spPr>
            <a:xfrm>
              <a:off x="7467600" y="3810000"/>
              <a:ext cx="465601" cy="228124"/>
            </a:xfrm>
            <a:prstGeom prst="rect">
              <a:avLst/>
            </a:prstGeom>
            <a:noFill/>
          </p:spPr>
          <p:txBody>
            <a:bodyPr wrap="none" lIns="0" tIns="0" rIns="0" bIns="0" rtlCol="0" anchor="t">
              <a:noAutofit/>
            </a:bodyPr>
            <a:lstStyle/>
            <a:p>
              <a:pPr algn="l">
                <a:spcBef>
                  <a:spcPts val="0"/>
                </a:spcBef>
                <a:spcAft>
                  <a:spcPts val="0"/>
                </a:spcAft>
              </a:pPr>
              <a:r>
                <a:rPr lang="en-US" sz="1275" b="0" dirty="0">
                  <a:solidFill>
                    <a:srgbClr val="EDE9E2"/>
                  </a:solidFill>
                  <a:latin typeface="Segoe UI"/>
                  <a:ea typeface="Segoe UI"/>
                  <a:cs typeface="Segoe UI"/>
                </a:rPr>
                <a:t>Stripe</a:t>
              </a:r>
              <a:endParaRPr lang="en-US" sz="1275" dirty="0"/>
            </a:p>
          </p:txBody>
        </p:sp>
        <p:sp>
          <p:nvSpPr>
            <p:cNvPr id="133" name="Text 134"/>
            <p:cNvSpPr txBox="1"/>
            <p:nvPr/>
          </p:nvSpPr>
          <p:spPr>
            <a:xfrm>
              <a:off x="7467600" y="4048125"/>
              <a:ext cx="485253" cy="228124"/>
            </a:xfrm>
            <a:prstGeom prst="rect">
              <a:avLst/>
            </a:prstGeom>
            <a:noFill/>
          </p:spPr>
          <p:txBody>
            <a:bodyPr wrap="none" lIns="0" tIns="0" rIns="0" bIns="0" rtlCol="0" anchor="t">
              <a:noAutofit/>
            </a:bodyPr>
            <a:lstStyle/>
            <a:p>
              <a:pPr algn="l">
                <a:spcBef>
                  <a:spcPts val="0"/>
                </a:spcBef>
                <a:spcAft>
                  <a:spcPts val="0"/>
                </a:spcAft>
              </a:pPr>
              <a:r>
                <a:rPr lang="en-US" sz="1275" b="0" dirty="0">
                  <a:solidFill>
                    <a:srgbClr val="EDE9E2"/>
                  </a:solidFill>
                  <a:latin typeface="Segoe UI"/>
                  <a:ea typeface="Segoe UI"/>
                  <a:cs typeface="Segoe UI"/>
                </a:rPr>
                <a:t>Vercel</a:t>
              </a:r>
              <a:endParaRPr lang="en-US" sz="1275" dirty="0"/>
            </a:p>
          </p:txBody>
        </p:sp>
        <p:sp>
          <p:nvSpPr>
            <p:cNvPr id="134" name="Text 135"/>
            <p:cNvSpPr txBox="1"/>
            <p:nvPr/>
          </p:nvSpPr>
          <p:spPr>
            <a:xfrm>
              <a:off x="7467600" y="4286250"/>
              <a:ext cx="433614" cy="228124"/>
            </a:xfrm>
            <a:prstGeom prst="rect">
              <a:avLst/>
            </a:prstGeom>
            <a:noFill/>
          </p:spPr>
          <p:txBody>
            <a:bodyPr wrap="none" lIns="0" tIns="0" rIns="0" bIns="0" rtlCol="0" anchor="t">
              <a:noAutofit/>
            </a:bodyPr>
            <a:lstStyle/>
            <a:p>
              <a:pPr algn="l">
                <a:spcBef>
                  <a:spcPts val="0"/>
                </a:spcBef>
                <a:spcAft>
                  <a:spcPts val="0"/>
                </a:spcAft>
              </a:pPr>
              <a:r>
                <a:rPr lang="en-US" sz="1275" b="0" dirty="0">
                  <a:solidFill>
                    <a:srgbClr val="EDE9E2"/>
                  </a:solidFill>
                  <a:latin typeface="Segoe UI"/>
                  <a:ea typeface="Segoe UI"/>
                  <a:cs typeface="Segoe UI"/>
                </a:rPr>
                <a:t>Valyu</a:t>
              </a:r>
              <a:endParaRPr lang="en-US" sz="1275" dirty="0"/>
            </a:p>
          </p:txBody>
        </p:sp>
        <p:sp>
          <p:nvSpPr>
            <p:cNvPr id="135" name="Text 136"/>
            <p:cNvSpPr txBox="1"/>
            <p:nvPr/>
          </p:nvSpPr>
          <p:spPr>
            <a:xfrm>
              <a:off x="7467600" y="4524375"/>
              <a:ext cx="670759" cy="228124"/>
            </a:xfrm>
            <a:prstGeom prst="rect">
              <a:avLst/>
            </a:prstGeom>
            <a:noFill/>
          </p:spPr>
          <p:txBody>
            <a:bodyPr wrap="none" lIns="0" tIns="0" rIns="0" bIns="0" rtlCol="0" anchor="t">
              <a:noAutofit/>
            </a:bodyPr>
            <a:lstStyle/>
            <a:p>
              <a:pPr algn="l">
                <a:spcBef>
                  <a:spcPts val="0"/>
                </a:spcBef>
                <a:spcAft>
                  <a:spcPts val="0"/>
                </a:spcAft>
              </a:pPr>
              <a:r>
                <a:rPr lang="en-US" sz="1275" b="0" dirty="0">
                  <a:solidFill>
                    <a:srgbClr val="EDE9E2"/>
                  </a:solidFill>
                  <a:latin typeface="Segoe UI"/>
                  <a:ea typeface="Segoe UI"/>
                  <a:cs typeface="Segoe UI"/>
                </a:rPr>
                <a:t>PostHog</a:t>
              </a:r>
              <a:endParaRPr lang="en-US" sz="1275" dirty="0"/>
            </a:p>
          </p:txBody>
        </p:sp>
        <p:sp>
          <p:nvSpPr>
            <p:cNvPr id="136" name="Text 137"/>
            <p:cNvSpPr txBox="1"/>
            <p:nvPr/>
          </p:nvSpPr>
          <p:spPr>
            <a:xfrm>
              <a:off x="7467600" y="4762500"/>
              <a:ext cx="851577" cy="228124"/>
            </a:xfrm>
            <a:prstGeom prst="rect">
              <a:avLst/>
            </a:prstGeom>
            <a:noFill/>
          </p:spPr>
          <p:txBody>
            <a:bodyPr wrap="none" lIns="0" tIns="0" rIns="0" bIns="0" rtlCol="0" anchor="t">
              <a:noAutofit/>
            </a:bodyPr>
            <a:lstStyle/>
            <a:p>
              <a:pPr algn="l">
                <a:spcBef>
                  <a:spcPts val="0"/>
                </a:spcBef>
                <a:spcAft>
                  <a:spcPts val="0"/>
                </a:spcAft>
              </a:pPr>
              <a:r>
                <a:rPr lang="en-US" sz="1275" b="0" dirty="0">
                  <a:solidFill>
                    <a:srgbClr val="EDE9E2"/>
                  </a:solidFill>
                  <a:latin typeface="Segoe UI"/>
                  <a:ea typeface="Segoe UI"/>
                  <a:cs typeface="Segoe UI"/>
                </a:rPr>
                <a:t>ElevenLabs</a:t>
              </a:r>
              <a:endParaRPr lang="en-US" sz="1275" dirty="0"/>
            </a:p>
          </p:txBody>
        </p:sp>
        <p:sp>
          <p:nvSpPr>
            <p:cNvPr id="137" name="Text 138"/>
            <p:cNvSpPr txBox="1"/>
            <p:nvPr/>
          </p:nvSpPr>
          <p:spPr>
            <a:xfrm>
              <a:off x="7467600" y="5000625"/>
              <a:ext cx="1438764" cy="228124"/>
            </a:xfrm>
            <a:prstGeom prst="rect">
              <a:avLst/>
            </a:prstGeom>
            <a:noFill/>
          </p:spPr>
          <p:txBody>
            <a:bodyPr wrap="none" lIns="0" tIns="0" rIns="0" bIns="0" rtlCol="0" anchor="t">
              <a:noAutofit/>
            </a:bodyPr>
            <a:lstStyle/>
            <a:p>
              <a:pPr algn="l">
                <a:spcBef>
                  <a:spcPts val="0"/>
                </a:spcBef>
                <a:spcAft>
                  <a:spcPts val="0"/>
                </a:spcAft>
              </a:pPr>
              <a:r>
                <a:rPr lang="en-US" sz="1275" b="0" dirty="0">
                  <a:solidFill>
                    <a:srgbClr val="EDE9E2"/>
                  </a:solidFill>
                  <a:latin typeface="Segoe UI"/>
                  <a:ea typeface="Segoe UI"/>
                  <a:cs typeface="Segoe UI"/>
                </a:rPr>
                <a:t>Google Workspace</a:t>
              </a:r>
              <a:endParaRPr lang="en-US" sz="1275" dirty="0"/>
            </a:p>
          </p:txBody>
        </p:sp>
        <p:sp>
          <p:nvSpPr>
            <p:cNvPr id="138" name="Text 139"/>
            <p:cNvSpPr txBox="1"/>
            <p:nvPr/>
          </p:nvSpPr>
          <p:spPr>
            <a:xfrm>
              <a:off x="7467600" y="5238750"/>
              <a:ext cx="804790" cy="228124"/>
            </a:xfrm>
            <a:prstGeom prst="rect">
              <a:avLst/>
            </a:prstGeom>
            <a:noFill/>
          </p:spPr>
          <p:txBody>
            <a:bodyPr wrap="none" lIns="0" tIns="0" rIns="0" bIns="0" rtlCol="0" anchor="t">
              <a:noAutofit/>
            </a:bodyPr>
            <a:lstStyle/>
            <a:p>
              <a:pPr algn="l">
                <a:spcBef>
                  <a:spcPts val="0"/>
                </a:spcBef>
                <a:spcAft>
                  <a:spcPts val="0"/>
                </a:spcAft>
              </a:pPr>
              <a:r>
                <a:rPr lang="en-US" sz="1275" b="0" dirty="0">
                  <a:solidFill>
                    <a:srgbClr val="EDE9E2"/>
                  </a:solidFill>
                  <a:latin typeface="Segoe UI"/>
                  <a:ea typeface="Segoe UI"/>
                  <a:cs typeface="Segoe UI"/>
                </a:rPr>
                <a:t>AgentMail</a:t>
              </a:r>
              <a:endParaRPr lang="en-US" sz="1275" dirty="0"/>
            </a:p>
          </p:txBody>
        </p:sp>
        <p:sp>
          <p:nvSpPr>
            <p:cNvPr id="139" name="Text 140"/>
            <p:cNvSpPr txBox="1"/>
            <p:nvPr/>
          </p:nvSpPr>
          <p:spPr>
            <a:xfrm>
              <a:off x="7467600" y="5476875"/>
              <a:ext cx="468561" cy="228124"/>
            </a:xfrm>
            <a:prstGeom prst="rect">
              <a:avLst/>
            </a:prstGeom>
            <a:noFill/>
          </p:spPr>
          <p:txBody>
            <a:bodyPr wrap="none" lIns="0" tIns="0" rIns="0" bIns="0" rtlCol="0" anchor="t">
              <a:noAutofit/>
            </a:bodyPr>
            <a:lstStyle/>
            <a:p>
              <a:pPr algn="l">
                <a:spcBef>
                  <a:spcPts val="0"/>
                </a:spcBef>
                <a:spcAft>
                  <a:spcPts val="0"/>
                </a:spcAft>
              </a:pPr>
              <a:r>
                <a:rPr lang="en-US" sz="1275" b="0" dirty="0">
                  <a:solidFill>
                    <a:srgbClr val="EDE9E2"/>
                  </a:solidFill>
                  <a:latin typeface="Segoe UI"/>
                  <a:ea typeface="Segoe UI"/>
                  <a:cs typeface="Segoe UI"/>
                </a:rPr>
                <a:t>Ramp</a:t>
              </a:r>
              <a:endParaRPr lang="en-US" sz="1275" dirty="0"/>
            </a:p>
          </p:txBody>
        </p:sp>
        <p:sp>
          <p:nvSpPr>
            <p:cNvPr id="140" name="rect 141"/>
            <p:cNvSpPr/>
            <p:nvPr/>
          </p:nvSpPr>
          <p:spPr>
            <a:xfrm>
              <a:off x="8991600" y="3324225"/>
              <a:ext cx="295275" cy="209550"/>
            </a:xfrm>
            <a:prstGeom prst="roundRect">
              <a:avLst>
                <a:gd name="adj" fmla="val 9091"/>
              </a:avLst>
            </a:prstGeom>
            <a:noFill/>
            <a:ln w="9525" cap="flat">
              <a:solidFill>
                <a:srgbClr val="3D8BFF">
                  <a:alpha val="60000"/>
                </a:srgbClr>
              </a:solidFill>
              <a:miter lim="800000"/>
            </a:ln>
          </p:spPr>
          <p:txBody>
            <a:bodyPr/>
            <a:lstStyle/>
            <a:p>
              <a:endParaRPr lang="en-US"/>
            </a:p>
          </p:txBody>
        </p:sp>
        <p:sp>
          <p:nvSpPr>
            <p:cNvPr id="141" name="rect 142"/>
            <p:cNvSpPr/>
            <p:nvPr/>
          </p:nvSpPr>
          <p:spPr>
            <a:xfrm>
              <a:off x="8991600" y="3562350"/>
              <a:ext cx="742950" cy="209550"/>
            </a:xfrm>
            <a:prstGeom prst="roundRect">
              <a:avLst>
                <a:gd name="adj" fmla="val 9091"/>
              </a:avLst>
            </a:prstGeom>
            <a:noFill/>
            <a:ln w="9525" cap="flat">
              <a:solidFill>
                <a:srgbClr val="3D8BFF">
                  <a:alpha val="60000"/>
                </a:srgbClr>
              </a:solidFill>
              <a:miter lim="800000"/>
            </a:ln>
          </p:spPr>
          <p:txBody>
            <a:bodyPr/>
            <a:lstStyle/>
            <a:p>
              <a:endParaRPr lang="en-US"/>
            </a:p>
          </p:txBody>
        </p:sp>
        <p:sp>
          <p:nvSpPr>
            <p:cNvPr id="142" name="rect 143"/>
            <p:cNvSpPr/>
            <p:nvPr/>
          </p:nvSpPr>
          <p:spPr>
            <a:xfrm>
              <a:off x="8991600" y="3800475"/>
              <a:ext cx="590550" cy="209550"/>
            </a:xfrm>
            <a:prstGeom prst="roundRect">
              <a:avLst>
                <a:gd name="adj" fmla="val 9091"/>
              </a:avLst>
            </a:prstGeom>
            <a:noFill/>
            <a:ln w="9525" cap="flat">
              <a:solidFill>
                <a:srgbClr val="3D8BFF">
                  <a:alpha val="60000"/>
                </a:srgbClr>
              </a:solidFill>
              <a:miter lim="800000"/>
            </a:ln>
          </p:spPr>
          <p:txBody>
            <a:bodyPr/>
            <a:lstStyle/>
            <a:p>
              <a:endParaRPr lang="en-US"/>
            </a:p>
          </p:txBody>
        </p:sp>
        <p:sp>
          <p:nvSpPr>
            <p:cNvPr id="143" name="rect 144"/>
            <p:cNvSpPr/>
            <p:nvPr/>
          </p:nvSpPr>
          <p:spPr>
            <a:xfrm>
              <a:off x="8991600" y="4038600"/>
              <a:ext cx="590550" cy="209550"/>
            </a:xfrm>
            <a:prstGeom prst="roundRect">
              <a:avLst>
                <a:gd name="adj" fmla="val 9091"/>
              </a:avLst>
            </a:prstGeom>
            <a:noFill/>
            <a:ln w="9525" cap="flat">
              <a:solidFill>
                <a:srgbClr val="3D8BFF">
                  <a:alpha val="60000"/>
                </a:srgbClr>
              </a:solidFill>
              <a:miter lim="800000"/>
            </a:ln>
          </p:spPr>
          <p:txBody>
            <a:bodyPr/>
            <a:lstStyle/>
            <a:p>
              <a:endParaRPr lang="en-US"/>
            </a:p>
          </p:txBody>
        </p:sp>
        <p:sp>
          <p:nvSpPr>
            <p:cNvPr id="144" name="rect 145"/>
            <p:cNvSpPr/>
            <p:nvPr/>
          </p:nvSpPr>
          <p:spPr>
            <a:xfrm>
              <a:off x="8991600" y="4276725"/>
              <a:ext cx="809625" cy="209550"/>
            </a:xfrm>
            <a:prstGeom prst="roundRect">
              <a:avLst>
                <a:gd name="adj" fmla="val 9091"/>
              </a:avLst>
            </a:prstGeom>
            <a:noFill/>
            <a:ln w="9525" cap="flat">
              <a:solidFill>
                <a:srgbClr val="3D8BFF">
                  <a:alpha val="60000"/>
                </a:srgbClr>
              </a:solidFill>
              <a:miter lim="800000"/>
            </a:ln>
          </p:spPr>
          <p:txBody>
            <a:bodyPr/>
            <a:lstStyle/>
            <a:p>
              <a:endParaRPr lang="en-US"/>
            </a:p>
          </p:txBody>
        </p:sp>
        <p:sp>
          <p:nvSpPr>
            <p:cNvPr id="145" name="rect 146"/>
            <p:cNvSpPr/>
            <p:nvPr/>
          </p:nvSpPr>
          <p:spPr>
            <a:xfrm>
              <a:off x="8991600" y="4514850"/>
              <a:ext cx="962025" cy="209550"/>
            </a:xfrm>
            <a:prstGeom prst="roundRect">
              <a:avLst>
                <a:gd name="adj" fmla="val 9091"/>
              </a:avLst>
            </a:prstGeom>
            <a:noFill/>
            <a:ln w="9525" cap="flat">
              <a:solidFill>
                <a:srgbClr val="3D8BFF">
                  <a:alpha val="60000"/>
                </a:srgbClr>
              </a:solidFill>
              <a:miter lim="800000"/>
            </a:ln>
          </p:spPr>
          <p:txBody>
            <a:bodyPr/>
            <a:lstStyle/>
            <a:p>
              <a:endParaRPr lang="en-US"/>
            </a:p>
          </p:txBody>
        </p:sp>
        <p:sp>
          <p:nvSpPr>
            <p:cNvPr id="146" name="rect 147"/>
            <p:cNvSpPr/>
            <p:nvPr/>
          </p:nvSpPr>
          <p:spPr>
            <a:xfrm>
              <a:off x="8991600" y="4752975"/>
              <a:ext cx="885825" cy="209550"/>
            </a:xfrm>
            <a:prstGeom prst="roundRect">
              <a:avLst>
                <a:gd name="adj" fmla="val 9091"/>
              </a:avLst>
            </a:prstGeom>
            <a:noFill/>
            <a:ln w="9525" cap="flat">
              <a:solidFill>
                <a:srgbClr val="3D8BFF">
                  <a:alpha val="60000"/>
                </a:srgbClr>
              </a:solidFill>
              <a:miter lim="800000"/>
            </a:ln>
          </p:spPr>
          <p:txBody>
            <a:bodyPr/>
            <a:lstStyle/>
            <a:p>
              <a:endParaRPr lang="en-US"/>
            </a:p>
          </p:txBody>
        </p:sp>
        <p:sp>
          <p:nvSpPr>
            <p:cNvPr id="147" name="rect 148"/>
            <p:cNvSpPr/>
            <p:nvPr/>
          </p:nvSpPr>
          <p:spPr>
            <a:xfrm>
              <a:off x="8991600" y="4991100"/>
              <a:ext cx="371475" cy="209550"/>
            </a:xfrm>
            <a:prstGeom prst="roundRect">
              <a:avLst>
                <a:gd name="adj" fmla="val 9091"/>
              </a:avLst>
            </a:prstGeom>
            <a:noFill/>
            <a:ln w="9525" cap="flat">
              <a:solidFill>
                <a:srgbClr val="3D8BFF">
                  <a:alpha val="60000"/>
                </a:srgbClr>
              </a:solidFill>
              <a:miter lim="800000"/>
            </a:ln>
          </p:spPr>
          <p:txBody>
            <a:bodyPr/>
            <a:lstStyle/>
            <a:p>
              <a:endParaRPr lang="en-US"/>
            </a:p>
          </p:txBody>
        </p:sp>
        <p:sp>
          <p:nvSpPr>
            <p:cNvPr id="148" name="rect 149"/>
            <p:cNvSpPr/>
            <p:nvPr/>
          </p:nvSpPr>
          <p:spPr>
            <a:xfrm>
              <a:off x="8991600" y="5229225"/>
              <a:ext cx="1104900" cy="209550"/>
            </a:xfrm>
            <a:prstGeom prst="roundRect">
              <a:avLst>
                <a:gd name="adj" fmla="val 9091"/>
              </a:avLst>
            </a:prstGeom>
            <a:noFill/>
            <a:ln w="9525" cap="flat">
              <a:solidFill>
                <a:srgbClr val="3D8BFF">
                  <a:alpha val="60000"/>
                </a:srgbClr>
              </a:solidFill>
              <a:miter lim="800000"/>
            </a:ln>
          </p:spPr>
          <p:txBody>
            <a:bodyPr/>
            <a:lstStyle/>
            <a:p>
              <a:endParaRPr lang="en-US"/>
            </a:p>
          </p:txBody>
        </p:sp>
        <p:sp>
          <p:nvSpPr>
            <p:cNvPr id="149" name="rect 150"/>
            <p:cNvSpPr/>
            <p:nvPr/>
          </p:nvSpPr>
          <p:spPr>
            <a:xfrm>
              <a:off x="8991600" y="5467350"/>
              <a:ext cx="447675" cy="209550"/>
            </a:xfrm>
            <a:prstGeom prst="roundRect">
              <a:avLst>
                <a:gd name="adj" fmla="val 9091"/>
              </a:avLst>
            </a:prstGeom>
            <a:noFill/>
            <a:ln w="9525" cap="flat">
              <a:solidFill>
                <a:srgbClr val="3D8BFF">
                  <a:alpha val="60000"/>
                </a:srgbClr>
              </a:solidFill>
              <a:miter lim="800000"/>
            </a:ln>
          </p:spPr>
          <p:txBody>
            <a:bodyPr/>
            <a:lstStyle/>
            <a:p>
              <a:endParaRPr lang="en-US"/>
            </a:p>
          </p:txBody>
        </p:sp>
        <p:sp>
          <p:nvSpPr>
            <p:cNvPr id="150" name="Text 151"/>
            <p:cNvSpPr txBox="1"/>
            <p:nvPr/>
          </p:nvSpPr>
          <p:spPr>
            <a:xfrm>
              <a:off x="9067800" y="3349625"/>
              <a:ext cx="190598"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8DB8FF"/>
                  </a:solidFill>
                  <a:latin typeface="Consolas"/>
                  <a:ea typeface="Consolas"/>
                  <a:cs typeface="Consolas"/>
                </a:rPr>
                <a:t>gh</a:t>
              </a:r>
              <a:endParaRPr lang="en-US" sz="1050" dirty="0"/>
            </a:p>
          </p:txBody>
        </p:sp>
        <p:sp>
          <p:nvSpPr>
            <p:cNvPr id="151" name="Text 152"/>
            <p:cNvSpPr txBox="1"/>
            <p:nvPr/>
          </p:nvSpPr>
          <p:spPr>
            <a:xfrm>
              <a:off x="9067800" y="3587750"/>
              <a:ext cx="648093"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8DB8FF"/>
                  </a:solidFill>
                  <a:latin typeface="Consolas"/>
                  <a:ea typeface="Consolas"/>
                  <a:cs typeface="Consolas"/>
                </a:rPr>
                <a:t>supabase</a:t>
              </a:r>
              <a:endParaRPr lang="en-US" sz="1050" dirty="0"/>
            </a:p>
          </p:txBody>
        </p:sp>
        <p:sp>
          <p:nvSpPr>
            <p:cNvPr id="152" name="Text 153"/>
            <p:cNvSpPr txBox="1"/>
            <p:nvPr/>
          </p:nvSpPr>
          <p:spPr>
            <a:xfrm>
              <a:off x="9067800" y="3825875"/>
              <a:ext cx="495595"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8DB8FF"/>
                  </a:solidFill>
                  <a:latin typeface="Consolas"/>
                  <a:ea typeface="Consolas"/>
                  <a:cs typeface="Consolas"/>
                </a:rPr>
                <a:t>stripe</a:t>
              </a:r>
              <a:endParaRPr lang="en-US" sz="1050" dirty="0"/>
            </a:p>
          </p:txBody>
        </p:sp>
        <p:sp>
          <p:nvSpPr>
            <p:cNvPr id="153" name="Text 154"/>
            <p:cNvSpPr txBox="1"/>
            <p:nvPr/>
          </p:nvSpPr>
          <p:spPr>
            <a:xfrm>
              <a:off x="9067800" y="4064000"/>
              <a:ext cx="495595"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8DB8FF"/>
                  </a:solidFill>
                  <a:latin typeface="Consolas"/>
                  <a:ea typeface="Consolas"/>
                  <a:cs typeface="Consolas"/>
                </a:rPr>
                <a:t>vercel</a:t>
              </a:r>
              <a:endParaRPr lang="en-US" sz="1050" dirty="0"/>
            </a:p>
          </p:txBody>
        </p:sp>
        <p:sp>
          <p:nvSpPr>
            <p:cNvPr id="154" name="Text 155"/>
            <p:cNvSpPr txBox="1"/>
            <p:nvPr/>
          </p:nvSpPr>
          <p:spPr>
            <a:xfrm>
              <a:off x="9067800" y="4302125"/>
              <a:ext cx="724342"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8DB8FF"/>
                  </a:solidFill>
                  <a:latin typeface="Consolas"/>
                  <a:ea typeface="Consolas"/>
                  <a:cs typeface="Consolas"/>
                </a:rPr>
                <a:t>valyu-cli</a:t>
              </a:r>
              <a:endParaRPr lang="en-US" sz="1050" dirty="0"/>
            </a:p>
          </p:txBody>
        </p:sp>
        <p:sp>
          <p:nvSpPr>
            <p:cNvPr id="155" name="Text 156"/>
            <p:cNvSpPr txBox="1"/>
            <p:nvPr/>
          </p:nvSpPr>
          <p:spPr>
            <a:xfrm>
              <a:off x="9067800" y="4540250"/>
              <a:ext cx="876840"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8DB8FF"/>
                  </a:solidFill>
                  <a:latin typeface="Consolas"/>
                  <a:ea typeface="Consolas"/>
                  <a:cs typeface="Consolas"/>
                </a:rPr>
                <a:t>posthog-cli</a:t>
              </a:r>
              <a:endParaRPr lang="en-US" sz="1050" dirty="0"/>
            </a:p>
          </p:txBody>
        </p:sp>
        <p:sp>
          <p:nvSpPr>
            <p:cNvPr id="156" name="Text 157"/>
            <p:cNvSpPr txBox="1"/>
            <p:nvPr/>
          </p:nvSpPr>
          <p:spPr>
            <a:xfrm>
              <a:off x="9067800" y="4778375"/>
              <a:ext cx="800591"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8DB8FF"/>
                  </a:solidFill>
                  <a:latin typeface="Consolas"/>
                  <a:ea typeface="Consolas"/>
                  <a:cs typeface="Consolas"/>
                </a:rPr>
                <a:t>elevenlabs</a:t>
              </a:r>
              <a:endParaRPr lang="en-US" sz="1050" dirty="0"/>
            </a:p>
          </p:txBody>
        </p:sp>
        <p:sp>
          <p:nvSpPr>
            <p:cNvPr id="157" name="Text 158"/>
            <p:cNvSpPr txBox="1"/>
            <p:nvPr/>
          </p:nvSpPr>
          <p:spPr>
            <a:xfrm>
              <a:off x="9067800" y="5016500"/>
              <a:ext cx="266847"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8DB8FF"/>
                  </a:solidFill>
                  <a:latin typeface="Consolas"/>
                  <a:ea typeface="Consolas"/>
                  <a:cs typeface="Consolas"/>
                </a:rPr>
                <a:t>gws</a:t>
              </a:r>
              <a:endParaRPr lang="en-US" sz="1050" dirty="0"/>
            </a:p>
          </p:txBody>
        </p:sp>
        <p:sp>
          <p:nvSpPr>
            <p:cNvPr id="158" name="Text 159"/>
            <p:cNvSpPr txBox="1"/>
            <p:nvPr/>
          </p:nvSpPr>
          <p:spPr>
            <a:xfrm>
              <a:off x="9067800" y="5254625"/>
              <a:ext cx="1029338"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8DB8FF"/>
                  </a:solidFill>
                  <a:latin typeface="Consolas"/>
                  <a:ea typeface="Consolas"/>
                  <a:cs typeface="Consolas"/>
                </a:rPr>
                <a:t>agentmail-cli</a:t>
              </a:r>
              <a:endParaRPr lang="en-US" sz="1050" dirty="0"/>
            </a:p>
          </p:txBody>
        </p:sp>
        <p:sp>
          <p:nvSpPr>
            <p:cNvPr id="159" name="Text 160"/>
            <p:cNvSpPr txBox="1"/>
            <p:nvPr/>
          </p:nvSpPr>
          <p:spPr>
            <a:xfrm>
              <a:off x="9067800" y="5492750"/>
              <a:ext cx="343096"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8DB8FF"/>
                  </a:solidFill>
                  <a:latin typeface="Consolas"/>
                  <a:ea typeface="Consolas"/>
                  <a:cs typeface="Consolas"/>
                </a:rPr>
                <a:t>ramp</a:t>
              </a:r>
              <a:endParaRPr lang="en-US" sz="1050" dirty="0"/>
            </a:p>
          </p:txBody>
        </p:sp>
      </p:grpSp>
      <p:grpSp>
        <p:nvGrpSpPr>
          <p:cNvPr id="166" name="status-strip"/>
          <p:cNvGrpSpPr/>
          <p:nvPr/>
        </p:nvGrpSpPr>
        <p:grpSpPr>
          <a:xfrm>
            <a:off x="609600" y="5905500"/>
            <a:ext cx="10972800" cy="438150"/>
            <a:chOff x="609600" y="5905500"/>
            <a:chExt cx="10972800" cy="438150"/>
          </a:xfrm>
        </p:grpSpPr>
        <p:sp>
          <p:nvSpPr>
            <p:cNvPr id="161" name="rect 162"/>
            <p:cNvSpPr/>
            <p:nvPr/>
          </p:nvSpPr>
          <p:spPr>
            <a:xfrm>
              <a:off x="609600" y="5905500"/>
              <a:ext cx="10972800" cy="438150"/>
            </a:xfrm>
            <a:prstGeom prst="roundRect">
              <a:avLst>
                <a:gd name="adj" fmla="val 4348"/>
              </a:avLst>
            </a:prstGeom>
            <a:solidFill>
              <a:srgbClr val="14171B"/>
            </a:solidFill>
            <a:ln w="9525" cap="flat">
              <a:solidFill>
                <a:srgbClr val="2A2E35"/>
              </a:solidFill>
              <a:miter lim="800000"/>
            </a:ln>
          </p:spPr>
          <p:txBody>
            <a:bodyPr/>
            <a:lstStyle/>
            <a:p>
              <a:endParaRPr lang="en-US"/>
            </a:p>
          </p:txBody>
        </p:sp>
        <p:sp>
          <p:nvSpPr>
            <p:cNvPr id="162" name="path 163"/>
            <p:cNvSpPr/>
            <p:nvPr/>
          </p:nvSpPr>
          <p:spPr>
            <a:xfrm>
              <a:off x="609600" y="5905500"/>
              <a:ext cx="228600" cy="228600"/>
            </a:xfrm>
            <a:custGeom>
              <a:avLst/>
              <a:gdLst/>
              <a:ahLst/>
              <a:cxnLst/>
              <a:rect l="0" t="0" r="r" b="b"/>
              <a:pathLst>
                <a:path w="228600" h="228600" fill="none">
                  <a:moveTo>
                    <a:pt x="0" y="228600"/>
                  </a:moveTo>
                  <a:lnTo>
                    <a:pt x="0" y="0"/>
                  </a:lnTo>
                  <a:lnTo>
                    <a:pt x="228600" y="0"/>
                  </a:lnTo>
                </a:path>
              </a:pathLst>
            </a:custGeom>
            <a:noFill/>
            <a:ln w="19050" cap="flat">
              <a:solidFill>
                <a:srgbClr val="FF5B1F"/>
              </a:solidFill>
              <a:miter lim="800000"/>
            </a:ln>
          </p:spPr>
          <p:txBody>
            <a:bodyPr/>
            <a:lstStyle/>
            <a:p>
              <a:endParaRPr lang="en-US"/>
            </a:p>
          </p:txBody>
        </p:sp>
        <p:sp>
          <p:nvSpPr>
            <p:cNvPr id="163" name="path 164"/>
            <p:cNvSpPr/>
            <p:nvPr/>
          </p:nvSpPr>
          <p:spPr>
            <a:xfrm>
              <a:off x="11353800" y="6115050"/>
              <a:ext cx="228600" cy="228600"/>
            </a:xfrm>
            <a:custGeom>
              <a:avLst/>
              <a:gdLst/>
              <a:ahLst/>
              <a:cxnLst/>
              <a:rect l="0" t="0" r="r" b="b"/>
              <a:pathLst>
                <a:path w="228600" h="228600" fill="none">
                  <a:moveTo>
                    <a:pt x="228600" y="0"/>
                  </a:moveTo>
                  <a:lnTo>
                    <a:pt x="228600" y="228600"/>
                  </a:lnTo>
                  <a:lnTo>
                    <a:pt x="0" y="228600"/>
                  </a:lnTo>
                </a:path>
              </a:pathLst>
            </a:custGeom>
            <a:noFill/>
            <a:ln w="19050" cap="flat">
              <a:solidFill>
                <a:srgbClr val="FF5B1F"/>
              </a:solidFill>
              <a:miter lim="800000"/>
            </a:ln>
          </p:spPr>
          <p:txBody>
            <a:bodyPr/>
            <a:lstStyle/>
            <a:p>
              <a:endParaRPr lang="en-US"/>
            </a:p>
          </p:txBody>
        </p:sp>
        <p:sp>
          <p:nvSpPr>
            <p:cNvPr id="164" name="rect 165"/>
            <p:cNvSpPr/>
            <p:nvPr/>
          </p:nvSpPr>
          <p:spPr>
            <a:xfrm>
              <a:off x="838200" y="6096000"/>
              <a:ext cx="114300" cy="57150"/>
            </a:xfrm>
            <a:prstGeom prst="roundRect">
              <a:avLst>
                <a:gd name="adj" fmla="val 50000"/>
              </a:avLst>
            </a:prstGeom>
            <a:solidFill>
              <a:srgbClr val="FF5B1F"/>
            </a:solidFill>
            <a:ln>
              <a:noFill/>
            </a:ln>
          </p:spPr>
          <p:txBody>
            <a:bodyPr/>
            <a:lstStyle/>
            <a:p>
              <a:endParaRPr lang="en-US"/>
            </a:p>
          </p:txBody>
        </p:sp>
        <p:sp>
          <p:nvSpPr>
            <p:cNvPr id="165" name="Text 166"/>
            <p:cNvSpPr txBox="1"/>
            <p:nvPr/>
          </p:nvSpPr>
          <p:spPr>
            <a:xfrm>
              <a:off x="1104900" y="6029325"/>
              <a:ext cx="8069922" cy="228124"/>
            </a:xfrm>
            <a:prstGeom prst="rect">
              <a:avLst/>
            </a:prstGeom>
            <a:noFill/>
          </p:spPr>
          <p:txBody>
            <a:bodyPr wrap="none" lIns="0" tIns="0" rIns="0" bIns="0" rtlCol="0" anchor="t">
              <a:noAutofit/>
            </a:bodyPr>
            <a:lstStyle/>
            <a:p>
              <a:pPr algn="l">
                <a:spcBef>
                  <a:spcPts val="0"/>
                </a:spcBef>
                <a:spcAft>
                  <a:spcPts val="0"/>
                </a:spcAft>
              </a:pPr>
              <a:r>
                <a:rPr lang="en-US" sz="1275" b="1" dirty="0">
                  <a:solidFill>
                    <a:srgbClr val="EDE9E2"/>
                  </a:solidFill>
                  <a:latin typeface="Segoe UI"/>
                  <a:ea typeface="Segoe UI"/>
                  <a:cs typeface="Segoe UI"/>
                </a:rPr>
                <a:t>Automatic detection</a:t>
              </a:r>
              <a:r>
                <a:rPr lang="en-US" sz="1275" b="0" dirty="0">
                  <a:solidFill>
                    <a:srgbClr val="9C9A94"/>
                  </a:solidFill>
                  <a:latin typeface="Segoe UI"/>
                  <a:ea typeface="Segoe UI"/>
                  <a:cs typeface="Segoe UI"/>
                </a:rPr>
                <a:t>, </a:t>
              </a:r>
              <a:r>
                <a:rPr lang="en-US" sz="1275" b="1" dirty="0">
                  <a:solidFill>
                    <a:srgbClr val="EDE9E2"/>
                  </a:solidFill>
                  <a:latin typeface="Segoe UI"/>
                  <a:ea typeface="Segoe UI"/>
                  <a:cs typeface="Segoe UI"/>
                </a:rPr>
                <a:t>1-click install</a:t>
              </a:r>
              <a:r>
                <a:rPr lang="en-US" sz="1275" b="0" dirty="0">
                  <a:solidFill>
                    <a:srgbClr val="9C9A94"/>
                  </a:solidFill>
                  <a:latin typeface="Segoe UI"/>
                  <a:ea typeface="Segoe UI"/>
                  <a:cs typeface="Segoe UI"/>
                </a:rPr>
                <a:t> and </a:t>
              </a:r>
              <a:r>
                <a:rPr lang="en-US" sz="1275" b="1" dirty="0">
                  <a:solidFill>
                    <a:srgbClr val="EDE9E2"/>
                  </a:solidFill>
                  <a:latin typeface="Segoe UI"/>
                  <a:ea typeface="Segoe UI"/>
                  <a:cs typeface="Segoe UI"/>
                </a:rPr>
                <a:t>auth tracking</a:t>
              </a:r>
              <a:r>
                <a:rPr lang="en-US" sz="1275" b="0" dirty="0">
                  <a:solidFill>
                    <a:srgbClr val="9C9A94"/>
                  </a:solidFill>
                  <a:latin typeface="Segoe UI"/>
                  <a:ea typeface="Segoe UI"/>
                  <a:cs typeface="Segoe UI"/>
                </a:rPr>
                <a:t>: install status, executable path, authentication state.</a:t>
              </a:r>
              <a:endParaRPr lang="en-US" sz="1275" dirty="0"/>
            </a:p>
          </p:txBody>
        </p:sp>
      </p:grpSp>
      <p:grpSp>
        <p:nvGrpSpPr>
          <p:cNvPr id="169" name="progress-rule"/>
          <p:cNvGrpSpPr/>
          <p:nvPr/>
        </p:nvGrpSpPr>
        <p:grpSpPr>
          <a:xfrm>
            <a:off x="609600" y="6591300"/>
            <a:ext cx="10972800" cy="38100"/>
            <a:chOff x="609600" y="6591300"/>
            <a:chExt cx="10972800" cy="38100"/>
          </a:xfrm>
        </p:grpSpPr>
        <p:sp>
          <p:nvSpPr>
            <p:cNvPr id="167" name="line 168"/>
            <p:cNvSpPr/>
            <p:nvPr/>
          </p:nvSpPr>
          <p:spPr>
            <a:xfrm>
              <a:off x="609600" y="6610350"/>
              <a:ext cx="10972800" cy="95"/>
            </a:xfrm>
            <a:custGeom>
              <a:avLst/>
              <a:gdLst/>
              <a:ahLst/>
              <a:cxnLst/>
              <a:rect l="0" t="0" r="r" b="b"/>
              <a:pathLst>
                <a:path w="10972800" h="95" fill="none">
                  <a:moveTo>
                    <a:pt x="0" y="0"/>
                  </a:moveTo>
                  <a:lnTo>
                    <a:pt x="10972800" y="0"/>
                  </a:lnTo>
                </a:path>
              </a:pathLst>
            </a:custGeom>
            <a:noFill/>
            <a:ln w="9525" cap="flat">
              <a:solidFill>
                <a:srgbClr val="2A2E35"/>
              </a:solidFill>
              <a:miter lim="800000"/>
            </a:ln>
          </p:spPr>
          <p:txBody>
            <a:bodyPr/>
            <a:lstStyle/>
            <a:p>
              <a:endParaRPr lang="en-US"/>
            </a:p>
          </p:txBody>
        </p:sp>
        <p:sp>
          <p:nvSpPr>
            <p:cNvPr id="168" name="rect 169"/>
            <p:cNvSpPr/>
            <p:nvPr/>
          </p:nvSpPr>
          <p:spPr>
            <a:xfrm>
              <a:off x="609600" y="6591300"/>
              <a:ext cx="3429000" cy="38100"/>
            </a:xfrm>
            <a:prstGeom prst="roundRect">
              <a:avLst>
                <a:gd name="adj" fmla="val 50000"/>
              </a:avLst>
            </a:prstGeom>
            <a:solidFill>
              <a:srgbClr val="FF5B1F"/>
            </a:solidFill>
            <a:ln>
              <a:noFill/>
            </a:ln>
          </p:spPr>
          <p:txBody>
            <a:bodyPr/>
            <a:lstStyle/>
            <a:p>
              <a:endParaRPr lang="en-US"/>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600" fill="hold"/>
                                        <p:tgtEl>
                                          <p:spTgt spid="8"/>
                                        </p:tgtEl>
                                        <p:attrNameLst>
                                          <p:attrName>ppt_y</p:attrName>
                                        </p:attrNameLst>
                                      </p:cBhvr>
                                      <p:tavLst>
                                        <p:tav tm="0">
                                          <p:val>
                                            <p:strVal val="#ppt_y+.1"/>
                                          </p:val>
                                        </p:tav>
                                        <p:tav tm="100000">
                                          <p:val>
                                            <p:strVal val="#ppt_y"/>
                                          </p:val>
                                        </p:tav>
                                      </p:tavLst>
                                    </p:anim>
                                    <p:animEffect transition="in" filter="fade">
                                      <p:cBhvr>
                                        <p:cTn id="8" dur="600"/>
                                        <p:tgtEl>
                                          <p:spTgt spid="8"/>
                                        </p:tgtEl>
                                      </p:cBhvr>
                                    </p:animEffect>
                                  </p:childTnLst>
                                </p:cTn>
                              </p:par>
                            </p:childTnLst>
                          </p:cTn>
                        </p:par>
                        <p:par>
                          <p:cTn id="9" fill="hold">
                            <p:stCondLst>
                              <p:cond delay="600"/>
                            </p:stCondLst>
                            <p:childTnLst>
                              <p:par>
                                <p:cTn id="10" presetID="10" presetClass="entr" presetSubtype="0"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p:cTn id="17" dur="600" fill="hold"/>
                                        <p:tgtEl>
                                          <p:spTgt spid="18"/>
                                        </p:tgtEl>
                                        <p:attrNameLst>
                                          <p:attrName>ppt_w</p:attrName>
                                        </p:attrNameLst>
                                      </p:cBhvr>
                                      <p:tavLst>
                                        <p:tav tm="0">
                                          <p:val>
                                            <p:fltVal val="0"/>
                                          </p:val>
                                        </p:tav>
                                        <p:tav tm="100000">
                                          <p:val>
                                            <p:strVal val="#ppt_w"/>
                                          </p:val>
                                        </p:tav>
                                      </p:tavLst>
                                    </p:anim>
                                    <p:anim calcmode="lin" valueType="num">
                                      <p:cBhvr>
                                        <p:cTn id="18" dur="600" fill="hold"/>
                                        <p:tgtEl>
                                          <p:spTgt spid="18"/>
                                        </p:tgtEl>
                                        <p:attrNameLst>
                                          <p:attrName>ppt_h</p:attrName>
                                        </p:attrNameLst>
                                      </p:cBhvr>
                                      <p:tavLst>
                                        <p:tav tm="0">
                                          <p:val>
                                            <p:fltVal val="0"/>
                                          </p:val>
                                        </p:tav>
                                        <p:tav tm="100000">
                                          <p:val>
                                            <p:strVal val="#ppt_h"/>
                                          </p:val>
                                        </p:tav>
                                      </p:tavLst>
                                    </p:anim>
                                    <p:animEffect transition="in" filter="fade">
                                      <p:cBhvr>
                                        <p:cTn id="19" dur="600"/>
                                        <p:tgtEl>
                                          <p:spTgt spid="18"/>
                                        </p:tgtEl>
                                      </p:cBhvr>
                                    </p:animEffect>
                                  </p:childTnLst>
                                </p:cTn>
                              </p:par>
                            </p:childTnLst>
                          </p:cTn>
                        </p:par>
                        <p:par>
                          <p:cTn id="20" fill="hold">
                            <p:stCondLst>
                              <p:cond delay="600"/>
                            </p:stCondLst>
                            <p:childTnLst>
                              <p:par>
                                <p:cTn id="21" presetID="10" presetClass="entr" presetSubtype="0" fill="hold" nodeType="afterEffect">
                                  <p:stCondLst>
                                    <p:cond delay="0"/>
                                  </p:stCondLst>
                                  <p:childTnLst>
                                    <p:set>
                                      <p:cBhvr>
                                        <p:cTn id="22" dur="1" fill="hold">
                                          <p:stCondLst>
                                            <p:cond delay="0"/>
                                          </p:stCondLst>
                                        </p:cTn>
                                        <p:tgtEl>
                                          <p:spTgt spid="104"/>
                                        </p:tgtEl>
                                        <p:attrNameLst>
                                          <p:attrName>style.visibility</p:attrName>
                                        </p:attrNameLst>
                                      </p:cBhvr>
                                      <p:to>
                                        <p:strVal val="visible"/>
                                      </p:to>
                                    </p:set>
                                    <p:animEffect transition="in" filter="fade">
                                      <p:cBhvr>
                                        <p:cTn id="23" dur="600"/>
                                        <p:tgtEl>
                                          <p:spTgt spid="104"/>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109"/>
                                        </p:tgtEl>
                                        <p:attrNameLst>
                                          <p:attrName>style.visibility</p:attrName>
                                        </p:attrNameLst>
                                      </p:cBhvr>
                                      <p:to>
                                        <p:strVal val="visible"/>
                                      </p:to>
                                    </p:set>
                                    <p:anim calcmode="lin" valueType="num">
                                      <p:cBhvr>
                                        <p:cTn id="28" dur="600" fill="hold"/>
                                        <p:tgtEl>
                                          <p:spTgt spid="109"/>
                                        </p:tgtEl>
                                        <p:attrNameLst>
                                          <p:attrName>ppt_w</p:attrName>
                                        </p:attrNameLst>
                                      </p:cBhvr>
                                      <p:tavLst>
                                        <p:tav tm="0">
                                          <p:val>
                                            <p:fltVal val="0"/>
                                          </p:val>
                                        </p:tav>
                                        <p:tav tm="100000">
                                          <p:val>
                                            <p:strVal val="#ppt_w"/>
                                          </p:val>
                                        </p:tav>
                                      </p:tavLst>
                                    </p:anim>
                                    <p:anim calcmode="lin" valueType="num">
                                      <p:cBhvr>
                                        <p:cTn id="29" dur="600" fill="hold"/>
                                        <p:tgtEl>
                                          <p:spTgt spid="109"/>
                                        </p:tgtEl>
                                        <p:attrNameLst>
                                          <p:attrName>ppt_h</p:attrName>
                                        </p:attrNameLst>
                                      </p:cBhvr>
                                      <p:tavLst>
                                        <p:tav tm="0">
                                          <p:val>
                                            <p:fltVal val="0"/>
                                          </p:val>
                                        </p:tav>
                                        <p:tav tm="100000">
                                          <p:val>
                                            <p:strVal val="#ppt_h"/>
                                          </p:val>
                                        </p:tav>
                                      </p:tavLst>
                                    </p:anim>
                                    <p:animEffect transition="in" filter="fade">
                                      <p:cBhvr>
                                        <p:cTn id="30" dur="600"/>
                                        <p:tgtEl>
                                          <p:spTgt spid="109"/>
                                        </p:tgtEl>
                                      </p:cBhvr>
                                    </p:animEffect>
                                  </p:childTnLst>
                                </p:cTn>
                              </p:par>
                            </p:childTnLst>
                          </p:cTn>
                        </p:par>
                        <p:par>
                          <p:cTn id="31" fill="hold">
                            <p:stCondLst>
                              <p:cond delay="600"/>
                            </p:stCondLst>
                            <p:childTnLst>
                              <p:par>
                                <p:cTn id="32" presetID="10" presetClass="entr" presetSubtype="0" fill="hold" nodeType="afterEffect">
                                  <p:stCondLst>
                                    <p:cond delay="0"/>
                                  </p:stCondLst>
                                  <p:childTnLst>
                                    <p:set>
                                      <p:cBhvr>
                                        <p:cTn id="33" dur="1" fill="hold">
                                          <p:stCondLst>
                                            <p:cond delay="0"/>
                                          </p:stCondLst>
                                        </p:cTn>
                                        <p:tgtEl>
                                          <p:spTgt spid="160"/>
                                        </p:tgtEl>
                                        <p:attrNameLst>
                                          <p:attrName>style.visibility</p:attrName>
                                        </p:attrNameLst>
                                      </p:cBhvr>
                                      <p:to>
                                        <p:strVal val="visible"/>
                                      </p:to>
                                    </p:set>
                                    <p:animEffect transition="in" filter="fade">
                                      <p:cBhvr>
                                        <p:cTn id="34" dur="600"/>
                                        <p:tgtEl>
                                          <p:spTgt spid="16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66"/>
                                        </p:tgtEl>
                                        <p:attrNameLst>
                                          <p:attrName>style.visibility</p:attrName>
                                        </p:attrNameLst>
                                      </p:cBhvr>
                                      <p:to>
                                        <p:strVal val="visible"/>
                                      </p:to>
                                    </p:set>
                                    <p:animEffect transition="in" filter="wipe(left)">
                                      <p:cBhvr>
                                        <p:cTn id="39" dur="600"/>
                                        <p:tgtEl>
                                          <p:spTgt spid="1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B0D"/>
        </a:solidFill>
        <a:effectLst/>
      </p:bgPr>
    </p:bg>
    <p:spTree>
      <p:nvGrpSpPr>
        <p:cNvPr id="1" name=""/>
        <p:cNvGrpSpPr/>
        <p:nvPr/>
      </p:nvGrpSpPr>
      <p:grpSpPr>
        <a:xfrm>
          <a:off x="0" y="0"/>
          <a:ext cx="0" cy="0"/>
          <a:chOff x="0" y="0"/>
          <a:chExt cx="0" cy="0"/>
        </a:xfrm>
      </p:grpSpPr>
      <p:sp>
        <p:nvSpPr>
          <p:cNvPr id="2" name="glow-orange"/>
          <p:cNvSpPr/>
          <p:nvPr/>
        </p:nvSpPr>
        <p:spPr>
          <a:xfrm>
            <a:off x="-533400" y="1000125"/>
            <a:ext cx="8382000" cy="5143500"/>
          </a:xfrm>
          <a:prstGeom prst="ellipse">
            <a:avLst/>
          </a:prstGeom>
          <a:gradFill rotWithShape="1">
            <a:gsLst>
              <a:gs pos="0">
                <a:srgbClr val="FF5B1F">
                  <a:alpha val="18000"/>
                </a:srgbClr>
              </a:gs>
              <a:gs pos="100000">
                <a:srgbClr val="FF5B1F">
                  <a:alpha val="0"/>
                </a:srgbClr>
              </a:gs>
            </a:gsLst>
            <a:path path="circle">
              <a:fillToRect l="50000" t="50000" r="50000" b="50000"/>
            </a:path>
          </a:gradFill>
          <a:ln>
            <a:noFill/>
          </a:ln>
        </p:spPr>
        <p:txBody>
          <a:bodyPr/>
          <a:lstStyle/>
          <a:p>
            <a:endParaRPr lang="en-US"/>
          </a:p>
        </p:txBody>
      </p:sp>
      <p:sp>
        <p:nvSpPr>
          <p:cNvPr id="3" name="glow-blue"/>
          <p:cNvSpPr/>
          <p:nvPr/>
        </p:nvSpPr>
        <p:spPr>
          <a:xfrm>
            <a:off x="6724650" y="1619250"/>
            <a:ext cx="6096000" cy="4762500"/>
          </a:xfrm>
          <a:prstGeom prst="ellipse">
            <a:avLst/>
          </a:prstGeom>
          <a:gradFill rotWithShape="1">
            <a:gsLst>
              <a:gs pos="0">
                <a:srgbClr val="3D8BFF">
                  <a:alpha val="26000"/>
                </a:srgbClr>
              </a:gs>
              <a:gs pos="100000">
                <a:srgbClr val="3D8BFF">
                  <a:alpha val="0"/>
                </a:srgbClr>
              </a:gs>
            </a:gsLst>
            <a:path path="circle">
              <a:fillToRect l="50000" t="50000" r="50000" b="50000"/>
            </a:path>
          </a:gradFill>
          <a:ln>
            <a:noFill/>
          </a:ln>
        </p:spPr>
        <p:txBody>
          <a:bodyPr/>
          <a:lstStyle/>
          <a:p>
            <a:endParaRPr lang="en-US"/>
          </a:p>
        </p:txBody>
      </p:sp>
      <p:grpSp>
        <p:nvGrpSpPr>
          <p:cNvPr id="6" name="cursor-kicker"/>
          <p:cNvGrpSpPr/>
          <p:nvPr/>
        </p:nvGrpSpPr>
        <p:grpSpPr>
          <a:xfrm>
            <a:off x="609600" y="361950"/>
            <a:ext cx="4851023" cy="377190"/>
            <a:chOff x="609600" y="361950"/>
            <a:chExt cx="4851023" cy="377190"/>
          </a:xfrm>
        </p:grpSpPr>
        <p:sp>
          <p:nvSpPr>
            <p:cNvPr id="4" name="rect 5"/>
            <p:cNvSpPr/>
            <p:nvPr/>
          </p:nvSpPr>
          <p:spPr>
            <a:xfrm>
              <a:off x="609600" y="361950"/>
              <a:ext cx="457200" cy="57150"/>
            </a:xfrm>
            <a:prstGeom prst="roundRect">
              <a:avLst>
                <a:gd name="adj" fmla="val 50000"/>
              </a:avLst>
            </a:prstGeom>
            <a:solidFill>
              <a:srgbClr val="FF5B1F"/>
            </a:solidFill>
            <a:ln>
              <a:noFill/>
            </a:ln>
          </p:spPr>
          <p:txBody>
            <a:bodyPr/>
            <a:lstStyle/>
            <a:p>
              <a:endParaRPr lang="en-US"/>
            </a:p>
          </p:txBody>
        </p:sp>
        <p:sp>
          <p:nvSpPr>
            <p:cNvPr id="5" name="Text 6"/>
            <p:cNvSpPr txBox="1"/>
            <p:nvPr/>
          </p:nvSpPr>
          <p:spPr>
            <a:xfrm>
              <a:off x="609600" y="527050"/>
              <a:ext cx="4851023" cy="212090"/>
            </a:xfrm>
            <a:prstGeom prst="rect">
              <a:avLst/>
            </a:prstGeom>
            <a:noFill/>
          </p:spPr>
          <p:txBody>
            <a:bodyPr wrap="none" lIns="0" tIns="0" rIns="0" bIns="0" rtlCol="0" anchor="t">
              <a:noAutofit/>
            </a:bodyPr>
            <a:lstStyle/>
            <a:p>
              <a:pPr algn="l">
                <a:spcBef>
                  <a:spcPts val="0"/>
                </a:spcBef>
                <a:spcAft>
                  <a:spcPts val="0"/>
                </a:spcAft>
              </a:pPr>
              <a:r>
                <a:rPr lang="en-US" sz="1200" b="0" spc="150" dirty="0">
                  <a:solidFill>
                    <a:srgbClr val="9C9A94"/>
                  </a:solidFill>
                  <a:latin typeface="Consolas"/>
                  <a:ea typeface="Consolas"/>
                  <a:cs typeface="Consolas"/>
                </a:rPr>
                <a:t>YZPZCODE / TERMINAL GRID &amp; WORKSPACE EXPLORER</a:t>
              </a:r>
              <a:endParaRPr lang="en-US" sz="1200" dirty="0"/>
            </a:p>
          </p:txBody>
        </p:sp>
      </p:grpSp>
      <p:sp>
        <p:nvSpPr>
          <p:cNvPr id="7" name="Text 8"/>
          <p:cNvSpPr txBox="1"/>
          <p:nvPr/>
        </p:nvSpPr>
        <p:spPr>
          <a:xfrm>
            <a:off x="10795623" y="527050"/>
            <a:ext cx="786777" cy="212090"/>
          </a:xfrm>
          <a:prstGeom prst="rect">
            <a:avLst/>
          </a:prstGeom>
          <a:noFill/>
        </p:spPr>
        <p:txBody>
          <a:bodyPr wrap="none" lIns="0" tIns="0" rIns="0" bIns="0" rtlCol="0" anchor="t">
            <a:noAutofit/>
          </a:bodyPr>
          <a:lstStyle/>
          <a:p>
            <a:pPr algn="r">
              <a:spcBef>
                <a:spcPts val="0"/>
              </a:spcBef>
              <a:spcAft>
                <a:spcPts val="0"/>
              </a:spcAft>
            </a:pPr>
            <a:r>
              <a:rPr lang="en-US" sz="1200" b="0" spc="150" dirty="0">
                <a:solidFill>
                  <a:srgbClr val="9C9A94"/>
                </a:solidFill>
                <a:latin typeface="Consolas"/>
                <a:ea typeface="Consolas"/>
                <a:cs typeface="Consolas"/>
              </a:rPr>
              <a:t>06 / 16</a:t>
            </a:r>
            <a:endParaRPr lang="en-US" sz="1200" dirty="0"/>
          </a:p>
        </p:txBody>
      </p:sp>
      <p:sp>
        <p:nvSpPr>
          <p:cNvPr id="8" name="Text 9"/>
          <p:cNvSpPr txBox="1"/>
          <p:nvPr/>
        </p:nvSpPr>
        <p:spPr>
          <a:xfrm>
            <a:off x="609600" y="704850"/>
            <a:ext cx="5759028" cy="1022985"/>
          </a:xfrm>
          <a:prstGeom prst="rect">
            <a:avLst/>
          </a:prstGeom>
          <a:noFill/>
        </p:spPr>
        <p:txBody>
          <a:bodyPr wrap="none" lIns="0" tIns="0" rIns="0" bIns="0" rtlCol="0" anchor="t">
            <a:noAutofit/>
          </a:bodyPr>
          <a:lstStyle/>
          <a:p>
            <a:pPr algn="l">
              <a:lnSpc>
                <a:spcPts val="3800"/>
              </a:lnSpc>
              <a:spcBef>
                <a:spcPts val="0"/>
              </a:spcBef>
              <a:spcAft>
                <a:spcPts val="0"/>
              </a:spcAft>
            </a:pPr>
            <a:r>
              <a:rPr lang="en-US" sz="3300" b="1" dirty="0">
                <a:solidFill>
                  <a:srgbClr val="EDE9E2"/>
                </a:solidFill>
                <a:latin typeface="Bahnschrift"/>
                <a:ea typeface="Bahnschrift"/>
                <a:cs typeface="Bahnschrift"/>
              </a:rPr>
              <a:t>Every agent runs </a:t>
            </a:r>
            <a:r>
              <a:rPr lang="en-US" sz="3300" b="1" dirty="0">
                <a:solidFill>
                  <a:srgbClr val="FF5B1F"/>
                </a:solidFill>
                <a:latin typeface="Bahnschrift"/>
                <a:ea typeface="Bahnschrift"/>
                <a:cs typeface="Bahnschrift"/>
              </a:rPr>
              <a:t>side by side</a:t>
            </a:r>
            <a:endParaRPr lang="en-US" sz="3300" dirty="0"/>
          </a:p>
          <a:p>
            <a:pPr algn="l">
              <a:lnSpc>
                <a:spcPts val="3800"/>
              </a:lnSpc>
              <a:spcBef>
                <a:spcPts val="0"/>
              </a:spcBef>
              <a:spcAft>
                <a:spcPts val="0"/>
              </a:spcAft>
            </a:pPr>
            <a:r>
              <a:rPr lang="en-US" sz="3300" b="1" dirty="0">
                <a:solidFill>
                  <a:srgbClr val="EDE9E2"/>
                </a:solidFill>
                <a:latin typeface="Bahnschrift"/>
                <a:ea typeface="Bahnschrift"/>
                <a:cs typeface="Bahnschrift"/>
              </a:rPr>
              <a:t>in a real terminal grid</a:t>
            </a:r>
            <a:endParaRPr lang="en-US" sz="3300" dirty="0"/>
          </a:p>
        </p:txBody>
      </p:sp>
      <p:sp>
        <p:nvSpPr>
          <p:cNvPr id="9" name="Text 10"/>
          <p:cNvSpPr txBox="1"/>
          <p:nvPr/>
        </p:nvSpPr>
        <p:spPr>
          <a:xfrm>
            <a:off x="7581900" y="1301750"/>
            <a:ext cx="3118789" cy="447040"/>
          </a:xfrm>
          <a:prstGeom prst="rect">
            <a:avLst/>
          </a:prstGeom>
          <a:noFill/>
        </p:spPr>
        <p:txBody>
          <a:bodyPr wrap="none" lIns="0" tIns="0" rIns="0" bIns="0" rtlCol="0" anchor="t">
            <a:noAutofit/>
          </a:bodyPr>
          <a:lstStyle/>
          <a:p>
            <a:pPr algn="l">
              <a:lnSpc>
                <a:spcPts val="1700"/>
              </a:lnSpc>
              <a:spcBef>
                <a:spcPts val="0"/>
              </a:spcBef>
              <a:spcAft>
                <a:spcPts val="0"/>
              </a:spcAft>
            </a:pPr>
            <a:r>
              <a:rPr lang="en-US" sz="1200" b="0" dirty="0">
                <a:solidFill>
                  <a:srgbClr val="9C9A94"/>
                </a:solidFill>
                <a:latin typeface="Segoe UI"/>
                <a:ea typeface="Segoe UI"/>
                <a:cs typeface="Segoe UI"/>
              </a:rPr>
              <a:t>A terminal is the window where an AI agent</a:t>
            </a:r>
            <a:endParaRPr lang="en-US" sz="1200" dirty="0"/>
          </a:p>
          <a:p>
            <a:pPr algn="l">
              <a:lnSpc>
                <a:spcPts val="1700"/>
              </a:lnSpc>
              <a:spcBef>
                <a:spcPts val="0"/>
              </a:spcBef>
              <a:spcAft>
                <a:spcPts val="0"/>
              </a:spcAft>
            </a:pPr>
            <a:r>
              <a:rPr lang="en-US" sz="1200" b="0" dirty="0">
                <a:solidFill>
                  <a:srgbClr val="9C9A94"/>
                </a:solidFill>
                <a:latin typeface="Segoe UI"/>
                <a:ea typeface="Segoe UI"/>
                <a:cs typeface="Segoe UI"/>
              </a:rPr>
              <a:t>types and works. Here, </a:t>
            </a:r>
            <a:r>
              <a:rPr lang="en-US" sz="1200" b="1" dirty="0">
                <a:solidFill>
                  <a:srgbClr val="EDE9E2"/>
                </a:solidFill>
                <a:latin typeface="Segoe UI"/>
                <a:ea typeface="Segoe UI"/>
                <a:cs typeface="Segoe UI"/>
              </a:rPr>
              <a:t>six</a:t>
            </a:r>
            <a:r>
              <a:rPr lang="en-US" sz="1200" b="0" dirty="0">
                <a:solidFill>
                  <a:srgbClr val="9C9A94"/>
                </a:solidFill>
                <a:latin typeface="Segoe UI"/>
                <a:ea typeface="Segoe UI"/>
                <a:cs typeface="Segoe UI"/>
              </a:rPr>
              <a:t> share one screen.</a:t>
            </a:r>
            <a:endParaRPr lang="en-US" sz="1200" dirty="0"/>
          </a:p>
        </p:txBody>
      </p:sp>
      <p:grpSp>
        <p:nvGrpSpPr>
          <p:cNvPr id="14" name="tags-meta"/>
          <p:cNvGrpSpPr/>
          <p:nvPr/>
        </p:nvGrpSpPr>
        <p:grpSpPr>
          <a:xfrm>
            <a:off x="7581900" y="1809750"/>
            <a:ext cx="3429000" cy="552450"/>
            <a:chOff x="7581900" y="1809750"/>
            <a:chExt cx="3429000" cy="552450"/>
          </a:xfrm>
        </p:grpSpPr>
        <p:sp>
          <p:nvSpPr>
            <p:cNvPr id="10" name="rect 11"/>
            <p:cNvSpPr/>
            <p:nvPr/>
          </p:nvSpPr>
          <p:spPr>
            <a:xfrm>
              <a:off x="7581900" y="1809750"/>
              <a:ext cx="2190750" cy="247650"/>
            </a:xfrm>
            <a:prstGeom prst="roundRect">
              <a:avLst>
                <a:gd name="adj" fmla="val 7692"/>
              </a:avLst>
            </a:prstGeom>
            <a:noFill/>
            <a:ln w="9525" cap="flat">
              <a:solidFill>
                <a:srgbClr val="9C9A94">
                  <a:alpha val="50000"/>
                </a:srgbClr>
              </a:solidFill>
              <a:miter lim="800000"/>
            </a:ln>
          </p:spPr>
          <p:txBody>
            <a:bodyPr/>
            <a:lstStyle/>
            <a:p>
              <a:endParaRPr lang="en-US"/>
            </a:p>
          </p:txBody>
        </p:sp>
        <p:sp>
          <p:nvSpPr>
            <p:cNvPr id="11" name="Text 12"/>
            <p:cNvSpPr txBox="1"/>
            <p:nvPr/>
          </p:nvSpPr>
          <p:spPr>
            <a:xfrm>
              <a:off x="7724775" y="1854200"/>
              <a:ext cx="1944328"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EDE9E2"/>
                  </a:solidFill>
                  <a:latin typeface="Consolas"/>
                  <a:ea typeface="Consolas"/>
                  <a:cs typeface="Consolas"/>
                </a:rPr>
                <a:t>Sessions 6 | Layout 3 × 2</a:t>
              </a:r>
              <a:endParaRPr lang="en-US" sz="1050" dirty="0"/>
            </a:p>
          </p:txBody>
        </p:sp>
        <p:sp>
          <p:nvSpPr>
            <p:cNvPr id="12" name="rect 13"/>
            <p:cNvSpPr/>
            <p:nvPr/>
          </p:nvSpPr>
          <p:spPr>
            <a:xfrm>
              <a:off x="7581900" y="2114550"/>
              <a:ext cx="3429000" cy="247650"/>
            </a:xfrm>
            <a:prstGeom prst="roundRect">
              <a:avLst>
                <a:gd name="adj" fmla="val 7692"/>
              </a:avLst>
            </a:prstGeom>
            <a:noFill/>
            <a:ln w="9525" cap="flat">
              <a:solidFill>
                <a:srgbClr val="9C9A94">
                  <a:alpha val="50000"/>
                </a:srgbClr>
              </a:solidFill>
              <a:miter lim="800000"/>
            </a:ln>
          </p:spPr>
          <p:txBody>
            <a:bodyPr/>
            <a:lstStyle/>
            <a:p>
              <a:endParaRPr lang="en-US"/>
            </a:p>
          </p:txBody>
        </p:sp>
        <p:sp>
          <p:nvSpPr>
            <p:cNvPr id="13" name="Text 14"/>
            <p:cNvSpPr txBox="1"/>
            <p:nvPr/>
          </p:nvSpPr>
          <p:spPr>
            <a:xfrm>
              <a:off x="7724775" y="2159000"/>
              <a:ext cx="3240563"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EDE9E2"/>
                  </a:solidFill>
                  <a:latin typeface="Consolas"/>
                  <a:ea typeface="Consolas"/>
                  <a:cs typeface="Consolas"/>
                </a:rPr>
                <a:t>Full mouse support · xterm mouse reporting</a:t>
              </a:r>
              <a:endParaRPr lang="en-US" sz="1050" dirty="0"/>
            </a:p>
          </p:txBody>
        </p:sp>
      </p:grpSp>
      <p:grpSp>
        <p:nvGrpSpPr>
          <p:cNvPr id="24" name="grid-frame"/>
          <p:cNvGrpSpPr/>
          <p:nvPr/>
        </p:nvGrpSpPr>
        <p:grpSpPr>
          <a:xfrm>
            <a:off x="495300" y="1714500"/>
            <a:ext cx="6324600" cy="3714750"/>
            <a:chOff x="495300" y="1714500"/>
            <a:chExt cx="6324600" cy="3714750"/>
          </a:xfrm>
        </p:grpSpPr>
        <p:sp>
          <p:nvSpPr>
            <p:cNvPr id="15" name="rect 16"/>
            <p:cNvSpPr/>
            <p:nvPr/>
          </p:nvSpPr>
          <p:spPr>
            <a:xfrm>
              <a:off x="609600" y="1828800"/>
              <a:ext cx="6096000" cy="3486150"/>
            </a:xfrm>
            <a:prstGeom prst="roundRect">
              <a:avLst>
                <a:gd name="adj" fmla="val 2186"/>
              </a:avLst>
            </a:prstGeom>
            <a:solidFill>
              <a:srgbClr val="14171B"/>
            </a:solidFill>
            <a:ln>
              <a:noFill/>
            </a:ln>
          </p:spPr>
          <p:txBody>
            <a:bodyPr/>
            <a:lstStyle/>
            <a:p>
              <a:endParaRPr lang="en-US"/>
            </a:p>
          </p:txBody>
        </p:sp>
        <p:sp>
          <p:nvSpPr>
            <p:cNvPr id="16" name="circle 17"/>
            <p:cNvSpPr/>
            <p:nvPr/>
          </p:nvSpPr>
          <p:spPr>
            <a:xfrm>
              <a:off x="733425" y="1914525"/>
              <a:ext cx="57150" cy="57150"/>
            </a:xfrm>
            <a:prstGeom prst="ellipse">
              <a:avLst/>
            </a:prstGeom>
            <a:solidFill>
              <a:srgbClr val="4A5058"/>
            </a:solidFill>
            <a:ln>
              <a:noFill/>
            </a:ln>
          </p:spPr>
          <p:txBody>
            <a:bodyPr/>
            <a:lstStyle/>
            <a:p>
              <a:endParaRPr lang="en-US"/>
            </a:p>
          </p:txBody>
        </p:sp>
        <p:sp>
          <p:nvSpPr>
            <p:cNvPr id="17" name="circle 18"/>
            <p:cNvSpPr/>
            <p:nvPr/>
          </p:nvSpPr>
          <p:spPr>
            <a:xfrm>
              <a:off x="847725" y="1914525"/>
              <a:ext cx="57150" cy="57150"/>
            </a:xfrm>
            <a:prstGeom prst="ellipse">
              <a:avLst/>
            </a:prstGeom>
            <a:solidFill>
              <a:srgbClr val="4A5058"/>
            </a:solidFill>
            <a:ln>
              <a:noFill/>
            </a:ln>
          </p:spPr>
          <p:txBody>
            <a:bodyPr/>
            <a:lstStyle/>
            <a:p>
              <a:endParaRPr lang="en-US"/>
            </a:p>
          </p:txBody>
        </p:sp>
        <p:sp>
          <p:nvSpPr>
            <p:cNvPr id="18" name="circle 19"/>
            <p:cNvSpPr/>
            <p:nvPr/>
          </p:nvSpPr>
          <p:spPr>
            <a:xfrm>
              <a:off x="962025" y="1914525"/>
              <a:ext cx="57150" cy="57150"/>
            </a:xfrm>
            <a:prstGeom prst="ellipse">
              <a:avLst/>
            </a:prstGeom>
            <a:solidFill>
              <a:srgbClr val="4A5058"/>
            </a:solidFill>
            <a:ln>
              <a:noFill/>
            </a:ln>
          </p:spPr>
          <p:txBody>
            <a:bodyPr/>
            <a:lstStyle/>
            <a:p>
              <a:endParaRPr lang="en-US"/>
            </a:p>
          </p:txBody>
        </p:sp>
        <p:sp>
          <p:nvSpPr>
            <p:cNvPr id="19" name="Text 20"/>
            <p:cNvSpPr txBox="1"/>
            <p:nvPr/>
          </p:nvSpPr>
          <p:spPr>
            <a:xfrm>
              <a:off x="1181100" y="1879600"/>
              <a:ext cx="2597021" cy="160655"/>
            </a:xfrm>
            <a:prstGeom prst="rect">
              <a:avLst/>
            </a:prstGeom>
            <a:noFill/>
          </p:spPr>
          <p:txBody>
            <a:bodyPr wrap="none" lIns="0" tIns="0" rIns="0" bIns="0" rtlCol="0" anchor="t">
              <a:noAutofit/>
            </a:bodyPr>
            <a:lstStyle/>
            <a:p>
              <a:pPr algn="l">
                <a:spcBef>
                  <a:spcPts val="0"/>
                </a:spcBef>
                <a:spcAft>
                  <a:spcPts val="0"/>
                </a:spcAft>
              </a:pPr>
              <a:r>
                <a:rPr lang="en-US" sz="900" b="0" spc="75" dirty="0">
                  <a:solidFill>
                    <a:srgbClr val="9C9A94"/>
                  </a:solidFill>
                  <a:latin typeface="Consolas"/>
                  <a:ea typeface="Consolas"/>
                  <a:cs typeface="Consolas"/>
                </a:rPr>
                <a:t>TERMINAL GRID / WORKSPACE EXPLORER</a:t>
              </a:r>
              <a:endParaRPr lang="en-US" sz="900" dirty="0"/>
            </a:p>
          </p:txBody>
        </p:sp>
        <p:pic>
          <p:nvPicPr>
            <p:cNvPr id="20" name="Picture 21"/>
            <p:cNvPicPr>
              <a:picLocks noChangeAspect="1"/>
            </p:cNvPicPr>
            <p:nvPr/>
          </p:nvPicPr>
          <p:blipFill>
            <a:blip r:embed="rId3"/>
            <a:stretch>
              <a:fillRect/>
            </a:stretch>
          </p:blipFill>
          <p:spPr>
            <a:xfrm>
              <a:off x="609600" y="2057400"/>
              <a:ext cx="6096000" cy="3257550"/>
            </a:xfrm>
            <a:prstGeom prst="roundRect">
              <a:avLst>
                <a:gd name="adj" fmla="val 2339"/>
              </a:avLst>
            </a:prstGeom>
          </p:spPr>
        </p:pic>
        <p:sp>
          <p:nvSpPr>
            <p:cNvPr id="21" name="rect 22"/>
            <p:cNvSpPr/>
            <p:nvPr/>
          </p:nvSpPr>
          <p:spPr>
            <a:xfrm>
              <a:off x="609600" y="1828800"/>
              <a:ext cx="6096000" cy="3486150"/>
            </a:xfrm>
            <a:prstGeom prst="roundRect">
              <a:avLst>
                <a:gd name="adj" fmla="val 2186"/>
              </a:avLst>
            </a:prstGeom>
            <a:noFill/>
            <a:ln w="9525" cap="flat">
              <a:solidFill>
                <a:srgbClr val="2A2E35"/>
              </a:solidFill>
              <a:miter lim="800000"/>
            </a:ln>
          </p:spPr>
          <p:txBody>
            <a:bodyPr/>
            <a:lstStyle/>
            <a:p>
              <a:endParaRPr lang="en-US"/>
            </a:p>
          </p:txBody>
        </p:sp>
        <p:sp>
          <p:nvSpPr>
            <p:cNvPr id="22" name="path 23"/>
            <p:cNvSpPr/>
            <p:nvPr/>
          </p:nvSpPr>
          <p:spPr>
            <a:xfrm>
              <a:off x="495300" y="1714500"/>
              <a:ext cx="228600" cy="228600"/>
            </a:xfrm>
            <a:custGeom>
              <a:avLst/>
              <a:gdLst/>
              <a:ahLst/>
              <a:cxnLst/>
              <a:rect l="0" t="0" r="r" b="b"/>
              <a:pathLst>
                <a:path w="228600" h="228600" fill="none">
                  <a:moveTo>
                    <a:pt x="0" y="228600"/>
                  </a:moveTo>
                  <a:lnTo>
                    <a:pt x="0" y="0"/>
                  </a:lnTo>
                  <a:lnTo>
                    <a:pt x="228600" y="0"/>
                  </a:lnTo>
                </a:path>
              </a:pathLst>
            </a:custGeom>
            <a:noFill/>
            <a:ln w="19050" cap="flat">
              <a:solidFill>
                <a:srgbClr val="FF5B1F"/>
              </a:solidFill>
              <a:miter lim="800000"/>
            </a:ln>
          </p:spPr>
          <p:txBody>
            <a:bodyPr/>
            <a:lstStyle/>
            <a:p>
              <a:endParaRPr lang="en-US"/>
            </a:p>
          </p:txBody>
        </p:sp>
        <p:sp>
          <p:nvSpPr>
            <p:cNvPr id="23" name="path 24"/>
            <p:cNvSpPr/>
            <p:nvPr/>
          </p:nvSpPr>
          <p:spPr>
            <a:xfrm>
              <a:off x="6591300" y="5200650"/>
              <a:ext cx="228600" cy="228600"/>
            </a:xfrm>
            <a:custGeom>
              <a:avLst/>
              <a:gdLst/>
              <a:ahLst/>
              <a:cxnLst/>
              <a:rect l="0" t="0" r="r" b="b"/>
              <a:pathLst>
                <a:path w="228600" h="228600" fill="none">
                  <a:moveTo>
                    <a:pt x="228600" y="0"/>
                  </a:moveTo>
                  <a:lnTo>
                    <a:pt x="228600" y="228600"/>
                  </a:lnTo>
                  <a:lnTo>
                    <a:pt x="0" y="228600"/>
                  </a:lnTo>
                </a:path>
              </a:pathLst>
            </a:custGeom>
            <a:noFill/>
            <a:ln w="19050" cap="flat">
              <a:solidFill>
                <a:srgbClr val="FF5B1F"/>
              </a:solidFill>
              <a:miter lim="800000"/>
            </a:ln>
          </p:spPr>
          <p:txBody>
            <a:bodyPr/>
            <a:lstStyle/>
            <a:p>
              <a:endParaRPr lang="en-US"/>
            </a:p>
          </p:txBody>
        </p:sp>
      </p:grpSp>
      <p:grpSp>
        <p:nvGrpSpPr>
          <p:cNvPr id="29" name="poster-frame"/>
          <p:cNvGrpSpPr/>
          <p:nvPr/>
        </p:nvGrpSpPr>
        <p:grpSpPr>
          <a:xfrm>
            <a:off x="7848600" y="2486025"/>
            <a:ext cx="3848100" cy="2943225"/>
            <a:chOff x="7848600" y="2486025"/>
            <a:chExt cx="3848100" cy="2943225"/>
          </a:xfrm>
        </p:grpSpPr>
        <p:pic>
          <p:nvPicPr>
            <p:cNvPr id="25" name="Picture 26"/>
            <p:cNvPicPr>
              <a:picLocks noChangeAspect="1"/>
            </p:cNvPicPr>
            <p:nvPr/>
          </p:nvPicPr>
          <p:blipFill>
            <a:blip r:embed="rId4"/>
            <a:stretch>
              <a:fillRect/>
            </a:stretch>
          </p:blipFill>
          <p:spPr>
            <a:xfrm>
              <a:off x="7962900" y="2600325"/>
              <a:ext cx="3619500" cy="2714625"/>
            </a:xfrm>
            <a:prstGeom prst="roundRect">
              <a:avLst>
                <a:gd name="adj" fmla="val 702"/>
              </a:avLst>
            </a:prstGeom>
          </p:spPr>
        </p:pic>
        <p:sp>
          <p:nvSpPr>
            <p:cNvPr id="26" name="rect 27"/>
            <p:cNvSpPr/>
            <p:nvPr/>
          </p:nvSpPr>
          <p:spPr>
            <a:xfrm>
              <a:off x="7962900" y="2600325"/>
              <a:ext cx="3619500" cy="2714625"/>
            </a:xfrm>
            <a:prstGeom prst="roundRect">
              <a:avLst>
                <a:gd name="adj" fmla="val 702"/>
              </a:avLst>
            </a:prstGeom>
            <a:noFill/>
            <a:ln w="9525" cap="flat">
              <a:solidFill>
                <a:srgbClr val="2A2E35"/>
              </a:solidFill>
              <a:miter lim="800000"/>
            </a:ln>
          </p:spPr>
          <p:txBody>
            <a:bodyPr/>
            <a:lstStyle/>
            <a:p>
              <a:endParaRPr lang="en-US"/>
            </a:p>
          </p:txBody>
        </p:sp>
        <p:sp>
          <p:nvSpPr>
            <p:cNvPr id="27" name="path 28"/>
            <p:cNvSpPr/>
            <p:nvPr/>
          </p:nvSpPr>
          <p:spPr>
            <a:xfrm>
              <a:off x="11468100" y="2486025"/>
              <a:ext cx="228600" cy="228600"/>
            </a:xfrm>
            <a:custGeom>
              <a:avLst/>
              <a:gdLst/>
              <a:ahLst/>
              <a:cxnLst/>
              <a:rect l="0" t="0" r="r" b="b"/>
              <a:pathLst>
                <a:path w="228600" h="228600" fill="none">
                  <a:moveTo>
                    <a:pt x="0" y="0"/>
                  </a:moveTo>
                  <a:lnTo>
                    <a:pt x="228600" y="0"/>
                  </a:lnTo>
                  <a:lnTo>
                    <a:pt x="228600" y="228600"/>
                  </a:lnTo>
                </a:path>
              </a:pathLst>
            </a:custGeom>
            <a:noFill/>
            <a:ln w="19050" cap="flat">
              <a:solidFill>
                <a:srgbClr val="3D8BFF"/>
              </a:solidFill>
              <a:miter lim="800000"/>
            </a:ln>
          </p:spPr>
          <p:txBody>
            <a:bodyPr/>
            <a:lstStyle/>
            <a:p>
              <a:endParaRPr lang="en-US"/>
            </a:p>
          </p:txBody>
        </p:sp>
        <p:sp>
          <p:nvSpPr>
            <p:cNvPr id="28" name="path 29"/>
            <p:cNvSpPr/>
            <p:nvPr/>
          </p:nvSpPr>
          <p:spPr>
            <a:xfrm>
              <a:off x="7848600" y="5200650"/>
              <a:ext cx="228600" cy="228600"/>
            </a:xfrm>
            <a:custGeom>
              <a:avLst/>
              <a:gdLst/>
              <a:ahLst/>
              <a:cxnLst/>
              <a:rect l="0" t="0" r="r" b="b"/>
              <a:pathLst>
                <a:path w="228600" h="228600" fill="none">
                  <a:moveTo>
                    <a:pt x="0" y="0"/>
                  </a:moveTo>
                  <a:lnTo>
                    <a:pt x="0" y="228600"/>
                  </a:lnTo>
                  <a:lnTo>
                    <a:pt x="228600" y="228600"/>
                  </a:lnTo>
                </a:path>
              </a:pathLst>
            </a:custGeom>
            <a:noFill/>
            <a:ln w="19050" cap="flat">
              <a:solidFill>
                <a:srgbClr val="3D8BFF"/>
              </a:solidFill>
              <a:miter lim="800000"/>
            </a:ln>
          </p:spPr>
          <p:txBody>
            <a:bodyPr/>
            <a:lstStyle/>
            <a:p>
              <a:endParaRPr lang="en-US"/>
            </a:p>
          </p:txBody>
        </p:sp>
      </p:grpSp>
      <p:grpSp>
        <p:nvGrpSpPr>
          <p:cNvPr id="35" name="facts-rule"/>
          <p:cNvGrpSpPr/>
          <p:nvPr/>
        </p:nvGrpSpPr>
        <p:grpSpPr>
          <a:xfrm>
            <a:off x="609600" y="5572125"/>
            <a:ext cx="10972800" cy="19050"/>
            <a:chOff x="609600" y="5572125"/>
            <a:chExt cx="10972800" cy="19050"/>
          </a:xfrm>
        </p:grpSpPr>
        <p:sp>
          <p:nvSpPr>
            <p:cNvPr id="30" name="line 31"/>
            <p:cNvSpPr/>
            <p:nvPr/>
          </p:nvSpPr>
          <p:spPr>
            <a:xfrm>
              <a:off x="609600" y="5581650"/>
              <a:ext cx="10972800" cy="95"/>
            </a:xfrm>
            <a:custGeom>
              <a:avLst/>
              <a:gdLst/>
              <a:ahLst/>
              <a:cxnLst/>
              <a:rect l="0" t="0" r="r" b="b"/>
              <a:pathLst>
                <a:path w="10972800" h="95" fill="none">
                  <a:moveTo>
                    <a:pt x="0" y="0"/>
                  </a:moveTo>
                  <a:lnTo>
                    <a:pt x="10972800" y="0"/>
                  </a:lnTo>
                </a:path>
              </a:pathLst>
            </a:custGeom>
            <a:noFill/>
            <a:ln w="9525" cap="flat">
              <a:solidFill>
                <a:srgbClr val="2A2E35"/>
              </a:solidFill>
              <a:miter lim="800000"/>
            </a:ln>
          </p:spPr>
          <p:txBody>
            <a:bodyPr/>
            <a:lstStyle/>
            <a:p>
              <a:endParaRPr lang="en-US"/>
            </a:p>
          </p:txBody>
        </p:sp>
        <p:sp>
          <p:nvSpPr>
            <p:cNvPr id="31" name="rect 32"/>
            <p:cNvSpPr/>
            <p:nvPr/>
          </p:nvSpPr>
          <p:spPr>
            <a:xfrm>
              <a:off x="609600" y="5572125"/>
              <a:ext cx="228600" cy="19050"/>
            </a:xfrm>
            <a:prstGeom prst="rect">
              <a:avLst/>
            </a:prstGeom>
            <a:solidFill>
              <a:srgbClr val="FF5B1F"/>
            </a:solidFill>
            <a:ln>
              <a:noFill/>
            </a:ln>
          </p:spPr>
          <p:txBody>
            <a:bodyPr/>
            <a:lstStyle/>
            <a:p>
              <a:endParaRPr lang="en-US"/>
            </a:p>
          </p:txBody>
        </p:sp>
        <p:sp>
          <p:nvSpPr>
            <p:cNvPr id="32" name="rect 33"/>
            <p:cNvSpPr/>
            <p:nvPr/>
          </p:nvSpPr>
          <p:spPr>
            <a:xfrm>
              <a:off x="3352800" y="5572125"/>
              <a:ext cx="228600" cy="19050"/>
            </a:xfrm>
            <a:prstGeom prst="rect">
              <a:avLst/>
            </a:prstGeom>
            <a:solidFill>
              <a:srgbClr val="FF5B1F"/>
            </a:solidFill>
            <a:ln>
              <a:noFill/>
            </a:ln>
          </p:spPr>
          <p:txBody>
            <a:bodyPr/>
            <a:lstStyle/>
            <a:p>
              <a:endParaRPr lang="en-US"/>
            </a:p>
          </p:txBody>
        </p:sp>
        <p:sp>
          <p:nvSpPr>
            <p:cNvPr id="33" name="rect 34"/>
            <p:cNvSpPr/>
            <p:nvPr/>
          </p:nvSpPr>
          <p:spPr>
            <a:xfrm>
              <a:off x="6096000" y="5572125"/>
              <a:ext cx="228600" cy="19050"/>
            </a:xfrm>
            <a:prstGeom prst="rect">
              <a:avLst/>
            </a:prstGeom>
            <a:solidFill>
              <a:srgbClr val="FF5B1F"/>
            </a:solidFill>
            <a:ln>
              <a:noFill/>
            </a:ln>
          </p:spPr>
          <p:txBody>
            <a:bodyPr/>
            <a:lstStyle/>
            <a:p>
              <a:endParaRPr lang="en-US"/>
            </a:p>
          </p:txBody>
        </p:sp>
        <p:sp>
          <p:nvSpPr>
            <p:cNvPr id="34" name="rect 35"/>
            <p:cNvSpPr/>
            <p:nvPr/>
          </p:nvSpPr>
          <p:spPr>
            <a:xfrm>
              <a:off x="8839200" y="5572125"/>
              <a:ext cx="228600" cy="19050"/>
            </a:xfrm>
            <a:prstGeom prst="rect">
              <a:avLst/>
            </a:prstGeom>
            <a:solidFill>
              <a:srgbClr val="FF5B1F"/>
            </a:solidFill>
            <a:ln>
              <a:noFill/>
            </a:ln>
          </p:spPr>
          <p:txBody>
            <a:bodyPr/>
            <a:lstStyle/>
            <a:p>
              <a:endParaRPr lang="en-US"/>
            </a:p>
          </p:txBody>
        </p:sp>
      </p:grpSp>
      <p:grpSp>
        <p:nvGrpSpPr>
          <p:cNvPr id="38" name="fact-1"/>
          <p:cNvGrpSpPr/>
          <p:nvPr/>
        </p:nvGrpSpPr>
        <p:grpSpPr>
          <a:xfrm>
            <a:off x="609600" y="5664200"/>
            <a:ext cx="2123003" cy="799465"/>
            <a:chOff x="609600" y="5664200"/>
            <a:chExt cx="2123003" cy="799465"/>
          </a:xfrm>
        </p:grpSpPr>
        <p:sp>
          <p:nvSpPr>
            <p:cNvPr id="36" name="Text 37"/>
            <p:cNvSpPr txBox="1"/>
            <p:nvPr/>
          </p:nvSpPr>
          <p:spPr>
            <a:xfrm>
              <a:off x="609600" y="5664200"/>
              <a:ext cx="1769154" cy="192722"/>
            </a:xfrm>
            <a:prstGeom prst="rect">
              <a:avLst/>
            </a:prstGeom>
            <a:noFill/>
          </p:spPr>
          <p:txBody>
            <a:bodyPr wrap="none" lIns="0" tIns="0" rIns="0" bIns="0" rtlCol="0" anchor="t">
              <a:noAutofit/>
            </a:bodyPr>
            <a:lstStyle/>
            <a:p>
              <a:pPr algn="l">
                <a:spcBef>
                  <a:spcPts val="0"/>
                </a:spcBef>
                <a:spcAft>
                  <a:spcPts val="0"/>
                </a:spcAft>
              </a:pPr>
              <a:r>
                <a:rPr lang="en-US" sz="1050" b="1" spc="113" dirty="0">
                  <a:solidFill>
                    <a:srgbClr val="FF5B1F"/>
                  </a:solidFill>
                  <a:latin typeface="Consolas"/>
                  <a:ea typeface="Consolas"/>
                  <a:cs typeface="Consolas"/>
                </a:rPr>
                <a:t>01</a:t>
              </a:r>
              <a:r>
                <a:rPr lang="en-US" sz="1050" b="0" spc="113" dirty="0">
                  <a:solidFill>
                    <a:srgbClr val="9C9A94"/>
                  </a:solidFill>
                  <a:latin typeface="Consolas"/>
                  <a:ea typeface="Consolas"/>
                  <a:cs typeface="Consolas"/>
                </a:rPr>
                <a:t> REAL PTY BACKEND</a:t>
              </a:r>
              <a:endParaRPr lang="en-US" sz="1050" dirty="0"/>
            </a:p>
          </p:txBody>
        </p:sp>
        <p:sp>
          <p:nvSpPr>
            <p:cNvPr id="37" name="Text 38"/>
            <p:cNvSpPr txBox="1"/>
            <p:nvPr/>
          </p:nvSpPr>
          <p:spPr>
            <a:xfrm>
              <a:off x="609600" y="5838825"/>
              <a:ext cx="2123003" cy="624840"/>
            </a:xfrm>
            <a:prstGeom prst="rect">
              <a:avLst/>
            </a:prstGeom>
            <a:noFill/>
          </p:spPr>
          <p:txBody>
            <a:bodyPr wrap="none" lIns="0" tIns="0" rIns="0" bIns="0" rtlCol="0" anchor="t">
              <a:noAutofit/>
            </a:bodyPr>
            <a:lstStyle/>
            <a:p>
              <a:pPr algn="l">
                <a:lnSpc>
                  <a:spcPts val="1600"/>
                </a:lnSpc>
                <a:spcBef>
                  <a:spcPts val="0"/>
                </a:spcBef>
                <a:spcAft>
                  <a:spcPts val="0"/>
                </a:spcAft>
              </a:pPr>
              <a:r>
                <a:rPr lang="en-US" sz="1200" b="0" dirty="0">
                  <a:solidFill>
                    <a:srgbClr val="9C9A94"/>
                  </a:solidFill>
                  <a:latin typeface="Segoe UI"/>
                  <a:ea typeface="Segoe UI"/>
                  <a:cs typeface="Segoe UI"/>
                </a:rPr>
                <a:t>A true terminal engine inside:</a:t>
              </a:r>
              <a:endParaRPr lang="en-US" sz="1200" dirty="0"/>
            </a:p>
            <a:p>
              <a:pPr algn="l">
                <a:lnSpc>
                  <a:spcPts val="1600"/>
                </a:lnSpc>
                <a:spcBef>
                  <a:spcPts val="0"/>
                </a:spcBef>
                <a:spcAft>
                  <a:spcPts val="0"/>
                </a:spcAft>
              </a:pPr>
              <a:r>
                <a:rPr lang="en-US" sz="1200" b="1" dirty="0">
                  <a:solidFill>
                    <a:srgbClr val="EDE9E2"/>
                  </a:solidFill>
                  <a:latin typeface="Segoe UI"/>
                  <a:ea typeface="Segoe UI"/>
                  <a:cs typeface="Segoe UI"/>
                </a:rPr>
                <a:t>xterm.js 6</a:t>
              </a:r>
              <a:r>
                <a:rPr lang="en-US" sz="1200" b="0" dirty="0">
                  <a:solidFill>
                    <a:srgbClr val="9C9A94"/>
                  </a:solidFill>
                  <a:latin typeface="Segoe UI"/>
                  <a:ea typeface="Segoe UI"/>
                  <a:cs typeface="Segoe UI"/>
                </a:rPr>
                <a:t> frontend on a Rust</a:t>
              </a:r>
              <a:endParaRPr lang="en-US" sz="1200" dirty="0"/>
            </a:p>
            <a:p>
              <a:pPr algn="l">
                <a:lnSpc>
                  <a:spcPts val="1600"/>
                </a:lnSpc>
                <a:spcBef>
                  <a:spcPts val="0"/>
                </a:spcBef>
                <a:spcAft>
                  <a:spcPts val="0"/>
                </a:spcAft>
              </a:pPr>
              <a:r>
                <a:rPr lang="en-US" sz="1200" b="1" dirty="0">
                  <a:solidFill>
                    <a:srgbClr val="EDE9E2"/>
                  </a:solidFill>
                  <a:latin typeface="Segoe UI"/>
                  <a:ea typeface="Segoe UI"/>
                  <a:cs typeface="Segoe UI"/>
                </a:rPr>
                <a:t>portable-pty</a:t>
              </a:r>
              <a:r>
                <a:rPr lang="en-US" sz="1200" b="0" dirty="0">
                  <a:solidFill>
                    <a:srgbClr val="9C9A94"/>
                  </a:solidFill>
                  <a:latin typeface="Segoe UI"/>
                  <a:ea typeface="Segoe UI"/>
                  <a:cs typeface="Segoe UI"/>
                </a:rPr>
                <a:t> backend.</a:t>
              </a:r>
              <a:endParaRPr lang="en-US" sz="1200" dirty="0"/>
            </a:p>
          </p:txBody>
        </p:sp>
      </p:grpSp>
      <p:grpSp>
        <p:nvGrpSpPr>
          <p:cNvPr id="41" name="fact-2"/>
          <p:cNvGrpSpPr/>
          <p:nvPr/>
        </p:nvGrpSpPr>
        <p:grpSpPr>
          <a:xfrm>
            <a:off x="3352800" y="5664200"/>
            <a:ext cx="2648021" cy="799465"/>
            <a:chOff x="3352800" y="5664200"/>
            <a:chExt cx="2648021" cy="799465"/>
          </a:xfrm>
        </p:grpSpPr>
        <p:sp>
          <p:nvSpPr>
            <p:cNvPr id="39" name="Text 40"/>
            <p:cNvSpPr txBox="1"/>
            <p:nvPr/>
          </p:nvSpPr>
          <p:spPr>
            <a:xfrm>
              <a:off x="3352800" y="5664200"/>
              <a:ext cx="1951370" cy="192722"/>
            </a:xfrm>
            <a:prstGeom prst="rect">
              <a:avLst/>
            </a:prstGeom>
            <a:noFill/>
          </p:spPr>
          <p:txBody>
            <a:bodyPr wrap="none" lIns="0" tIns="0" rIns="0" bIns="0" rtlCol="0" anchor="t">
              <a:noAutofit/>
            </a:bodyPr>
            <a:lstStyle/>
            <a:p>
              <a:pPr algn="l">
                <a:spcBef>
                  <a:spcPts val="0"/>
                </a:spcBef>
                <a:spcAft>
                  <a:spcPts val="0"/>
                </a:spcAft>
              </a:pPr>
              <a:r>
                <a:rPr lang="en-US" sz="1050" b="1" spc="113" dirty="0">
                  <a:solidFill>
                    <a:srgbClr val="FF5B1F"/>
                  </a:solidFill>
                  <a:latin typeface="Consolas"/>
                  <a:ea typeface="Consolas"/>
                  <a:cs typeface="Consolas"/>
                </a:rPr>
                <a:t>02</a:t>
              </a:r>
              <a:r>
                <a:rPr lang="en-US" sz="1050" b="0" spc="113" dirty="0">
                  <a:solidFill>
                    <a:srgbClr val="9C9A94"/>
                  </a:solidFill>
                  <a:latin typeface="Consolas"/>
                  <a:ea typeface="Consolas"/>
                  <a:cs typeface="Consolas"/>
                </a:rPr>
                <a:t> HARDWARE RENDERING</a:t>
              </a:r>
              <a:endParaRPr lang="en-US" sz="1050" dirty="0"/>
            </a:p>
          </p:txBody>
        </p:sp>
        <p:sp>
          <p:nvSpPr>
            <p:cNvPr id="40" name="Text 41"/>
            <p:cNvSpPr txBox="1"/>
            <p:nvPr/>
          </p:nvSpPr>
          <p:spPr>
            <a:xfrm>
              <a:off x="3352800" y="5838825"/>
              <a:ext cx="2648021" cy="624840"/>
            </a:xfrm>
            <a:prstGeom prst="rect">
              <a:avLst/>
            </a:prstGeom>
            <a:noFill/>
          </p:spPr>
          <p:txBody>
            <a:bodyPr wrap="none" lIns="0" tIns="0" rIns="0" bIns="0" rtlCol="0" anchor="t">
              <a:noAutofit/>
            </a:bodyPr>
            <a:lstStyle/>
            <a:p>
              <a:pPr algn="l">
                <a:lnSpc>
                  <a:spcPts val="1600"/>
                </a:lnSpc>
                <a:spcBef>
                  <a:spcPts val="0"/>
                </a:spcBef>
                <a:spcAft>
                  <a:spcPts val="0"/>
                </a:spcAft>
              </a:pPr>
              <a:r>
                <a:rPr lang="en-US" sz="1200" b="1" dirty="0">
                  <a:solidFill>
                    <a:srgbClr val="EDE9E2"/>
                  </a:solidFill>
                  <a:latin typeface="Segoe UI"/>
                  <a:ea typeface="Segoe UI"/>
                  <a:cs typeface="Segoe UI"/>
                </a:rPr>
                <a:t>Canvas/WebGL</a:t>
              </a:r>
              <a:r>
                <a:rPr lang="en-US" sz="1200" b="0" dirty="0">
                  <a:solidFill>
                    <a:srgbClr val="9C9A94"/>
                  </a:solidFill>
                  <a:latin typeface="Segoe UI"/>
                  <a:ea typeface="Segoe UI"/>
                  <a:cs typeface="Segoe UI"/>
                </a:rPr>
                <a:t> drawing on the GPU,</a:t>
              </a:r>
              <a:endParaRPr lang="en-US" sz="1200" dirty="0"/>
            </a:p>
            <a:p>
              <a:pPr algn="l">
                <a:lnSpc>
                  <a:spcPts val="1600"/>
                </a:lnSpc>
                <a:spcBef>
                  <a:spcPts val="0"/>
                </a:spcBef>
                <a:spcAft>
                  <a:spcPts val="0"/>
                </a:spcAft>
              </a:pPr>
              <a:r>
                <a:rPr lang="en-US" sz="1200" b="0" dirty="0">
                  <a:solidFill>
                    <a:srgbClr val="9C9A94"/>
                  </a:solidFill>
                  <a:latin typeface="Segoe UI"/>
                  <a:ea typeface="Segoe UI"/>
                  <a:cs typeface="Segoe UI"/>
                </a:rPr>
                <a:t>with </a:t>
              </a:r>
              <a:r>
                <a:rPr lang="en-US" sz="1200" b="1" dirty="0">
                  <a:solidFill>
                    <a:srgbClr val="EDE9E2"/>
                  </a:solidFill>
                  <a:latin typeface="Segoe UI"/>
                  <a:ea typeface="Segoe UI"/>
                  <a:cs typeface="Segoe UI"/>
                </a:rPr>
                <a:t>dirty-rectangle</a:t>
              </a:r>
              <a:r>
                <a:rPr lang="en-US" sz="1200" b="0" dirty="0">
                  <a:solidFill>
                    <a:srgbClr val="9C9A94"/>
                  </a:solidFill>
                  <a:latin typeface="Segoe UI"/>
                  <a:ea typeface="Segoe UI"/>
                  <a:cs typeface="Segoe UI"/>
                </a:rPr>
                <a:t> updates:</a:t>
              </a:r>
              <a:endParaRPr lang="en-US" sz="1200" dirty="0"/>
            </a:p>
            <a:p>
              <a:pPr algn="l">
                <a:lnSpc>
                  <a:spcPts val="1600"/>
                </a:lnSpc>
                <a:spcBef>
                  <a:spcPts val="0"/>
                </a:spcBef>
                <a:spcAft>
                  <a:spcPts val="0"/>
                </a:spcAft>
              </a:pPr>
              <a:r>
                <a:rPr lang="en-US" sz="1200" b="0" dirty="0">
                  <a:solidFill>
                    <a:srgbClr val="9C9A94"/>
                  </a:solidFill>
                  <a:latin typeface="Segoe UI"/>
                  <a:ea typeface="Segoe UI"/>
                  <a:cs typeface="Segoe UI"/>
                </a:rPr>
                <a:t>only what changed is redrawn.</a:t>
              </a:r>
              <a:endParaRPr lang="en-US" sz="1200" dirty="0"/>
            </a:p>
          </p:txBody>
        </p:sp>
      </p:grpSp>
      <p:grpSp>
        <p:nvGrpSpPr>
          <p:cNvPr id="44" name="fact-3"/>
          <p:cNvGrpSpPr/>
          <p:nvPr/>
        </p:nvGrpSpPr>
        <p:grpSpPr>
          <a:xfrm>
            <a:off x="6096000" y="5664200"/>
            <a:ext cx="2253407" cy="799465"/>
            <a:chOff x="6096000" y="5664200"/>
            <a:chExt cx="2253407" cy="799465"/>
          </a:xfrm>
        </p:grpSpPr>
        <p:sp>
          <p:nvSpPr>
            <p:cNvPr id="42" name="Text 43"/>
            <p:cNvSpPr txBox="1"/>
            <p:nvPr/>
          </p:nvSpPr>
          <p:spPr>
            <a:xfrm>
              <a:off x="6096000" y="5664200"/>
              <a:ext cx="1860262" cy="192722"/>
            </a:xfrm>
            <a:prstGeom prst="rect">
              <a:avLst/>
            </a:prstGeom>
            <a:noFill/>
          </p:spPr>
          <p:txBody>
            <a:bodyPr wrap="none" lIns="0" tIns="0" rIns="0" bIns="0" rtlCol="0" anchor="t">
              <a:noAutofit/>
            </a:bodyPr>
            <a:lstStyle/>
            <a:p>
              <a:pPr algn="l">
                <a:spcBef>
                  <a:spcPts val="0"/>
                </a:spcBef>
                <a:spcAft>
                  <a:spcPts val="0"/>
                </a:spcAft>
              </a:pPr>
              <a:r>
                <a:rPr lang="en-US" sz="1050" b="1" spc="113" dirty="0">
                  <a:solidFill>
                    <a:srgbClr val="FF5B1F"/>
                  </a:solidFill>
                  <a:latin typeface="Consolas"/>
                  <a:ea typeface="Consolas"/>
                  <a:cs typeface="Consolas"/>
                </a:rPr>
                <a:t>03</a:t>
              </a:r>
              <a:r>
                <a:rPr lang="en-US" sz="1050" b="0" spc="113" dirty="0">
                  <a:solidFill>
                    <a:srgbClr val="9C9A94"/>
                  </a:solidFill>
                  <a:latin typeface="Consolas"/>
                  <a:ea typeface="Consolas"/>
                  <a:cs typeface="Consolas"/>
                </a:rPr>
                <a:t> WORKSPACE SCOPING</a:t>
              </a:r>
              <a:endParaRPr lang="en-US" sz="1050" dirty="0"/>
            </a:p>
          </p:txBody>
        </p:sp>
        <p:sp>
          <p:nvSpPr>
            <p:cNvPr id="43" name="Text 44"/>
            <p:cNvSpPr txBox="1"/>
            <p:nvPr/>
          </p:nvSpPr>
          <p:spPr>
            <a:xfrm>
              <a:off x="6096000" y="5838825"/>
              <a:ext cx="2253407" cy="624840"/>
            </a:xfrm>
            <a:prstGeom prst="rect">
              <a:avLst/>
            </a:prstGeom>
            <a:noFill/>
          </p:spPr>
          <p:txBody>
            <a:bodyPr wrap="none" lIns="0" tIns="0" rIns="0" bIns="0" rtlCol="0" anchor="t">
              <a:noAutofit/>
            </a:bodyPr>
            <a:lstStyle/>
            <a:p>
              <a:pPr algn="l">
                <a:lnSpc>
                  <a:spcPts val="1600"/>
                </a:lnSpc>
                <a:spcBef>
                  <a:spcPts val="0"/>
                </a:spcBef>
                <a:spcAft>
                  <a:spcPts val="0"/>
                </a:spcAft>
              </a:pPr>
              <a:r>
                <a:rPr lang="en-US" sz="1200" b="0" dirty="0">
                  <a:solidFill>
                    <a:srgbClr val="9C9A94"/>
                  </a:solidFill>
                  <a:latin typeface="Segoe UI"/>
                  <a:ea typeface="Segoe UI"/>
                  <a:cs typeface="Segoe UI"/>
                </a:rPr>
                <a:t>Each project gets its own space:</a:t>
              </a:r>
              <a:endParaRPr lang="en-US" sz="1200" dirty="0"/>
            </a:p>
            <a:p>
              <a:pPr algn="l">
                <a:lnSpc>
                  <a:spcPts val="1600"/>
                </a:lnSpc>
                <a:spcBef>
                  <a:spcPts val="0"/>
                </a:spcBef>
                <a:spcAft>
                  <a:spcPts val="0"/>
                </a:spcAft>
              </a:pPr>
              <a:r>
                <a:rPr lang="en-US" sz="1200" b="0" dirty="0">
                  <a:solidFill>
                    <a:srgbClr val="9C9A94"/>
                  </a:solidFill>
                  <a:latin typeface="Segoe UI"/>
                  <a:ea typeface="Segoe UI"/>
                  <a:cs typeface="Segoe UI"/>
                </a:rPr>
                <a:t>sessions are </a:t>
              </a:r>
              <a:r>
                <a:rPr lang="en-US" sz="1200" b="1" dirty="0">
                  <a:solidFill>
                    <a:srgbClr val="EDE9E2"/>
                  </a:solidFill>
                  <a:latin typeface="Segoe UI"/>
                  <a:ea typeface="Segoe UI"/>
                  <a:cs typeface="Segoe UI"/>
                </a:rPr>
                <a:t>isolated</a:t>
              </a:r>
              <a:r>
                <a:rPr lang="en-US" sz="1200" b="0" dirty="0">
                  <a:solidFill>
                    <a:srgbClr val="9C9A94"/>
                  </a:solidFill>
                  <a:latin typeface="Segoe UI"/>
                  <a:ea typeface="Segoe UI"/>
                  <a:cs typeface="Segoe UI"/>
                </a:rPr>
                <a:t> per</a:t>
              </a:r>
              <a:endParaRPr lang="en-US" sz="1200" dirty="0"/>
            </a:p>
            <a:p>
              <a:pPr algn="l">
                <a:lnSpc>
                  <a:spcPts val="1600"/>
                </a:lnSpc>
                <a:spcBef>
                  <a:spcPts val="0"/>
                </a:spcBef>
                <a:spcAft>
                  <a:spcPts val="0"/>
                </a:spcAft>
              </a:pPr>
              <a:r>
                <a:rPr lang="en-US" sz="1200" b="1" dirty="0">
                  <a:solidFill>
                    <a:srgbClr val="EDE9E2"/>
                  </a:solidFill>
                  <a:latin typeface="Segoe UI"/>
                  <a:ea typeface="Segoe UI"/>
                  <a:cs typeface="Segoe UI"/>
                </a:rPr>
                <a:t>project</a:t>
              </a:r>
              <a:r>
                <a:rPr lang="en-US" sz="1200" b="0" dirty="0">
                  <a:solidFill>
                    <a:srgbClr val="9C9A94"/>
                  </a:solidFill>
                  <a:latin typeface="Segoe UI"/>
                  <a:ea typeface="Segoe UI"/>
                  <a:cs typeface="Segoe UI"/>
                </a:rPr>
                <a:t>, never mixed up.</a:t>
              </a:r>
              <a:endParaRPr lang="en-US" sz="1200" dirty="0"/>
            </a:p>
          </p:txBody>
        </p:sp>
      </p:grpSp>
      <p:grpSp>
        <p:nvGrpSpPr>
          <p:cNvPr id="47" name="fact-4"/>
          <p:cNvGrpSpPr/>
          <p:nvPr/>
        </p:nvGrpSpPr>
        <p:grpSpPr>
          <a:xfrm>
            <a:off x="8839200" y="5664200"/>
            <a:ext cx="2366861" cy="799465"/>
            <a:chOff x="8839200" y="5664200"/>
            <a:chExt cx="2366861" cy="799465"/>
          </a:xfrm>
        </p:grpSpPr>
        <p:sp>
          <p:nvSpPr>
            <p:cNvPr id="45" name="Text 46"/>
            <p:cNvSpPr txBox="1"/>
            <p:nvPr/>
          </p:nvSpPr>
          <p:spPr>
            <a:xfrm>
              <a:off x="8839200" y="5664200"/>
              <a:ext cx="1678046" cy="192722"/>
            </a:xfrm>
            <a:prstGeom prst="rect">
              <a:avLst/>
            </a:prstGeom>
            <a:noFill/>
          </p:spPr>
          <p:txBody>
            <a:bodyPr wrap="none" lIns="0" tIns="0" rIns="0" bIns="0" rtlCol="0" anchor="t">
              <a:noAutofit/>
            </a:bodyPr>
            <a:lstStyle/>
            <a:p>
              <a:pPr algn="l">
                <a:spcBef>
                  <a:spcPts val="0"/>
                </a:spcBef>
                <a:spcAft>
                  <a:spcPts val="0"/>
                </a:spcAft>
              </a:pPr>
              <a:r>
                <a:rPr lang="en-US" sz="1050" b="1" spc="113" dirty="0">
                  <a:solidFill>
                    <a:srgbClr val="FF5B1F"/>
                  </a:solidFill>
                  <a:latin typeface="Consolas"/>
                  <a:ea typeface="Consolas"/>
                  <a:cs typeface="Consolas"/>
                </a:rPr>
                <a:t>04</a:t>
              </a:r>
              <a:r>
                <a:rPr lang="en-US" sz="1050" b="0" spc="113" dirty="0">
                  <a:solidFill>
                    <a:srgbClr val="9C9A94"/>
                  </a:solidFill>
                  <a:latin typeface="Consolas"/>
                  <a:ea typeface="Consolas"/>
                  <a:cs typeface="Consolas"/>
                </a:rPr>
                <a:t> EXTERNAL TILING</a:t>
              </a:r>
              <a:endParaRPr lang="en-US" sz="1050" dirty="0"/>
            </a:p>
          </p:txBody>
        </p:sp>
        <p:sp>
          <p:nvSpPr>
            <p:cNvPr id="46" name="Text 47"/>
            <p:cNvSpPr txBox="1"/>
            <p:nvPr/>
          </p:nvSpPr>
          <p:spPr>
            <a:xfrm>
              <a:off x="8839200" y="5838825"/>
              <a:ext cx="2366861" cy="624840"/>
            </a:xfrm>
            <a:prstGeom prst="rect">
              <a:avLst/>
            </a:prstGeom>
            <a:noFill/>
          </p:spPr>
          <p:txBody>
            <a:bodyPr wrap="none" lIns="0" tIns="0" rIns="0" bIns="0" rtlCol="0" anchor="t">
              <a:noAutofit/>
            </a:bodyPr>
            <a:lstStyle/>
            <a:p>
              <a:pPr algn="l">
                <a:lnSpc>
                  <a:spcPts val="1600"/>
                </a:lnSpc>
                <a:spcBef>
                  <a:spcPts val="0"/>
                </a:spcBef>
                <a:spcAft>
                  <a:spcPts val="0"/>
                </a:spcAft>
              </a:pPr>
              <a:r>
                <a:rPr lang="en-US" sz="1200" b="0" dirty="0">
                  <a:solidFill>
                    <a:srgbClr val="9C9A94"/>
                  </a:solidFill>
                  <a:latin typeface="Segoe UI"/>
                  <a:ea typeface="Segoe UI"/>
                  <a:cs typeface="Segoe UI"/>
                </a:rPr>
                <a:t>Prefer your own terminal? It</a:t>
              </a:r>
              <a:endParaRPr lang="en-US" sz="1200" dirty="0"/>
            </a:p>
            <a:p>
              <a:pPr algn="l">
                <a:lnSpc>
                  <a:spcPts val="1600"/>
                </a:lnSpc>
                <a:spcBef>
                  <a:spcPts val="0"/>
                </a:spcBef>
                <a:spcAft>
                  <a:spcPts val="0"/>
                </a:spcAft>
              </a:pPr>
              <a:r>
                <a:rPr lang="en-US" sz="1200" b="0" dirty="0">
                  <a:solidFill>
                    <a:srgbClr val="9C9A94"/>
                  </a:solidFill>
                  <a:latin typeface="Segoe UI"/>
                  <a:ea typeface="Segoe UI"/>
                  <a:cs typeface="Segoe UI"/>
                </a:rPr>
                <a:t>auto-tiles </a:t>
              </a:r>
              <a:r>
                <a:rPr lang="en-US" sz="1200" b="1" dirty="0">
                  <a:solidFill>
                    <a:srgbClr val="EDE9E2"/>
                  </a:solidFill>
                  <a:latin typeface="Segoe UI"/>
                  <a:ea typeface="Segoe UI"/>
                  <a:cs typeface="Segoe UI"/>
                </a:rPr>
                <a:t>Windows Terminal</a:t>
              </a:r>
              <a:r>
                <a:rPr lang="en-US" sz="1200" b="0" dirty="0">
                  <a:solidFill>
                    <a:srgbClr val="9C9A94"/>
                  </a:solidFill>
                  <a:latin typeface="Segoe UI"/>
                  <a:ea typeface="Segoe UI"/>
                  <a:cs typeface="Segoe UI"/>
                </a:rPr>
                <a:t>,</a:t>
              </a:r>
              <a:endParaRPr lang="en-US" sz="1200" dirty="0"/>
            </a:p>
            <a:p>
              <a:pPr algn="l">
                <a:lnSpc>
                  <a:spcPts val="1600"/>
                </a:lnSpc>
                <a:spcBef>
                  <a:spcPts val="0"/>
                </a:spcBef>
                <a:spcAft>
                  <a:spcPts val="0"/>
                </a:spcAft>
              </a:pPr>
              <a:r>
                <a:rPr lang="en-US" sz="1200" b="1" dirty="0">
                  <a:solidFill>
                    <a:srgbClr val="EDE9E2"/>
                  </a:solidFill>
                  <a:latin typeface="Segoe UI"/>
                  <a:ea typeface="Segoe UI"/>
                  <a:cs typeface="Segoe UI"/>
                </a:rPr>
                <a:t>macOS Terminal</a:t>
              </a:r>
              <a:r>
                <a:rPr lang="en-US" sz="1200" b="0" dirty="0">
                  <a:solidFill>
                    <a:srgbClr val="9C9A94"/>
                  </a:solidFill>
                  <a:latin typeface="Segoe UI"/>
                  <a:ea typeface="Segoe UI"/>
                  <a:cs typeface="Segoe UI"/>
                </a:rPr>
                <a:t>, Linux consoles.</a:t>
              </a:r>
              <a:endParaRPr lang="en-US" sz="1200" dirty="0"/>
            </a:p>
          </p:txBody>
        </p:sp>
      </p:grpSp>
      <p:grpSp>
        <p:nvGrpSpPr>
          <p:cNvPr id="50" name="progress-rule"/>
          <p:cNvGrpSpPr/>
          <p:nvPr/>
        </p:nvGrpSpPr>
        <p:grpSpPr>
          <a:xfrm>
            <a:off x="609600" y="6667500"/>
            <a:ext cx="10972800" cy="28575"/>
            <a:chOff x="609600" y="6667500"/>
            <a:chExt cx="10972800" cy="28575"/>
          </a:xfrm>
        </p:grpSpPr>
        <p:sp>
          <p:nvSpPr>
            <p:cNvPr id="48" name="line 49"/>
            <p:cNvSpPr/>
            <p:nvPr/>
          </p:nvSpPr>
          <p:spPr>
            <a:xfrm>
              <a:off x="609600" y="6686550"/>
              <a:ext cx="10972800" cy="95"/>
            </a:xfrm>
            <a:custGeom>
              <a:avLst/>
              <a:gdLst/>
              <a:ahLst/>
              <a:cxnLst/>
              <a:rect l="0" t="0" r="r" b="b"/>
              <a:pathLst>
                <a:path w="10972800" h="95" fill="none">
                  <a:moveTo>
                    <a:pt x="0" y="0"/>
                  </a:moveTo>
                  <a:lnTo>
                    <a:pt x="10972800" y="0"/>
                  </a:lnTo>
                </a:path>
              </a:pathLst>
            </a:custGeom>
            <a:noFill/>
            <a:ln w="9525" cap="flat">
              <a:solidFill>
                <a:srgbClr val="2A2E35"/>
              </a:solidFill>
              <a:miter lim="800000"/>
            </a:ln>
          </p:spPr>
          <p:txBody>
            <a:bodyPr/>
            <a:lstStyle/>
            <a:p>
              <a:endParaRPr lang="en-US"/>
            </a:p>
          </p:txBody>
        </p:sp>
        <p:sp>
          <p:nvSpPr>
            <p:cNvPr id="49" name="rect 50"/>
            <p:cNvSpPr/>
            <p:nvPr/>
          </p:nvSpPr>
          <p:spPr>
            <a:xfrm>
              <a:off x="609600" y="6667500"/>
              <a:ext cx="4114800" cy="28575"/>
            </a:xfrm>
            <a:prstGeom prst="roundRect">
              <a:avLst>
                <a:gd name="adj" fmla="val 50000"/>
              </a:avLst>
            </a:prstGeom>
            <a:solidFill>
              <a:srgbClr val="FF5B1F"/>
            </a:solidFill>
            <a:ln>
              <a:noFill/>
            </a:ln>
          </p:spPr>
          <p:txBody>
            <a:bodyPr/>
            <a:lstStyle/>
            <a:p>
              <a:endParaRPr lang="en-US"/>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ppt_y</p:attrName>
                                        </p:attrNameLst>
                                      </p:cBhvr>
                                      <p:tavLst>
                                        <p:tav tm="0">
                                          <p:val>
                                            <p:strVal val="#ppt_y+.1"/>
                                          </p:val>
                                        </p:tav>
                                        <p:tav tm="100000">
                                          <p:val>
                                            <p:strVal val="#ppt_y"/>
                                          </p:val>
                                        </p:tav>
                                      </p:tavLst>
                                    </p:anim>
                                    <p:animEffect transition="in" filter="fade">
                                      <p:cBhvr>
                                        <p:cTn id="8" dur="500"/>
                                        <p:tgtEl>
                                          <p:spTgt spid="8"/>
                                        </p:tgtEl>
                                      </p:cBhvr>
                                    </p:animEffect>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 calcmode="lin" valueType="num">
                                      <p:cBhvr additive="base">
                                        <p:cTn id="17" dur="600" fill="hold"/>
                                        <p:tgtEl>
                                          <p:spTgt spid="24"/>
                                        </p:tgtEl>
                                        <p:attrNameLst>
                                          <p:attrName>ppt_x</p:attrName>
                                        </p:attrNameLst>
                                      </p:cBhvr>
                                      <p:tavLst>
                                        <p:tav tm="0">
                                          <p:val>
                                            <p:strVal val="0-#ppt_w/2"/>
                                          </p:val>
                                        </p:tav>
                                        <p:tav tm="100000">
                                          <p:val>
                                            <p:strVal val="#ppt_x"/>
                                          </p:val>
                                        </p:tav>
                                      </p:tavLst>
                                    </p:anim>
                                    <p:anim calcmode="lin" valueType="num">
                                      <p:cBhvr additive="base">
                                        <p:cTn id="18" dur="600" fill="hold"/>
                                        <p:tgtEl>
                                          <p:spTgt spid="24"/>
                                        </p:tgtEl>
                                        <p:attrNameLst>
                                          <p:attrName>ppt_y</p:attrName>
                                        </p:attrNameLst>
                                      </p:cBhvr>
                                      <p:tavLst>
                                        <p:tav tm="0">
                                          <p:val>
                                            <p:strVal val="#ppt_y"/>
                                          </p:val>
                                        </p:tav>
                                        <p:tav tm="100000">
                                          <p:val>
                                            <p:strVal val="#ppt_y"/>
                                          </p:val>
                                        </p:tav>
                                      </p:tavLst>
                                    </p:anim>
                                  </p:childTnLst>
                                </p:cTn>
                              </p:par>
                            </p:childTnLst>
                          </p:cTn>
                        </p:par>
                        <p:par>
                          <p:cTn id="19" fill="hold">
                            <p:stCondLst>
                              <p:cond delay="600"/>
                            </p:stCondLst>
                            <p:childTnLst>
                              <p:par>
                                <p:cTn id="20" presetID="2" presetClass="entr" presetSubtype="2" fill="hold" nodeType="afterEffect">
                                  <p:stCondLst>
                                    <p:cond delay="0"/>
                                  </p:stCondLst>
                                  <p:childTnLst>
                                    <p:set>
                                      <p:cBhvr>
                                        <p:cTn id="21" dur="1" fill="hold">
                                          <p:stCondLst>
                                            <p:cond delay="0"/>
                                          </p:stCondLst>
                                        </p:cTn>
                                        <p:tgtEl>
                                          <p:spTgt spid="29"/>
                                        </p:tgtEl>
                                        <p:attrNameLst>
                                          <p:attrName>style.visibility</p:attrName>
                                        </p:attrNameLst>
                                      </p:cBhvr>
                                      <p:to>
                                        <p:strVal val="visible"/>
                                      </p:to>
                                    </p:set>
                                    <p:anim calcmode="lin" valueType="num">
                                      <p:cBhvr additive="base">
                                        <p:cTn id="22" dur="600" fill="hold"/>
                                        <p:tgtEl>
                                          <p:spTgt spid="29"/>
                                        </p:tgtEl>
                                        <p:attrNameLst>
                                          <p:attrName>ppt_x</p:attrName>
                                        </p:attrNameLst>
                                      </p:cBhvr>
                                      <p:tavLst>
                                        <p:tav tm="0">
                                          <p:val>
                                            <p:strVal val="1+#ppt_w/2"/>
                                          </p:val>
                                        </p:tav>
                                        <p:tav tm="100000">
                                          <p:val>
                                            <p:strVal val="#ppt_x"/>
                                          </p:val>
                                        </p:tav>
                                      </p:tavLst>
                                    </p:anim>
                                    <p:anim calcmode="lin" valueType="num">
                                      <p:cBhvr additive="base">
                                        <p:cTn id="23" dur="600" fill="hold"/>
                                        <p:tgtEl>
                                          <p:spTgt spid="29"/>
                                        </p:tgtEl>
                                        <p:attrNameLst>
                                          <p:attrName>ppt_y</p:attrName>
                                        </p:attrNameLst>
                                      </p:cBhvr>
                                      <p:tavLst>
                                        <p:tav tm="0">
                                          <p:val>
                                            <p:strVal val="#ppt_y"/>
                                          </p:val>
                                        </p:tav>
                                        <p:tav tm="100000">
                                          <p:val>
                                            <p:strVal val="#ppt_y"/>
                                          </p:val>
                                        </p:tav>
                                      </p:tavLst>
                                    </p:anim>
                                  </p:childTnLst>
                                </p:cTn>
                              </p:par>
                              <p:par>
                                <p:cTn id="24" presetID="10" presetClass="entr" presetSubtype="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wipe(left)">
                                      <p:cBhvr>
                                        <p:cTn id="31" dur="500"/>
                                        <p:tgtEl>
                                          <p:spTgt spid="35"/>
                                        </p:tgtEl>
                                      </p:cBhvr>
                                    </p:animEffect>
                                  </p:childTnLst>
                                </p:cTn>
                              </p:par>
                              <p:par>
                                <p:cTn id="32" presetID="42" presetClass="entr" presetSubtype="0" fill="hold" nodeType="withEffect">
                                  <p:stCondLst>
                                    <p:cond delay="0"/>
                                  </p:stCondLst>
                                  <p:childTnLst>
                                    <p:set>
                                      <p:cBhvr>
                                        <p:cTn id="33" dur="1" fill="hold">
                                          <p:stCondLst>
                                            <p:cond delay="0"/>
                                          </p:stCondLst>
                                        </p:cTn>
                                        <p:tgtEl>
                                          <p:spTgt spid="38"/>
                                        </p:tgtEl>
                                        <p:attrNameLst>
                                          <p:attrName>style.visibility</p:attrName>
                                        </p:attrNameLst>
                                      </p:cBhvr>
                                      <p:to>
                                        <p:strVal val="visible"/>
                                      </p:to>
                                    </p:set>
                                    <p:anim calcmode="lin" valueType="num">
                                      <p:cBhvr>
                                        <p:cTn id="34" dur="500" fill="hold"/>
                                        <p:tgtEl>
                                          <p:spTgt spid="38"/>
                                        </p:tgtEl>
                                        <p:attrNameLst>
                                          <p:attrName>ppt_y</p:attrName>
                                        </p:attrNameLst>
                                      </p:cBhvr>
                                      <p:tavLst>
                                        <p:tav tm="0">
                                          <p:val>
                                            <p:strVal val="#ppt_y+.1"/>
                                          </p:val>
                                        </p:tav>
                                        <p:tav tm="100000">
                                          <p:val>
                                            <p:strVal val="#ppt_y"/>
                                          </p:val>
                                        </p:tav>
                                      </p:tavLst>
                                    </p:anim>
                                    <p:animEffect transition="in" filter="fade">
                                      <p:cBhvr>
                                        <p:cTn id="35" dur="500"/>
                                        <p:tgtEl>
                                          <p:spTgt spid="38"/>
                                        </p:tgtEl>
                                      </p:cBhvr>
                                    </p:animEffect>
                                  </p:childTnLst>
                                </p:cTn>
                              </p:par>
                            </p:childTnLst>
                          </p:cTn>
                        </p:par>
                        <p:par>
                          <p:cTn id="36" fill="hold">
                            <p:stCondLst>
                              <p:cond delay="500"/>
                            </p:stCondLst>
                            <p:childTnLst>
                              <p:par>
                                <p:cTn id="37" presetID="42" presetClass="entr" presetSubtype="0" fill="hold" nodeType="afterEffect">
                                  <p:stCondLst>
                                    <p:cond delay="0"/>
                                  </p:stCondLst>
                                  <p:childTnLst>
                                    <p:set>
                                      <p:cBhvr>
                                        <p:cTn id="38" dur="1" fill="hold">
                                          <p:stCondLst>
                                            <p:cond delay="0"/>
                                          </p:stCondLst>
                                        </p:cTn>
                                        <p:tgtEl>
                                          <p:spTgt spid="41"/>
                                        </p:tgtEl>
                                        <p:attrNameLst>
                                          <p:attrName>style.visibility</p:attrName>
                                        </p:attrNameLst>
                                      </p:cBhvr>
                                      <p:to>
                                        <p:strVal val="visible"/>
                                      </p:to>
                                    </p:set>
                                    <p:anim calcmode="lin" valueType="num">
                                      <p:cBhvr>
                                        <p:cTn id="39" dur="400" fill="hold"/>
                                        <p:tgtEl>
                                          <p:spTgt spid="41"/>
                                        </p:tgtEl>
                                        <p:attrNameLst>
                                          <p:attrName>ppt_y</p:attrName>
                                        </p:attrNameLst>
                                      </p:cBhvr>
                                      <p:tavLst>
                                        <p:tav tm="0">
                                          <p:val>
                                            <p:strVal val="#ppt_y+.1"/>
                                          </p:val>
                                        </p:tav>
                                        <p:tav tm="100000">
                                          <p:val>
                                            <p:strVal val="#ppt_y"/>
                                          </p:val>
                                        </p:tav>
                                      </p:tavLst>
                                    </p:anim>
                                    <p:animEffect transition="in" filter="fade">
                                      <p:cBhvr>
                                        <p:cTn id="40" dur="400"/>
                                        <p:tgtEl>
                                          <p:spTgt spid="41"/>
                                        </p:tgtEl>
                                      </p:cBhvr>
                                    </p:animEffect>
                                  </p:childTnLst>
                                </p:cTn>
                              </p:par>
                            </p:childTnLst>
                          </p:cTn>
                        </p:par>
                        <p:par>
                          <p:cTn id="41" fill="hold">
                            <p:stCondLst>
                              <p:cond delay="900"/>
                            </p:stCondLst>
                            <p:childTnLst>
                              <p:par>
                                <p:cTn id="42" presetID="42" presetClass="entr" presetSubtype="0" fill="hold" nodeType="afterEffect">
                                  <p:stCondLst>
                                    <p:cond delay="0"/>
                                  </p:stCondLst>
                                  <p:childTnLst>
                                    <p:set>
                                      <p:cBhvr>
                                        <p:cTn id="43" dur="1" fill="hold">
                                          <p:stCondLst>
                                            <p:cond delay="0"/>
                                          </p:stCondLst>
                                        </p:cTn>
                                        <p:tgtEl>
                                          <p:spTgt spid="44"/>
                                        </p:tgtEl>
                                        <p:attrNameLst>
                                          <p:attrName>style.visibility</p:attrName>
                                        </p:attrNameLst>
                                      </p:cBhvr>
                                      <p:to>
                                        <p:strVal val="visible"/>
                                      </p:to>
                                    </p:set>
                                    <p:anim calcmode="lin" valueType="num">
                                      <p:cBhvr>
                                        <p:cTn id="44" dur="400" fill="hold"/>
                                        <p:tgtEl>
                                          <p:spTgt spid="44"/>
                                        </p:tgtEl>
                                        <p:attrNameLst>
                                          <p:attrName>ppt_y</p:attrName>
                                        </p:attrNameLst>
                                      </p:cBhvr>
                                      <p:tavLst>
                                        <p:tav tm="0">
                                          <p:val>
                                            <p:strVal val="#ppt_y+.1"/>
                                          </p:val>
                                        </p:tav>
                                        <p:tav tm="100000">
                                          <p:val>
                                            <p:strVal val="#ppt_y"/>
                                          </p:val>
                                        </p:tav>
                                      </p:tavLst>
                                    </p:anim>
                                    <p:animEffect transition="in" filter="fade">
                                      <p:cBhvr>
                                        <p:cTn id="45" dur="400"/>
                                        <p:tgtEl>
                                          <p:spTgt spid="44"/>
                                        </p:tgtEl>
                                      </p:cBhvr>
                                    </p:animEffect>
                                  </p:childTnLst>
                                </p:cTn>
                              </p:par>
                            </p:childTnLst>
                          </p:cTn>
                        </p:par>
                        <p:par>
                          <p:cTn id="46" fill="hold">
                            <p:stCondLst>
                              <p:cond delay="1300"/>
                            </p:stCondLst>
                            <p:childTnLst>
                              <p:par>
                                <p:cTn id="47" presetID="42" presetClass="entr" presetSubtype="0" fill="hold" nodeType="afterEffect">
                                  <p:stCondLst>
                                    <p:cond delay="0"/>
                                  </p:stCondLst>
                                  <p:childTnLst>
                                    <p:set>
                                      <p:cBhvr>
                                        <p:cTn id="48" dur="1" fill="hold">
                                          <p:stCondLst>
                                            <p:cond delay="0"/>
                                          </p:stCondLst>
                                        </p:cTn>
                                        <p:tgtEl>
                                          <p:spTgt spid="47"/>
                                        </p:tgtEl>
                                        <p:attrNameLst>
                                          <p:attrName>style.visibility</p:attrName>
                                        </p:attrNameLst>
                                      </p:cBhvr>
                                      <p:to>
                                        <p:strVal val="visible"/>
                                      </p:to>
                                    </p:set>
                                    <p:anim calcmode="lin" valueType="num">
                                      <p:cBhvr>
                                        <p:cTn id="49" dur="400" fill="hold"/>
                                        <p:tgtEl>
                                          <p:spTgt spid="47"/>
                                        </p:tgtEl>
                                        <p:attrNameLst>
                                          <p:attrName>ppt_y</p:attrName>
                                        </p:attrNameLst>
                                      </p:cBhvr>
                                      <p:tavLst>
                                        <p:tav tm="0">
                                          <p:val>
                                            <p:strVal val="#ppt_y+.1"/>
                                          </p:val>
                                        </p:tav>
                                        <p:tav tm="100000">
                                          <p:val>
                                            <p:strVal val="#ppt_y"/>
                                          </p:val>
                                        </p:tav>
                                      </p:tavLst>
                                    </p:anim>
                                    <p:animEffect transition="in" filter="fade">
                                      <p:cBhvr>
                                        <p:cTn id="50"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B0D"/>
        </a:solidFill>
        <a:effectLst/>
      </p:bgPr>
    </p:bg>
    <p:spTree>
      <p:nvGrpSpPr>
        <p:cNvPr id="1" name=""/>
        <p:cNvGrpSpPr/>
        <p:nvPr/>
      </p:nvGrpSpPr>
      <p:grpSpPr>
        <a:xfrm>
          <a:off x="0" y="0"/>
          <a:ext cx="0" cy="0"/>
          <a:chOff x="0" y="0"/>
          <a:chExt cx="0" cy="0"/>
        </a:xfrm>
      </p:grpSpPr>
      <p:grpSp>
        <p:nvGrpSpPr>
          <p:cNvPr id="4" name="cursor-kicker"/>
          <p:cNvGrpSpPr/>
          <p:nvPr/>
        </p:nvGrpSpPr>
        <p:grpSpPr>
          <a:xfrm>
            <a:off x="609600" y="419100"/>
            <a:ext cx="3353669" cy="415290"/>
            <a:chOff x="609600" y="419100"/>
            <a:chExt cx="3353669" cy="415290"/>
          </a:xfrm>
        </p:grpSpPr>
        <p:sp>
          <p:nvSpPr>
            <p:cNvPr id="2" name="rect 3"/>
            <p:cNvSpPr/>
            <p:nvPr/>
          </p:nvSpPr>
          <p:spPr>
            <a:xfrm>
              <a:off x="609600" y="419100"/>
              <a:ext cx="457200" cy="57150"/>
            </a:xfrm>
            <a:prstGeom prst="roundRect">
              <a:avLst>
                <a:gd name="adj" fmla="val 50000"/>
              </a:avLst>
            </a:prstGeom>
            <a:solidFill>
              <a:srgbClr val="FF5B1F"/>
            </a:solidFill>
            <a:ln>
              <a:noFill/>
            </a:ln>
          </p:spPr>
          <p:txBody>
            <a:bodyPr/>
            <a:lstStyle/>
            <a:p>
              <a:endParaRPr lang="en-US"/>
            </a:p>
          </p:txBody>
        </p:sp>
        <p:sp>
          <p:nvSpPr>
            <p:cNvPr id="3" name="Text 4"/>
            <p:cNvSpPr txBox="1"/>
            <p:nvPr/>
          </p:nvSpPr>
          <p:spPr>
            <a:xfrm>
              <a:off x="609600" y="622300"/>
              <a:ext cx="3353669" cy="212090"/>
            </a:xfrm>
            <a:prstGeom prst="rect">
              <a:avLst/>
            </a:prstGeom>
            <a:noFill/>
          </p:spPr>
          <p:txBody>
            <a:bodyPr wrap="none" lIns="0" tIns="0" rIns="0" bIns="0" rtlCol="0" anchor="t">
              <a:noAutofit/>
            </a:bodyPr>
            <a:lstStyle/>
            <a:p>
              <a:pPr algn="l">
                <a:spcBef>
                  <a:spcPts val="0"/>
                </a:spcBef>
                <a:spcAft>
                  <a:spcPts val="0"/>
                </a:spcAft>
              </a:pPr>
              <a:r>
                <a:rPr lang="en-US" sz="1200" b="0" spc="150" dirty="0">
                  <a:solidFill>
                    <a:srgbClr val="9C9A94"/>
                  </a:solidFill>
                  <a:latin typeface="Consolas"/>
                  <a:ea typeface="Consolas"/>
                  <a:cs typeface="Consolas"/>
                </a:rPr>
                <a:t>YZPZCODE / EXTENSIONS CATALOGUE</a:t>
              </a:r>
              <a:endParaRPr lang="en-US" sz="1200" dirty="0"/>
            </a:p>
          </p:txBody>
        </p:sp>
      </p:grpSp>
      <p:sp>
        <p:nvSpPr>
          <p:cNvPr id="5" name="Text 6"/>
          <p:cNvSpPr txBox="1"/>
          <p:nvPr/>
        </p:nvSpPr>
        <p:spPr>
          <a:xfrm>
            <a:off x="10795623" y="622300"/>
            <a:ext cx="786777" cy="212090"/>
          </a:xfrm>
          <a:prstGeom prst="rect">
            <a:avLst/>
          </a:prstGeom>
          <a:noFill/>
        </p:spPr>
        <p:txBody>
          <a:bodyPr wrap="none" lIns="0" tIns="0" rIns="0" bIns="0" rtlCol="0" anchor="t">
            <a:noAutofit/>
          </a:bodyPr>
          <a:lstStyle/>
          <a:p>
            <a:pPr algn="r">
              <a:spcBef>
                <a:spcPts val="0"/>
              </a:spcBef>
              <a:spcAft>
                <a:spcPts val="0"/>
              </a:spcAft>
            </a:pPr>
            <a:r>
              <a:rPr lang="en-US" sz="1200" b="0" spc="150" dirty="0">
                <a:solidFill>
                  <a:srgbClr val="9C9A94"/>
                </a:solidFill>
                <a:latin typeface="Consolas"/>
                <a:ea typeface="Consolas"/>
                <a:cs typeface="Consolas"/>
              </a:rPr>
              <a:t>07 / 16</a:t>
            </a:r>
            <a:endParaRPr lang="en-US" sz="1200" dirty="0"/>
          </a:p>
        </p:txBody>
      </p:sp>
      <p:sp>
        <p:nvSpPr>
          <p:cNvPr id="6" name="Text 7"/>
          <p:cNvSpPr txBox="1"/>
          <p:nvPr/>
        </p:nvSpPr>
        <p:spPr>
          <a:xfrm>
            <a:off x="609600" y="939800"/>
            <a:ext cx="6555203" cy="1073785"/>
          </a:xfrm>
          <a:prstGeom prst="rect">
            <a:avLst/>
          </a:prstGeom>
          <a:noFill/>
        </p:spPr>
        <p:txBody>
          <a:bodyPr wrap="none" lIns="0" tIns="0" rIns="0" bIns="0" rtlCol="0" anchor="t">
            <a:noAutofit/>
          </a:bodyPr>
          <a:lstStyle/>
          <a:p>
            <a:pPr algn="l">
              <a:lnSpc>
                <a:spcPts val="4100"/>
              </a:lnSpc>
              <a:spcBef>
                <a:spcPts val="0"/>
              </a:spcBef>
              <a:spcAft>
                <a:spcPts val="0"/>
              </a:spcAft>
            </a:pPr>
            <a:r>
              <a:rPr lang="en-US" sz="3300" b="1" dirty="0">
                <a:solidFill>
                  <a:srgbClr val="FF5B1F"/>
                </a:solidFill>
                <a:latin typeface="Bahnschrift"/>
                <a:ea typeface="Bahnschrift"/>
                <a:cs typeface="Bahnschrift"/>
              </a:rPr>
              <a:t>Fourteen</a:t>
            </a:r>
            <a:r>
              <a:rPr lang="en-US" sz="3300" b="1" dirty="0">
                <a:solidFill>
                  <a:srgbClr val="EDE9E2"/>
                </a:solidFill>
                <a:latin typeface="Bahnschrift"/>
                <a:ea typeface="Bahnschrift"/>
                <a:cs typeface="Bahnschrift"/>
              </a:rPr>
              <a:t> graphical AI assistants</a:t>
            </a:r>
            <a:endParaRPr lang="en-US" sz="3300" dirty="0"/>
          </a:p>
          <a:p>
            <a:pPr algn="l">
              <a:lnSpc>
                <a:spcPts val="4100"/>
              </a:lnSpc>
              <a:spcBef>
                <a:spcPts val="0"/>
              </a:spcBef>
              <a:spcAft>
                <a:spcPts val="0"/>
              </a:spcAft>
            </a:pPr>
            <a:r>
              <a:rPr lang="en-US" sz="3300" b="1" dirty="0">
                <a:solidFill>
                  <a:srgbClr val="EDE9E2"/>
                </a:solidFill>
                <a:latin typeface="Bahnschrift"/>
                <a:ea typeface="Bahnschrift"/>
                <a:cs typeface="Bahnschrift"/>
              </a:rPr>
              <a:t>mount straight into the same grid</a:t>
            </a:r>
            <a:endParaRPr lang="en-US" sz="3300" dirty="0"/>
          </a:p>
        </p:txBody>
      </p:sp>
      <p:sp>
        <p:nvSpPr>
          <p:cNvPr id="7" name="Text 8"/>
          <p:cNvSpPr txBox="1"/>
          <p:nvPr/>
        </p:nvSpPr>
        <p:spPr>
          <a:xfrm>
            <a:off x="609600" y="2006600"/>
            <a:ext cx="8387194" cy="295593"/>
          </a:xfrm>
          <a:prstGeom prst="rect">
            <a:avLst/>
          </a:prstGeom>
          <a:noFill/>
        </p:spPr>
        <p:txBody>
          <a:bodyPr wrap="none" lIns="0" tIns="0" rIns="0" bIns="0" rtlCol="0" anchor="t">
            <a:noAutofit/>
          </a:bodyPr>
          <a:lstStyle/>
          <a:p>
            <a:pPr algn="l">
              <a:spcBef>
                <a:spcPts val="0"/>
              </a:spcBef>
              <a:spcAft>
                <a:spcPts val="0"/>
              </a:spcAft>
            </a:pPr>
            <a:r>
              <a:rPr lang="en-US" sz="1650" b="0" dirty="0">
                <a:solidFill>
                  <a:srgbClr val="EDE9E2"/>
                </a:solidFill>
                <a:latin typeface="Segoe UI"/>
                <a:ea typeface="Segoe UI"/>
                <a:cs typeface="Segoe UI"/>
              </a:rPr>
              <a:t>Extensions are </a:t>
            </a:r>
            <a:r>
              <a:rPr lang="en-US" sz="1650" b="1" dirty="0">
                <a:solidFill>
                  <a:srgbClr val="3D8BFF"/>
                </a:solidFill>
                <a:latin typeface="Segoe UI"/>
                <a:ea typeface="Segoe UI"/>
                <a:cs typeface="Segoe UI"/>
              </a:rPr>
              <a:t>add-on assistants</a:t>
            </a:r>
            <a:r>
              <a:rPr lang="en-US" sz="1650" b="0" dirty="0">
                <a:solidFill>
                  <a:srgbClr val="EDE9E2"/>
                </a:solidFill>
                <a:latin typeface="Segoe UI"/>
                <a:ea typeface="Segoe UI"/>
                <a:cs typeface="Segoe UI"/>
              </a:rPr>
              <a:t>: pick one from the catalogue and it opens as a panel.</a:t>
            </a:r>
            <a:endParaRPr lang="en-US" sz="1650" dirty="0"/>
          </a:p>
        </p:txBody>
      </p:sp>
      <p:grpSp>
        <p:nvGrpSpPr>
          <p:cNvPr id="21" name="launch-hint"/>
          <p:cNvGrpSpPr/>
          <p:nvPr/>
        </p:nvGrpSpPr>
        <p:grpSpPr>
          <a:xfrm>
            <a:off x="609600" y="2438400"/>
            <a:ext cx="5779103" cy="314420"/>
            <a:chOff x="609600" y="2438400"/>
            <a:chExt cx="5779103" cy="314420"/>
          </a:xfrm>
        </p:grpSpPr>
        <p:sp>
          <p:nvSpPr>
            <p:cNvPr id="8" name="Text 9"/>
            <p:cNvSpPr txBox="1"/>
            <p:nvPr/>
          </p:nvSpPr>
          <p:spPr>
            <a:xfrm>
              <a:off x="609600" y="2508250"/>
              <a:ext cx="1000685" cy="212090"/>
            </a:xfrm>
            <a:prstGeom prst="rect">
              <a:avLst/>
            </a:prstGeom>
            <a:noFill/>
          </p:spPr>
          <p:txBody>
            <a:bodyPr wrap="none" lIns="0" tIns="0" rIns="0" bIns="0" rtlCol="0" anchor="t">
              <a:noAutofit/>
            </a:bodyPr>
            <a:lstStyle/>
            <a:p>
              <a:pPr algn="l">
                <a:spcBef>
                  <a:spcPts val="0"/>
                </a:spcBef>
                <a:spcAft>
                  <a:spcPts val="0"/>
                </a:spcAft>
              </a:pPr>
              <a:r>
                <a:rPr lang="en-US" sz="1200" b="0" spc="150" dirty="0">
                  <a:solidFill>
                    <a:srgbClr val="9C9A94"/>
                  </a:solidFill>
                  <a:latin typeface="Consolas"/>
                  <a:ea typeface="Consolas"/>
                  <a:cs typeface="Consolas"/>
                </a:rPr>
                <a:t>OPEN WITH</a:t>
              </a:r>
              <a:endParaRPr lang="en-US" sz="1200" dirty="0"/>
            </a:p>
          </p:txBody>
        </p:sp>
        <p:sp>
          <p:nvSpPr>
            <p:cNvPr id="9" name="rect 10"/>
            <p:cNvSpPr/>
            <p:nvPr/>
          </p:nvSpPr>
          <p:spPr>
            <a:xfrm>
              <a:off x="1676400" y="2438400"/>
              <a:ext cx="533400" cy="304800"/>
            </a:xfrm>
            <a:prstGeom prst="roundRect">
              <a:avLst>
                <a:gd name="adj" fmla="val 6250"/>
              </a:avLst>
            </a:prstGeom>
            <a:solidFill>
              <a:srgbClr val="14171B"/>
            </a:solidFill>
            <a:ln w="9525" cap="flat">
              <a:solidFill>
                <a:srgbClr val="9C9A94">
                  <a:alpha val="60000"/>
                </a:srgbClr>
              </a:solidFill>
              <a:miter lim="800000"/>
            </a:ln>
          </p:spPr>
          <p:txBody>
            <a:bodyPr/>
            <a:lstStyle/>
            <a:p>
              <a:endParaRPr lang="en-US"/>
            </a:p>
          </p:txBody>
        </p:sp>
        <p:sp>
          <p:nvSpPr>
            <p:cNvPr id="10" name="line 11"/>
            <p:cNvSpPr/>
            <p:nvPr/>
          </p:nvSpPr>
          <p:spPr>
            <a:xfrm>
              <a:off x="1685925" y="2752725"/>
              <a:ext cx="514350" cy="95"/>
            </a:xfrm>
            <a:custGeom>
              <a:avLst/>
              <a:gdLst/>
              <a:ahLst/>
              <a:cxnLst/>
              <a:rect l="0" t="0" r="r" b="b"/>
              <a:pathLst>
                <a:path w="514350" h="95" fill="none">
                  <a:moveTo>
                    <a:pt x="0" y="0"/>
                  </a:moveTo>
                  <a:lnTo>
                    <a:pt x="514350" y="0"/>
                  </a:lnTo>
                </a:path>
              </a:pathLst>
            </a:custGeom>
            <a:noFill/>
            <a:ln w="19050" cap="flat">
              <a:solidFill>
                <a:srgbClr val="9C9A94">
                  <a:alpha val="60000"/>
                </a:srgbClr>
              </a:solidFill>
              <a:miter lim="800000"/>
            </a:ln>
          </p:spPr>
          <p:txBody>
            <a:bodyPr/>
            <a:lstStyle/>
            <a:p>
              <a:endParaRPr lang="en-US"/>
            </a:p>
          </p:txBody>
        </p:sp>
        <p:sp>
          <p:nvSpPr>
            <p:cNvPr id="11" name="Text 12"/>
            <p:cNvSpPr txBox="1"/>
            <p:nvPr/>
          </p:nvSpPr>
          <p:spPr>
            <a:xfrm>
              <a:off x="1749766" y="2498725"/>
              <a:ext cx="386667" cy="212090"/>
            </a:xfrm>
            <a:prstGeom prst="rect">
              <a:avLst/>
            </a:prstGeom>
            <a:noFill/>
          </p:spPr>
          <p:txBody>
            <a:bodyPr wrap="none" lIns="0" tIns="0" rIns="0" bIns="0" rtlCol="0" anchor="t">
              <a:noAutofit/>
            </a:bodyPr>
            <a:lstStyle/>
            <a:p>
              <a:pPr algn="ctr">
                <a:spcBef>
                  <a:spcPts val="0"/>
                </a:spcBef>
                <a:spcAft>
                  <a:spcPts val="0"/>
                </a:spcAft>
              </a:pPr>
              <a:r>
                <a:rPr lang="en-US" sz="1200" b="0" dirty="0">
                  <a:solidFill>
                    <a:srgbClr val="EDE9E2"/>
                  </a:solidFill>
                  <a:latin typeface="Consolas"/>
                  <a:ea typeface="Consolas"/>
                  <a:cs typeface="Consolas"/>
                </a:rPr>
                <a:t>Ctrl</a:t>
              </a:r>
              <a:endParaRPr lang="en-US" sz="1200" dirty="0"/>
            </a:p>
          </p:txBody>
        </p:sp>
        <p:sp>
          <p:nvSpPr>
            <p:cNvPr id="12" name="Text 13"/>
            <p:cNvSpPr txBox="1"/>
            <p:nvPr/>
          </p:nvSpPr>
          <p:spPr>
            <a:xfrm>
              <a:off x="2271004" y="2498725"/>
              <a:ext cx="125242" cy="212090"/>
            </a:xfrm>
            <a:prstGeom prst="rect">
              <a:avLst/>
            </a:prstGeom>
            <a:noFill/>
          </p:spPr>
          <p:txBody>
            <a:bodyPr wrap="none" lIns="0" tIns="0" rIns="0" bIns="0" rtlCol="0" anchor="t">
              <a:noAutofit/>
            </a:bodyPr>
            <a:lstStyle/>
            <a:p>
              <a:pPr algn="ctr">
                <a:spcBef>
                  <a:spcPts val="0"/>
                </a:spcBef>
                <a:spcAft>
                  <a:spcPts val="0"/>
                </a:spcAft>
              </a:pPr>
              <a:r>
                <a:rPr lang="en-US" sz="1200" b="0" dirty="0">
                  <a:solidFill>
                    <a:srgbClr val="9C9A94"/>
                  </a:solidFill>
                  <a:latin typeface="Consolas"/>
                  <a:ea typeface="Consolas"/>
                  <a:cs typeface="Consolas"/>
                </a:rPr>
                <a:t>+</a:t>
              </a:r>
              <a:endParaRPr lang="en-US" sz="1200" dirty="0"/>
            </a:p>
          </p:txBody>
        </p:sp>
        <p:sp>
          <p:nvSpPr>
            <p:cNvPr id="13" name="rect 14"/>
            <p:cNvSpPr/>
            <p:nvPr/>
          </p:nvSpPr>
          <p:spPr>
            <a:xfrm>
              <a:off x="2457450" y="2438400"/>
              <a:ext cx="609600" cy="304800"/>
            </a:xfrm>
            <a:prstGeom prst="roundRect">
              <a:avLst>
                <a:gd name="adj" fmla="val 6250"/>
              </a:avLst>
            </a:prstGeom>
            <a:solidFill>
              <a:srgbClr val="14171B"/>
            </a:solidFill>
            <a:ln w="9525" cap="flat">
              <a:solidFill>
                <a:srgbClr val="9C9A94">
                  <a:alpha val="60000"/>
                </a:srgbClr>
              </a:solidFill>
              <a:miter lim="800000"/>
            </a:ln>
          </p:spPr>
          <p:txBody>
            <a:bodyPr/>
            <a:lstStyle/>
            <a:p>
              <a:endParaRPr lang="en-US"/>
            </a:p>
          </p:txBody>
        </p:sp>
        <p:sp>
          <p:nvSpPr>
            <p:cNvPr id="14" name="line 15"/>
            <p:cNvSpPr/>
            <p:nvPr/>
          </p:nvSpPr>
          <p:spPr>
            <a:xfrm>
              <a:off x="2466975" y="2752725"/>
              <a:ext cx="590550" cy="95"/>
            </a:xfrm>
            <a:custGeom>
              <a:avLst/>
              <a:gdLst/>
              <a:ahLst/>
              <a:cxnLst/>
              <a:rect l="0" t="0" r="r" b="b"/>
              <a:pathLst>
                <a:path w="590550" h="95" fill="none">
                  <a:moveTo>
                    <a:pt x="0" y="0"/>
                  </a:moveTo>
                  <a:lnTo>
                    <a:pt x="590550" y="0"/>
                  </a:lnTo>
                </a:path>
              </a:pathLst>
            </a:custGeom>
            <a:noFill/>
            <a:ln w="19050" cap="flat">
              <a:solidFill>
                <a:srgbClr val="9C9A94">
                  <a:alpha val="60000"/>
                </a:srgbClr>
              </a:solidFill>
              <a:miter lim="800000"/>
            </a:ln>
          </p:spPr>
          <p:txBody>
            <a:bodyPr/>
            <a:lstStyle/>
            <a:p>
              <a:endParaRPr lang="en-US"/>
            </a:p>
          </p:txBody>
        </p:sp>
        <p:sp>
          <p:nvSpPr>
            <p:cNvPr id="15" name="Text 16"/>
            <p:cNvSpPr txBox="1"/>
            <p:nvPr/>
          </p:nvSpPr>
          <p:spPr>
            <a:xfrm>
              <a:off x="2525345" y="2498725"/>
              <a:ext cx="473809" cy="212090"/>
            </a:xfrm>
            <a:prstGeom prst="rect">
              <a:avLst/>
            </a:prstGeom>
            <a:noFill/>
          </p:spPr>
          <p:txBody>
            <a:bodyPr wrap="none" lIns="0" tIns="0" rIns="0" bIns="0" rtlCol="0" anchor="t">
              <a:noAutofit/>
            </a:bodyPr>
            <a:lstStyle/>
            <a:p>
              <a:pPr algn="ctr">
                <a:spcBef>
                  <a:spcPts val="0"/>
                </a:spcBef>
                <a:spcAft>
                  <a:spcPts val="0"/>
                </a:spcAft>
              </a:pPr>
              <a:r>
                <a:rPr lang="en-US" sz="1200" b="0" dirty="0">
                  <a:solidFill>
                    <a:srgbClr val="EDE9E2"/>
                  </a:solidFill>
                  <a:latin typeface="Consolas"/>
                  <a:ea typeface="Consolas"/>
                  <a:cs typeface="Consolas"/>
                </a:rPr>
                <a:t>Shift</a:t>
              </a:r>
              <a:endParaRPr lang="en-US" sz="1200" dirty="0"/>
            </a:p>
          </p:txBody>
        </p:sp>
        <p:sp>
          <p:nvSpPr>
            <p:cNvPr id="16" name="Text 17"/>
            <p:cNvSpPr txBox="1"/>
            <p:nvPr/>
          </p:nvSpPr>
          <p:spPr>
            <a:xfrm>
              <a:off x="3128254" y="2498725"/>
              <a:ext cx="125242" cy="212090"/>
            </a:xfrm>
            <a:prstGeom prst="rect">
              <a:avLst/>
            </a:prstGeom>
            <a:noFill/>
          </p:spPr>
          <p:txBody>
            <a:bodyPr wrap="none" lIns="0" tIns="0" rIns="0" bIns="0" rtlCol="0" anchor="t">
              <a:noAutofit/>
            </a:bodyPr>
            <a:lstStyle/>
            <a:p>
              <a:pPr algn="ctr">
                <a:spcBef>
                  <a:spcPts val="0"/>
                </a:spcBef>
                <a:spcAft>
                  <a:spcPts val="0"/>
                </a:spcAft>
              </a:pPr>
              <a:r>
                <a:rPr lang="en-US" sz="1200" b="0" dirty="0">
                  <a:solidFill>
                    <a:srgbClr val="9C9A94"/>
                  </a:solidFill>
                  <a:latin typeface="Consolas"/>
                  <a:ea typeface="Consolas"/>
                  <a:cs typeface="Consolas"/>
                </a:rPr>
                <a:t>+</a:t>
              </a:r>
              <a:endParaRPr lang="en-US" sz="1200" dirty="0"/>
            </a:p>
          </p:txBody>
        </p:sp>
        <p:sp>
          <p:nvSpPr>
            <p:cNvPr id="17" name="rect 18"/>
            <p:cNvSpPr/>
            <p:nvPr/>
          </p:nvSpPr>
          <p:spPr>
            <a:xfrm>
              <a:off x="3314700" y="2438400"/>
              <a:ext cx="342900" cy="304800"/>
            </a:xfrm>
            <a:prstGeom prst="roundRect">
              <a:avLst>
                <a:gd name="adj" fmla="val 6250"/>
              </a:avLst>
            </a:prstGeom>
            <a:solidFill>
              <a:srgbClr val="14171B"/>
            </a:solidFill>
            <a:ln w="9525" cap="flat">
              <a:solidFill>
                <a:srgbClr val="9C9A94">
                  <a:alpha val="60000"/>
                </a:srgbClr>
              </a:solidFill>
              <a:miter lim="800000"/>
            </a:ln>
          </p:spPr>
          <p:txBody>
            <a:bodyPr/>
            <a:lstStyle/>
            <a:p>
              <a:endParaRPr lang="en-US"/>
            </a:p>
          </p:txBody>
        </p:sp>
        <p:sp>
          <p:nvSpPr>
            <p:cNvPr id="18" name="line 19"/>
            <p:cNvSpPr/>
            <p:nvPr/>
          </p:nvSpPr>
          <p:spPr>
            <a:xfrm>
              <a:off x="3324225" y="2752725"/>
              <a:ext cx="323850" cy="95"/>
            </a:xfrm>
            <a:custGeom>
              <a:avLst/>
              <a:gdLst/>
              <a:ahLst/>
              <a:cxnLst/>
              <a:rect l="0" t="0" r="r" b="b"/>
              <a:pathLst>
                <a:path w="323850" h="95" fill="none">
                  <a:moveTo>
                    <a:pt x="0" y="0"/>
                  </a:moveTo>
                  <a:lnTo>
                    <a:pt x="323850" y="0"/>
                  </a:lnTo>
                </a:path>
              </a:pathLst>
            </a:custGeom>
            <a:noFill/>
            <a:ln w="19050" cap="flat">
              <a:solidFill>
                <a:srgbClr val="9C9A94">
                  <a:alpha val="60000"/>
                </a:srgbClr>
              </a:solidFill>
              <a:miter lim="800000"/>
            </a:ln>
          </p:spPr>
          <p:txBody>
            <a:bodyPr/>
            <a:lstStyle/>
            <a:p>
              <a:endParaRPr lang="en-US"/>
            </a:p>
          </p:txBody>
        </p:sp>
        <p:sp>
          <p:nvSpPr>
            <p:cNvPr id="19" name="Text 20"/>
            <p:cNvSpPr txBox="1"/>
            <p:nvPr/>
          </p:nvSpPr>
          <p:spPr>
            <a:xfrm>
              <a:off x="3423529" y="2498725"/>
              <a:ext cx="125242" cy="212090"/>
            </a:xfrm>
            <a:prstGeom prst="rect">
              <a:avLst/>
            </a:prstGeom>
            <a:noFill/>
          </p:spPr>
          <p:txBody>
            <a:bodyPr wrap="none" lIns="0" tIns="0" rIns="0" bIns="0" rtlCol="0" anchor="t">
              <a:noAutofit/>
            </a:bodyPr>
            <a:lstStyle/>
            <a:p>
              <a:pPr algn="ctr">
                <a:spcBef>
                  <a:spcPts val="0"/>
                </a:spcBef>
                <a:spcAft>
                  <a:spcPts val="0"/>
                </a:spcAft>
              </a:pPr>
              <a:r>
                <a:rPr lang="en-US" sz="1200" b="0" dirty="0">
                  <a:solidFill>
                    <a:srgbClr val="EDE9E2"/>
                  </a:solidFill>
                  <a:latin typeface="Consolas"/>
                  <a:ea typeface="Consolas"/>
                  <a:cs typeface="Consolas"/>
                </a:rPr>
                <a:t>X</a:t>
              </a:r>
              <a:endParaRPr lang="en-US" sz="1200" dirty="0"/>
            </a:p>
          </p:txBody>
        </p:sp>
        <p:sp>
          <p:nvSpPr>
            <p:cNvPr id="20" name="Text 21"/>
            <p:cNvSpPr txBox="1"/>
            <p:nvPr/>
          </p:nvSpPr>
          <p:spPr>
            <a:xfrm>
              <a:off x="3848100" y="2495550"/>
              <a:ext cx="2540603"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Segoe UI"/>
                  <a:ea typeface="Segoe UI"/>
                  <a:cs typeface="Segoe UI"/>
                </a:rPr>
                <a:t>or the Extensions icon in the header</a:t>
              </a:r>
              <a:endParaRPr lang="en-US" sz="1200" dirty="0"/>
            </a:p>
          </p:txBody>
        </p:sp>
      </p:grpSp>
      <p:grpSp>
        <p:nvGrpSpPr>
          <p:cNvPr id="83" name="chip-wall"/>
          <p:cNvGrpSpPr/>
          <p:nvPr/>
        </p:nvGrpSpPr>
        <p:grpSpPr>
          <a:xfrm>
            <a:off x="495300" y="2876550"/>
            <a:ext cx="6629400" cy="3219450"/>
            <a:chOff x="495300" y="2876550"/>
            <a:chExt cx="6629400" cy="3219450"/>
          </a:xfrm>
        </p:grpSpPr>
        <p:sp>
          <p:nvSpPr>
            <p:cNvPr id="23" name="path 24"/>
            <p:cNvSpPr/>
            <p:nvPr/>
          </p:nvSpPr>
          <p:spPr>
            <a:xfrm>
              <a:off x="495300" y="2876550"/>
              <a:ext cx="228600" cy="228600"/>
            </a:xfrm>
            <a:custGeom>
              <a:avLst/>
              <a:gdLst/>
              <a:ahLst/>
              <a:cxnLst/>
              <a:rect l="0" t="0" r="r" b="b"/>
              <a:pathLst>
                <a:path w="228600" h="228600" fill="none">
                  <a:moveTo>
                    <a:pt x="0" y="228600"/>
                  </a:moveTo>
                  <a:lnTo>
                    <a:pt x="0" y="0"/>
                  </a:lnTo>
                  <a:lnTo>
                    <a:pt x="228600" y="0"/>
                  </a:lnTo>
                </a:path>
              </a:pathLst>
            </a:custGeom>
            <a:noFill/>
            <a:ln w="19050" cap="flat">
              <a:solidFill>
                <a:srgbClr val="3D8BFF"/>
              </a:solidFill>
              <a:miter lim="800000"/>
            </a:ln>
          </p:spPr>
          <p:txBody>
            <a:bodyPr/>
            <a:lstStyle/>
            <a:p>
              <a:endParaRPr lang="en-US"/>
            </a:p>
          </p:txBody>
        </p:sp>
        <p:sp>
          <p:nvSpPr>
            <p:cNvPr id="24" name="path 25"/>
            <p:cNvSpPr/>
            <p:nvPr/>
          </p:nvSpPr>
          <p:spPr>
            <a:xfrm>
              <a:off x="6896100" y="2876550"/>
              <a:ext cx="228600" cy="228600"/>
            </a:xfrm>
            <a:custGeom>
              <a:avLst/>
              <a:gdLst/>
              <a:ahLst/>
              <a:cxnLst/>
              <a:rect l="0" t="0" r="r" b="b"/>
              <a:pathLst>
                <a:path w="228600" h="228600" fill="none">
                  <a:moveTo>
                    <a:pt x="228600" y="228600"/>
                  </a:moveTo>
                  <a:lnTo>
                    <a:pt x="228600" y="0"/>
                  </a:lnTo>
                  <a:lnTo>
                    <a:pt x="0" y="0"/>
                  </a:lnTo>
                </a:path>
              </a:pathLst>
            </a:custGeom>
            <a:noFill/>
            <a:ln w="19050" cap="flat">
              <a:solidFill>
                <a:srgbClr val="3D8BFF"/>
              </a:solidFill>
              <a:miter lim="800000"/>
            </a:ln>
          </p:spPr>
          <p:txBody>
            <a:bodyPr/>
            <a:lstStyle/>
            <a:p>
              <a:endParaRPr lang="en-US"/>
            </a:p>
          </p:txBody>
        </p:sp>
        <p:sp>
          <p:nvSpPr>
            <p:cNvPr id="25" name="path 26"/>
            <p:cNvSpPr/>
            <p:nvPr/>
          </p:nvSpPr>
          <p:spPr>
            <a:xfrm>
              <a:off x="495300" y="5867400"/>
              <a:ext cx="228600" cy="228600"/>
            </a:xfrm>
            <a:custGeom>
              <a:avLst/>
              <a:gdLst/>
              <a:ahLst/>
              <a:cxnLst/>
              <a:rect l="0" t="0" r="r" b="b"/>
              <a:pathLst>
                <a:path w="228600" h="228600" fill="none">
                  <a:moveTo>
                    <a:pt x="0" y="0"/>
                  </a:moveTo>
                  <a:lnTo>
                    <a:pt x="0" y="228600"/>
                  </a:lnTo>
                  <a:lnTo>
                    <a:pt x="228600" y="228600"/>
                  </a:lnTo>
                </a:path>
              </a:pathLst>
            </a:custGeom>
            <a:noFill/>
            <a:ln w="19050" cap="flat">
              <a:solidFill>
                <a:srgbClr val="3D8BFF"/>
              </a:solidFill>
              <a:miter lim="800000"/>
            </a:ln>
          </p:spPr>
          <p:txBody>
            <a:bodyPr/>
            <a:lstStyle/>
            <a:p>
              <a:endParaRPr lang="en-US"/>
            </a:p>
          </p:txBody>
        </p:sp>
        <p:sp>
          <p:nvSpPr>
            <p:cNvPr id="26" name="path 27"/>
            <p:cNvSpPr/>
            <p:nvPr/>
          </p:nvSpPr>
          <p:spPr>
            <a:xfrm>
              <a:off x="6896100" y="5867400"/>
              <a:ext cx="228600" cy="228600"/>
            </a:xfrm>
            <a:custGeom>
              <a:avLst/>
              <a:gdLst/>
              <a:ahLst/>
              <a:cxnLst/>
              <a:rect l="0" t="0" r="r" b="b"/>
              <a:pathLst>
                <a:path w="228600" h="228600" fill="none">
                  <a:moveTo>
                    <a:pt x="228600" y="0"/>
                  </a:moveTo>
                  <a:lnTo>
                    <a:pt x="228600" y="228600"/>
                  </a:lnTo>
                  <a:lnTo>
                    <a:pt x="0" y="228600"/>
                  </a:lnTo>
                </a:path>
              </a:pathLst>
            </a:custGeom>
            <a:noFill/>
            <a:ln w="19050" cap="flat">
              <a:solidFill>
                <a:srgbClr val="3D8BFF"/>
              </a:solidFill>
              <a:miter lim="800000"/>
            </a:ln>
          </p:spPr>
          <p:txBody>
            <a:bodyPr/>
            <a:lstStyle/>
            <a:p>
              <a:endParaRPr lang="en-US"/>
            </a:p>
          </p:txBody>
        </p:sp>
        <p:sp>
          <p:nvSpPr>
            <p:cNvPr id="27" name="rect 28"/>
            <p:cNvSpPr/>
            <p:nvPr/>
          </p:nvSpPr>
          <p:spPr>
            <a:xfrm>
              <a:off x="609600" y="2990850"/>
              <a:ext cx="3124200" cy="361950"/>
            </a:xfrm>
            <a:prstGeom prst="roundRect">
              <a:avLst>
                <a:gd name="adj" fmla="val 5263"/>
              </a:avLst>
            </a:prstGeom>
            <a:solidFill>
              <a:srgbClr val="14171B"/>
            </a:solidFill>
            <a:ln w="9525" cap="flat">
              <a:solidFill>
                <a:srgbClr val="2A2E35"/>
              </a:solidFill>
              <a:miter lim="800000"/>
            </a:ln>
          </p:spPr>
          <p:txBody>
            <a:bodyPr/>
            <a:lstStyle/>
            <a:p>
              <a:endParaRPr lang="en-US"/>
            </a:p>
          </p:txBody>
        </p:sp>
        <p:sp>
          <p:nvSpPr>
            <p:cNvPr id="28" name="rect 29"/>
            <p:cNvSpPr/>
            <p:nvPr/>
          </p:nvSpPr>
          <p:spPr>
            <a:xfrm>
              <a:off x="742950" y="3143250"/>
              <a:ext cx="57150" cy="57150"/>
            </a:xfrm>
            <a:prstGeom prst="rect">
              <a:avLst/>
            </a:prstGeom>
            <a:solidFill>
              <a:srgbClr val="3D8BFF"/>
            </a:solidFill>
            <a:ln>
              <a:noFill/>
            </a:ln>
          </p:spPr>
          <p:txBody>
            <a:bodyPr/>
            <a:lstStyle/>
            <a:p>
              <a:endParaRPr lang="en-US"/>
            </a:p>
          </p:txBody>
        </p:sp>
        <p:sp>
          <p:nvSpPr>
            <p:cNvPr id="29" name="Text 30"/>
            <p:cNvSpPr txBox="1"/>
            <p:nvPr/>
          </p:nvSpPr>
          <p:spPr>
            <a:xfrm>
              <a:off x="933450" y="3048000"/>
              <a:ext cx="1675976" cy="276225"/>
            </a:xfrm>
            <a:prstGeom prst="rect">
              <a:avLst/>
            </a:prstGeom>
            <a:noFill/>
          </p:spPr>
          <p:txBody>
            <a:bodyPr wrap="none" lIns="0" tIns="0" rIns="0" bIns="0" rtlCol="0" anchor="t">
              <a:noAutofit/>
            </a:bodyPr>
            <a:lstStyle/>
            <a:p>
              <a:pPr algn="l">
                <a:spcBef>
                  <a:spcPts val="0"/>
                </a:spcBef>
                <a:spcAft>
                  <a:spcPts val="0"/>
                </a:spcAft>
              </a:pPr>
              <a:r>
                <a:rPr lang="en-US" sz="1500" b="0" dirty="0">
                  <a:solidFill>
                    <a:srgbClr val="EDE9E2"/>
                  </a:solidFill>
                  <a:latin typeface="Segoe UI"/>
                  <a:ea typeface="Segoe UI"/>
                  <a:cs typeface="Segoe UI"/>
                </a:rPr>
                <a:t>Google Antigravity</a:t>
              </a:r>
              <a:endParaRPr lang="en-US" sz="1500" dirty="0"/>
            </a:p>
          </p:txBody>
        </p:sp>
        <p:sp>
          <p:nvSpPr>
            <p:cNvPr id="30" name="Text 31"/>
            <p:cNvSpPr txBox="1"/>
            <p:nvPr/>
          </p:nvSpPr>
          <p:spPr>
            <a:xfrm>
              <a:off x="3053274" y="3076575"/>
              <a:ext cx="547176" cy="224790"/>
            </a:xfrm>
            <a:prstGeom prst="rect">
              <a:avLst/>
            </a:prstGeom>
            <a:noFill/>
          </p:spPr>
          <p:txBody>
            <a:bodyPr wrap="none" lIns="0" tIns="0" rIns="0" bIns="0" rtlCol="0" anchor="t">
              <a:noAutofit/>
            </a:bodyPr>
            <a:lstStyle/>
            <a:p>
              <a:pPr algn="r">
                <a:spcBef>
                  <a:spcPts val="0"/>
                </a:spcBef>
                <a:spcAft>
                  <a:spcPts val="0"/>
                </a:spcAft>
              </a:pPr>
              <a:r>
                <a:rPr lang="en-US" sz="1200" b="0" dirty="0">
                  <a:solidFill>
                    <a:srgbClr val="9C9A94"/>
                  </a:solidFill>
                  <a:latin typeface="Segoe UI"/>
                  <a:ea typeface="Segoe UI"/>
                  <a:cs typeface="Segoe UI"/>
                </a:rPr>
                <a:t>Google</a:t>
              </a:r>
              <a:endParaRPr lang="en-US" sz="1200" dirty="0"/>
            </a:p>
          </p:txBody>
        </p:sp>
        <p:sp>
          <p:nvSpPr>
            <p:cNvPr id="31" name="rect 32"/>
            <p:cNvSpPr/>
            <p:nvPr/>
          </p:nvSpPr>
          <p:spPr>
            <a:xfrm>
              <a:off x="3886200" y="2990850"/>
              <a:ext cx="3124200" cy="361950"/>
            </a:xfrm>
            <a:prstGeom prst="roundRect">
              <a:avLst>
                <a:gd name="adj" fmla="val 5263"/>
              </a:avLst>
            </a:prstGeom>
            <a:solidFill>
              <a:srgbClr val="14171B"/>
            </a:solidFill>
            <a:ln w="9525" cap="flat">
              <a:solidFill>
                <a:srgbClr val="2A2E35"/>
              </a:solidFill>
              <a:miter lim="800000"/>
            </a:ln>
          </p:spPr>
          <p:txBody>
            <a:bodyPr/>
            <a:lstStyle/>
            <a:p>
              <a:endParaRPr lang="en-US"/>
            </a:p>
          </p:txBody>
        </p:sp>
        <p:sp>
          <p:nvSpPr>
            <p:cNvPr id="32" name="rect 33"/>
            <p:cNvSpPr/>
            <p:nvPr/>
          </p:nvSpPr>
          <p:spPr>
            <a:xfrm>
              <a:off x="4019550" y="3143250"/>
              <a:ext cx="57150" cy="57150"/>
            </a:xfrm>
            <a:prstGeom prst="rect">
              <a:avLst/>
            </a:prstGeom>
            <a:solidFill>
              <a:srgbClr val="3D8BFF"/>
            </a:solidFill>
            <a:ln>
              <a:noFill/>
            </a:ln>
          </p:spPr>
          <p:txBody>
            <a:bodyPr/>
            <a:lstStyle/>
            <a:p>
              <a:endParaRPr lang="en-US"/>
            </a:p>
          </p:txBody>
        </p:sp>
        <p:sp>
          <p:nvSpPr>
            <p:cNvPr id="33" name="Text 34"/>
            <p:cNvSpPr txBox="1"/>
            <p:nvPr/>
          </p:nvSpPr>
          <p:spPr>
            <a:xfrm>
              <a:off x="4210050" y="3048000"/>
              <a:ext cx="878369" cy="276225"/>
            </a:xfrm>
            <a:prstGeom prst="rect">
              <a:avLst/>
            </a:prstGeom>
            <a:noFill/>
          </p:spPr>
          <p:txBody>
            <a:bodyPr wrap="none" lIns="0" tIns="0" rIns="0" bIns="0" rtlCol="0" anchor="t">
              <a:noAutofit/>
            </a:bodyPr>
            <a:lstStyle/>
            <a:p>
              <a:pPr algn="l">
                <a:spcBef>
                  <a:spcPts val="0"/>
                </a:spcBef>
                <a:spcAft>
                  <a:spcPts val="0"/>
                </a:spcAft>
              </a:pPr>
              <a:r>
                <a:rPr lang="en-US" sz="1500" b="0" dirty="0">
                  <a:solidFill>
                    <a:srgbClr val="EDE9E2"/>
                  </a:solidFill>
                  <a:latin typeface="Segoe UI"/>
                  <a:ea typeface="Segoe UI"/>
                  <a:cs typeface="Segoe UI"/>
                </a:rPr>
                <a:t>Kilo Code</a:t>
              </a:r>
              <a:endParaRPr lang="en-US" sz="1500" dirty="0"/>
            </a:p>
          </p:txBody>
        </p:sp>
        <p:sp>
          <p:nvSpPr>
            <p:cNvPr id="34" name="Text 35"/>
            <p:cNvSpPr txBox="1"/>
            <p:nvPr/>
          </p:nvSpPr>
          <p:spPr>
            <a:xfrm>
              <a:off x="6577370" y="3076575"/>
              <a:ext cx="299680" cy="224790"/>
            </a:xfrm>
            <a:prstGeom prst="rect">
              <a:avLst/>
            </a:prstGeom>
            <a:noFill/>
          </p:spPr>
          <p:txBody>
            <a:bodyPr wrap="none" lIns="0" tIns="0" rIns="0" bIns="0" rtlCol="0" anchor="t">
              <a:noAutofit/>
            </a:bodyPr>
            <a:lstStyle/>
            <a:p>
              <a:pPr algn="r">
                <a:spcBef>
                  <a:spcPts val="0"/>
                </a:spcBef>
                <a:spcAft>
                  <a:spcPts val="0"/>
                </a:spcAft>
              </a:pPr>
              <a:r>
                <a:rPr lang="en-US" sz="1200" b="0" dirty="0">
                  <a:solidFill>
                    <a:srgbClr val="9C9A94"/>
                  </a:solidFill>
                  <a:latin typeface="Segoe UI"/>
                  <a:ea typeface="Segoe UI"/>
                  <a:cs typeface="Segoe UI"/>
                </a:rPr>
                <a:t>Kilo</a:t>
              </a:r>
              <a:endParaRPr lang="en-US" sz="1200" dirty="0"/>
            </a:p>
          </p:txBody>
        </p:sp>
        <p:sp>
          <p:nvSpPr>
            <p:cNvPr id="35" name="rect 36"/>
            <p:cNvSpPr/>
            <p:nvPr/>
          </p:nvSpPr>
          <p:spPr>
            <a:xfrm>
              <a:off x="609600" y="3429000"/>
              <a:ext cx="3124200" cy="361950"/>
            </a:xfrm>
            <a:prstGeom prst="roundRect">
              <a:avLst>
                <a:gd name="adj" fmla="val 5263"/>
              </a:avLst>
            </a:prstGeom>
            <a:solidFill>
              <a:srgbClr val="14171B"/>
            </a:solidFill>
            <a:ln w="9525" cap="flat">
              <a:solidFill>
                <a:srgbClr val="2A2E35"/>
              </a:solidFill>
              <a:miter lim="800000"/>
            </a:ln>
          </p:spPr>
          <p:txBody>
            <a:bodyPr/>
            <a:lstStyle/>
            <a:p>
              <a:endParaRPr lang="en-US"/>
            </a:p>
          </p:txBody>
        </p:sp>
        <p:sp>
          <p:nvSpPr>
            <p:cNvPr id="36" name="rect 37"/>
            <p:cNvSpPr/>
            <p:nvPr/>
          </p:nvSpPr>
          <p:spPr>
            <a:xfrm>
              <a:off x="742950" y="3581400"/>
              <a:ext cx="57150" cy="57150"/>
            </a:xfrm>
            <a:prstGeom prst="rect">
              <a:avLst/>
            </a:prstGeom>
            <a:solidFill>
              <a:srgbClr val="3D8BFF"/>
            </a:solidFill>
            <a:ln>
              <a:noFill/>
            </a:ln>
          </p:spPr>
          <p:txBody>
            <a:bodyPr/>
            <a:lstStyle/>
            <a:p>
              <a:endParaRPr lang="en-US"/>
            </a:p>
          </p:txBody>
        </p:sp>
        <p:sp>
          <p:nvSpPr>
            <p:cNvPr id="37" name="Text 38"/>
            <p:cNvSpPr txBox="1"/>
            <p:nvPr/>
          </p:nvSpPr>
          <p:spPr>
            <a:xfrm>
              <a:off x="933450" y="3486150"/>
              <a:ext cx="472455" cy="276225"/>
            </a:xfrm>
            <a:prstGeom prst="rect">
              <a:avLst/>
            </a:prstGeom>
            <a:noFill/>
          </p:spPr>
          <p:txBody>
            <a:bodyPr wrap="none" lIns="0" tIns="0" rIns="0" bIns="0" rtlCol="0" anchor="t">
              <a:noAutofit/>
            </a:bodyPr>
            <a:lstStyle/>
            <a:p>
              <a:pPr algn="l">
                <a:spcBef>
                  <a:spcPts val="0"/>
                </a:spcBef>
                <a:spcAft>
                  <a:spcPts val="0"/>
                </a:spcAft>
              </a:pPr>
              <a:r>
                <a:rPr lang="en-US" sz="1500" b="0" dirty="0">
                  <a:solidFill>
                    <a:srgbClr val="EDE9E2"/>
                  </a:solidFill>
                  <a:latin typeface="Segoe UI"/>
                  <a:ea typeface="Segoe UI"/>
                  <a:cs typeface="Segoe UI"/>
                </a:rPr>
                <a:t>Cline</a:t>
              </a:r>
              <a:endParaRPr lang="en-US" sz="1500" dirty="0"/>
            </a:p>
          </p:txBody>
        </p:sp>
        <p:sp>
          <p:nvSpPr>
            <p:cNvPr id="38" name="Text 39"/>
            <p:cNvSpPr txBox="1"/>
            <p:nvPr/>
          </p:nvSpPr>
          <p:spPr>
            <a:xfrm>
              <a:off x="3214866" y="3514725"/>
              <a:ext cx="385584" cy="224790"/>
            </a:xfrm>
            <a:prstGeom prst="rect">
              <a:avLst/>
            </a:prstGeom>
            <a:noFill/>
          </p:spPr>
          <p:txBody>
            <a:bodyPr wrap="none" lIns="0" tIns="0" rIns="0" bIns="0" rtlCol="0" anchor="t">
              <a:noAutofit/>
            </a:bodyPr>
            <a:lstStyle/>
            <a:p>
              <a:pPr algn="r">
                <a:spcBef>
                  <a:spcPts val="0"/>
                </a:spcBef>
                <a:spcAft>
                  <a:spcPts val="0"/>
                </a:spcAft>
              </a:pPr>
              <a:r>
                <a:rPr lang="en-US" sz="1200" b="0" dirty="0">
                  <a:solidFill>
                    <a:srgbClr val="9C9A94"/>
                  </a:solidFill>
                  <a:latin typeface="Segoe UI"/>
                  <a:ea typeface="Segoe UI"/>
                  <a:cs typeface="Segoe UI"/>
                </a:rPr>
                <a:t>Cline</a:t>
              </a:r>
              <a:endParaRPr lang="en-US" sz="1200" dirty="0"/>
            </a:p>
          </p:txBody>
        </p:sp>
        <p:sp>
          <p:nvSpPr>
            <p:cNvPr id="39" name="rect 40"/>
            <p:cNvSpPr/>
            <p:nvPr/>
          </p:nvSpPr>
          <p:spPr>
            <a:xfrm>
              <a:off x="3886200" y="3429000"/>
              <a:ext cx="3124200" cy="361950"/>
            </a:xfrm>
            <a:prstGeom prst="roundRect">
              <a:avLst>
                <a:gd name="adj" fmla="val 5263"/>
              </a:avLst>
            </a:prstGeom>
            <a:solidFill>
              <a:srgbClr val="14171B"/>
            </a:solidFill>
            <a:ln w="9525" cap="flat">
              <a:solidFill>
                <a:srgbClr val="2A2E35"/>
              </a:solidFill>
              <a:miter lim="800000"/>
            </a:ln>
          </p:spPr>
          <p:txBody>
            <a:bodyPr/>
            <a:lstStyle/>
            <a:p>
              <a:endParaRPr lang="en-US"/>
            </a:p>
          </p:txBody>
        </p:sp>
        <p:sp>
          <p:nvSpPr>
            <p:cNvPr id="40" name="rect 41"/>
            <p:cNvSpPr/>
            <p:nvPr/>
          </p:nvSpPr>
          <p:spPr>
            <a:xfrm>
              <a:off x="4019550" y="3581400"/>
              <a:ext cx="57150" cy="57150"/>
            </a:xfrm>
            <a:prstGeom prst="rect">
              <a:avLst/>
            </a:prstGeom>
            <a:solidFill>
              <a:srgbClr val="3D8BFF"/>
            </a:solidFill>
            <a:ln>
              <a:noFill/>
            </a:ln>
          </p:spPr>
          <p:txBody>
            <a:bodyPr/>
            <a:lstStyle/>
            <a:p>
              <a:endParaRPr lang="en-US"/>
            </a:p>
          </p:txBody>
        </p:sp>
        <p:sp>
          <p:nvSpPr>
            <p:cNvPr id="41" name="Text 42"/>
            <p:cNvSpPr txBox="1"/>
            <p:nvPr/>
          </p:nvSpPr>
          <p:spPr>
            <a:xfrm>
              <a:off x="4210050" y="3486150"/>
              <a:ext cx="1304404" cy="276225"/>
            </a:xfrm>
            <a:prstGeom prst="rect">
              <a:avLst/>
            </a:prstGeom>
            <a:noFill/>
          </p:spPr>
          <p:txBody>
            <a:bodyPr wrap="none" lIns="0" tIns="0" rIns="0" bIns="0" rtlCol="0" anchor="t">
              <a:noAutofit/>
            </a:bodyPr>
            <a:lstStyle/>
            <a:p>
              <a:pPr algn="l">
                <a:spcBef>
                  <a:spcPts val="0"/>
                </a:spcBef>
                <a:spcAft>
                  <a:spcPts val="0"/>
                </a:spcAft>
              </a:pPr>
              <a:r>
                <a:rPr lang="en-US" sz="1500" b="0" dirty="0">
                  <a:solidFill>
                    <a:srgbClr val="EDE9E2"/>
                  </a:solidFill>
                  <a:latin typeface="Segoe UI"/>
                  <a:ea typeface="Segoe UI"/>
                  <a:cs typeface="Segoe UI"/>
                </a:rPr>
                <a:t>OpenAI Codex</a:t>
              </a:r>
              <a:endParaRPr lang="en-US" sz="1500" dirty="0"/>
            </a:p>
          </p:txBody>
        </p:sp>
        <p:sp>
          <p:nvSpPr>
            <p:cNvPr id="42" name="Text 43"/>
            <p:cNvSpPr txBox="1"/>
            <p:nvPr/>
          </p:nvSpPr>
          <p:spPr>
            <a:xfrm>
              <a:off x="6309289" y="3514725"/>
              <a:ext cx="567761" cy="224790"/>
            </a:xfrm>
            <a:prstGeom prst="rect">
              <a:avLst/>
            </a:prstGeom>
            <a:noFill/>
          </p:spPr>
          <p:txBody>
            <a:bodyPr wrap="none" lIns="0" tIns="0" rIns="0" bIns="0" rtlCol="0" anchor="t">
              <a:noAutofit/>
            </a:bodyPr>
            <a:lstStyle/>
            <a:p>
              <a:pPr algn="r">
                <a:spcBef>
                  <a:spcPts val="0"/>
                </a:spcBef>
                <a:spcAft>
                  <a:spcPts val="0"/>
                </a:spcAft>
              </a:pPr>
              <a:r>
                <a:rPr lang="en-US" sz="1200" b="0" dirty="0">
                  <a:solidFill>
                    <a:srgbClr val="9C9A94"/>
                  </a:solidFill>
                  <a:latin typeface="Segoe UI"/>
                  <a:ea typeface="Segoe UI"/>
                  <a:cs typeface="Segoe UI"/>
                </a:rPr>
                <a:t>OpenAI</a:t>
              </a:r>
              <a:endParaRPr lang="en-US" sz="1200" dirty="0"/>
            </a:p>
          </p:txBody>
        </p:sp>
        <p:sp>
          <p:nvSpPr>
            <p:cNvPr id="43" name="rect 44"/>
            <p:cNvSpPr/>
            <p:nvPr/>
          </p:nvSpPr>
          <p:spPr>
            <a:xfrm>
              <a:off x="609600" y="3867150"/>
              <a:ext cx="3124200" cy="361950"/>
            </a:xfrm>
            <a:prstGeom prst="roundRect">
              <a:avLst>
                <a:gd name="adj" fmla="val 5263"/>
              </a:avLst>
            </a:prstGeom>
            <a:solidFill>
              <a:srgbClr val="14171B"/>
            </a:solidFill>
            <a:ln w="9525" cap="flat">
              <a:solidFill>
                <a:srgbClr val="2A2E35"/>
              </a:solidFill>
              <a:miter lim="800000"/>
            </a:ln>
          </p:spPr>
          <p:txBody>
            <a:bodyPr/>
            <a:lstStyle/>
            <a:p>
              <a:endParaRPr lang="en-US"/>
            </a:p>
          </p:txBody>
        </p:sp>
        <p:sp>
          <p:nvSpPr>
            <p:cNvPr id="44" name="rect 45"/>
            <p:cNvSpPr/>
            <p:nvPr/>
          </p:nvSpPr>
          <p:spPr>
            <a:xfrm>
              <a:off x="742950" y="4019550"/>
              <a:ext cx="57150" cy="57150"/>
            </a:xfrm>
            <a:prstGeom prst="rect">
              <a:avLst/>
            </a:prstGeom>
            <a:solidFill>
              <a:srgbClr val="3D8BFF"/>
            </a:solidFill>
            <a:ln>
              <a:noFill/>
            </a:ln>
          </p:spPr>
          <p:txBody>
            <a:bodyPr/>
            <a:lstStyle/>
            <a:p>
              <a:endParaRPr lang="en-US"/>
            </a:p>
          </p:txBody>
        </p:sp>
        <p:sp>
          <p:nvSpPr>
            <p:cNvPr id="45" name="Text 46"/>
            <p:cNvSpPr txBox="1"/>
            <p:nvPr/>
          </p:nvSpPr>
          <p:spPr>
            <a:xfrm>
              <a:off x="933450" y="3924300"/>
              <a:ext cx="1155234" cy="276225"/>
            </a:xfrm>
            <a:prstGeom prst="rect">
              <a:avLst/>
            </a:prstGeom>
            <a:noFill/>
          </p:spPr>
          <p:txBody>
            <a:bodyPr wrap="none" lIns="0" tIns="0" rIns="0" bIns="0" rtlCol="0" anchor="t">
              <a:noAutofit/>
            </a:bodyPr>
            <a:lstStyle/>
            <a:p>
              <a:pPr algn="l">
                <a:spcBef>
                  <a:spcPts val="0"/>
                </a:spcBef>
                <a:spcAft>
                  <a:spcPts val="0"/>
                </a:spcAft>
              </a:pPr>
              <a:r>
                <a:rPr lang="en-US" sz="1500" b="0" dirty="0">
                  <a:solidFill>
                    <a:srgbClr val="EDE9E2"/>
                  </a:solidFill>
                  <a:latin typeface="Segoe UI"/>
                  <a:ea typeface="Segoe UI"/>
                  <a:cs typeface="Segoe UI"/>
                </a:rPr>
                <a:t>Claude Code</a:t>
              </a:r>
              <a:endParaRPr lang="en-US" sz="1500" dirty="0"/>
            </a:p>
          </p:txBody>
        </p:sp>
        <p:sp>
          <p:nvSpPr>
            <p:cNvPr id="46" name="Text 47"/>
            <p:cNvSpPr txBox="1"/>
            <p:nvPr/>
          </p:nvSpPr>
          <p:spPr>
            <a:xfrm>
              <a:off x="2874270" y="3952875"/>
              <a:ext cx="726180" cy="224790"/>
            </a:xfrm>
            <a:prstGeom prst="rect">
              <a:avLst/>
            </a:prstGeom>
            <a:noFill/>
          </p:spPr>
          <p:txBody>
            <a:bodyPr wrap="none" lIns="0" tIns="0" rIns="0" bIns="0" rtlCol="0" anchor="t">
              <a:noAutofit/>
            </a:bodyPr>
            <a:lstStyle/>
            <a:p>
              <a:pPr algn="r">
                <a:spcBef>
                  <a:spcPts val="0"/>
                </a:spcBef>
                <a:spcAft>
                  <a:spcPts val="0"/>
                </a:spcAft>
              </a:pPr>
              <a:r>
                <a:rPr lang="en-US" sz="1200" b="0" dirty="0">
                  <a:solidFill>
                    <a:srgbClr val="9C9A94"/>
                  </a:solidFill>
                  <a:latin typeface="Segoe UI"/>
                  <a:ea typeface="Segoe UI"/>
                  <a:cs typeface="Segoe UI"/>
                </a:rPr>
                <a:t>Anthropic</a:t>
              </a:r>
              <a:endParaRPr lang="en-US" sz="1200" dirty="0"/>
            </a:p>
          </p:txBody>
        </p:sp>
        <p:sp>
          <p:nvSpPr>
            <p:cNvPr id="47" name="rect 48"/>
            <p:cNvSpPr/>
            <p:nvPr/>
          </p:nvSpPr>
          <p:spPr>
            <a:xfrm>
              <a:off x="3886200" y="3867150"/>
              <a:ext cx="3124200" cy="361950"/>
            </a:xfrm>
            <a:prstGeom prst="roundRect">
              <a:avLst>
                <a:gd name="adj" fmla="val 5263"/>
              </a:avLst>
            </a:prstGeom>
            <a:solidFill>
              <a:srgbClr val="14171B"/>
            </a:solidFill>
            <a:ln w="9525" cap="flat">
              <a:solidFill>
                <a:srgbClr val="2A2E35"/>
              </a:solidFill>
              <a:miter lim="800000"/>
            </a:ln>
          </p:spPr>
          <p:txBody>
            <a:bodyPr/>
            <a:lstStyle/>
            <a:p>
              <a:endParaRPr lang="en-US"/>
            </a:p>
          </p:txBody>
        </p:sp>
        <p:sp>
          <p:nvSpPr>
            <p:cNvPr id="48" name="rect 49"/>
            <p:cNvSpPr/>
            <p:nvPr/>
          </p:nvSpPr>
          <p:spPr>
            <a:xfrm>
              <a:off x="4019550" y="4019550"/>
              <a:ext cx="57150" cy="57150"/>
            </a:xfrm>
            <a:prstGeom prst="rect">
              <a:avLst/>
            </a:prstGeom>
            <a:solidFill>
              <a:srgbClr val="3D8BFF"/>
            </a:solidFill>
            <a:ln>
              <a:noFill/>
            </a:ln>
          </p:spPr>
          <p:txBody>
            <a:bodyPr/>
            <a:lstStyle/>
            <a:p>
              <a:endParaRPr lang="en-US"/>
            </a:p>
          </p:txBody>
        </p:sp>
        <p:sp>
          <p:nvSpPr>
            <p:cNvPr id="49" name="Text 50"/>
            <p:cNvSpPr txBox="1"/>
            <p:nvPr/>
          </p:nvSpPr>
          <p:spPr>
            <a:xfrm>
              <a:off x="4210050" y="3924300"/>
              <a:ext cx="831934" cy="276225"/>
            </a:xfrm>
            <a:prstGeom prst="rect">
              <a:avLst/>
            </a:prstGeom>
            <a:noFill/>
          </p:spPr>
          <p:txBody>
            <a:bodyPr wrap="none" lIns="0" tIns="0" rIns="0" bIns="0" rtlCol="0" anchor="t">
              <a:noAutofit/>
            </a:bodyPr>
            <a:lstStyle/>
            <a:p>
              <a:pPr algn="l">
                <a:spcBef>
                  <a:spcPts val="0"/>
                </a:spcBef>
                <a:spcAft>
                  <a:spcPts val="0"/>
                </a:spcAft>
              </a:pPr>
              <a:r>
                <a:rPr lang="en-US" sz="1500" b="0" dirty="0">
                  <a:solidFill>
                    <a:srgbClr val="EDE9E2"/>
                  </a:solidFill>
                  <a:latin typeface="Segoe UI"/>
                  <a:ea typeface="Segoe UI"/>
                  <a:cs typeface="Segoe UI"/>
                </a:rPr>
                <a:t>Continue</a:t>
              </a:r>
              <a:endParaRPr lang="en-US" sz="1500" dirty="0"/>
            </a:p>
          </p:txBody>
        </p:sp>
        <p:sp>
          <p:nvSpPr>
            <p:cNvPr id="50" name="Text 51"/>
            <p:cNvSpPr txBox="1"/>
            <p:nvPr/>
          </p:nvSpPr>
          <p:spPr>
            <a:xfrm>
              <a:off x="6203883" y="3952875"/>
              <a:ext cx="673167" cy="224790"/>
            </a:xfrm>
            <a:prstGeom prst="rect">
              <a:avLst/>
            </a:prstGeom>
            <a:noFill/>
          </p:spPr>
          <p:txBody>
            <a:bodyPr wrap="none" lIns="0" tIns="0" rIns="0" bIns="0" rtlCol="0" anchor="t">
              <a:noAutofit/>
            </a:bodyPr>
            <a:lstStyle/>
            <a:p>
              <a:pPr algn="r">
                <a:spcBef>
                  <a:spcPts val="0"/>
                </a:spcBef>
                <a:spcAft>
                  <a:spcPts val="0"/>
                </a:spcAft>
              </a:pPr>
              <a:r>
                <a:rPr lang="en-US" sz="1200" b="0" dirty="0">
                  <a:solidFill>
                    <a:srgbClr val="9C9A94"/>
                  </a:solidFill>
                  <a:latin typeface="Segoe UI"/>
                  <a:ea typeface="Segoe UI"/>
                  <a:cs typeface="Segoe UI"/>
                </a:rPr>
                <a:t>Continue</a:t>
              </a:r>
              <a:endParaRPr lang="en-US" sz="1200" dirty="0"/>
            </a:p>
          </p:txBody>
        </p:sp>
        <p:sp>
          <p:nvSpPr>
            <p:cNvPr id="51" name="rect 52"/>
            <p:cNvSpPr/>
            <p:nvPr/>
          </p:nvSpPr>
          <p:spPr>
            <a:xfrm>
              <a:off x="609600" y="4305300"/>
              <a:ext cx="3124200" cy="361950"/>
            </a:xfrm>
            <a:prstGeom prst="roundRect">
              <a:avLst>
                <a:gd name="adj" fmla="val 5263"/>
              </a:avLst>
            </a:prstGeom>
            <a:solidFill>
              <a:srgbClr val="14171B"/>
            </a:solidFill>
            <a:ln w="9525" cap="flat">
              <a:solidFill>
                <a:srgbClr val="2A2E35"/>
              </a:solidFill>
              <a:miter lim="800000"/>
            </a:ln>
          </p:spPr>
          <p:txBody>
            <a:bodyPr/>
            <a:lstStyle/>
            <a:p>
              <a:endParaRPr lang="en-US"/>
            </a:p>
          </p:txBody>
        </p:sp>
        <p:sp>
          <p:nvSpPr>
            <p:cNvPr id="52" name="rect 53"/>
            <p:cNvSpPr/>
            <p:nvPr/>
          </p:nvSpPr>
          <p:spPr>
            <a:xfrm>
              <a:off x="742950" y="4457700"/>
              <a:ext cx="57150" cy="57150"/>
            </a:xfrm>
            <a:prstGeom prst="rect">
              <a:avLst/>
            </a:prstGeom>
            <a:solidFill>
              <a:srgbClr val="3D8BFF"/>
            </a:solidFill>
            <a:ln>
              <a:noFill/>
            </a:ln>
          </p:spPr>
          <p:txBody>
            <a:bodyPr/>
            <a:lstStyle/>
            <a:p>
              <a:endParaRPr lang="en-US"/>
            </a:p>
          </p:txBody>
        </p:sp>
        <p:sp>
          <p:nvSpPr>
            <p:cNvPr id="53" name="Text 54"/>
            <p:cNvSpPr txBox="1"/>
            <p:nvPr/>
          </p:nvSpPr>
          <p:spPr>
            <a:xfrm>
              <a:off x="933450" y="4362450"/>
              <a:ext cx="1907084" cy="276225"/>
            </a:xfrm>
            <a:prstGeom prst="rect">
              <a:avLst/>
            </a:prstGeom>
            <a:noFill/>
          </p:spPr>
          <p:txBody>
            <a:bodyPr wrap="none" lIns="0" tIns="0" rIns="0" bIns="0" rtlCol="0" anchor="t">
              <a:noAutofit/>
            </a:bodyPr>
            <a:lstStyle/>
            <a:p>
              <a:pPr algn="l">
                <a:spcBef>
                  <a:spcPts val="0"/>
                </a:spcBef>
                <a:spcAft>
                  <a:spcPts val="0"/>
                </a:spcAft>
              </a:pPr>
              <a:r>
                <a:rPr lang="en-US" sz="1500" b="0" dirty="0">
                  <a:solidFill>
                    <a:srgbClr val="EDE9E2"/>
                  </a:solidFill>
                  <a:latin typeface="Segoe UI"/>
                  <a:ea typeface="Segoe UI"/>
                  <a:cs typeface="Segoe UI"/>
                </a:rPr>
                <a:t>Amazon Q Developer</a:t>
              </a:r>
              <a:endParaRPr lang="en-US" sz="1500" dirty="0"/>
            </a:p>
          </p:txBody>
        </p:sp>
        <p:sp>
          <p:nvSpPr>
            <p:cNvPr id="54" name="Text 55"/>
            <p:cNvSpPr txBox="1"/>
            <p:nvPr/>
          </p:nvSpPr>
          <p:spPr>
            <a:xfrm>
              <a:off x="3238702" y="4391025"/>
              <a:ext cx="361748" cy="224790"/>
            </a:xfrm>
            <a:prstGeom prst="rect">
              <a:avLst/>
            </a:prstGeom>
            <a:noFill/>
          </p:spPr>
          <p:txBody>
            <a:bodyPr wrap="none" lIns="0" tIns="0" rIns="0" bIns="0" rtlCol="0" anchor="t">
              <a:noAutofit/>
            </a:bodyPr>
            <a:lstStyle/>
            <a:p>
              <a:pPr algn="r">
                <a:spcBef>
                  <a:spcPts val="0"/>
                </a:spcBef>
                <a:spcAft>
                  <a:spcPts val="0"/>
                </a:spcAft>
              </a:pPr>
              <a:r>
                <a:rPr lang="en-US" sz="1200" b="0" dirty="0">
                  <a:solidFill>
                    <a:srgbClr val="9C9A94"/>
                  </a:solidFill>
                  <a:latin typeface="Segoe UI"/>
                  <a:ea typeface="Segoe UI"/>
                  <a:cs typeface="Segoe UI"/>
                </a:rPr>
                <a:t>AWS</a:t>
              </a:r>
              <a:endParaRPr lang="en-US" sz="1200" dirty="0"/>
            </a:p>
          </p:txBody>
        </p:sp>
        <p:sp>
          <p:nvSpPr>
            <p:cNvPr id="55" name="rect 56"/>
            <p:cNvSpPr/>
            <p:nvPr/>
          </p:nvSpPr>
          <p:spPr>
            <a:xfrm>
              <a:off x="3886200" y="4305300"/>
              <a:ext cx="3124200" cy="361950"/>
            </a:xfrm>
            <a:prstGeom prst="roundRect">
              <a:avLst>
                <a:gd name="adj" fmla="val 5263"/>
              </a:avLst>
            </a:prstGeom>
            <a:solidFill>
              <a:srgbClr val="14171B"/>
            </a:solidFill>
            <a:ln w="9525" cap="flat">
              <a:solidFill>
                <a:srgbClr val="2A2E35"/>
              </a:solidFill>
              <a:miter lim="800000"/>
            </a:ln>
          </p:spPr>
          <p:txBody>
            <a:bodyPr/>
            <a:lstStyle/>
            <a:p>
              <a:endParaRPr lang="en-US"/>
            </a:p>
          </p:txBody>
        </p:sp>
        <p:sp>
          <p:nvSpPr>
            <p:cNvPr id="56" name="rect 57"/>
            <p:cNvSpPr/>
            <p:nvPr/>
          </p:nvSpPr>
          <p:spPr>
            <a:xfrm>
              <a:off x="4019550" y="4457700"/>
              <a:ext cx="57150" cy="57150"/>
            </a:xfrm>
            <a:prstGeom prst="rect">
              <a:avLst/>
            </a:prstGeom>
            <a:solidFill>
              <a:srgbClr val="3D8BFF"/>
            </a:solidFill>
            <a:ln>
              <a:noFill/>
            </a:ln>
          </p:spPr>
          <p:txBody>
            <a:bodyPr/>
            <a:lstStyle/>
            <a:p>
              <a:endParaRPr lang="en-US"/>
            </a:p>
          </p:txBody>
        </p:sp>
        <p:sp>
          <p:nvSpPr>
            <p:cNvPr id="57" name="Text 58"/>
            <p:cNvSpPr txBox="1"/>
            <p:nvPr/>
          </p:nvSpPr>
          <p:spPr>
            <a:xfrm>
              <a:off x="4210050" y="4362450"/>
              <a:ext cx="549265" cy="276225"/>
            </a:xfrm>
            <a:prstGeom prst="rect">
              <a:avLst/>
            </a:prstGeom>
            <a:noFill/>
          </p:spPr>
          <p:txBody>
            <a:bodyPr wrap="none" lIns="0" tIns="0" rIns="0" bIns="0" rtlCol="0" anchor="t">
              <a:noAutofit/>
            </a:bodyPr>
            <a:lstStyle/>
            <a:p>
              <a:pPr algn="l">
                <a:spcBef>
                  <a:spcPts val="0"/>
                </a:spcBef>
                <a:spcAft>
                  <a:spcPts val="0"/>
                </a:spcAft>
              </a:pPr>
              <a:r>
                <a:rPr lang="en-US" sz="1500" b="0" dirty="0">
                  <a:solidFill>
                    <a:srgbClr val="EDE9E2"/>
                  </a:solidFill>
                  <a:latin typeface="Segoe UI"/>
                  <a:ea typeface="Segoe UI"/>
                  <a:cs typeface="Segoe UI"/>
                </a:rPr>
                <a:t>Tabby</a:t>
              </a:r>
              <a:endParaRPr lang="en-US" sz="1500" dirty="0"/>
            </a:p>
          </p:txBody>
        </p:sp>
        <p:sp>
          <p:nvSpPr>
            <p:cNvPr id="58" name="Text 59"/>
            <p:cNvSpPr txBox="1"/>
            <p:nvPr/>
          </p:nvSpPr>
          <p:spPr>
            <a:xfrm>
              <a:off x="6213092" y="4391025"/>
              <a:ext cx="663958" cy="224790"/>
            </a:xfrm>
            <a:prstGeom prst="rect">
              <a:avLst/>
            </a:prstGeom>
            <a:noFill/>
          </p:spPr>
          <p:txBody>
            <a:bodyPr wrap="none" lIns="0" tIns="0" rIns="0" bIns="0" rtlCol="0" anchor="t">
              <a:noAutofit/>
            </a:bodyPr>
            <a:lstStyle/>
            <a:p>
              <a:pPr algn="r">
                <a:spcBef>
                  <a:spcPts val="0"/>
                </a:spcBef>
                <a:spcAft>
                  <a:spcPts val="0"/>
                </a:spcAft>
              </a:pPr>
              <a:r>
                <a:rPr lang="en-US" sz="1200" b="0" dirty="0">
                  <a:solidFill>
                    <a:srgbClr val="9C9A94"/>
                  </a:solidFill>
                  <a:latin typeface="Segoe UI"/>
                  <a:ea typeface="Segoe UI"/>
                  <a:cs typeface="Segoe UI"/>
                </a:rPr>
                <a:t>TabbyML</a:t>
              </a:r>
              <a:endParaRPr lang="en-US" sz="1200" dirty="0"/>
            </a:p>
          </p:txBody>
        </p:sp>
        <p:sp>
          <p:nvSpPr>
            <p:cNvPr id="59" name="rect 60"/>
            <p:cNvSpPr/>
            <p:nvPr/>
          </p:nvSpPr>
          <p:spPr>
            <a:xfrm>
              <a:off x="609600" y="4743450"/>
              <a:ext cx="3124200" cy="361950"/>
            </a:xfrm>
            <a:prstGeom prst="roundRect">
              <a:avLst>
                <a:gd name="adj" fmla="val 5263"/>
              </a:avLst>
            </a:prstGeom>
            <a:solidFill>
              <a:srgbClr val="14171B"/>
            </a:solidFill>
            <a:ln w="9525" cap="flat">
              <a:solidFill>
                <a:srgbClr val="2A2E35"/>
              </a:solidFill>
              <a:miter lim="800000"/>
            </a:ln>
          </p:spPr>
          <p:txBody>
            <a:bodyPr/>
            <a:lstStyle/>
            <a:p>
              <a:endParaRPr lang="en-US"/>
            </a:p>
          </p:txBody>
        </p:sp>
        <p:sp>
          <p:nvSpPr>
            <p:cNvPr id="60" name="rect 61"/>
            <p:cNvSpPr/>
            <p:nvPr/>
          </p:nvSpPr>
          <p:spPr>
            <a:xfrm>
              <a:off x="742950" y="4895850"/>
              <a:ext cx="57150" cy="57150"/>
            </a:xfrm>
            <a:prstGeom prst="rect">
              <a:avLst/>
            </a:prstGeom>
            <a:solidFill>
              <a:srgbClr val="3D8BFF"/>
            </a:solidFill>
            <a:ln>
              <a:noFill/>
            </a:ln>
          </p:spPr>
          <p:txBody>
            <a:bodyPr/>
            <a:lstStyle/>
            <a:p>
              <a:endParaRPr lang="en-US"/>
            </a:p>
          </p:txBody>
        </p:sp>
        <p:sp>
          <p:nvSpPr>
            <p:cNvPr id="61" name="Text 62"/>
            <p:cNvSpPr txBox="1"/>
            <p:nvPr/>
          </p:nvSpPr>
          <p:spPr>
            <a:xfrm>
              <a:off x="933450" y="4800600"/>
              <a:ext cx="1429100" cy="276225"/>
            </a:xfrm>
            <a:prstGeom prst="rect">
              <a:avLst/>
            </a:prstGeom>
            <a:noFill/>
          </p:spPr>
          <p:txBody>
            <a:bodyPr wrap="none" lIns="0" tIns="0" rIns="0" bIns="0" rtlCol="0" anchor="t">
              <a:noAutofit/>
            </a:bodyPr>
            <a:lstStyle/>
            <a:p>
              <a:pPr algn="l">
                <a:spcBef>
                  <a:spcPts val="0"/>
                </a:spcBef>
                <a:spcAft>
                  <a:spcPts val="0"/>
                </a:spcAft>
              </a:pPr>
              <a:r>
                <a:rPr lang="en-US" sz="1500" b="0" dirty="0">
                  <a:solidFill>
                    <a:srgbClr val="EDE9E2"/>
                  </a:solidFill>
                  <a:latin typeface="Segoe UI"/>
                  <a:ea typeface="Segoe UI"/>
                  <a:cs typeface="Segoe UI"/>
                </a:rPr>
                <a:t>Windsurf Plugin</a:t>
              </a:r>
              <a:endParaRPr lang="en-US" sz="1500" dirty="0"/>
            </a:p>
          </p:txBody>
        </p:sp>
        <p:sp>
          <p:nvSpPr>
            <p:cNvPr id="62" name="Text 63"/>
            <p:cNvSpPr txBox="1"/>
            <p:nvPr/>
          </p:nvSpPr>
          <p:spPr>
            <a:xfrm>
              <a:off x="2931229" y="4829175"/>
              <a:ext cx="669221" cy="224790"/>
            </a:xfrm>
            <a:prstGeom prst="rect">
              <a:avLst/>
            </a:prstGeom>
            <a:noFill/>
          </p:spPr>
          <p:txBody>
            <a:bodyPr wrap="none" lIns="0" tIns="0" rIns="0" bIns="0" rtlCol="0" anchor="t">
              <a:noAutofit/>
            </a:bodyPr>
            <a:lstStyle/>
            <a:p>
              <a:pPr algn="r">
                <a:spcBef>
                  <a:spcPts val="0"/>
                </a:spcBef>
                <a:spcAft>
                  <a:spcPts val="0"/>
                </a:spcAft>
              </a:pPr>
              <a:r>
                <a:rPr lang="en-US" sz="1200" b="0" dirty="0">
                  <a:solidFill>
                    <a:srgbClr val="9C9A94"/>
                  </a:solidFill>
                  <a:latin typeface="Segoe UI"/>
                  <a:ea typeface="Segoe UI"/>
                  <a:cs typeface="Segoe UI"/>
                </a:rPr>
                <a:t>Windsurf</a:t>
              </a:r>
              <a:endParaRPr lang="en-US" sz="1200" dirty="0"/>
            </a:p>
          </p:txBody>
        </p:sp>
        <p:sp>
          <p:nvSpPr>
            <p:cNvPr id="63" name="rect 64"/>
            <p:cNvSpPr/>
            <p:nvPr/>
          </p:nvSpPr>
          <p:spPr>
            <a:xfrm>
              <a:off x="3886200" y="4743450"/>
              <a:ext cx="3124200" cy="361950"/>
            </a:xfrm>
            <a:prstGeom prst="roundRect">
              <a:avLst>
                <a:gd name="adj" fmla="val 5263"/>
              </a:avLst>
            </a:prstGeom>
            <a:solidFill>
              <a:srgbClr val="14171B"/>
            </a:solidFill>
            <a:ln w="9525" cap="flat">
              <a:solidFill>
                <a:srgbClr val="2A2E35"/>
              </a:solidFill>
              <a:miter lim="800000"/>
            </a:ln>
          </p:spPr>
          <p:txBody>
            <a:bodyPr/>
            <a:lstStyle/>
            <a:p>
              <a:endParaRPr lang="en-US"/>
            </a:p>
          </p:txBody>
        </p:sp>
        <p:sp>
          <p:nvSpPr>
            <p:cNvPr id="64" name="rect 65"/>
            <p:cNvSpPr/>
            <p:nvPr/>
          </p:nvSpPr>
          <p:spPr>
            <a:xfrm>
              <a:off x="4019550" y="4895850"/>
              <a:ext cx="57150" cy="57150"/>
            </a:xfrm>
            <a:prstGeom prst="rect">
              <a:avLst/>
            </a:prstGeom>
            <a:solidFill>
              <a:srgbClr val="3D8BFF"/>
            </a:solidFill>
            <a:ln>
              <a:noFill/>
            </a:ln>
          </p:spPr>
          <p:txBody>
            <a:bodyPr/>
            <a:lstStyle/>
            <a:p>
              <a:endParaRPr lang="en-US"/>
            </a:p>
          </p:txBody>
        </p:sp>
        <p:sp>
          <p:nvSpPr>
            <p:cNvPr id="65" name="Text 66"/>
            <p:cNvSpPr txBox="1"/>
            <p:nvPr/>
          </p:nvSpPr>
          <p:spPr>
            <a:xfrm>
              <a:off x="4210050" y="4800600"/>
              <a:ext cx="1078230" cy="276225"/>
            </a:xfrm>
            <a:prstGeom prst="rect">
              <a:avLst/>
            </a:prstGeom>
            <a:noFill/>
          </p:spPr>
          <p:txBody>
            <a:bodyPr wrap="none" lIns="0" tIns="0" rIns="0" bIns="0" rtlCol="0" anchor="t">
              <a:noAutofit/>
            </a:bodyPr>
            <a:lstStyle/>
            <a:p>
              <a:pPr algn="l">
                <a:spcBef>
                  <a:spcPts val="0"/>
                </a:spcBef>
                <a:spcAft>
                  <a:spcPts val="0"/>
                </a:spcAft>
              </a:pPr>
              <a:r>
                <a:rPr lang="en-US" sz="1500" b="0" dirty="0">
                  <a:solidFill>
                    <a:srgbClr val="EDE9E2"/>
                  </a:solidFill>
                  <a:latin typeface="Segoe UI"/>
                  <a:ea typeface="Segoe UI"/>
                  <a:cs typeface="Segoe UI"/>
                </a:rPr>
                <a:t>Mistral Vibe</a:t>
              </a:r>
              <a:endParaRPr lang="en-US" sz="1500" dirty="0"/>
            </a:p>
          </p:txBody>
        </p:sp>
        <p:sp>
          <p:nvSpPr>
            <p:cNvPr id="66" name="Text 67"/>
            <p:cNvSpPr txBox="1"/>
            <p:nvPr/>
          </p:nvSpPr>
          <p:spPr>
            <a:xfrm>
              <a:off x="6175325" y="4829175"/>
              <a:ext cx="701725" cy="224790"/>
            </a:xfrm>
            <a:prstGeom prst="rect">
              <a:avLst/>
            </a:prstGeom>
            <a:noFill/>
          </p:spPr>
          <p:txBody>
            <a:bodyPr wrap="none" lIns="0" tIns="0" rIns="0" bIns="0" rtlCol="0" anchor="t">
              <a:noAutofit/>
            </a:bodyPr>
            <a:lstStyle/>
            <a:p>
              <a:pPr algn="r">
                <a:spcBef>
                  <a:spcPts val="0"/>
                </a:spcBef>
                <a:spcAft>
                  <a:spcPts val="0"/>
                </a:spcAft>
              </a:pPr>
              <a:r>
                <a:rPr lang="en-US" sz="1200" b="0" dirty="0">
                  <a:solidFill>
                    <a:srgbClr val="9C9A94"/>
                  </a:solidFill>
                  <a:latin typeface="Segoe UI"/>
                  <a:ea typeface="Segoe UI"/>
                  <a:cs typeface="Segoe UI"/>
                </a:rPr>
                <a:t>Mistral AI</a:t>
              </a:r>
              <a:endParaRPr lang="en-US" sz="1200" dirty="0"/>
            </a:p>
          </p:txBody>
        </p:sp>
        <p:sp>
          <p:nvSpPr>
            <p:cNvPr id="67" name="rect 68"/>
            <p:cNvSpPr/>
            <p:nvPr/>
          </p:nvSpPr>
          <p:spPr>
            <a:xfrm>
              <a:off x="609600" y="5181600"/>
              <a:ext cx="3124200" cy="361950"/>
            </a:xfrm>
            <a:prstGeom prst="roundRect">
              <a:avLst>
                <a:gd name="adj" fmla="val 5263"/>
              </a:avLst>
            </a:prstGeom>
            <a:solidFill>
              <a:srgbClr val="14171B"/>
            </a:solidFill>
            <a:ln w="9525" cap="flat">
              <a:solidFill>
                <a:srgbClr val="2A2E35"/>
              </a:solidFill>
              <a:miter lim="800000"/>
            </a:ln>
          </p:spPr>
          <p:txBody>
            <a:bodyPr/>
            <a:lstStyle/>
            <a:p>
              <a:endParaRPr lang="en-US"/>
            </a:p>
          </p:txBody>
        </p:sp>
        <p:sp>
          <p:nvSpPr>
            <p:cNvPr id="68" name="rect 69"/>
            <p:cNvSpPr/>
            <p:nvPr/>
          </p:nvSpPr>
          <p:spPr>
            <a:xfrm>
              <a:off x="742950" y="5334000"/>
              <a:ext cx="57150" cy="57150"/>
            </a:xfrm>
            <a:prstGeom prst="rect">
              <a:avLst/>
            </a:prstGeom>
            <a:solidFill>
              <a:srgbClr val="3D8BFF"/>
            </a:solidFill>
            <a:ln>
              <a:noFill/>
            </a:ln>
          </p:spPr>
          <p:txBody>
            <a:bodyPr/>
            <a:lstStyle/>
            <a:p>
              <a:endParaRPr lang="en-US"/>
            </a:p>
          </p:txBody>
        </p:sp>
        <p:sp>
          <p:nvSpPr>
            <p:cNvPr id="69" name="Text 70"/>
            <p:cNvSpPr txBox="1"/>
            <p:nvPr/>
          </p:nvSpPr>
          <p:spPr>
            <a:xfrm>
              <a:off x="933450" y="5238750"/>
              <a:ext cx="896265" cy="276225"/>
            </a:xfrm>
            <a:prstGeom prst="rect">
              <a:avLst/>
            </a:prstGeom>
            <a:noFill/>
          </p:spPr>
          <p:txBody>
            <a:bodyPr wrap="none" lIns="0" tIns="0" rIns="0" bIns="0" rtlCol="0" anchor="t">
              <a:noAutofit/>
            </a:bodyPr>
            <a:lstStyle/>
            <a:p>
              <a:pPr algn="l">
                <a:spcBef>
                  <a:spcPts val="0"/>
                </a:spcBef>
                <a:spcAft>
                  <a:spcPts val="0"/>
                </a:spcAft>
              </a:pPr>
              <a:r>
                <a:rPr lang="en-US" sz="1500" b="0" dirty="0">
                  <a:solidFill>
                    <a:srgbClr val="EDE9E2"/>
                  </a:solidFill>
                  <a:latin typeface="Segoe UI"/>
                  <a:ea typeface="Segoe UI"/>
                  <a:cs typeface="Segoe UI"/>
                </a:rPr>
                <a:t>Roo Code</a:t>
              </a:r>
              <a:endParaRPr lang="en-US" sz="1500" dirty="0"/>
            </a:p>
          </p:txBody>
        </p:sp>
        <p:sp>
          <p:nvSpPr>
            <p:cNvPr id="70" name="Text 71"/>
            <p:cNvSpPr txBox="1"/>
            <p:nvPr/>
          </p:nvSpPr>
          <p:spPr>
            <a:xfrm>
              <a:off x="2875818" y="5267325"/>
              <a:ext cx="724632" cy="224790"/>
            </a:xfrm>
            <a:prstGeom prst="rect">
              <a:avLst/>
            </a:prstGeom>
            <a:noFill/>
          </p:spPr>
          <p:txBody>
            <a:bodyPr wrap="none" lIns="0" tIns="0" rIns="0" bIns="0" rtlCol="0" anchor="t">
              <a:noAutofit/>
            </a:bodyPr>
            <a:lstStyle/>
            <a:p>
              <a:pPr algn="r">
                <a:spcBef>
                  <a:spcPts val="0"/>
                </a:spcBef>
                <a:spcAft>
                  <a:spcPts val="0"/>
                </a:spcAft>
              </a:pPr>
              <a:r>
                <a:rPr lang="en-US" sz="1200" b="0" dirty="0">
                  <a:solidFill>
                    <a:srgbClr val="9C9A94"/>
                  </a:solidFill>
                  <a:latin typeface="Segoe UI"/>
                  <a:ea typeface="Segoe UI"/>
                  <a:cs typeface="Segoe UI"/>
                </a:rPr>
                <a:t>Roo Code</a:t>
              </a:r>
              <a:endParaRPr lang="en-US" sz="1200" dirty="0"/>
            </a:p>
          </p:txBody>
        </p:sp>
        <p:sp>
          <p:nvSpPr>
            <p:cNvPr id="71" name="rect 72"/>
            <p:cNvSpPr/>
            <p:nvPr/>
          </p:nvSpPr>
          <p:spPr>
            <a:xfrm>
              <a:off x="3886200" y="5181600"/>
              <a:ext cx="3124200" cy="361950"/>
            </a:xfrm>
            <a:prstGeom prst="roundRect">
              <a:avLst>
                <a:gd name="adj" fmla="val 5263"/>
              </a:avLst>
            </a:prstGeom>
            <a:solidFill>
              <a:srgbClr val="14171B"/>
            </a:solidFill>
            <a:ln w="9525" cap="flat">
              <a:solidFill>
                <a:srgbClr val="2A2E35"/>
              </a:solidFill>
              <a:miter lim="800000"/>
            </a:ln>
          </p:spPr>
          <p:txBody>
            <a:bodyPr/>
            <a:lstStyle/>
            <a:p>
              <a:endParaRPr lang="en-US"/>
            </a:p>
          </p:txBody>
        </p:sp>
        <p:sp>
          <p:nvSpPr>
            <p:cNvPr id="72" name="rect 73"/>
            <p:cNvSpPr/>
            <p:nvPr/>
          </p:nvSpPr>
          <p:spPr>
            <a:xfrm>
              <a:off x="4019550" y="5334000"/>
              <a:ext cx="57150" cy="57150"/>
            </a:xfrm>
            <a:prstGeom prst="rect">
              <a:avLst/>
            </a:prstGeom>
            <a:solidFill>
              <a:srgbClr val="3D8BFF"/>
            </a:solidFill>
            <a:ln>
              <a:noFill/>
            </a:ln>
          </p:spPr>
          <p:txBody>
            <a:bodyPr/>
            <a:lstStyle/>
            <a:p>
              <a:endParaRPr lang="en-US"/>
            </a:p>
          </p:txBody>
        </p:sp>
        <p:sp>
          <p:nvSpPr>
            <p:cNvPr id="73" name="Text 74"/>
            <p:cNvSpPr txBox="1"/>
            <p:nvPr/>
          </p:nvSpPr>
          <p:spPr>
            <a:xfrm>
              <a:off x="4210050" y="5238750"/>
              <a:ext cx="917838" cy="276225"/>
            </a:xfrm>
            <a:prstGeom prst="rect">
              <a:avLst/>
            </a:prstGeom>
            <a:noFill/>
          </p:spPr>
          <p:txBody>
            <a:bodyPr wrap="none" lIns="0" tIns="0" rIns="0" bIns="0" rtlCol="0" anchor="t">
              <a:noAutofit/>
            </a:bodyPr>
            <a:lstStyle/>
            <a:p>
              <a:pPr algn="l">
                <a:spcBef>
                  <a:spcPts val="0"/>
                </a:spcBef>
                <a:spcAft>
                  <a:spcPts val="0"/>
                </a:spcAft>
              </a:pPr>
              <a:r>
                <a:rPr lang="en-US" sz="1500" b="0" dirty="0">
                  <a:solidFill>
                    <a:srgbClr val="EDE9E2"/>
                  </a:solidFill>
                  <a:latin typeface="Segoe UI"/>
                  <a:ea typeface="Segoe UI"/>
                  <a:cs typeface="Segoe UI"/>
                </a:rPr>
                <a:t>Qoder CN</a:t>
              </a:r>
              <a:endParaRPr lang="en-US" sz="1500" dirty="0"/>
            </a:p>
          </p:txBody>
        </p:sp>
        <p:sp>
          <p:nvSpPr>
            <p:cNvPr id="74" name="Text 75"/>
            <p:cNvSpPr txBox="1"/>
            <p:nvPr/>
          </p:nvSpPr>
          <p:spPr>
            <a:xfrm>
              <a:off x="5856476" y="5267325"/>
              <a:ext cx="1020574" cy="224790"/>
            </a:xfrm>
            <a:prstGeom prst="rect">
              <a:avLst/>
            </a:prstGeom>
            <a:noFill/>
          </p:spPr>
          <p:txBody>
            <a:bodyPr wrap="none" lIns="0" tIns="0" rIns="0" bIns="0" rtlCol="0" anchor="t">
              <a:noAutofit/>
            </a:bodyPr>
            <a:lstStyle/>
            <a:p>
              <a:pPr algn="r">
                <a:spcBef>
                  <a:spcPts val="0"/>
                </a:spcBef>
                <a:spcAft>
                  <a:spcPts val="0"/>
                </a:spcAft>
              </a:pPr>
              <a:r>
                <a:rPr lang="en-US" sz="1200" b="0" dirty="0">
                  <a:solidFill>
                    <a:srgbClr val="9C9A94"/>
                  </a:solidFill>
                  <a:latin typeface="Segoe UI"/>
                  <a:ea typeface="Segoe UI"/>
                  <a:cs typeface="Segoe UI"/>
                </a:rPr>
                <a:t>Alibaba Cloud</a:t>
              </a:r>
              <a:endParaRPr lang="en-US" sz="1200" dirty="0"/>
            </a:p>
          </p:txBody>
        </p:sp>
        <p:sp>
          <p:nvSpPr>
            <p:cNvPr id="75" name="rect 76"/>
            <p:cNvSpPr/>
            <p:nvPr/>
          </p:nvSpPr>
          <p:spPr>
            <a:xfrm>
              <a:off x="609600" y="5619750"/>
              <a:ext cx="3124200" cy="361950"/>
            </a:xfrm>
            <a:prstGeom prst="roundRect">
              <a:avLst>
                <a:gd name="adj" fmla="val 5263"/>
              </a:avLst>
            </a:prstGeom>
            <a:solidFill>
              <a:srgbClr val="14171B"/>
            </a:solidFill>
            <a:ln w="9525" cap="flat">
              <a:solidFill>
                <a:srgbClr val="2A2E35"/>
              </a:solidFill>
              <a:miter lim="800000"/>
            </a:ln>
          </p:spPr>
          <p:txBody>
            <a:bodyPr/>
            <a:lstStyle/>
            <a:p>
              <a:endParaRPr lang="en-US"/>
            </a:p>
          </p:txBody>
        </p:sp>
        <p:sp>
          <p:nvSpPr>
            <p:cNvPr id="76" name="rect 77"/>
            <p:cNvSpPr/>
            <p:nvPr/>
          </p:nvSpPr>
          <p:spPr>
            <a:xfrm>
              <a:off x="742950" y="5772150"/>
              <a:ext cx="57150" cy="57150"/>
            </a:xfrm>
            <a:prstGeom prst="rect">
              <a:avLst/>
            </a:prstGeom>
            <a:solidFill>
              <a:srgbClr val="3D8BFF"/>
            </a:solidFill>
            <a:ln>
              <a:noFill/>
            </a:ln>
          </p:spPr>
          <p:txBody>
            <a:bodyPr/>
            <a:lstStyle/>
            <a:p>
              <a:endParaRPr lang="en-US"/>
            </a:p>
          </p:txBody>
        </p:sp>
        <p:sp>
          <p:nvSpPr>
            <p:cNvPr id="77" name="Text 78"/>
            <p:cNvSpPr txBox="1"/>
            <p:nvPr/>
          </p:nvSpPr>
          <p:spPr>
            <a:xfrm>
              <a:off x="933450" y="5676900"/>
              <a:ext cx="848186" cy="276225"/>
            </a:xfrm>
            <a:prstGeom prst="rect">
              <a:avLst/>
            </a:prstGeom>
            <a:noFill/>
          </p:spPr>
          <p:txBody>
            <a:bodyPr wrap="none" lIns="0" tIns="0" rIns="0" bIns="0" rtlCol="0" anchor="t">
              <a:noAutofit/>
            </a:bodyPr>
            <a:lstStyle/>
            <a:p>
              <a:pPr algn="l">
                <a:spcBef>
                  <a:spcPts val="0"/>
                </a:spcBef>
                <a:spcAft>
                  <a:spcPts val="0"/>
                </a:spcAft>
              </a:pPr>
              <a:r>
                <a:rPr lang="en-US" sz="1500" b="0" dirty="0">
                  <a:solidFill>
                    <a:srgbClr val="EDE9E2"/>
                  </a:solidFill>
                  <a:latin typeface="Segoe UI"/>
                  <a:ea typeface="Segoe UI"/>
                  <a:cs typeface="Segoe UI"/>
                </a:rPr>
                <a:t>Augment</a:t>
              </a:r>
              <a:endParaRPr lang="en-US" sz="1500" dirty="0"/>
            </a:p>
          </p:txBody>
        </p:sp>
        <p:sp>
          <p:nvSpPr>
            <p:cNvPr id="78" name="Text 79"/>
            <p:cNvSpPr txBox="1"/>
            <p:nvPr/>
          </p:nvSpPr>
          <p:spPr>
            <a:xfrm>
              <a:off x="2503646" y="5705475"/>
              <a:ext cx="1096804" cy="224790"/>
            </a:xfrm>
            <a:prstGeom prst="rect">
              <a:avLst/>
            </a:prstGeom>
            <a:noFill/>
          </p:spPr>
          <p:txBody>
            <a:bodyPr wrap="none" lIns="0" tIns="0" rIns="0" bIns="0" rtlCol="0" anchor="t">
              <a:noAutofit/>
            </a:bodyPr>
            <a:lstStyle/>
            <a:p>
              <a:pPr algn="r">
                <a:spcBef>
                  <a:spcPts val="0"/>
                </a:spcBef>
                <a:spcAft>
                  <a:spcPts val="0"/>
                </a:spcAft>
              </a:pPr>
              <a:r>
                <a:rPr lang="en-US" sz="1200" b="0" dirty="0">
                  <a:solidFill>
                    <a:srgbClr val="9C9A94"/>
                  </a:solidFill>
                  <a:latin typeface="Segoe UI"/>
                  <a:ea typeface="Segoe UI"/>
                  <a:cs typeface="Segoe UI"/>
                </a:rPr>
                <a:t>Augment Code</a:t>
              </a:r>
              <a:endParaRPr lang="en-US" sz="1200" dirty="0"/>
            </a:p>
          </p:txBody>
        </p:sp>
        <p:sp>
          <p:nvSpPr>
            <p:cNvPr id="79" name="rect 80"/>
            <p:cNvSpPr/>
            <p:nvPr/>
          </p:nvSpPr>
          <p:spPr>
            <a:xfrm>
              <a:off x="3886200" y="5619750"/>
              <a:ext cx="3124200" cy="361950"/>
            </a:xfrm>
            <a:prstGeom prst="roundRect">
              <a:avLst>
                <a:gd name="adj" fmla="val 5263"/>
              </a:avLst>
            </a:prstGeom>
            <a:solidFill>
              <a:srgbClr val="14171B"/>
            </a:solidFill>
            <a:ln w="9525" cap="flat">
              <a:solidFill>
                <a:srgbClr val="2A2E35"/>
              </a:solidFill>
              <a:miter lim="800000"/>
            </a:ln>
          </p:spPr>
          <p:txBody>
            <a:bodyPr/>
            <a:lstStyle/>
            <a:p>
              <a:endParaRPr lang="en-US"/>
            </a:p>
          </p:txBody>
        </p:sp>
        <p:sp>
          <p:nvSpPr>
            <p:cNvPr id="80" name="rect 81"/>
            <p:cNvSpPr/>
            <p:nvPr/>
          </p:nvSpPr>
          <p:spPr>
            <a:xfrm>
              <a:off x="4019550" y="5772150"/>
              <a:ext cx="57150" cy="57150"/>
            </a:xfrm>
            <a:prstGeom prst="rect">
              <a:avLst/>
            </a:prstGeom>
            <a:solidFill>
              <a:srgbClr val="3D8BFF"/>
            </a:solidFill>
            <a:ln>
              <a:noFill/>
            </a:ln>
          </p:spPr>
          <p:txBody>
            <a:bodyPr/>
            <a:lstStyle/>
            <a:p>
              <a:endParaRPr lang="en-US"/>
            </a:p>
          </p:txBody>
        </p:sp>
        <p:sp>
          <p:nvSpPr>
            <p:cNvPr id="81" name="Text 82"/>
            <p:cNvSpPr txBox="1"/>
            <p:nvPr/>
          </p:nvSpPr>
          <p:spPr>
            <a:xfrm>
              <a:off x="4210050" y="5676900"/>
              <a:ext cx="1159780" cy="276225"/>
            </a:xfrm>
            <a:prstGeom prst="rect">
              <a:avLst/>
            </a:prstGeom>
            <a:noFill/>
          </p:spPr>
          <p:txBody>
            <a:bodyPr wrap="none" lIns="0" tIns="0" rIns="0" bIns="0" rtlCol="0" anchor="t">
              <a:noAutofit/>
            </a:bodyPr>
            <a:lstStyle/>
            <a:p>
              <a:pPr algn="l">
                <a:spcBef>
                  <a:spcPts val="0"/>
                </a:spcBef>
                <a:spcAft>
                  <a:spcPts val="0"/>
                </a:spcAft>
              </a:pPr>
              <a:r>
                <a:rPr lang="en-US" sz="1500" b="0" dirty="0">
                  <a:solidFill>
                    <a:srgbClr val="EDE9E2"/>
                  </a:solidFill>
                  <a:latin typeface="Segoe UI"/>
                  <a:ea typeface="Segoe UI"/>
                  <a:cs typeface="Segoe UI"/>
                </a:rPr>
                <a:t>Nexrall Code</a:t>
              </a:r>
              <a:endParaRPr lang="en-US" sz="1500" dirty="0"/>
            </a:p>
          </p:txBody>
        </p:sp>
        <p:sp>
          <p:nvSpPr>
            <p:cNvPr id="82" name="Text 83"/>
            <p:cNvSpPr txBox="1"/>
            <p:nvPr/>
          </p:nvSpPr>
          <p:spPr>
            <a:xfrm>
              <a:off x="6352240" y="5705475"/>
              <a:ext cx="524810" cy="224790"/>
            </a:xfrm>
            <a:prstGeom prst="rect">
              <a:avLst/>
            </a:prstGeom>
            <a:noFill/>
          </p:spPr>
          <p:txBody>
            <a:bodyPr wrap="none" lIns="0" tIns="0" rIns="0" bIns="0" rtlCol="0" anchor="t">
              <a:noAutofit/>
            </a:bodyPr>
            <a:lstStyle/>
            <a:p>
              <a:pPr algn="r">
                <a:spcBef>
                  <a:spcPts val="0"/>
                </a:spcBef>
                <a:spcAft>
                  <a:spcPts val="0"/>
                </a:spcAft>
              </a:pPr>
              <a:r>
                <a:rPr lang="en-US" sz="1200" b="0" dirty="0">
                  <a:solidFill>
                    <a:srgbClr val="9C9A94"/>
                  </a:solidFill>
                  <a:latin typeface="Segoe UI"/>
                  <a:ea typeface="Segoe UI"/>
                  <a:cs typeface="Segoe UI"/>
                </a:rPr>
                <a:t>Nexrall</a:t>
              </a:r>
              <a:endParaRPr lang="en-US" sz="1200" dirty="0"/>
            </a:p>
          </p:txBody>
        </p:sp>
      </p:grpSp>
      <p:sp>
        <p:nvSpPr>
          <p:cNvPr id="84" name="column-divider"/>
          <p:cNvSpPr/>
          <p:nvPr/>
        </p:nvSpPr>
        <p:spPr>
          <a:xfrm>
            <a:off x="7277100" y="2286000"/>
            <a:ext cx="95" cy="3848100"/>
          </a:xfrm>
          <a:custGeom>
            <a:avLst/>
            <a:gdLst/>
            <a:ahLst/>
            <a:cxnLst/>
            <a:rect l="0" t="0" r="r" b="b"/>
            <a:pathLst>
              <a:path w="95" h="3848100" fill="none">
                <a:moveTo>
                  <a:pt x="0" y="0"/>
                </a:moveTo>
                <a:lnTo>
                  <a:pt x="0" y="3848100"/>
                </a:lnTo>
              </a:path>
            </a:pathLst>
          </a:custGeom>
          <a:noFill/>
          <a:ln w="9525" cap="flat">
            <a:solidFill>
              <a:srgbClr val="2A2E35"/>
            </a:solidFill>
            <a:miter lim="800000"/>
          </a:ln>
        </p:spPr>
        <p:txBody>
          <a:bodyPr/>
          <a:lstStyle/>
          <a:p>
            <a:endParaRPr lang="en-US"/>
          </a:p>
        </p:txBody>
      </p:sp>
      <p:grpSp>
        <p:nvGrpSpPr>
          <p:cNvPr id="89" name="stmt-1"/>
          <p:cNvGrpSpPr/>
          <p:nvPr/>
        </p:nvGrpSpPr>
        <p:grpSpPr>
          <a:xfrm>
            <a:off x="7467600" y="2260600"/>
            <a:ext cx="4114800" cy="787495"/>
            <a:chOff x="7467600" y="2260600"/>
            <a:chExt cx="4114800" cy="787495"/>
          </a:xfrm>
        </p:grpSpPr>
        <p:sp>
          <p:nvSpPr>
            <p:cNvPr id="85" name="Text 86"/>
            <p:cNvSpPr txBox="1"/>
            <p:nvPr/>
          </p:nvSpPr>
          <p:spPr>
            <a:xfrm>
              <a:off x="7467600" y="2260600"/>
              <a:ext cx="169858" cy="520700"/>
            </a:xfrm>
            <a:prstGeom prst="rect">
              <a:avLst/>
            </a:prstGeom>
            <a:noFill/>
          </p:spPr>
          <p:txBody>
            <a:bodyPr wrap="none" lIns="0" tIns="0" rIns="0" bIns="0" rtlCol="0" anchor="t">
              <a:noAutofit/>
            </a:bodyPr>
            <a:lstStyle/>
            <a:p>
              <a:pPr algn="l">
                <a:spcBef>
                  <a:spcPts val="0"/>
                </a:spcBef>
                <a:spcAft>
                  <a:spcPts val="0"/>
                </a:spcAft>
              </a:pPr>
              <a:r>
                <a:rPr lang="en-US" sz="3000" b="1" dirty="0">
                  <a:solidFill>
                    <a:srgbClr val="FF5B1F"/>
                  </a:solidFill>
                  <a:latin typeface="Bahnschrift"/>
                  <a:ea typeface="Bahnschrift"/>
                  <a:cs typeface="Bahnschrift"/>
                </a:rPr>
                <a:t>1</a:t>
              </a:r>
              <a:endParaRPr lang="en-US" sz="3000" dirty="0"/>
            </a:p>
          </p:txBody>
        </p:sp>
        <p:sp>
          <p:nvSpPr>
            <p:cNvPr id="86" name="Text 87"/>
            <p:cNvSpPr txBox="1"/>
            <p:nvPr/>
          </p:nvSpPr>
          <p:spPr>
            <a:xfrm>
              <a:off x="7829550" y="2305050"/>
              <a:ext cx="1925754" cy="276225"/>
            </a:xfrm>
            <a:prstGeom prst="rect">
              <a:avLst/>
            </a:prstGeom>
            <a:noFill/>
          </p:spPr>
          <p:txBody>
            <a:bodyPr wrap="none" lIns="0" tIns="0" rIns="0" bIns="0" rtlCol="0" anchor="t">
              <a:noAutofit/>
            </a:bodyPr>
            <a:lstStyle/>
            <a:p>
              <a:pPr algn="l">
                <a:spcBef>
                  <a:spcPts val="0"/>
                </a:spcBef>
                <a:spcAft>
                  <a:spcPts val="0"/>
                </a:spcAft>
              </a:pPr>
              <a:r>
                <a:rPr lang="en-US" sz="1500" b="1" dirty="0">
                  <a:solidFill>
                    <a:srgbClr val="EDE9E2"/>
                  </a:solidFill>
                  <a:latin typeface="Segoe UI"/>
                  <a:ea typeface="Segoe UI"/>
                  <a:cs typeface="Segoe UI"/>
                </a:rPr>
                <a:t>Side-by-side layouts</a:t>
              </a:r>
              <a:endParaRPr lang="en-US" sz="1500" dirty="0"/>
            </a:p>
          </p:txBody>
        </p:sp>
        <p:sp>
          <p:nvSpPr>
            <p:cNvPr id="87" name="Text 88"/>
            <p:cNvSpPr txBox="1"/>
            <p:nvPr/>
          </p:nvSpPr>
          <p:spPr>
            <a:xfrm>
              <a:off x="7829550" y="2559050"/>
              <a:ext cx="2838867" cy="456565"/>
            </a:xfrm>
            <a:prstGeom prst="rect">
              <a:avLst/>
            </a:prstGeom>
            <a:noFill/>
          </p:spPr>
          <p:txBody>
            <a:bodyPr wrap="none" lIns="0" tIns="0" rIns="0" bIns="0" rtlCol="0" anchor="t">
              <a:noAutofit/>
            </a:bodyPr>
            <a:lstStyle/>
            <a:p>
              <a:pPr algn="l">
                <a:lnSpc>
                  <a:spcPts val="1700"/>
                </a:lnSpc>
                <a:spcBef>
                  <a:spcPts val="0"/>
                </a:spcBef>
                <a:spcAft>
                  <a:spcPts val="0"/>
                </a:spcAft>
              </a:pPr>
              <a:r>
                <a:rPr lang="en-US" sz="1200" b="0" dirty="0">
                  <a:solidFill>
                    <a:srgbClr val="EDE9E2"/>
                  </a:solidFill>
                  <a:latin typeface="Segoe UI"/>
                  <a:ea typeface="Segoe UI"/>
                  <a:cs typeface="Segoe UI"/>
                </a:rPr>
                <a:t>Drag-and-drop to reorder, resize, or use</a:t>
              </a:r>
              <a:endParaRPr lang="en-US" sz="1200" dirty="0"/>
            </a:p>
            <a:p>
              <a:pPr algn="l">
                <a:lnSpc>
                  <a:spcPts val="1700"/>
                </a:lnSpc>
                <a:spcBef>
                  <a:spcPts val="0"/>
                </a:spcBef>
                <a:spcAft>
                  <a:spcPts val="0"/>
                </a:spcAft>
              </a:pPr>
              <a:r>
                <a:rPr lang="en-US" sz="1200" b="0" dirty="0">
                  <a:solidFill>
                    <a:srgbClr val="EDE9E2"/>
                  </a:solidFill>
                  <a:latin typeface="Segoe UI"/>
                  <a:ea typeface="Segoe UI"/>
                  <a:cs typeface="Segoe UI"/>
                </a:rPr>
                <a:t>focus-left and focus-right presets.</a:t>
              </a:r>
              <a:endParaRPr lang="en-US" sz="1200" dirty="0"/>
            </a:p>
          </p:txBody>
        </p:sp>
        <p:sp>
          <p:nvSpPr>
            <p:cNvPr id="88" name="line 89"/>
            <p:cNvSpPr/>
            <p:nvPr/>
          </p:nvSpPr>
          <p:spPr>
            <a:xfrm>
              <a:off x="7467600" y="3048000"/>
              <a:ext cx="4114800" cy="95"/>
            </a:xfrm>
            <a:custGeom>
              <a:avLst/>
              <a:gdLst/>
              <a:ahLst/>
              <a:cxnLst/>
              <a:rect l="0" t="0" r="r" b="b"/>
              <a:pathLst>
                <a:path w="4114800" h="95" fill="none">
                  <a:moveTo>
                    <a:pt x="0" y="0"/>
                  </a:moveTo>
                  <a:lnTo>
                    <a:pt x="4114800" y="0"/>
                  </a:lnTo>
                </a:path>
              </a:pathLst>
            </a:custGeom>
            <a:noFill/>
            <a:ln w="9525" cap="flat">
              <a:solidFill>
                <a:srgbClr val="2A2E35"/>
              </a:solidFill>
              <a:miter lim="800000"/>
            </a:ln>
          </p:spPr>
          <p:txBody>
            <a:bodyPr/>
            <a:lstStyle/>
            <a:p>
              <a:endParaRPr lang="en-US"/>
            </a:p>
          </p:txBody>
        </p:sp>
      </p:grpSp>
      <p:grpSp>
        <p:nvGrpSpPr>
          <p:cNvPr id="94" name="stmt-2"/>
          <p:cNvGrpSpPr/>
          <p:nvPr/>
        </p:nvGrpSpPr>
        <p:grpSpPr>
          <a:xfrm>
            <a:off x="7467600" y="3089275"/>
            <a:ext cx="4114800" cy="1006570"/>
            <a:chOff x="7467600" y="3089275"/>
            <a:chExt cx="4114800" cy="1006570"/>
          </a:xfrm>
        </p:grpSpPr>
        <p:sp>
          <p:nvSpPr>
            <p:cNvPr id="90" name="Text 91"/>
            <p:cNvSpPr txBox="1"/>
            <p:nvPr/>
          </p:nvSpPr>
          <p:spPr>
            <a:xfrm>
              <a:off x="7467600" y="3089275"/>
              <a:ext cx="242798" cy="520700"/>
            </a:xfrm>
            <a:prstGeom prst="rect">
              <a:avLst/>
            </a:prstGeom>
            <a:noFill/>
          </p:spPr>
          <p:txBody>
            <a:bodyPr wrap="none" lIns="0" tIns="0" rIns="0" bIns="0" rtlCol="0" anchor="t">
              <a:noAutofit/>
            </a:bodyPr>
            <a:lstStyle/>
            <a:p>
              <a:pPr algn="l">
                <a:spcBef>
                  <a:spcPts val="0"/>
                </a:spcBef>
                <a:spcAft>
                  <a:spcPts val="0"/>
                </a:spcAft>
              </a:pPr>
              <a:r>
                <a:rPr lang="en-US" sz="3000" b="1" dirty="0">
                  <a:solidFill>
                    <a:srgbClr val="FF5B1F"/>
                  </a:solidFill>
                  <a:latin typeface="Bahnschrift"/>
                  <a:ea typeface="Bahnschrift"/>
                  <a:cs typeface="Bahnschrift"/>
                </a:rPr>
                <a:t>2</a:t>
              </a:r>
              <a:endParaRPr lang="en-US" sz="3000" dirty="0"/>
            </a:p>
          </p:txBody>
        </p:sp>
        <p:sp>
          <p:nvSpPr>
            <p:cNvPr id="91" name="Text 92"/>
            <p:cNvSpPr txBox="1"/>
            <p:nvPr/>
          </p:nvSpPr>
          <p:spPr>
            <a:xfrm>
              <a:off x="7829550" y="3133725"/>
              <a:ext cx="1931655" cy="276225"/>
            </a:xfrm>
            <a:prstGeom prst="rect">
              <a:avLst/>
            </a:prstGeom>
            <a:noFill/>
          </p:spPr>
          <p:txBody>
            <a:bodyPr wrap="none" lIns="0" tIns="0" rIns="0" bIns="0" rtlCol="0" anchor="t">
              <a:noAutofit/>
            </a:bodyPr>
            <a:lstStyle/>
            <a:p>
              <a:pPr algn="l">
                <a:spcBef>
                  <a:spcPts val="0"/>
                </a:spcBef>
                <a:spcAft>
                  <a:spcPts val="0"/>
                </a:spcAft>
              </a:pPr>
              <a:r>
                <a:rPr lang="en-US" sz="1500" b="1" dirty="0">
                  <a:solidFill>
                    <a:srgbClr val="EDE9E2"/>
                  </a:solidFill>
                  <a:latin typeface="Segoe UI"/>
                  <a:ea typeface="Segoe UI"/>
                  <a:cs typeface="Segoe UI"/>
                </a:rPr>
                <a:t>Zero-config runtime</a:t>
              </a:r>
              <a:endParaRPr lang="en-US" sz="1500" dirty="0"/>
            </a:p>
          </p:txBody>
        </p:sp>
        <p:sp>
          <p:nvSpPr>
            <p:cNvPr id="92" name="Text 93"/>
            <p:cNvSpPr txBox="1"/>
            <p:nvPr/>
          </p:nvSpPr>
          <p:spPr>
            <a:xfrm>
              <a:off x="7829550" y="3387725"/>
              <a:ext cx="3194167" cy="675640"/>
            </a:xfrm>
            <a:prstGeom prst="rect">
              <a:avLst/>
            </a:prstGeom>
            <a:noFill/>
          </p:spPr>
          <p:txBody>
            <a:bodyPr wrap="none" lIns="0" tIns="0" rIns="0" bIns="0" rtlCol="0" anchor="t">
              <a:noAutofit/>
            </a:bodyPr>
            <a:lstStyle/>
            <a:p>
              <a:pPr algn="l">
                <a:lnSpc>
                  <a:spcPts val="1700"/>
                </a:lnSpc>
                <a:spcBef>
                  <a:spcPts val="0"/>
                </a:spcBef>
                <a:spcAft>
                  <a:spcPts val="0"/>
                </a:spcAft>
              </a:pPr>
              <a:r>
                <a:rPr lang="en-US" sz="1200" b="0" dirty="0">
                  <a:solidFill>
                    <a:srgbClr val="EDE9E2"/>
                  </a:solidFill>
                  <a:latin typeface="Segoe UI"/>
                  <a:ea typeface="Segoe UI"/>
                  <a:cs typeface="Segoe UI"/>
                </a:rPr>
                <a:t>Just works: no external VS Code or Node.</a:t>
              </a:r>
              <a:endParaRPr lang="en-US" sz="1200" dirty="0"/>
            </a:p>
            <a:p>
              <a:pPr algn="l">
                <a:lnSpc>
                  <a:spcPts val="1700"/>
                </a:lnSpc>
                <a:spcBef>
                  <a:spcPts val="0"/>
                </a:spcBef>
                <a:spcAft>
                  <a:spcPts val="0"/>
                </a:spcAft>
              </a:pPr>
              <a:r>
                <a:rPr lang="en-US" sz="1200" b="0" dirty="0">
                  <a:solidFill>
                    <a:srgbClr val="9C9A94"/>
                  </a:solidFill>
                  <a:latin typeface="Segoe UI"/>
                  <a:ea typeface="Segoe UI"/>
                  <a:cs typeface="Segoe UI"/>
                </a:rPr>
                <a:t>Verified VSCodium reh-web, pinned SHA-256</a:t>
              </a:r>
              <a:endParaRPr lang="en-US" sz="1200" dirty="0"/>
            </a:p>
            <a:p>
              <a:pPr algn="l">
                <a:lnSpc>
                  <a:spcPts val="1700"/>
                </a:lnSpc>
                <a:spcBef>
                  <a:spcPts val="0"/>
                </a:spcBef>
                <a:spcAft>
                  <a:spcPts val="0"/>
                </a:spcAft>
              </a:pPr>
              <a:r>
                <a:rPr lang="en-US" sz="1200" b="0" dirty="0">
                  <a:solidFill>
                    <a:srgbClr val="9C9A94"/>
                  </a:solidFill>
                  <a:latin typeface="Segoe UI"/>
                  <a:ea typeface="Segoe UI"/>
                  <a:cs typeface="Segoe UI"/>
                </a:rPr>
                <a:t>digests and Open VSX packages.</a:t>
              </a:r>
              <a:endParaRPr lang="en-US" sz="1200" dirty="0"/>
            </a:p>
          </p:txBody>
        </p:sp>
        <p:sp>
          <p:nvSpPr>
            <p:cNvPr id="93" name="line 94"/>
            <p:cNvSpPr/>
            <p:nvPr/>
          </p:nvSpPr>
          <p:spPr>
            <a:xfrm>
              <a:off x="7467600" y="4095750"/>
              <a:ext cx="4114800" cy="95"/>
            </a:xfrm>
            <a:custGeom>
              <a:avLst/>
              <a:gdLst/>
              <a:ahLst/>
              <a:cxnLst/>
              <a:rect l="0" t="0" r="r" b="b"/>
              <a:pathLst>
                <a:path w="4114800" h="95" fill="none">
                  <a:moveTo>
                    <a:pt x="0" y="0"/>
                  </a:moveTo>
                  <a:lnTo>
                    <a:pt x="4114800" y="0"/>
                  </a:lnTo>
                </a:path>
              </a:pathLst>
            </a:custGeom>
            <a:noFill/>
            <a:ln w="9525" cap="flat">
              <a:solidFill>
                <a:srgbClr val="2A2E35"/>
              </a:solidFill>
              <a:miter lim="800000"/>
            </a:ln>
          </p:spPr>
          <p:txBody>
            <a:bodyPr/>
            <a:lstStyle/>
            <a:p>
              <a:endParaRPr lang="en-US"/>
            </a:p>
          </p:txBody>
        </p:sp>
      </p:grpSp>
      <p:grpSp>
        <p:nvGrpSpPr>
          <p:cNvPr id="99" name="stmt-3"/>
          <p:cNvGrpSpPr/>
          <p:nvPr/>
        </p:nvGrpSpPr>
        <p:grpSpPr>
          <a:xfrm>
            <a:off x="7467600" y="4137025"/>
            <a:ext cx="4114800" cy="1225645"/>
            <a:chOff x="7467600" y="4137025"/>
            <a:chExt cx="4114800" cy="1225645"/>
          </a:xfrm>
        </p:grpSpPr>
        <p:sp>
          <p:nvSpPr>
            <p:cNvPr id="95" name="Text 96"/>
            <p:cNvSpPr txBox="1"/>
            <p:nvPr/>
          </p:nvSpPr>
          <p:spPr>
            <a:xfrm>
              <a:off x="7467600" y="4137025"/>
              <a:ext cx="247635" cy="520700"/>
            </a:xfrm>
            <a:prstGeom prst="rect">
              <a:avLst/>
            </a:prstGeom>
            <a:noFill/>
          </p:spPr>
          <p:txBody>
            <a:bodyPr wrap="none" lIns="0" tIns="0" rIns="0" bIns="0" rtlCol="0" anchor="t">
              <a:noAutofit/>
            </a:bodyPr>
            <a:lstStyle/>
            <a:p>
              <a:pPr algn="l">
                <a:spcBef>
                  <a:spcPts val="0"/>
                </a:spcBef>
                <a:spcAft>
                  <a:spcPts val="0"/>
                </a:spcAft>
              </a:pPr>
              <a:r>
                <a:rPr lang="en-US" sz="3000" b="1" dirty="0">
                  <a:solidFill>
                    <a:srgbClr val="FF5B1F"/>
                  </a:solidFill>
                  <a:latin typeface="Bahnschrift"/>
                  <a:ea typeface="Bahnschrift"/>
                  <a:cs typeface="Bahnschrift"/>
                </a:rPr>
                <a:t>3</a:t>
              </a:r>
              <a:endParaRPr lang="en-US" sz="3000" dirty="0"/>
            </a:p>
          </p:txBody>
        </p:sp>
        <p:sp>
          <p:nvSpPr>
            <p:cNvPr id="96" name="Text 97"/>
            <p:cNvSpPr txBox="1"/>
            <p:nvPr/>
          </p:nvSpPr>
          <p:spPr>
            <a:xfrm>
              <a:off x="7829550" y="4181475"/>
              <a:ext cx="1794480" cy="276225"/>
            </a:xfrm>
            <a:prstGeom prst="rect">
              <a:avLst/>
            </a:prstGeom>
            <a:noFill/>
          </p:spPr>
          <p:txBody>
            <a:bodyPr wrap="none" lIns="0" tIns="0" rIns="0" bIns="0" rtlCol="0" anchor="t">
              <a:noAutofit/>
            </a:bodyPr>
            <a:lstStyle/>
            <a:p>
              <a:pPr algn="l">
                <a:spcBef>
                  <a:spcPts val="0"/>
                </a:spcBef>
                <a:spcAft>
                  <a:spcPts val="0"/>
                </a:spcAft>
              </a:pPr>
              <a:r>
                <a:rPr lang="en-US" sz="1500" b="1" dirty="0">
                  <a:solidFill>
                    <a:srgbClr val="EDE9E2"/>
                  </a:solidFill>
                  <a:latin typeface="Segoe UI"/>
                  <a:ea typeface="Segoe UI"/>
                  <a:cs typeface="Segoe UI"/>
                </a:rPr>
                <a:t>Hardened sandbox</a:t>
              </a:r>
              <a:endParaRPr lang="en-US" sz="1500" dirty="0"/>
            </a:p>
          </p:txBody>
        </p:sp>
        <p:sp>
          <p:nvSpPr>
            <p:cNvPr id="97" name="Text 98"/>
            <p:cNvSpPr txBox="1"/>
            <p:nvPr/>
          </p:nvSpPr>
          <p:spPr>
            <a:xfrm>
              <a:off x="7829550" y="4435475"/>
              <a:ext cx="2666286" cy="894715"/>
            </a:xfrm>
            <a:prstGeom prst="rect">
              <a:avLst/>
            </a:prstGeom>
            <a:noFill/>
          </p:spPr>
          <p:txBody>
            <a:bodyPr wrap="none" lIns="0" tIns="0" rIns="0" bIns="0" rtlCol="0" anchor="t">
              <a:noAutofit/>
            </a:bodyPr>
            <a:lstStyle/>
            <a:p>
              <a:pPr algn="l">
                <a:lnSpc>
                  <a:spcPts val="1700"/>
                </a:lnSpc>
                <a:spcBef>
                  <a:spcPts val="0"/>
                </a:spcBef>
                <a:spcAft>
                  <a:spcPts val="0"/>
                </a:spcAft>
              </a:pPr>
              <a:r>
                <a:rPr lang="en-US" sz="1200" b="0" dirty="0">
                  <a:solidFill>
                    <a:srgbClr val="EDE9E2"/>
                  </a:solidFill>
                  <a:latin typeface="Segoe UI"/>
                  <a:ea typeface="Segoe UI"/>
                  <a:cs typeface="Segoe UI"/>
                </a:rPr>
                <a:t>Each assistant is sealed in its own box</a:t>
              </a:r>
              <a:endParaRPr lang="en-US" sz="1200" dirty="0"/>
            </a:p>
            <a:p>
              <a:pPr algn="l">
                <a:lnSpc>
                  <a:spcPts val="1700"/>
                </a:lnSpc>
                <a:spcBef>
                  <a:spcPts val="0"/>
                </a:spcBef>
                <a:spcAft>
                  <a:spcPts val="0"/>
                </a:spcAft>
              </a:pPr>
              <a:r>
                <a:rPr lang="en-US" sz="1200" b="0" dirty="0">
                  <a:solidFill>
                    <a:srgbClr val="EDE9E2"/>
                  </a:solidFill>
                  <a:latin typeface="Segoe UI"/>
                  <a:ea typeface="Segoe UI"/>
                  <a:cs typeface="Segoe UI"/>
                </a:rPr>
                <a:t>and cannot call Tauri host commands.</a:t>
              </a:r>
              <a:endParaRPr lang="en-US" sz="1200" dirty="0"/>
            </a:p>
            <a:p>
              <a:pPr algn="l">
                <a:lnSpc>
                  <a:spcPts val="1700"/>
                </a:lnSpc>
                <a:spcBef>
                  <a:spcPts val="0"/>
                </a:spcBef>
                <a:spcAft>
                  <a:spcPts val="0"/>
                </a:spcAft>
              </a:pPr>
              <a:r>
                <a:rPr lang="en-US" sz="1200" b="0" dirty="0">
                  <a:solidFill>
                    <a:srgbClr val="9C9A94"/>
                  </a:solidFill>
                  <a:latin typeface="Segoe UI"/>
                  <a:ea typeface="Segoe UI"/>
                  <a:cs typeface="Segoe UI"/>
                </a:rPr>
                <a:t>Isolated child webview on its own</a:t>
              </a:r>
              <a:endParaRPr lang="en-US" sz="1200" dirty="0"/>
            </a:p>
            <a:p>
              <a:pPr algn="l">
                <a:lnSpc>
                  <a:spcPts val="1700"/>
                </a:lnSpc>
                <a:spcBef>
                  <a:spcPts val="0"/>
                </a:spcBef>
                <a:spcAft>
                  <a:spcPts val="0"/>
                </a:spcAft>
              </a:pPr>
              <a:r>
                <a:rPr lang="en-US" sz="1200" b="0" dirty="0">
                  <a:solidFill>
                    <a:srgbClr val="9C9A94"/>
                  </a:solidFill>
                  <a:latin typeface="Segoe UI"/>
                  <a:ea typeface="Segoe UI"/>
                  <a:cs typeface="Segoe UI"/>
                </a:rPr>
                <a:t>panel-uuid.localhost origin.</a:t>
              </a:r>
              <a:endParaRPr lang="en-US" sz="1200" dirty="0"/>
            </a:p>
          </p:txBody>
        </p:sp>
        <p:sp>
          <p:nvSpPr>
            <p:cNvPr id="98" name="line 99"/>
            <p:cNvSpPr/>
            <p:nvPr/>
          </p:nvSpPr>
          <p:spPr>
            <a:xfrm>
              <a:off x="7467600" y="5362575"/>
              <a:ext cx="4114800" cy="95"/>
            </a:xfrm>
            <a:custGeom>
              <a:avLst/>
              <a:gdLst/>
              <a:ahLst/>
              <a:cxnLst/>
              <a:rect l="0" t="0" r="r" b="b"/>
              <a:pathLst>
                <a:path w="4114800" h="95" fill="none">
                  <a:moveTo>
                    <a:pt x="0" y="0"/>
                  </a:moveTo>
                  <a:lnTo>
                    <a:pt x="4114800" y="0"/>
                  </a:lnTo>
                </a:path>
              </a:pathLst>
            </a:custGeom>
            <a:noFill/>
            <a:ln w="9525" cap="flat">
              <a:solidFill>
                <a:srgbClr val="2A2E35"/>
              </a:solidFill>
              <a:miter lim="800000"/>
            </a:ln>
          </p:spPr>
          <p:txBody>
            <a:bodyPr/>
            <a:lstStyle/>
            <a:p>
              <a:endParaRPr lang="en-US"/>
            </a:p>
          </p:txBody>
        </p:sp>
      </p:grpSp>
      <p:grpSp>
        <p:nvGrpSpPr>
          <p:cNvPr id="103" name="stmt-4"/>
          <p:cNvGrpSpPr/>
          <p:nvPr/>
        </p:nvGrpSpPr>
        <p:grpSpPr>
          <a:xfrm>
            <a:off x="7467600" y="5403850"/>
            <a:ext cx="3047661" cy="755015"/>
            <a:chOff x="7467600" y="5403850"/>
            <a:chExt cx="3047661" cy="755015"/>
          </a:xfrm>
        </p:grpSpPr>
        <p:sp>
          <p:nvSpPr>
            <p:cNvPr id="100" name="Text 101"/>
            <p:cNvSpPr txBox="1"/>
            <p:nvPr/>
          </p:nvSpPr>
          <p:spPr>
            <a:xfrm>
              <a:off x="7467600" y="5403850"/>
              <a:ext cx="263500" cy="520700"/>
            </a:xfrm>
            <a:prstGeom prst="rect">
              <a:avLst/>
            </a:prstGeom>
            <a:noFill/>
          </p:spPr>
          <p:txBody>
            <a:bodyPr wrap="none" lIns="0" tIns="0" rIns="0" bIns="0" rtlCol="0" anchor="t">
              <a:noAutofit/>
            </a:bodyPr>
            <a:lstStyle/>
            <a:p>
              <a:pPr algn="l">
                <a:spcBef>
                  <a:spcPts val="0"/>
                </a:spcBef>
                <a:spcAft>
                  <a:spcPts val="0"/>
                </a:spcAft>
              </a:pPr>
              <a:r>
                <a:rPr lang="en-US" sz="3000" b="1" dirty="0">
                  <a:solidFill>
                    <a:srgbClr val="FF5B1F"/>
                  </a:solidFill>
                  <a:latin typeface="Bahnschrift"/>
                  <a:ea typeface="Bahnschrift"/>
                  <a:cs typeface="Bahnschrift"/>
                </a:rPr>
                <a:t>4</a:t>
              </a:r>
              <a:endParaRPr lang="en-US" sz="3000" dirty="0"/>
            </a:p>
          </p:txBody>
        </p:sp>
        <p:sp>
          <p:nvSpPr>
            <p:cNvPr id="101" name="Text 102"/>
            <p:cNvSpPr txBox="1"/>
            <p:nvPr/>
          </p:nvSpPr>
          <p:spPr>
            <a:xfrm>
              <a:off x="7829550" y="5448300"/>
              <a:ext cx="2680700" cy="276225"/>
            </a:xfrm>
            <a:prstGeom prst="rect">
              <a:avLst/>
            </a:prstGeom>
            <a:noFill/>
          </p:spPr>
          <p:txBody>
            <a:bodyPr wrap="none" lIns="0" tIns="0" rIns="0" bIns="0" rtlCol="0" anchor="t">
              <a:noAutofit/>
            </a:bodyPr>
            <a:lstStyle/>
            <a:p>
              <a:pPr algn="l">
                <a:spcBef>
                  <a:spcPts val="0"/>
                </a:spcBef>
                <a:spcAft>
                  <a:spcPts val="0"/>
                </a:spcAft>
              </a:pPr>
              <a:r>
                <a:rPr lang="en-US" sz="1500" b="1" dirty="0">
                  <a:solidFill>
                    <a:srgbClr val="EDE9E2"/>
                  </a:solidFill>
                  <a:latin typeface="Segoe UI"/>
                  <a:ea typeface="Segoe UI"/>
                  <a:cs typeface="Segoe UI"/>
                </a:rPr>
                <a:t>Remembered per workspace</a:t>
              </a:r>
              <a:endParaRPr lang="en-US" sz="1500" dirty="0"/>
            </a:p>
          </p:txBody>
        </p:sp>
        <p:sp>
          <p:nvSpPr>
            <p:cNvPr id="102" name="Text 103"/>
            <p:cNvSpPr txBox="1"/>
            <p:nvPr/>
          </p:nvSpPr>
          <p:spPr>
            <a:xfrm>
              <a:off x="7829550" y="5702300"/>
              <a:ext cx="2685711" cy="456565"/>
            </a:xfrm>
            <a:prstGeom prst="rect">
              <a:avLst/>
            </a:prstGeom>
            <a:noFill/>
          </p:spPr>
          <p:txBody>
            <a:bodyPr wrap="none" lIns="0" tIns="0" rIns="0" bIns="0" rtlCol="0" anchor="t">
              <a:noAutofit/>
            </a:bodyPr>
            <a:lstStyle/>
            <a:p>
              <a:pPr algn="l">
                <a:lnSpc>
                  <a:spcPts val="1700"/>
                </a:lnSpc>
                <a:spcBef>
                  <a:spcPts val="0"/>
                </a:spcBef>
                <a:spcAft>
                  <a:spcPts val="0"/>
                </a:spcAft>
              </a:pPr>
              <a:r>
                <a:rPr lang="en-US" sz="1200" b="0" dirty="0">
                  <a:solidFill>
                    <a:srgbClr val="EDE9E2"/>
                  </a:solidFill>
                  <a:latin typeface="Segoe UI"/>
                  <a:ea typeface="Segoe UI"/>
                  <a:cs typeface="Segoe UI"/>
                </a:rPr>
                <a:t>Workspace trust and state persist, so</a:t>
              </a:r>
              <a:endParaRPr lang="en-US" sz="1200" dirty="0"/>
            </a:p>
            <a:p>
              <a:pPr algn="l">
                <a:lnSpc>
                  <a:spcPts val="1700"/>
                </a:lnSpc>
                <a:spcBef>
                  <a:spcPts val="0"/>
                </a:spcBef>
                <a:spcAft>
                  <a:spcPts val="0"/>
                </a:spcAft>
              </a:pPr>
              <a:r>
                <a:rPr lang="en-US" sz="1200" b="0" dirty="0">
                  <a:solidFill>
                    <a:srgbClr val="EDE9E2"/>
                  </a:solidFill>
                  <a:latin typeface="Segoe UI"/>
                  <a:ea typeface="Segoe UI"/>
                  <a:cs typeface="Segoe UI"/>
                </a:rPr>
                <a:t>reopening picks up where you left off.</a:t>
              </a:r>
              <a:endParaRPr lang="en-US" sz="1200" dirty="0"/>
            </a:p>
          </p:txBody>
        </p:sp>
      </p:grpSp>
      <p:grpSp>
        <p:nvGrpSpPr>
          <p:cNvPr id="106" name="progress-rule"/>
          <p:cNvGrpSpPr/>
          <p:nvPr/>
        </p:nvGrpSpPr>
        <p:grpSpPr>
          <a:xfrm>
            <a:off x="609600" y="6534150"/>
            <a:ext cx="10972800" cy="38100"/>
            <a:chOff x="609600" y="6534150"/>
            <a:chExt cx="10972800" cy="38100"/>
          </a:xfrm>
        </p:grpSpPr>
        <p:sp>
          <p:nvSpPr>
            <p:cNvPr id="104" name="line 105"/>
            <p:cNvSpPr/>
            <p:nvPr/>
          </p:nvSpPr>
          <p:spPr>
            <a:xfrm>
              <a:off x="609600" y="6553200"/>
              <a:ext cx="10972800" cy="95"/>
            </a:xfrm>
            <a:custGeom>
              <a:avLst/>
              <a:gdLst/>
              <a:ahLst/>
              <a:cxnLst/>
              <a:rect l="0" t="0" r="r" b="b"/>
              <a:pathLst>
                <a:path w="10972800" h="95" fill="none">
                  <a:moveTo>
                    <a:pt x="0" y="0"/>
                  </a:moveTo>
                  <a:lnTo>
                    <a:pt x="10972800" y="0"/>
                  </a:lnTo>
                </a:path>
              </a:pathLst>
            </a:custGeom>
            <a:noFill/>
            <a:ln w="9525" cap="flat">
              <a:solidFill>
                <a:srgbClr val="2A2E35"/>
              </a:solidFill>
              <a:miter lim="800000"/>
            </a:ln>
          </p:spPr>
          <p:txBody>
            <a:bodyPr/>
            <a:lstStyle/>
            <a:p>
              <a:endParaRPr lang="en-US"/>
            </a:p>
          </p:txBody>
        </p:sp>
        <p:sp>
          <p:nvSpPr>
            <p:cNvPr id="105" name="rect 106"/>
            <p:cNvSpPr/>
            <p:nvPr/>
          </p:nvSpPr>
          <p:spPr>
            <a:xfrm>
              <a:off x="609600" y="6534150"/>
              <a:ext cx="4800600" cy="38100"/>
            </a:xfrm>
            <a:prstGeom prst="roundRect">
              <a:avLst>
                <a:gd name="adj" fmla="val 50000"/>
              </a:avLst>
            </a:prstGeom>
            <a:solidFill>
              <a:srgbClr val="FF5B1F"/>
            </a:solidFill>
            <a:ln>
              <a:noFill/>
            </a:ln>
          </p:spPr>
          <p:txBody>
            <a:bodyPr/>
            <a:lstStyle/>
            <a:p>
              <a:endParaRPr lang="en-US"/>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600" fill="hold"/>
                                        <p:tgtEl>
                                          <p:spTgt spid="6"/>
                                        </p:tgtEl>
                                        <p:attrNameLst>
                                          <p:attrName>ppt_y</p:attrName>
                                        </p:attrNameLst>
                                      </p:cBhvr>
                                      <p:tavLst>
                                        <p:tav tm="0">
                                          <p:val>
                                            <p:strVal val="#ppt_y+.1"/>
                                          </p:val>
                                        </p:tav>
                                        <p:tav tm="100000">
                                          <p:val>
                                            <p:strVal val="#ppt_y"/>
                                          </p:val>
                                        </p:tav>
                                      </p:tavLst>
                                    </p:anim>
                                    <p:animEffect transition="in" filter="fade">
                                      <p:cBhvr>
                                        <p:cTn id="8" dur="600"/>
                                        <p:tgtEl>
                                          <p:spTgt spid="6"/>
                                        </p:tgtEl>
                                      </p:cBhvr>
                                    </p:animEffect>
                                  </p:childTnLst>
                                </p:cTn>
                              </p:par>
                            </p:childTnLst>
                          </p:cTn>
                        </p:par>
                        <p:par>
                          <p:cTn id="9" fill="hold">
                            <p:stCondLst>
                              <p:cond delay="600"/>
                            </p:stCondLst>
                            <p:childTnLst>
                              <p:par>
                                <p:cTn id="10" presetID="1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childTnLst>
                          </p:cTn>
                        </p:par>
                        <p:par>
                          <p:cTn id="18" fill="hold">
                            <p:stCondLst>
                              <p:cond delay="500"/>
                            </p:stCondLst>
                            <p:childTnLst>
                              <p:par>
                                <p:cTn id="19" presetID="2" presetClass="entr" presetSubtype="8" fill="hold" nodeType="afterEffect">
                                  <p:stCondLst>
                                    <p:cond delay="0"/>
                                  </p:stCondLst>
                                  <p:childTnLst>
                                    <p:set>
                                      <p:cBhvr>
                                        <p:cTn id="20" dur="1" fill="hold">
                                          <p:stCondLst>
                                            <p:cond delay="0"/>
                                          </p:stCondLst>
                                        </p:cTn>
                                        <p:tgtEl>
                                          <p:spTgt spid="83"/>
                                        </p:tgtEl>
                                        <p:attrNameLst>
                                          <p:attrName>style.visibility</p:attrName>
                                        </p:attrNameLst>
                                      </p:cBhvr>
                                      <p:to>
                                        <p:strVal val="visible"/>
                                      </p:to>
                                    </p:set>
                                    <p:anim calcmode="lin" valueType="num">
                                      <p:cBhvr additive="base">
                                        <p:cTn id="21" dur="600" fill="hold"/>
                                        <p:tgtEl>
                                          <p:spTgt spid="83"/>
                                        </p:tgtEl>
                                        <p:attrNameLst>
                                          <p:attrName>ppt_x</p:attrName>
                                        </p:attrNameLst>
                                      </p:cBhvr>
                                      <p:tavLst>
                                        <p:tav tm="0">
                                          <p:val>
                                            <p:strVal val="0-#ppt_w/2"/>
                                          </p:val>
                                        </p:tav>
                                        <p:tav tm="100000">
                                          <p:val>
                                            <p:strVal val="#ppt_x"/>
                                          </p:val>
                                        </p:tav>
                                      </p:tavLst>
                                    </p:anim>
                                    <p:anim calcmode="lin" valueType="num">
                                      <p:cBhvr additive="base">
                                        <p:cTn id="22" dur="600" fill="hold"/>
                                        <p:tgtEl>
                                          <p:spTgt spid="83"/>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nodeType="clickEffect">
                                  <p:stCondLst>
                                    <p:cond delay="0"/>
                                  </p:stCondLst>
                                  <p:childTnLst>
                                    <p:set>
                                      <p:cBhvr>
                                        <p:cTn id="26" dur="1" fill="hold">
                                          <p:stCondLst>
                                            <p:cond delay="0"/>
                                          </p:stCondLst>
                                        </p:cTn>
                                        <p:tgtEl>
                                          <p:spTgt spid="89"/>
                                        </p:tgtEl>
                                        <p:attrNameLst>
                                          <p:attrName>style.visibility</p:attrName>
                                        </p:attrNameLst>
                                      </p:cBhvr>
                                      <p:to>
                                        <p:strVal val="visible"/>
                                      </p:to>
                                    </p:set>
                                    <p:anim calcmode="lin" valueType="num">
                                      <p:cBhvr additive="base">
                                        <p:cTn id="27" dur="500" fill="hold"/>
                                        <p:tgtEl>
                                          <p:spTgt spid="89"/>
                                        </p:tgtEl>
                                        <p:attrNameLst>
                                          <p:attrName>ppt_x</p:attrName>
                                        </p:attrNameLst>
                                      </p:cBhvr>
                                      <p:tavLst>
                                        <p:tav tm="0">
                                          <p:val>
                                            <p:strVal val="1+#ppt_w/2"/>
                                          </p:val>
                                        </p:tav>
                                        <p:tav tm="100000">
                                          <p:val>
                                            <p:strVal val="#ppt_x"/>
                                          </p:val>
                                        </p:tav>
                                      </p:tavLst>
                                    </p:anim>
                                    <p:anim calcmode="lin" valueType="num">
                                      <p:cBhvr additive="base">
                                        <p:cTn id="28" dur="500" fill="hold"/>
                                        <p:tgtEl>
                                          <p:spTgt spid="89"/>
                                        </p:tgtEl>
                                        <p:attrNameLst>
                                          <p:attrName>ppt_y</p:attrName>
                                        </p:attrNameLst>
                                      </p:cBhvr>
                                      <p:tavLst>
                                        <p:tav tm="0">
                                          <p:val>
                                            <p:strVal val="#ppt_y"/>
                                          </p:val>
                                        </p:tav>
                                        <p:tav tm="100000">
                                          <p:val>
                                            <p:strVal val="#ppt_y"/>
                                          </p:val>
                                        </p:tav>
                                      </p:tavLst>
                                    </p:anim>
                                  </p:childTnLst>
                                </p:cTn>
                              </p:par>
                            </p:childTnLst>
                          </p:cTn>
                        </p:par>
                        <p:par>
                          <p:cTn id="29" fill="hold">
                            <p:stCondLst>
                              <p:cond delay="500"/>
                            </p:stCondLst>
                            <p:childTnLst>
                              <p:par>
                                <p:cTn id="30" presetID="2" presetClass="entr" presetSubtype="2" fill="hold" nodeType="afterEffect">
                                  <p:stCondLst>
                                    <p:cond delay="0"/>
                                  </p:stCondLst>
                                  <p:childTnLst>
                                    <p:set>
                                      <p:cBhvr>
                                        <p:cTn id="31" dur="1" fill="hold">
                                          <p:stCondLst>
                                            <p:cond delay="0"/>
                                          </p:stCondLst>
                                        </p:cTn>
                                        <p:tgtEl>
                                          <p:spTgt spid="94"/>
                                        </p:tgtEl>
                                        <p:attrNameLst>
                                          <p:attrName>style.visibility</p:attrName>
                                        </p:attrNameLst>
                                      </p:cBhvr>
                                      <p:to>
                                        <p:strVal val="visible"/>
                                      </p:to>
                                    </p:set>
                                    <p:anim calcmode="lin" valueType="num">
                                      <p:cBhvr additive="base">
                                        <p:cTn id="32" dur="500" fill="hold"/>
                                        <p:tgtEl>
                                          <p:spTgt spid="94"/>
                                        </p:tgtEl>
                                        <p:attrNameLst>
                                          <p:attrName>ppt_x</p:attrName>
                                        </p:attrNameLst>
                                      </p:cBhvr>
                                      <p:tavLst>
                                        <p:tav tm="0">
                                          <p:val>
                                            <p:strVal val="1+#ppt_w/2"/>
                                          </p:val>
                                        </p:tav>
                                        <p:tav tm="100000">
                                          <p:val>
                                            <p:strVal val="#ppt_x"/>
                                          </p:val>
                                        </p:tav>
                                      </p:tavLst>
                                    </p:anim>
                                    <p:anim calcmode="lin" valueType="num">
                                      <p:cBhvr additive="base">
                                        <p:cTn id="33" dur="500" fill="hold"/>
                                        <p:tgtEl>
                                          <p:spTgt spid="94"/>
                                        </p:tgtEl>
                                        <p:attrNameLst>
                                          <p:attrName>ppt_y</p:attrName>
                                        </p:attrNameLst>
                                      </p:cBhvr>
                                      <p:tavLst>
                                        <p:tav tm="0">
                                          <p:val>
                                            <p:strVal val="#ppt_y"/>
                                          </p:val>
                                        </p:tav>
                                        <p:tav tm="100000">
                                          <p:val>
                                            <p:strVal val="#ppt_y"/>
                                          </p:val>
                                        </p:tav>
                                      </p:tavLst>
                                    </p:anim>
                                  </p:childTnLst>
                                </p:cTn>
                              </p:par>
                            </p:childTnLst>
                          </p:cTn>
                        </p:par>
                        <p:par>
                          <p:cTn id="34" fill="hold">
                            <p:stCondLst>
                              <p:cond delay="1000"/>
                            </p:stCondLst>
                            <p:childTnLst>
                              <p:par>
                                <p:cTn id="35" presetID="2" presetClass="entr" presetSubtype="2" fill="hold" nodeType="afterEffect">
                                  <p:stCondLst>
                                    <p:cond delay="0"/>
                                  </p:stCondLst>
                                  <p:childTnLst>
                                    <p:set>
                                      <p:cBhvr>
                                        <p:cTn id="36" dur="1" fill="hold">
                                          <p:stCondLst>
                                            <p:cond delay="0"/>
                                          </p:stCondLst>
                                        </p:cTn>
                                        <p:tgtEl>
                                          <p:spTgt spid="99"/>
                                        </p:tgtEl>
                                        <p:attrNameLst>
                                          <p:attrName>style.visibility</p:attrName>
                                        </p:attrNameLst>
                                      </p:cBhvr>
                                      <p:to>
                                        <p:strVal val="visible"/>
                                      </p:to>
                                    </p:set>
                                    <p:anim calcmode="lin" valueType="num">
                                      <p:cBhvr additive="base">
                                        <p:cTn id="37" dur="500" fill="hold"/>
                                        <p:tgtEl>
                                          <p:spTgt spid="99"/>
                                        </p:tgtEl>
                                        <p:attrNameLst>
                                          <p:attrName>ppt_x</p:attrName>
                                        </p:attrNameLst>
                                      </p:cBhvr>
                                      <p:tavLst>
                                        <p:tav tm="0">
                                          <p:val>
                                            <p:strVal val="1+#ppt_w/2"/>
                                          </p:val>
                                        </p:tav>
                                        <p:tav tm="100000">
                                          <p:val>
                                            <p:strVal val="#ppt_x"/>
                                          </p:val>
                                        </p:tav>
                                      </p:tavLst>
                                    </p:anim>
                                    <p:anim calcmode="lin" valueType="num">
                                      <p:cBhvr additive="base">
                                        <p:cTn id="38" dur="500" fill="hold"/>
                                        <p:tgtEl>
                                          <p:spTgt spid="99"/>
                                        </p:tgtEl>
                                        <p:attrNameLst>
                                          <p:attrName>ppt_y</p:attrName>
                                        </p:attrNameLst>
                                      </p:cBhvr>
                                      <p:tavLst>
                                        <p:tav tm="0">
                                          <p:val>
                                            <p:strVal val="#ppt_y"/>
                                          </p:val>
                                        </p:tav>
                                        <p:tav tm="100000">
                                          <p:val>
                                            <p:strVal val="#ppt_y"/>
                                          </p:val>
                                        </p:tav>
                                      </p:tavLst>
                                    </p:anim>
                                  </p:childTnLst>
                                </p:cTn>
                              </p:par>
                            </p:childTnLst>
                          </p:cTn>
                        </p:par>
                        <p:par>
                          <p:cTn id="39" fill="hold">
                            <p:stCondLst>
                              <p:cond delay="1500"/>
                            </p:stCondLst>
                            <p:childTnLst>
                              <p:par>
                                <p:cTn id="40" presetID="2" presetClass="entr" presetSubtype="2" fill="hold" nodeType="afterEffect">
                                  <p:stCondLst>
                                    <p:cond delay="0"/>
                                  </p:stCondLst>
                                  <p:childTnLst>
                                    <p:set>
                                      <p:cBhvr>
                                        <p:cTn id="41" dur="1" fill="hold">
                                          <p:stCondLst>
                                            <p:cond delay="0"/>
                                          </p:stCondLst>
                                        </p:cTn>
                                        <p:tgtEl>
                                          <p:spTgt spid="103"/>
                                        </p:tgtEl>
                                        <p:attrNameLst>
                                          <p:attrName>style.visibility</p:attrName>
                                        </p:attrNameLst>
                                      </p:cBhvr>
                                      <p:to>
                                        <p:strVal val="visible"/>
                                      </p:to>
                                    </p:set>
                                    <p:anim calcmode="lin" valueType="num">
                                      <p:cBhvr additive="base">
                                        <p:cTn id="42" dur="500" fill="hold"/>
                                        <p:tgtEl>
                                          <p:spTgt spid="103"/>
                                        </p:tgtEl>
                                        <p:attrNameLst>
                                          <p:attrName>ppt_x</p:attrName>
                                        </p:attrNameLst>
                                      </p:cBhvr>
                                      <p:tavLst>
                                        <p:tav tm="0">
                                          <p:val>
                                            <p:strVal val="1+#ppt_w/2"/>
                                          </p:val>
                                        </p:tav>
                                        <p:tav tm="100000">
                                          <p:val>
                                            <p:strVal val="#ppt_x"/>
                                          </p:val>
                                        </p:tav>
                                      </p:tavLst>
                                    </p:anim>
                                    <p:anim calcmode="lin" valueType="num">
                                      <p:cBhvr additive="base">
                                        <p:cTn id="43" dur="500" fill="hold"/>
                                        <p:tgtEl>
                                          <p:spTgt spid="10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B0D"/>
        </a:solidFill>
        <a:effectLst/>
      </p:bgPr>
    </p:bg>
    <p:spTree>
      <p:nvGrpSpPr>
        <p:cNvPr id="1" name=""/>
        <p:cNvGrpSpPr/>
        <p:nvPr/>
      </p:nvGrpSpPr>
      <p:grpSpPr>
        <a:xfrm>
          <a:off x="0" y="0"/>
          <a:ext cx="0" cy="0"/>
          <a:chOff x="0" y="0"/>
          <a:chExt cx="0" cy="0"/>
        </a:xfrm>
      </p:grpSpPr>
      <p:grpSp>
        <p:nvGrpSpPr>
          <p:cNvPr id="5" name="cursor-kicker"/>
          <p:cNvGrpSpPr/>
          <p:nvPr/>
        </p:nvGrpSpPr>
        <p:grpSpPr>
          <a:xfrm>
            <a:off x="609600" y="327025"/>
            <a:ext cx="3107638" cy="212090"/>
            <a:chOff x="609600" y="327025"/>
            <a:chExt cx="3107638" cy="212090"/>
          </a:xfrm>
        </p:grpSpPr>
        <p:sp>
          <p:nvSpPr>
            <p:cNvPr id="3" name="rect 4"/>
            <p:cNvSpPr/>
            <p:nvPr/>
          </p:nvSpPr>
          <p:spPr>
            <a:xfrm>
              <a:off x="609600" y="381000"/>
              <a:ext cx="457200" cy="57150"/>
            </a:xfrm>
            <a:prstGeom prst="roundRect">
              <a:avLst>
                <a:gd name="adj" fmla="val 50000"/>
              </a:avLst>
            </a:prstGeom>
            <a:solidFill>
              <a:srgbClr val="FF5B1F"/>
            </a:solidFill>
            <a:ln>
              <a:noFill/>
            </a:ln>
          </p:spPr>
          <p:txBody>
            <a:bodyPr/>
            <a:lstStyle/>
            <a:p>
              <a:endParaRPr lang="en-US"/>
            </a:p>
          </p:txBody>
        </p:sp>
        <p:sp>
          <p:nvSpPr>
            <p:cNvPr id="4" name="Text 5"/>
            <p:cNvSpPr txBox="1"/>
            <p:nvPr/>
          </p:nvSpPr>
          <p:spPr>
            <a:xfrm>
              <a:off x="1219200" y="327025"/>
              <a:ext cx="2498038" cy="212090"/>
            </a:xfrm>
            <a:prstGeom prst="rect">
              <a:avLst/>
            </a:prstGeom>
            <a:noFill/>
          </p:spPr>
          <p:txBody>
            <a:bodyPr wrap="none" lIns="0" tIns="0" rIns="0" bIns="0" rtlCol="0" anchor="t">
              <a:noAutofit/>
            </a:bodyPr>
            <a:lstStyle/>
            <a:p>
              <a:pPr algn="l">
                <a:spcBef>
                  <a:spcPts val="0"/>
                </a:spcBef>
                <a:spcAft>
                  <a:spcPts val="0"/>
                </a:spcAft>
              </a:pPr>
              <a:r>
                <a:rPr lang="en-US" sz="1200" b="0" spc="150" dirty="0">
                  <a:solidFill>
                    <a:srgbClr val="9C9A94"/>
                  </a:solidFill>
                  <a:latin typeface="Consolas"/>
                  <a:ea typeface="Consolas"/>
                  <a:cs typeface="Consolas"/>
                </a:rPr>
                <a:t>YZPZCODE / EDITOR + GIT</a:t>
              </a:r>
              <a:endParaRPr lang="en-US" sz="1200" dirty="0"/>
            </a:p>
          </p:txBody>
        </p:sp>
      </p:grpSp>
      <p:sp>
        <p:nvSpPr>
          <p:cNvPr id="6" name="Text 7"/>
          <p:cNvSpPr txBox="1"/>
          <p:nvPr/>
        </p:nvSpPr>
        <p:spPr>
          <a:xfrm>
            <a:off x="10795623" y="327025"/>
            <a:ext cx="786777" cy="212090"/>
          </a:xfrm>
          <a:prstGeom prst="rect">
            <a:avLst/>
          </a:prstGeom>
          <a:noFill/>
        </p:spPr>
        <p:txBody>
          <a:bodyPr wrap="none" lIns="0" tIns="0" rIns="0" bIns="0" rtlCol="0" anchor="t">
            <a:noAutofit/>
          </a:bodyPr>
          <a:lstStyle/>
          <a:p>
            <a:pPr algn="r">
              <a:spcBef>
                <a:spcPts val="0"/>
              </a:spcBef>
              <a:spcAft>
                <a:spcPts val="0"/>
              </a:spcAft>
            </a:pPr>
            <a:r>
              <a:rPr lang="en-US" sz="1200" b="0" spc="150" dirty="0">
                <a:solidFill>
                  <a:srgbClr val="9C9A94"/>
                </a:solidFill>
                <a:latin typeface="Consolas"/>
                <a:ea typeface="Consolas"/>
                <a:cs typeface="Consolas"/>
              </a:rPr>
              <a:t>08 / 16</a:t>
            </a:r>
            <a:endParaRPr lang="en-US" sz="1200" dirty="0"/>
          </a:p>
        </p:txBody>
      </p:sp>
      <p:sp>
        <p:nvSpPr>
          <p:cNvPr id="7" name="Text 8"/>
          <p:cNvSpPr txBox="1"/>
          <p:nvPr/>
        </p:nvSpPr>
        <p:spPr>
          <a:xfrm>
            <a:off x="609600" y="635000"/>
            <a:ext cx="6155307" cy="1073785"/>
          </a:xfrm>
          <a:prstGeom prst="rect">
            <a:avLst/>
          </a:prstGeom>
          <a:noFill/>
        </p:spPr>
        <p:txBody>
          <a:bodyPr wrap="none" lIns="0" tIns="0" rIns="0" bIns="0" rtlCol="0" anchor="t">
            <a:noAutofit/>
          </a:bodyPr>
          <a:lstStyle/>
          <a:p>
            <a:pPr algn="l">
              <a:lnSpc>
                <a:spcPts val="4100"/>
              </a:lnSpc>
              <a:spcBef>
                <a:spcPts val="0"/>
              </a:spcBef>
              <a:spcAft>
                <a:spcPts val="0"/>
              </a:spcAft>
            </a:pPr>
            <a:r>
              <a:rPr lang="en-US" sz="3300" b="1" dirty="0">
                <a:solidFill>
                  <a:srgbClr val="EDE9E2"/>
                </a:solidFill>
                <a:latin typeface="Bahnschrift"/>
                <a:ea typeface="Bahnschrift"/>
                <a:cs typeface="Bahnschrift"/>
              </a:rPr>
              <a:t>A Monaco editor and Git history</a:t>
            </a:r>
            <a:endParaRPr lang="en-US" sz="3300" dirty="0"/>
          </a:p>
          <a:p>
            <a:pPr algn="l">
              <a:lnSpc>
                <a:spcPts val="4100"/>
              </a:lnSpc>
              <a:spcBef>
                <a:spcPts val="0"/>
              </a:spcBef>
              <a:spcAft>
                <a:spcPts val="0"/>
              </a:spcAft>
            </a:pPr>
            <a:r>
              <a:rPr lang="en-US" sz="3300" b="1" dirty="0">
                <a:solidFill>
                  <a:srgbClr val="EDE9E2"/>
                </a:solidFill>
                <a:latin typeface="Bahnschrift"/>
                <a:ea typeface="Bahnschrift"/>
                <a:cs typeface="Bahnschrift"/>
              </a:rPr>
              <a:t>live </a:t>
            </a:r>
            <a:r>
              <a:rPr lang="en-US" sz="3300" b="1" dirty="0">
                <a:solidFill>
                  <a:srgbClr val="FF5B1F"/>
                </a:solidFill>
                <a:latin typeface="Bahnschrift"/>
                <a:ea typeface="Bahnschrift"/>
                <a:cs typeface="Bahnschrift"/>
              </a:rPr>
              <a:t>beside the agents</a:t>
            </a:r>
            <a:endParaRPr lang="en-US" sz="3300" dirty="0"/>
          </a:p>
        </p:txBody>
      </p:sp>
      <p:grpSp>
        <p:nvGrpSpPr>
          <p:cNvPr id="13" name="editor-window"/>
          <p:cNvGrpSpPr/>
          <p:nvPr/>
        </p:nvGrpSpPr>
        <p:grpSpPr>
          <a:xfrm>
            <a:off x="723900" y="1809750"/>
            <a:ext cx="7620000" cy="4305300"/>
            <a:chOff x="723900" y="1809750"/>
            <a:chExt cx="7620000" cy="4305300"/>
          </a:xfrm>
        </p:grpSpPr>
        <p:sp>
          <p:nvSpPr>
            <p:cNvPr id="8" name="rect 9"/>
            <p:cNvSpPr/>
            <p:nvPr/>
          </p:nvSpPr>
          <p:spPr>
            <a:xfrm>
              <a:off x="723900" y="1809750"/>
              <a:ext cx="7620000" cy="4305300"/>
            </a:xfrm>
            <a:prstGeom prst="roundRect">
              <a:avLst>
                <a:gd name="adj" fmla="val 1770"/>
              </a:avLst>
            </a:prstGeom>
            <a:solidFill>
              <a:srgbClr val="14171B"/>
            </a:solidFill>
            <a:ln w="9525" cap="flat">
              <a:solidFill>
                <a:srgbClr val="2A2E35"/>
              </a:solidFill>
              <a:miter lim="800000"/>
            </a:ln>
          </p:spPr>
          <p:txBody>
            <a:bodyPr/>
            <a:lstStyle/>
            <a:p>
              <a:endParaRPr lang="en-US"/>
            </a:p>
          </p:txBody>
        </p:sp>
        <p:sp>
          <p:nvSpPr>
            <p:cNvPr id="9" name="circle 10"/>
            <p:cNvSpPr/>
            <p:nvPr/>
          </p:nvSpPr>
          <p:spPr>
            <a:xfrm>
              <a:off x="862013" y="1890713"/>
              <a:ext cx="66675" cy="66675"/>
            </a:xfrm>
            <a:prstGeom prst="ellipse">
              <a:avLst/>
            </a:prstGeom>
            <a:solidFill>
              <a:srgbClr val="4A5058"/>
            </a:solidFill>
            <a:ln>
              <a:noFill/>
            </a:ln>
          </p:spPr>
          <p:txBody>
            <a:bodyPr/>
            <a:lstStyle/>
            <a:p>
              <a:endParaRPr lang="en-US"/>
            </a:p>
          </p:txBody>
        </p:sp>
        <p:sp>
          <p:nvSpPr>
            <p:cNvPr id="10" name="circle 11"/>
            <p:cNvSpPr/>
            <p:nvPr/>
          </p:nvSpPr>
          <p:spPr>
            <a:xfrm>
              <a:off x="976313" y="1890713"/>
              <a:ext cx="66675" cy="66675"/>
            </a:xfrm>
            <a:prstGeom prst="ellipse">
              <a:avLst/>
            </a:prstGeom>
            <a:solidFill>
              <a:srgbClr val="4A5058"/>
            </a:solidFill>
            <a:ln>
              <a:noFill/>
            </a:ln>
          </p:spPr>
          <p:txBody>
            <a:bodyPr/>
            <a:lstStyle/>
            <a:p>
              <a:endParaRPr lang="en-US"/>
            </a:p>
          </p:txBody>
        </p:sp>
        <p:sp>
          <p:nvSpPr>
            <p:cNvPr id="11" name="circle 12"/>
            <p:cNvSpPr/>
            <p:nvPr/>
          </p:nvSpPr>
          <p:spPr>
            <a:xfrm>
              <a:off x="1090613" y="1890713"/>
              <a:ext cx="66675" cy="66675"/>
            </a:xfrm>
            <a:prstGeom prst="ellipse">
              <a:avLst/>
            </a:prstGeom>
            <a:solidFill>
              <a:srgbClr val="4A5058"/>
            </a:solidFill>
            <a:ln>
              <a:noFill/>
            </a:ln>
          </p:spPr>
          <p:txBody>
            <a:bodyPr/>
            <a:lstStyle/>
            <a:p>
              <a:endParaRPr lang="en-US"/>
            </a:p>
          </p:txBody>
        </p:sp>
        <p:pic>
          <p:nvPicPr>
            <p:cNvPr id="12" name="Picture 13"/>
            <p:cNvPicPr>
              <a:picLocks noChangeAspect="1"/>
            </p:cNvPicPr>
            <p:nvPr/>
          </p:nvPicPr>
          <p:blipFill>
            <a:blip r:embed="rId3"/>
            <a:stretch>
              <a:fillRect/>
            </a:stretch>
          </p:blipFill>
          <p:spPr>
            <a:xfrm>
              <a:off x="723900" y="2038350"/>
              <a:ext cx="7620000" cy="4076700"/>
            </a:xfrm>
            <a:prstGeom prst="roundRect">
              <a:avLst>
                <a:gd name="adj" fmla="val 1869"/>
              </a:avLst>
            </a:prstGeom>
          </p:spPr>
        </p:pic>
      </p:grpSp>
      <p:grpSp>
        <p:nvGrpSpPr>
          <p:cNvPr id="18" name="viewfinder-brackets"/>
          <p:cNvGrpSpPr/>
          <p:nvPr/>
        </p:nvGrpSpPr>
        <p:grpSpPr>
          <a:xfrm>
            <a:off x="609600" y="1695450"/>
            <a:ext cx="7848600" cy="4533900"/>
            <a:chOff x="609600" y="1695450"/>
            <a:chExt cx="7848600" cy="4533900"/>
          </a:xfrm>
        </p:grpSpPr>
        <p:sp>
          <p:nvSpPr>
            <p:cNvPr id="14" name="path 15"/>
            <p:cNvSpPr/>
            <p:nvPr/>
          </p:nvSpPr>
          <p:spPr>
            <a:xfrm>
              <a:off x="609600" y="1695450"/>
              <a:ext cx="228600" cy="228600"/>
            </a:xfrm>
            <a:custGeom>
              <a:avLst/>
              <a:gdLst/>
              <a:ahLst/>
              <a:cxnLst/>
              <a:rect l="0" t="0" r="r" b="b"/>
              <a:pathLst>
                <a:path w="228600" h="228600" fill="none">
                  <a:moveTo>
                    <a:pt x="0" y="228600"/>
                  </a:moveTo>
                  <a:lnTo>
                    <a:pt x="0" y="0"/>
                  </a:lnTo>
                  <a:lnTo>
                    <a:pt x="228600" y="0"/>
                  </a:lnTo>
                </a:path>
              </a:pathLst>
            </a:custGeom>
            <a:noFill/>
            <a:ln w="19050" cap="flat">
              <a:solidFill>
                <a:srgbClr val="3D8BFF"/>
              </a:solidFill>
              <a:miter lim="800000"/>
            </a:ln>
          </p:spPr>
          <p:txBody>
            <a:bodyPr/>
            <a:lstStyle/>
            <a:p>
              <a:endParaRPr lang="en-US"/>
            </a:p>
          </p:txBody>
        </p:sp>
        <p:sp>
          <p:nvSpPr>
            <p:cNvPr id="15" name="path 16"/>
            <p:cNvSpPr/>
            <p:nvPr/>
          </p:nvSpPr>
          <p:spPr>
            <a:xfrm>
              <a:off x="8229600" y="1695450"/>
              <a:ext cx="228600" cy="228600"/>
            </a:xfrm>
            <a:custGeom>
              <a:avLst/>
              <a:gdLst/>
              <a:ahLst/>
              <a:cxnLst/>
              <a:rect l="0" t="0" r="r" b="b"/>
              <a:pathLst>
                <a:path w="228600" h="228600" fill="none">
                  <a:moveTo>
                    <a:pt x="0" y="0"/>
                  </a:moveTo>
                  <a:lnTo>
                    <a:pt x="228600" y="0"/>
                  </a:lnTo>
                  <a:lnTo>
                    <a:pt x="228600" y="228600"/>
                  </a:lnTo>
                </a:path>
              </a:pathLst>
            </a:custGeom>
            <a:noFill/>
            <a:ln w="19050" cap="flat">
              <a:solidFill>
                <a:srgbClr val="3D8BFF"/>
              </a:solidFill>
              <a:miter lim="800000"/>
            </a:ln>
          </p:spPr>
          <p:txBody>
            <a:bodyPr/>
            <a:lstStyle/>
            <a:p>
              <a:endParaRPr lang="en-US"/>
            </a:p>
          </p:txBody>
        </p:sp>
        <p:sp>
          <p:nvSpPr>
            <p:cNvPr id="16" name="path 17"/>
            <p:cNvSpPr/>
            <p:nvPr/>
          </p:nvSpPr>
          <p:spPr>
            <a:xfrm>
              <a:off x="609600" y="6000750"/>
              <a:ext cx="228600" cy="228600"/>
            </a:xfrm>
            <a:custGeom>
              <a:avLst/>
              <a:gdLst/>
              <a:ahLst/>
              <a:cxnLst/>
              <a:rect l="0" t="0" r="r" b="b"/>
              <a:pathLst>
                <a:path w="228600" h="228600" fill="none">
                  <a:moveTo>
                    <a:pt x="0" y="0"/>
                  </a:moveTo>
                  <a:lnTo>
                    <a:pt x="0" y="228600"/>
                  </a:lnTo>
                  <a:lnTo>
                    <a:pt x="228600" y="228600"/>
                  </a:lnTo>
                </a:path>
              </a:pathLst>
            </a:custGeom>
            <a:noFill/>
            <a:ln w="19050" cap="flat">
              <a:solidFill>
                <a:srgbClr val="3D8BFF"/>
              </a:solidFill>
              <a:miter lim="800000"/>
            </a:ln>
          </p:spPr>
          <p:txBody>
            <a:bodyPr/>
            <a:lstStyle/>
            <a:p>
              <a:endParaRPr lang="en-US"/>
            </a:p>
          </p:txBody>
        </p:sp>
        <p:sp>
          <p:nvSpPr>
            <p:cNvPr id="17" name="path 18"/>
            <p:cNvSpPr/>
            <p:nvPr/>
          </p:nvSpPr>
          <p:spPr>
            <a:xfrm>
              <a:off x="8229600" y="6000750"/>
              <a:ext cx="228600" cy="228600"/>
            </a:xfrm>
            <a:custGeom>
              <a:avLst/>
              <a:gdLst/>
              <a:ahLst/>
              <a:cxnLst/>
              <a:rect l="0" t="0" r="r" b="b"/>
              <a:pathLst>
                <a:path w="228600" h="228600" fill="none">
                  <a:moveTo>
                    <a:pt x="228600" y="0"/>
                  </a:moveTo>
                  <a:lnTo>
                    <a:pt x="228600" y="228600"/>
                  </a:lnTo>
                  <a:lnTo>
                    <a:pt x="0" y="228600"/>
                  </a:lnTo>
                </a:path>
              </a:pathLst>
            </a:custGeom>
            <a:noFill/>
            <a:ln w="19050" cap="flat">
              <a:solidFill>
                <a:srgbClr val="3D8BFF"/>
              </a:solidFill>
              <a:miter lim="800000"/>
            </a:ln>
          </p:spPr>
          <p:txBody>
            <a:bodyPr/>
            <a:lstStyle/>
            <a:p>
              <a:endParaRPr lang="en-US"/>
            </a:p>
          </p:txBody>
        </p:sp>
      </p:grpSp>
      <p:sp>
        <p:nvSpPr>
          <p:cNvPr id="19" name="Text 20"/>
          <p:cNvSpPr txBox="1"/>
          <p:nvPr/>
        </p:nvSpPr>
        <p:spPr>
          <a:xfrm>
            <a:off x="723900" y="6324600"/>
            <a:ext cx="5862518" cy="224790"/>
          </a:xfrm>
          <a:prstGeom prst="rect">
            <a:avLst/>
          </a:prstGeom>
          <a:noFill/>
        </p:spPr>
        <p:txBody>
          <a:bodyPr wrap="none" lIns="0" tIns="0" rIns="0" bIns="0" rtlCol="0" anchor="t">
            <a:noAutofit/>
          </a:bodyPr>
          <a:lstStyle/>
          <a:p>
            <a:pPr algn="l">
              <a:spcBef>
                <a:spcPts val="0"/>
              </a:spcBef>
              <a:spcAft>
                <a:spcPts val="0"/>
              </a:spcAft>
            </a:pPr>
            <a:r>
              <a:rPr lang="en-US" sz="1200" b="1" dirty="0">
                <a:solidFill>
                  <a:srgbClr val="EDE9E2"/>
                </a:solidFill>
                <a:latin typeface="Segoe UI"/>
                <a:ea typeface="Segoe UI"/>
                <a:cs typeface="Segoe UI"/>
              </a:rPr>
              <a:t>Monaco</a:t>
            </a:r>
            <a:r>
              <a:rPr lang="en-US" sz="1200" b="0" dirty="0">
                <a:solidFill>
                  <a:srgbClr val="9C9A94"/>
                </a:solidFill>
                <a:latin typeface="Segoe UI"/>
                <a:ea typeface="Segoe UI"/>
                <a:cs typeface="Segoe UI"/>
              </a:rPr>
              <a:t> is the editor engine behind VS Code. </a:t>
            </a:r>
            <a:r>
              <a:rPr lang="en-US" sz="1200" b="1" dirty="0">
                <a:solidFill>
                  <a:srgbClr val="EDE9E2"/>
                </a:solidFill>
                <a:latin typeface="Segoe UI"/>
                <a:ea typeface="Segoe UI"/>
                <a:cs typeface="Segoe UI"/>
              </a:rPr>
              <a:t>Git</a:t>
            </a:r>
            <a:r>
              <a:rPr lang="en-US" sz="1200" b="0" dirty="0">
                <a:solidFill>
                  <a:srgbClr val="9C9A94"/>
                </a:solidFill>
                <a:latin typeface="Segoe UI"/>
                <a:ea typeface="Segoe UI"/>
                <a:cs typeface="Segoe UI"/>
              </a:rPr>
              <a:t> is the version history of a project.</a:t>
            </a:r>
            <a:endParaRPr lang="en-US" sz="1200" dirty="0"/>
          </a:p>
        </p:txBody>
      </p:sp>
      <p:grpSp>
        <p:nvGrpSpPr>
          <p:cNvPr id="23" name="item-multitab"/>
          <p:cNvGrpSpPr/>
          <p:nvPr/>
        </p:nvGrpSpPr>
        <p:grpSpPr>
          <a:xfrm>
            <a:off x="8763000" y="1809750"/>
            <a:ext cx="2819400" cy="1024890"/>
            <a:chOff x="8763000" y="1809750"/>
            <a:chExt cx="2819400" cy="1024890"/>
          </a:xfrm>
        </p:grpSpPr>
        <p:sp>
          <p:nvSpPr>
            <p:cNvPr id="20" name="line 21"/>
            <p:cNvSpPr/>
            <p:nvPr/>
          </p:nvSpPr>
          <p:spPr>
            <a:xfrm>
              <a:off x="8763000" y="1809750"/>
              <a:ext cx="2819400" cy="95"/>
            </a:xfrm>
            <a:custGeom>
              <a:avLst/>
              <a:gdLst/>
              <a:ahLst/>
              <a:cxnLst/>
              <a:rect l="0" t="0" r="r" b="b"/>
              <a:pathLst>
                <a:path w="2819400" h="95" fill="none">
                  <a:moveTo>
                    <a:pt x="0" y="0"/>
                  </a:moveTo>
                  <a:lnTo>
                    <a:pt x="2819400" y="0"/>
                  </a:lnTo>
                </a:path>
              </a:pathLst>
            </a:custGeom>
            <a:noFill/>
            <a:ln w="9525" cap="flat">
              <a:solidFill>
                <a:srgbClr val="2A2E35"/>
              </a:solidFill>
              <a:miter lim="800000"/>
            </a:ln>
          </p:spPr>
          <p:txBody>
            <a:bodyPr/>
            <a:lstStyle/>
            <a:p>
              <a:endParaRPr lang="en-US"/>
            </a:p>
          </p:txBody>
        </p:sp>
        <p:sp>
          <p:nvSpPr>
            <p:cNvPr id="21" name="Text 22"/>
            <p:cNvSpPr txBox="1"/>
            <p:nvPr/>
          </p:nvSpPr>
          <p:spPr>
            <a:xfrm>
              <a:off x="8763000" y="1917700"/>
              <a:ext cx="956108" cy="212090"/>
            </a:xfrm>
            <a:prstGeom prst="rect">
              <a:avLst/>
            </a:prstGeom>
            <a:noFill/>
          </p:spPr>
          <p:txBody>
            <a:bodyPr wrap="none" lIns="0" tIns="0" rIns="0" bIns="0" rtlCol="0" anchor="t">
              <a:noAutofit/>
            </a:bodyPr>
            <a:lstStyle/>
            <a:p>
              <a:pPr algn="l">
                <a:spcBef>
                  <a:spcPts val="0"/>
                </a:spcBef>
                <a:spcAft>
                  <a:spcPts val="0"/>
                </a:spcAft>
              </a:pPr>
              <a:r>
                <a:rPr lang="en-US" sz="1200" b="0" spc="113" dirty="0">
                  <a:solidFill>
                    <a:srgbClr val="3D8BFF"/>
                  </a:solidFill>
                  <a:latin typeface="Consolas"/>
                  <a:ea typeface="Consolas"/>
                  <a:cs typeface="Consolas"/>
                </a:rPr>
                <a:t>MULTI-TAB</a:t>
              </a:r>
              <a:endParaRPr lang="en-US" sz="1200" dirty="0"/>
            </a:p>
          </p:txBody>
        </p:sp>
        <p:sp>
          <p:nvSpPr>
            <p:cNvPr id="22" name="Text 23"/>
            <p:cNvSpPr txBox="1"/>
            <p:nvPr/>
          </p:nvSpPr>
          <p:spPr>
            <a:xfrm>
              <a:off x="8763000" y="2127250"/>
              <a:ext cx="2356801" cy="707390"/>
            </a:xfrm>
            <a:prstGeom prst="rect">
              <a:avLst/>
            </a:prstGeom>
            <a:noFill/>
          </p:spPr>
          <p:txBody>
            <a:bodyPr wrap="none" lIns="0" tIns="0" rIns="0" bIns="0" rtlCol="0" anchor="t">
              <a:noAutofit/>
            </a:bodyPr>
            <a:lstStyle/>
            <a:p>
              <a:pPr algn="l">
                <a:lnSpc>
                  <a:spcPts val="1800"/>
                </a:lnSpc>
                <a:spcBef>
                  <a:spcPts val="0"/>
                </a:spcBef>
                <a:spcAft>
                  <a:spcPts val="0"/>
                </a:spcAft>
              </a:pPr>
              <a:r>
                <a:rPr lang="en-US" sz="1200" b="1" dirty="0">
                  <a:solidFill>
                    <a:srgbClr val="EDE9E2"/>
                  </a:solidFill>
                  <a:latin typeface="Segoe UI"/>
                  <a:ea typeface="Segoe UI"/>
                  <a:cs typeface="Segoe UI"/>
                </a:rPr>
                <a:t>Split views</a:t>
              </a:r>
              <a:r>
                <a:rPr lang="en-US" sz="1200" b="0" dirty="0">
                  <a:solidFill>
                    <a:srgbClr val="9C9A94"/>
                  </a:solidFill>
                  <a:latin typeface="Segoe UI"/>
                  <a:ea typeface="Segoe UI"/>
                  <a:cs typeface="Segoe UI"/>
                </a:rPr>
                <a:t> to see two files side</a:t>
              </a:r>
              <a:endParaRPr lang="en-US" sz="1200" dirty="0"/>
            </a:p>
            <a:p>
              <a:pPr algn="l">
                <a:lnSpc>
                  <a:spcPts val="1800"/>
                </a:lnSpc>
                <a:spcBef>
                  <a:spcPts val="0"/>
                </a:spcBef>
                <a:spcAft>
                  <a:spcPts val="0"/>
                </a:spcAft>
              </a:pPr>
              <a:r>
                <a:rPr lang="en-US" sz="1200" b="0" dirty="0">
                  <a:solidFill>
                    <a:srgbClr val="9C9A94"/>
                  </a:solidFill>
                  <a:latin typeface="Segoe UI"/>
                  <a:ea typeface="Segoe UI"/>
                  <a:cs typeface="Segoe UI"/>
                </a:rPr>
                <a:t>by side. </a:t>
              </a:r>
              <a:r>
                <a:rPr lang="en-US" sz="1200" b="1" dirty="0">
                  <a:solidFill>
                    <a:srgbClr val="EDE9E2"/>
                  </a:solidFill>
                  <a:latin typeface="Segoe UI"/>
                  <a:ea typeface="Segoe UI"/>
                  <a:cs typeface="Segoe UI"/>
                </a:rPr>
                <a:t>Close others</a:t>
              </a:r>
              <a:r>
                <a:rPr lang="en-US" sz="1200" b="0" dirty="0">
                  <a:solidFill>
                    <a:srgbClr val="9C9A94"/>
                  </a:solidFill>
                  <a:latin typeface="Segoe UI"/>
                  <a:ea typeface="Segoe UI"/>
                  <a:cs typeface="Segoe UI"/>
                </a:rPr>
                <a:t>, tabs to the</a:t>
              </a:r>
              <a:endParaRPr lang="en-US" sz="1200" dirty="0"/>
            </a:p>
            <a:p>
              <a:pPr algn="l">
                <a:lnSpc>
                  <a:spcPts val="1800"/>
                </a:lnSpc>
                <a:spcBef>
                  <a:spcPts val="0"/>
                </a:spcBef>
                <a:spcAft>
                  <a:spcPts val="0"/>
                </a:spcAft>
              </a:pPr>
              <a:r>
                <a:rPr lang="en-US" sz="1200" b="0" dirty="0">
                  <a:solidFill>
                    <a:srgbClr val="9C9A94"/>
                  </a:solidFill>
                  <a:latin typeface="Segoe UI"/>
                  <a:ea typeface="Segoe UI"/>
                  <a:cs typeface="Segoe UI"/>
                </a:rPr>
                <a:t>right, or saved ones.</a:t>
              </a:r>
              <a:endParaRPr lang="en-US" sz="1200" dirty="0"/>
            </a:p>
          </p:txBody>
        </p:sp>
      </p:grpSp>
      <p:grpSp>
        <p:nvGrpSpPr>
          <p:cNvPr id="27" name="item-previews"/>
          <p:cNvGrpSpPr/>
          <p:nvPr/>
        </p:nvGrpSpPr>
        <p:grpSpPr>
          <a:xfrm>
            <a:off x="8763000" y="2952750"/>
            <a:ext cx="2819400" cy="1024890"/>
            <a:chOff x="8763000" y="2952750"/>
            <a:chExt cx="2819400" cy="1024890"/>
          </a:xfrm>
        </p:grpSpPr>
        <p:sp>
          <p:nvSpPr>
            <p:cNvPr id="24" name="line 25"/>
            <p:cNvSpPr/>
            <p:nvPr/>
          </p:nvSpPr>
          <p:spPr>
            <a:xfrm>
              <a:off x="8763000" y="2952750"/>
              <a:ext cx="2819400" cy="95"/>
            </a:xfrm>
            <a:custGeom>
              <a:avLst/>
              <a:gdLst/>
              <a:ahLst/>
              <a:cxnLst/>
              <a:rect l="0" t="0" r="r" b="b"/>
              <a:pathLst>
                <a:path w="2819400" h="95" fill="none">
                  <a:moveTo>
                    <a:pt x="0" y="0"/>
                  </a:moveTo>
                  <a:lnTo>
                    <a:pt x="2819400" y="0"/>
                  </a:lnTo>
                </a:path>
              </a:pathLst>
            </a:custGeom>
            <a:noFill/>
            <a:ln w="9525" cap="flat">
              <a:solidFill>
                <a:srgbClr val="2A2E35"/>
              </a:solidFill>
              <a:miter lim="800000"/>
            </a:ln>
          </p:spPr>
          <p:txBody>
            <a:bodyPr/>
            <a:lstStyle/>
            <a:p>
              <a:endParaRPr lang="en-US"/>
            </a:p>
          </p:txBody>
        </p:sp>
        <p:sp>
          <p:nvSpPr>
            <p:cNvPr id="25" name="Text 26"/>
            <p:cNvSpPr txBox="1"/>
            <p:nvPr/>
          </p:nvSpPr>
          <p:spPr>
            <a:xfrm>
              <a:off x="8763000" y="3060700"/>
              <a:ext cx="1364111" cy="212090"/>
            </a:xfrm>
            <a:prstGeom prst="rect">
              <a:avLst/>
            </a:prstGeom>
            <a:noFill/>
          </p:spPr>
          <p:txBody>
            <a:bodyPr wrap="none" lIns="0" tIns="0" rIns="0" bIns="0" rtlCol="0" anchor="t">
              <a:noAutofit/>
            </a:bodyPr>
            <a:lstStyle/>
            <a:p>
              <a:pPr algn="l">
                <a:spcBef>
                  <a:spcPts val="0"/>
                </a:spcBef>
                <a:spcAft>
                  <a:spcPts val="0"/>
                </a:spcAft>
              </a:pPr>
              <a:r>
                <a:rPr lang="en-US" sz="1200" b="0" spc="113" dirty="0">
                  <a:solidFill>
                    <a:srgbClr val="3D8BFF"/>
                  </a:solidFill>
                  <a:latin typeface="Consolas"/>
                  <a:ea typeface="Consolas"/>
                  <a:cs typeface="Consolas"/>
                </a:rPr>
                <a:t>RICH PREVIEWS</a:t>
              </a:r>
              <a:endParaRPr lang="en-US" sz="1200" dirty="0"/>
            </a:p>
          </p:txBody>
        </p:sp>
        <p:sp>
          <p:nvSpPr>
            <p:cNvPr id="26" name="Text 27"/>
            <p:cNvSpPr txBox="1"/>
            <p:nvPr/>
          </p:nvSpPr>
          <p:spPr>
            <a:xfrm>
              <a:off x="8763000" y="3270250"/>
              <a:ext cx="2385125" cy="707390"/>
            </a:xfrm>
            <a:prstGeom prst="rect">
              <a:avLst/>
            </a:prstGeom>
            <a:noFill/>
          </p:spPr>
          <p:txBody>
            <a:bodyPr wrap="none" lIns="0" tIns="0" rIns="0" bIns="0" rtlCol="0" anchor="t">
              <a:noAutofit/>
            </a:bodyPr>
            <a:lstStyle/>
            <a:p>
              <a:pPr algn="l">
                <a:lnSpc>
                  <a:spcPts val="1800"/>
                </a:lnSpc>
                <a:spcBef>
                  <a:spcPts val="0"/>
                </a:spcBef>
                <a:spcAft>
                  <a:spcPts val="0"/>
                </a:spcAft>
              </a:pPr>
              <a:r>
                <a:rPr lang="en-US" sz="1200" b="1" dirty="0">
                  <a:solidFill>
                    <a:srgbClr val="EDE9E2"/>
                  </a:solidFill>
                  <a:latin typeface="Segoe UI"/>
                  <a:ea typeface="Segoe UI"/>
                  <a:cs typeface="Segoe UI"/>
                </a:rPr>
                <a:t>Open documents</a:t>
              </a:r>
              <a:r>
                <a:rPr lang="en-US" sz="1200" b="0" dirty="0">
                  <a:solidFill>
                    <a:srgbClr val="9C9A94"/>
                  </a:solidFill>
                  <a:latin typeface="Segoe UI"/>
                  <a:ea typeface="Segoe UI"/>
                  <a:cs typeface="Segoe UI"/>
                </a:rPr>
                <a:t>, not just code:</a:t>
              </a:r>
              <a:endParaRPr lang="en-US" sz="1200" dirty="0"/>
            </a:p>
            <a:p>
              <a:pPr algn="l">
                <a:lnSpc>
                  <a:spcPts val="1800"/>
                </a:lnSpc>
                <a:spcBef>
                  <a:spcPts val="0"/>
                </a:spcBef>
                <a:spcAft>
                  <a:spcPts val="0"/>
                </a:spcAft>
              </a:pPr>
              <a:r>
                <a:rPr lang="en-US" sz="1200" b="0" dirty="0">
                  <a:solidFill>
                    <a:srgbClr val="9C9A94"/>
                  </a:solidFill>
                  <a:latin typeface="Segoe UI"/>
                  <a:ea typeface="Segoe UI"/>
                  <a:cs typeface="Segoe UI"/>
                </a:rPr>
                <a:t>Markdown, PDF, CSV, Excel, Word</a:t>
              </a:r>
              <a:endParaRPr lang="en-US" sz="1200" dirty="0"/>
            </a:p>
            <a:p>
              <a:pPr algn="l">
                <a:lnSpc>
                  <a:spcPts val="1800"/>
                </a:lnSpc>
                <a:spcBef>
                  <a:spcPts val="0"/>
                </a:spcBef>
                <a:spcAft>
                  <a:spcPts val="0"/>
                </a:spcAft>
              </a:pPr>
              <a:r>
                <a:rPr lang="en-US" sz="1200" b="0" dirty="0">
                  <a:solidFill>
                    <a:srgbClr val="9C9A94"/>
                  </a:solidFill>
                  <a:latin typeface="Segoe UI"/>
                  <a:ea typeface="Segoe UI"/>
                  <a:cs typeface="Segoe UI"/>
                </a:rPr>
                <a:t>and Draw.io, readable in place.</a:t>
              </a:r>
              <a:endParaRPr lang="en-US" sz="1200" dirty="0"/>
            </a:p>
          </p:txBody>
        </p:sp>
      </p:grpSp>
      <p:grpSp>
        <p:nvGrpSpPr>
          <p:cNvPr id="31" name="item-sync"/>
          <p:cNvGrpSpPr/>
          <p:nvPr/>
        </p:nvGrpSpPr>
        <p:grpSpPr>
          <a:xfrm>
            <a:off x="8763000" y="4095750"/>
            <a:ext cx="2819400" cy="1024890"/>
            <a:chOff x="8763000" y="4095750"/>
            <a:chExt cx="2819400" cy="1024890"/>
          </a:xfrm>
        </p:grpSpPr>
        <p:sp>
          <p:nvSpPr>
            <p:cNvPr id="28" name="line 29"/>
            <p:cNvSpPr/>
            <p:nvPr/>
          </p:nvSpPr>
          <p:spPr>
            <a:xfrm>
              <a:off x="8763000" y="4095750"/>
              <a:ext cx="2819400" cy="95"/>
            </a:xfrm>
            <a:custGeom>
              <a:avLst/>
              <a:gdLst/>
              <a:ahLst/>
              <a:cxnLst/>
              <a:rect l="0" t="0" r="r" b="b"/>
              <a:pathLst>
                <a:path w="2819400" h="95" fill="none">
                  <a:moveTo>
                    <a:pt x="0" y="0"/>
                  </a:moveTo>
                  <a:lnTo>
                    <a:pt x="2819400" y="0"/>
                  </a:lnTo>
                </a:path>
              </a:pathLst>
            </a:custGeom>
            <a:noFill/>
            <a:ln w="9525" cap="flat">
              <a:solidFill>
                <a:srgbClr val="2A2E35"/>
              </a:solidFill>
              <a:miter lim="800000"/>
            </a:ln>
          </p:spPr>
          <p:txBody>
            <a:bodyPr/>
            <a:lstStyle/>
            <a:p>
              <a:endParaRPr lang="en-US"/>
            </a:p>
          </p:txBody>
        </p:sp>
        <p:sp>
          <p:nvSpPr>
            <p:cNvPr id="29" name="Text 30"/>
            <p:cNvSpPr txBox="1"/>
            <p:nvPr/>
          </p:nvSpPr>
          <p:spPr>
            <a:xfrm>
              <a:off x="8763000" y="4203700"/>
              <a:ext cx="1874115" cy="212090"/>
            </a:xfrm>
            <a:prstGeom prst="rect">
              <a:avLst/>
            </a:prstGeom>
            <a:noFill/>
          </p:spPr>
          <p:txBody>
            <a:bodyPr wrap="none" lIns="0" tIns="0" rIns="0" bIns="0" rtlCol="0" anchor="t">
              <a:noAutofit/>
            </a:bodyPr>
            <a:lstStyle/>
            <a:p>
              <a:pPr algn="l">
                <a:spcBef>
                  <a:spcPts val="0"/>
                </a:spcBef>
                <a:spcAft>
                  <a:spcPts val="0"/>
                </a:spcAft>
              </a:pPr>
              <a:r>
                <a:rPr lang="en-US" sz="1200" b="0" spc="113" dirty="0">
                  <a:solidFill>
                    <a:srgbClr val="3D8BFF"/>
                  </a:solidFill>
                  <a:latin typeface="Consolas"/>
                  <a:ea typeface="Consolas"/>
                  <a:cs typeface="Consolas"/>
                </a:rPr>
                <a:t>TRANSACTIONAL SYNC</a:t>
              </a:r>
              <a:endParaRPr lang="en-US" sz="1200" dirty="0"/>
            </a:p>
          </p:txBody>
        </p:sp>
        <p:sp>
          <p:nvSpPr>
            <p:cNvPr id="30" name="Text 31"/>
            <p:cNvSpPr txBox="1"/>
            <p:nvPr/>
          </p:nvSpPr>
          <p:spPr>
            <a:xfrm>
              <a:off x="8763000" y="4413250"/>
              <a:ext cx="2334357" cy="707390"/>
            </a:xfrm>
            <a:prstGeom prst="rect">
              <a:avLst/>
            </a:prstGeom>
            <a:noFill/>
          </p:spPr>
          <p:txBody>
            <a:bodyPr wrap="none" lIns="0" tIns="0" rIns="0" bIns="0" rtlCol="0" anchor="t">
              <a:noAutofit/>
            </a:bodyPr>
            <a:lstStyle/>
            <a:p>
              <a:pPr algn="l">
                <a:lnSpc>
                  <a:spcPts val="1800"/>
                </a:lnSpc>
                <a:spcBef>
                  <a:spcPts val="0"/>
                </a:spcBef>
                <a:spcAft>
                  <a:spcPts val="0"/>
                </a:spcAft>
              </a:pPr>
              <a:r>
                <a:rPr lang="en-US" sz="1200" b="0" dirty="0">
                  <a:solidFill>
                    <a:srgbClr val="9C9A94"/>
                  </a:solidFill>
                  <a:latin typeface="Segoe UI"/>
                  <a:ea typeface="Segoe UI"/>
                  <a:cs typeface="Segoe UI"/>
                </a:rPr>
                <a:t>A recursive </a:t>
              </a:r>
              <a:r>
                <a:rPr lang="en-US" sz="1200" b="1" dirty="0">
                  <a:solidFill>
                    <a:srgbClr val="EDE9E2"/>
                  </a:solidFill>
                  <a:latin typeface="Segoe UI"/>
                  <a:ea typeface="Segoe UI"/>
                  <a:cs typeface="Segoe UI"/>
                </a:rPr>
                <a:t>file watcher</a:t>
              </a:r>
              <a:r>
                <a:rPr lang="en-US" sz="1200" b="0" dirty="0">
                  <a:solidFill>
                    <a:srgbClr val="9C9A94"/>
                  </a:solidFill>
                  <a:latin typeface="Segoe UI"/>
                  <a:ea typeface="Segoe UI"/>
                  <a:cs typeface="Segoe UI"/>
                </a:rPr>
                <a:t> keeps</a:t>
              </a:r>
              <a:endParaRPr lang="en-US" sz="1200" dirty="0"/>
            </a:p>
            <a:p>
              <a:pPr algn="l">
                <a:lnSpc>
                  <a:spcPts val="1800"/>
                </a:lnSpc>
                <a:spcBef>
                  <a:spcPts val="0"/>
                </a:spcBef>
                <a:spcAft>
                  <a:spcPts val="0"/>
                </a:spcAft>
              </a:pPr>
              <a:r>
                <a:rPr lang="en-US" sz="1200" b="0" dirty="0">
                  <a:solidFill>
                    <a:srgbClr val="9C9A94"/>
                  </a:solidFill>
                  <a:latin typeface="Segoe UI"/>
                  <a:ea typeface="Segoe UI"/>
                  <a:cs typeface="Segoe UI"/>
                </a:rPr>
                <a:t>open tabs in sync when an agent</a:t>
              </a:r>
              <a:endParaRPr lang="en-US" sz="1200" dirty="0"/>
            </a:p>
            <a:p>
              <a:pPr algn="l">
                <a:lnSpc>
                  <a:spcPts val="1800"/>
                </a:lnSpc>
                <a:spcBef>
                  <a:spcPts val="0"/>
                </a:spcBef>
                <a:spcAft>
                  <a:spcPts val="0"/>
                </a:spcAft>
              </a:pPr>
              <a:r>
                <a:rPr lang="en-US" sz="1200" b="0" dirty="0">
                  <a:solidFill>
                    <a:srgbClr val="9C9A94"/>
                  </a:solidFill>
                  <a:latin typeface="Segoe UI"/>
                  <a:ea typeface="Segoe UI"/>
                  <a:cs typeface="Segoe UI"/>
                </a:rPr>
                <a:t>or another IDE edits a file.</a:t>
              </a:r>
              <a:endParaRPr lang="en-US" sz="1200" dirty="0"/>
            </a:p>
          </p:txBody>
        </p:sp>
      </p:grpSp>
      <p:grpSp>
        <p:nvGrpSpPr>
          <p:cNvPr id="35" name="item-git"/>
          <p:cNvGrpSpPr/>
          <p:nvPr/>
        </p:nvGrpSpPr>
        <p:grpSpPr>
          <a:xfrm>
            <a:off x="8763000" y="5238750"/>
            <a:ext cx="2819400" cy="1024890"/>
            <a:chOff x="8763000" y="5238750"/>
            <a:chExt cx="2819400" cy="1024890"/>
          </a:xfrm>
        </p:grpSpPr>
        <p:sp>
          <p:nvSpPr>
            <p:cNvPr id="32" name="line 33"/>
            <p:cNvSpPr/>
            <p:nvPr/>
          </p:nvSpPr>
          <p:spPr>
            <a:xfrm>
              <a:off x="8763000" y="5238750"/>
              <a:ext cx="2819400" cy="95"/>
            </a:xfrm>
            <a:custGeom>
              <a:avLst/>
              <a:gdLst/>
              <a:ahLst/>
              <a:cxnLst/>
              <a:rect l="0" t="0" r="r" b="b"/>
              <a:pathLst>
                <a:path w="2819400" h="95" fill="none">
                  <a:moveTo>
                    <a:pt x="0" y="0"/>
                  </a:moveTo>
                  <a:lnTo>
                    <a:pt x="2819400" y="0"/>
                  </a:lnTo>
                </a:path>
              </a:pathLst>
            </a:custGeom>
            <a:noFill/>
            <a:ln w="9525" cap="flat">
              <a:solidFill>
                <a:srgbClr val="2A2E35"/>
              </a:solidFill>
              <a:miter lim="800000"/>
            </a:ln>
          </p:spPr>
          <p:txBody>
            <a:bodyPr/>
            <a:lstStyle/>
            <a:p>
              <a:endParaRPr lang="en-US"/>
            </a:p>
          </p:txBody>
        </p:sp>
        <p:sp>
          <p:nvSpPr>
            <p:cNvPr id="33" name="Text 34"/>
            <p:cNvSpPr txBox="1"/>
            <p:nvPr/>
          </p:nvSpPr>
          <p:spPr>
            <a:xfrm>
              <a:off x="8763000" y="5346700"/>
              <a:ext cx="344103" cy="212090"/>
            </a:xfrm>
            <a:prstGeom prst="rect">
              <a:avLst/>
            </a:prstGeom>
            <a:noFill/>
          </p:spPr>
          <p:txBody>
            <a:bodyPr wrap="none" lIns="0" tIns="0" rIns="0" bIns="0" rtlCol="0" anchor="t">
              <a:noAutofit/>
            </a:bodyPr>
            <a:lstStyle/>
            <a:p>
              <a:pPr algn="l">
                <a:spcBef>
                  <a:spcPts val="0"/>
                </a:spcBef>
                <a:spcAft>
                  <a:spcPts val="0"/>
                </a:spcAft>
              </a:pPr>
              <a:r>
                <a:rPr lang="en-US" sz="1200" b="0" spc="113" dirty="0">
                  <a:solidFill>
                    <a:srgbClr val="3D8BFF"/>
                  </a:solidFill>
                  <a:latin typeface="Consolas"/>
                  <a:ea typeface="Consolas"/>
                  <a:cs typeface="Consolas"/>
                </a:rPr>
                <a:t>GIT</a:t>
              </a:r>
              <a:endParaRPr lang="en-US" sz="1200" dirty="0"/>
            </a:p>
          </p:txBody>
        </p:sp>
        <p:sp>
          <p:nvSpPr>
            <p:cNvPr id="34" name="Text 35"/>
            <p:cNvSpPr txBox="1"/>
            <p:nvPr/>
          </p:nvSpPr>
          <p:spPr>
            <a:xfrm>
              <a:off x="8763000" y="5556250"/>
              <a:ext cx="2505545" cy="707390"/>
            </a:xfrm>
            <a:prstGeom prst="rect">
              <a:avLst/>
            </a:prstGeom>
            <a:noFill/>
          </p:spPr>
          <p:txBody>
            <a:bodyPr wrap="none" lIns="0" tIns="0" rIns="0" bIns="0" rtlCol="0" anchor="t">
              <a:noAutofit/>
            </a:bodyPr>
            <a:lstStyle/>
            <a:p>
              <a:pPr algn="l">
                <a:lnSpc>
                  <a:spcPts val="1800"/>
                </a:lnSpc>
                <a:spcBef>
                  <a:spcPts val="0"/>
                </a:spcBef>
                <a:spcAft>
                  <a:spcPts val="0"/>
                </a:spcAft>
              </a:pPr>
              <a:r>
                <a:rPr lang="en-US" sz="1200" b="1" dirty="0">
                  <a:solidFill>
                    <a:srgbClr val="EDE9E2"/>
                  </a:solidFill>
                  <a:latin typeface="Segoe UI"/>
                  <a:ea typeface="Segoe UI"/>
                  <a:cs typeface="Segoe UI"/>
                </a:rPr>
                <a:t>A history of every change.</a:t>
              </a:r>
              <a:r>
                <a:rPr lang="en-US" sz="1200" b="0" dirty="0">
                  <a:solidFill>
                    <a:srgbClr val="9C9A94"/>
                  </a:solidFill>
                  <a:latin typeface="Segoe UI"/>
                  <a:ea typeface="Segoe UI"/>
                  <a:cs typeface="Segoe UI"/>
                </a:rPr>
                <a:t> Switch</a:t>
              </a:r>
              <a:endParaRPr lang="en-US" sz="1200" dirty="0"/>
            </a:p>
            <a:p>
              <a:pPr algn="l">
                <a:lnSpc>
                  <a:spcPts val="1800"/>
                </a:lnSpc>
                <a:spcBef>
                  <a:spcPts val="0"/>
                </a:spcBef>
                <a:spcAft>
                  <a:spcPts val="0"/>
                </a:spcAft>
              </a:pPr>
              <a:r>
                <a:rPr lang="en-US" sz="1200" b="0" dirty="0">
                  <a:solidFill>
                    <a:srgbClr val="9C9A94"/>
                  </a:solidFill>
                  <a:latin typeface="Segoe UI"/>
                  <a:ea typeface="Segoe UI"/>
                  <a:cs typeface="Segoe UI"/>
                </a:rPr>
                <a:t>branches, see diff stats, stage</a:t>
              </a:r>
              <a:endParaRPr lang="en-US" sz="1200" dirty="0"/>
            </a:p>
            <a:p>
              <a:pPr algn="l">
                <a:lnSpc>
                  <a:spcPts val="1800"/>
                </a:lnSpc>
                <a:spcBef>
                  <a:spcPts val="0"/>
                </a:spcBef>
                <a:spcAft>
                  <a:spcPts val="0"/>
                </a:spcAft>
              </a:pPr>
              <a:r>
                <a:rPr lang="en-US" sz="1200" b="0" dirty="0">
                  <a:solidFill>
                    <a:srgbClr val="9C9A94"/>
                  </a:solidFill>
                  <a:latin typeface="Segoe UI"/>
                  <a:ea typeface="Segoe UI"/>
                  <a:cs typeface="Segoe UI"/>
                </a:rPr>
                <a:t>files or hunks, commit, remote sync</a:t>
              </a:r>
              <a:endParaRPr lang="en-US" sz="1200" dirty="0"/>
            </a:p>
          </p:txBody>
        </p:sp>
      </p:grpSp>
      <p:grpSp>
        <p:nvGrpSpPr>
          <p:cNvPr id="38" name="progress-rule"/>
          <p:cNvGrpSpPr/>
          <p:nvPr/>
        </p:nvGrpSpPr>
        <p:grpSpPr>
          <a:xfrm>
            <a:off x="609600" y="6686550"/>
            <a:ext cx="10972800" cy="95"/>
            <a:chOff x="609600" y="6686550"/>
            <a:chExt cx="10972800" cy="95"/>
          </a:xfrm>
        </p:grpSpPr>
        <p:sp>
          <p:nvSpPr>
            <p:cNvPr id="36" name="line 37"/>
            <p:cNvSpPr/>
            <p:nvPr/>
          </p:nvSpPr>
          <p:spPr>
            <a:xfrm>
              <a:off x="609600" y="6686550"/>
              <a:ext cx="10972800" cy="95"/>
            </a:xfrm>
            <a:custGeom>
              <a:avLst/>
              <a:gdLst/>
              <a:ahLst/>
              <a:cxnLst/>
              <a:rect l="0" t="0" r="r" b="b"/>
              <a:pathLst>
                <a:path w="10972800" h="95" fill="none">
                  <a:moveTo>
                    <a:pt x="0" y="0"/>
                  </a:moveTo>
                  <a:lnTo>
                    <a:pt x="10972800" y="0"/>
                  </a:lnTo>
                </a:path>
              </a:pathLst>
            </a:custGeom>
            <a:noFill/>
            <a:ln w="9525" cap="flat">
              <a:solidFill>
                <a:srgbClr val="2A2E35"/>
              </a:solidFill>
              <a:miter lim="800000"/>
            </a:ln>
          </p:spPr>
          <p:txBody>
            <a:bodyPr/>
            <a:lstStyle/>
            <a:p>
              <a:endParaRPr lang="en-US"/>
            </a:p>
          </p:txBody>
        </p:sp>
        <p:sp>
          <p:nvSpPr>
            <p:cNvPr id="37" name="line 38"/>
            <p:cNvSpPr/>
            <p:nvPr/>
          </p:nvSpPr>
          <p:spPr>
            <a:xfrm>
              <a:off x="609600" y="6686550"/>
              <a:ext cx="5486400" cy="95"/>
            </a:xfrm>
            <a:custGeom>
              <a:avLst/>
              <a:gdLst/>
              <a:ahLst/>
              <a:cxnLst/>
              <a:rect l="0" t="0" r="r" b="b"/>
              <a:pathLst>
                <a:path w="5486400" h="95" fill="none">
                  <a:moveTo>
                    <a:pt x="0" y="0"/>
                  </a:moveTo>
                  <a:lnTo>
                    <a:pt x="5486400" y="0"/>
                  </a:lnTo>
                </a:path>
              </a:pathLst>
            </a:custGeom>
            <a:noFill/>
            <a:ln w="28575" cap="flat">
              <a:solidFill>
                <a:srgbClr val="FF5B1F"/>
              </a:solidFill>
              <a:miter lim="800000"/>
            </a:ln>
          </p:spPr>
          <p:txBody>
            <a:bodyPr/>
            <a:lstStyle/>
            <a:p>
              <a:endParaRPr lang="en-US"/>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600" fill="hold"/>
                                        <p:tgtEl>
                                          <p:spTgt spid="7"/>
                                        </p:tgtEl>
                                        <p:attrNameLst>
                                          <p:attrName>ppt_y</p:attrName>
                                        </p:attrNameLst>
                                      </p:cBhvr>
                                      <p:tavLst>
                                        <p:tav tm="0">
                                          <p:val>
                                            <p:strVal val="#ppt_y+.1"/>
                                          </p:val>
                                        </p:tav>
                                        <p:tav tm="100000">
                                          <p:val>
                                            <p:strVal val="#ppt_y"/>
                                          </p:val>
                                        </p:tav>
                                      </p:tavLst>
                                    </p:anim>
                                    <p:animEffect transition="in" filter="fade">
                                      <p:cBhvr>
                                        <p:cTn id="8" dur="600"/>
                                        <p:tgtEl>
                                          <p:spTgt spid="7"/>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60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6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600"/>
                                        <p:tgtEl>
                                          <p:spTgt spid="19"/>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 calcmode="lin" valueType="num">
                                      <p:cBhvr>
                                        <p:cTn id="24" dur="600" fill="hold"/>
                                        <p:tgtEl>
                                          <p:spTgt spid="23"/>
                                        </p:tgtEl>
                                        <p:attrNameLst>
                                          <p:attrName>ppt_y</p:attrName>
                                        </p:attrNameLst>
                                      </p:cBhvr>
                                      <p:tavLst>
                                        <p:tav tm="0">
                                          <p:val>
                                            <p:strVal val="#ppt_y+.1"/>
                                          </p:val>
                                        </p:tav>
                                        <p:tav tm="100000">
                                          <p:val>
                                            <p:strVal val="#ppt_y"/>
                                          </p:val>
                                        </p:tav>
                                      </p:tavLst>
                                    </p:anim>
                                    <p:animEffect transition="in" filter="fade">
                                      <p:cBhvr>
                                        <p:cTn id="25" dur="600"/>
                                        <p:tgtEl>
                                          <p:spTgt spid="23"/>
                                        </p:tgtEl>
                                      </p:cBhvr>
                                    </p:animEffect>
                                  </p:childTnLst>
                                </p:cTn>
                              </p:par>
                            </p:childTnLst>
                          </p:cTn>
                        </p:par>
                        <p:par>
                          <p:cTn id="26" fill="hold">
                            <p:stCondLst>
                              <p:cond delay="600"/>
                            </p:stCondLst>
                            <p:childTnLst>
                              <p:par>
                                <p:cTn id="27" presetID="42" presetClass="entr" presetSubtype="0" fill="hold" nodeType="afterEffect">
                                  <p:stCondLst>
                                    <p:cond delay="0"/>
                                  </p:stCondLst>
                                  <p:childTnLst>
                                    <p:set>
                                      <p:cBhvr>
                                        <p:cTn id="28" dur="1" fill="hold">
                                          <p:stCondLst>
                                            <p:cond delay="0"/>
                                          </p:stCondLst>
                                        </p:cTn>
                                        <p:tgtEl>
                                          <p:spTgt spid="27"/>
                                        </p:tgtEl>
                                        <p:attrNameLst>
                                          <p:attrName>style.visibility</p:attrName>
                                        </p:attrNameLst>
                                      </p:cBhvr>
                                      <p:to>
                                        <p:strVal val="visible"/>
                                      </p:to>
                                    </p:set>
                                    <p:anim calcmode="lin" valueType="num">
                                      <p:cBhvr>
                                        <p:cTn id="29" dur="600" fill="hold"/>
                                        <p:tgtEl>
                                          <p:spTgt spid="27"/>
                                        </p:tgtEl>
                                        <p:attrNameLst>
                                          <p:attrName>ppt_y</p:attrName>
                                        </p:attrNameLst>
                                      </p:cBhvr>
                                      <p:tavLst>
                                        <p:tav tm="0">
                                          <p:val>
                                            <p:strVal val="#ppt_y+.1"/>
                                          </p:val>
                                        </p:tav>
                                        <p:tav tm="100000">
                                          <p:val>
                                            <p:strVal val="#ppt_y"/>
                                          </p:val>
                                        </p:tav>
                                      </p:tavLst>
                                    </p:anim>
                                    <p:animEffect transition="in" filter="fade">
                                      <p:cBhvr>
                                        <p:cTn id="30" dur="600"/>
                                        <p:tgtEl>
                                          <p:spTgt spid="27"/>
                                        </p:tgtEl>
                                      </p:cBhvr>
                                    </p:animEffect>
                                  </p:childTnLst>
                                </p:cTn>
                              </p:par>
                            </p:childTnLst>
                          </p:cTn>
                        </p:par>
                        <p:par>
                          <p:cTn id="31" fill="hold">
                            <p:stCondLst>
                              <p:cond delay="1200"/>
                            </p:stCondLst>
                            <p:childTnLst>
                              <p:par>
                                <p:cTn id="32" presetID="42" presetClass="entr" presetSubtype="0" fill="hold" nodeType="afterEffect">
                                  <p:stCondLst>
                                    <p:cond delay="0"/>
                                  </p:stCondLst>
                                  <p:childTnLst>
                                    <p:set>
                                      <p:cBhvr>
                                        <p:cTn id="33" dur="1" fill="hold">
                                          <p:stCondLst>
                                            <p:cond delay="0"/>
                                          </p:stCondLst>
                                        </p:cTn>
                                        <p:tgtEl>
                                          <p:spTgt spid="31"/>
                                        </p:tgtEl>
                                        <p:attrNameLst>
                                          <p:attrName>style.visibility</p:attrName>
                                        </p:attrNameLst>
                                      </p:cBhvr>
                                      <p:to>
                                        <p:strVal val="visible"/>
                                      </p:to>
                                    </p:set>
                                    <p:anim calcmode="lin" valueType="num">
                                      <p:cBhvr>
                                        <p:cTn id="34" dur="600" fill="hold"/>
                                        <p:tgtEl>
                                          <p:spTgt spid="31"/>
                                        </p:tgtEl>
                                        <p:attrNameLst>
                                          <p:attrName>ppt_y</p:attrName>
                                        </p:attrNameLst>
                                      </p:cBhvr>
                                      <p:tavLst>
                                        <p:tav tm="0">
                                          <p:val>
                                            <p:strVal val="#ppt_y+.1"/>
                                          </p:val>
                                        </p:tav>
                                        <p:tav tm="100000">
                                          <p:val>
                                            <p:strVal val="#ppt_y"/>
                                          </p:val>
                                        </p:tav>
                                      </p:tavLst>
                                    </p:anim>
                                    <p:animEffect transition="in" filter="fade">
                                      <p:cBhvr>
                                        <p:cTn id="35" dur="600"/>
                                        <p:tgtEl>
                                          <p:spTgt spid="31"/>
                                        </p:tgtEl>
                                      </p:cBhvr>
                                    </p:animEffect>
                                  </p:childTnLst>
                                </p:cTn>
                              </p:par>
                            </p:childTnLst>
                          </p:cTn>
                        </p:par>
                        <p:par>
                          <p:cTn id="36" fill="hold">
                            <p:stCondLst>
                              <p:cond delay="1800"/>
                            </p:stCondLst>
                            <p:childTnLst>
                              <p:par>
                                <p:cTn id="37" presetID="42" presetClass="entr" presetSubtype="0" fill="hold" nodeType="afterEffect">
                                  <p:stCondLst>
                                    <p:cond delay="0"/>
                                  </p:stCondLst>
                                  <p:childTnLst>
                                    <p:set>
                                      <p:cBhvr>
                                        <p:cTn id="38" dur="1" fill="hold">
                                          <p:stCondLst>
                                            <p:cond delay="0"/>
                                          </p:stCondLst>
                                        </p:cTn>
                                        <p:tgtEl>
                                          <p:spTgt spid="35"/>
                                        </p:tgtEl>
                                        <p:attrNameLst>
                                          <p:attrName>style.visibility</p:attrName>
                                        </p:attrNameLst>
                                      </p:cBhvr>
                                      <p:to>
                                        <p:strVal val="visible"/>
                                      </p:to>
                                    </p:set>
                                    <p:anim calcmode="lin" valueType="num">
                                      <p:cBhvr>
                                        <p:cTn id="39" dur="600" fill="hold"/>
                                        <p:tgtEl>
                                          <p:spTgt spid="35"/>
                                        </p:tgtEl>
                                        <p:attrNameLst>
                                          <p:attrName>ppt_y</p:attrName>
                                        </p:attrNameLst>
                                      </p:cBhvr>
                                      <p:tavLst>
                                        <p:tav tm="0">
                                          <p:val>
                                            <p:strVal val="#ppt_y+.1"/>
                                          </p:val>
                                        </p:tav>
                                        <p:tav tm="100000">
                                          <p:val>
                                            <p:strVal val="#ppt_y"/>
                                          </p:val>
                                        </p:tav>
                                      </p:tavLst>
                                    </p:anim>
                                    <p:animEffect transition="in" filter="fade">
                                      <p:cBhvr>
                                        <p:cTn id="40" dur="6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9"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B0D"/>
        </a:solidFill>
        <a:effectLst/>
      </p:bgPr>
    </p:bg>
    <p:spTree>
      <p:nvGrpSpPr>
        <p:cNvPr id="1" name=""/>
        <p:cNvGrpSpPr/>
        <p:nvPr/>
      </p:nvGrpSpPr>
      <p:grpSpPr>
        <a:xfrm>
          <a:off x="0" y="0"/>
          <a:ext cx="0" cy="0"/>
          <a:chOff x="0" y="0"/>
          <a:chExt cx="0" cy="0"/>
        </a:xfrm>
      </p:grpSpPr>
      <p:grpSp>
        <p:nvGrpSpPr>
          <p:cNvPr id="4" name="cursor-kicker"/>
          <p:cNvGrpSpPr/>
          <p:nvPr/>
        </p:nvGrpSpPr>
        <p:grpSpPr>
          <a:xfrm>
            <a:off x="609600" y="419100"/>
            <a:ext cx="3674531" cy="415290"/>
            <a:chOff x="609600" y="419100"/>
            <a:chExt cx="3674531" cy="415290"/>
          </a:xfrm>
        </p:grpSpPr>
        <p:sp>
          <p:nvSpPr>
            <p:cNvPr id="2" name="rect 3"/>
            <p:cNvSpPr/>
            <p:nvPr/>
          </p:nvSpPr>
          <p:spPr>
            <a:xfrm>
              <a:off x="609600" y="419100"/>
              <a:ext cx="457200" cy="57150"/>
            </a:xfrm>
            <a:prstGeom prst="roundRect">
              <a:avLst>
                <a:gd name="adj" fmla="val 50000"/>
              </a:avLst>
            </a:prstGeom>
            <a:solidFill>
              <a:srgbClr val="FF5B1F"/>
            </a:solidFill>
            <a:ln>
              <a:noFill/>
            </a:ln>
          </p:spPr>
          <p:txBody>
            <a:bodyPr/>
            <a:lstStyle/>
            <a:p>
              <a:endParaRPr lang="en-US"/>
            </a:p>
          </p:txBody>
        </p:sp>
        <p:sp>
          <p:nvSpPr>
            <p:cNvPr id="3" name="Text 4"/>
            <p:cNvSpPr txBox="1"/>
            <p:nvPr/>
          </p:nvSpPr>
          <p:spPr>
            <a:xfrm>
              <a:off x="609600" y="622300"/>
              <a:ext cx="3674531" cy="212090"/>
            </a:xfrm>
            <a:prstGeom prst="rect">
              <a:avLst/>
            </a:prstGeom>
            <a:noFill/>
          </p:spPr>
          <p:txBody>
            <a:bodyPr wrap="none" lIns="0" tIns="0" rIns="0" bIns="0" rtlCol="0" anchor="t">
              <a:noAutofit/>
            </a:bodyPr>
            <a:lstStyle/>
            <a:p>
              <a:pPr algn="l">
                <a:spcBef>
                  <a:spcPts val="0"/>
                </a:spcBef>
                <a:spcAft>
                  <a:spcPts val="0"/>
                </a:spcAft>
              </a:pPr>
              <a:r>
                <a:rPr lang="en-US" sz="1200" b="0" spc="150" dirty="0">
                  <a:solidFill>
                    <a:srgbClr val="9C9A94"/>
                  </a:solidFill>
                  <a:latin typeface="Consolas"/>
                  <a:ea typeface="Consolas"/>
                  <a:cs typeface="Consolas"/>
                </a:rPr>
                <a:t>YZPZCODE / ZERO-CONFIG RUN &amp; BUILD</a:t>
              </a:r>
              <a:endParaRPr lang="en-US" sz="1200" dirty="0"/>
            </a:p>
          </p:txBody>
        </p:sp>
      </p:grpSp>
      <p:sp>
        <p:nvSpPr>
          <p:cNvPr id="5" name="Text 6"/>
          <p:cNvSpPr txBox="1"/>
          <p:nvPr/>
        </p:nvSpPr>
        <p:spPr>
          <a:xfrm>
            <a:off x="10795623" y="622300"/>
            <a:ext cx="786777" cy="212090"/>
          </a:xfrm>
          <a:prstGeom prst="rect">
            <a:avLst/>
          </a:prstGeom>
          <a:noFill/>
        </p:spPr>
        <p:txBody>
          <a:bodyPr wrap="none" lIns="0" tIns="0" rIns="0" bIns="0" rtlCol="0" anchor="t">
            <a:noAutofit/>
          </a:bodyPr>
          <a:lstStyle/>
          <a:p>
            <a:pPr algn="r">
              <a:spcBef>
                <a:spcPts val="0"/>
              </a:spcBef>
              <a:spcAft>
                <a:spcPts val="0"/>
              </a:spcAft>
            </a:pPr>
            <a:r>
              <a:rPr lang="en-US" sz="1200" b="0" spc="150" dirty="0">
                <a:solidFill>
                  <a:srgbClr val="9C9A94"/>
                </a:solidFill>
                <a:latin typeface="Consolas"/>
                <a:ea typeface="Consolas"/>
                <a:cs typeface="Consolas"/>
              </a:rPr>
              <a:t>09 / 16</a:t>
            </a:r>
            <a:endParaRPr lang="en-US" sz="1200" dirty="0"/>
          </a:p>
        </p:txBody>
      </p:sp>
      <p:sp>
        <p:nvSpPr>
          <p:cNvPr id="6" name="Text 7"/>
          <p:cNvSpPr txBox="1"/>
          <p:nvPr/>
        </p:nvSpPr>
        <p:spPr>
          <a:xfrm>
            <a:off x="609600" y="939800"/>
            <a:ext cx="6135940" cy="1054735"/>
          </a:xfrm>
          <a:prstGeom prst="rect">
            <a:avLst/>
          </a:prstGeom>
          <a:noFill/>
        </p:spPr>
        <p:txBody>
          <a:bodyPr wrap="none" lIns="0" tIns="0" rIns="0" bIns="0" rtlCol="0" anchor="t">
            <a:noAutofit/>
          </a:bodyPr>
          <a:lstStyle/>
          <a:p>
            <a:pPr algn="l">
              <a:lnSpc>
                <a:spcPts val="3900"/>
              </a:lnSpc>
              <a:spcBef>
                <a:spcPts val="0"/>
              </a:spcBef>
              <a:spcAft>
                <a:spcPts val="0"/>
              </a:spcAft>
            </a:pPr>
            <a:r>
              <a:rPr lang="en-US" sz="3300" b="1" dirty="0">
                <a:solidFill>
                  <a:srgbClr val="EDE9E2"/>
                </a:solidFill>
                <a:latin typeface="Bahnschrift"/>
                <a:ea typeface="Bahnschrift"/>
                <a:cs typeface="Bahnschrift"/>
              </a:rPr>
              <a:t>Run or build almost any project</a:t>
            </a:r>
            <a:endParaRPr lang="en-US" sz="3300" dirty="0"/>
          </a:p>
          <a:p>
            <a:pPr algn="l">
              <a:lnSpc>
                <a:spcPts val="3900"/>
              </a:lnSpc>
              <a:spcBef>
                <a:spcPts val="0"/>
              </a:spcBef>
              <a:spcAft>
                <a:spcPts val="0"/>
              </a:spcAft>
            </a:pPr>
            <a:r>
              <a:rPr lang="en-US" sz="3300" b="1" dirty="0">
                <a:solidFill>
                  <a:srgbClr val="EDE9E2"/>
                </a:solidFill>
                <a:latin typeface="Bahnschrift"/>
                <a:ea typeface="Bahnschrift"/>
                <a:cs typeface="Bahnschrift"/>
              </a:rPr>
              <a:t>with zero configuration</a:t>
            </a:r>
            <a:endParaRPr lang="en-US" sz="3300" dirty="0"/>
          </a:p>
        </p:txBody>
      </p:sp>
      <p:grpSp>
        <p:nvGrpSpPr>
          <p:cNvPr id="14" name="cli-tags"/>
          <p:cNvGrpSpPr/>
          <p:nvPr/>
        </p:nvGrpSpPr>
        <p:grpSpPr>
          <a:xfrm>
            <a:off x="9048750" y="990600"/>
            <a:ext cx="1724025" cy="1143000"/>
            <a:chOff x="9048750" y="990600"/>
            <a:chExt cx="1724025" cy="1143000"/>
          </a:xfrm>
        </p:grpSpPr>
        <p:sp>
          <p:nvSpPr>
            <p:cNvPr id="7" name="line 8"/>
            <p:cNvSpPr/>
            <p:nvPr/>
          </p:nvSpPr>
          <p:spPr>
            <a:xfrm>
              <a:off x="9048750" y="990600"/>
              <a:ext cx="95" cy="1143000"/>
            </a:xfrm>
            <a:custGeom>
              <a:avLst/>
              <a:gdLst/>
              <a:ahLst/>
              <a:cxnLst/>
              <a:rect l="0" t="0" r="r" b="b"/>
              <a:pathLst>
                <a:path w="95" h="1143000" fill="none">
                  <a:moveTo>
                    <a:pt x="0" y="0"/>
                  </a:moveTo>
                  <a:lnTo>
                    <a:pt x="0" y="1143000"/>
                  </a:lnTo>
                </a:path>
              </a:pathLst>
            </a:custGeom>
            <a:noFill/>
            <a:ln w="9525" cap="flat">
              <a:solidFill>
                <a:srgbClr val="2A2E35"/>
              </a:solidFill>
              <a:miter lim="800000"/>
            </a:ln>
          </p:spPr>
          <p:txBody>
            <a:bodyPr/>
            <a:lstStyle/>
            <a:p>
              <a:endParaRPr lang="en-US"/>
            </a:p>
          </p:txBody>
        </p:sp>
        <p:sp>
          <p:nvSpPr>
            <p:cNvPr id="8" name="rect 9"/>
            <p:cNvSpPr/>
            <p:nvPr/>
          </p:nvSpPr>
          <p:spPr>
            <a:xfrm>
              <a:off x="9353550" y="990600"/>
              <a:ext cx="1238250" cy="304800"/>
            </a:xfrm>
            <a:prstGeom prst="roundRect">
              <a:avLst>
                <a:gd name="adj" fmla="val 6250"/>
              </a:avLst>
            </a:prstGeom>
            <a:noFill/>
            <a:ln w="9525" cap="flat">
              <a:solidFill>
                <a:srgbClr val="9C9A94">
                  <a:alpha val="50000"/>
                </a:srgbClr>
              </a:solidFill>
              <a:miter lim="800000"/>
            </a:ln>
          </p:spPr>
          <p:txBody>
            <a:bodyPr/>
            <a:lstStyle/>
            <a:p>
              <a:endParaRPr lang="en-US"/>
            </a:p>
          </p:txBody>
        </p:sp>
        <p:sp>
          <p:nvSpPr>
            <p:cNvPr id="9" name="Text 10"/>
            <p:cNvSpPr txBox="1"/>
            <p:nvPr/>
          </p:nvSpPr>
          <p:spPr>
            <a:xfrm>
              <a:off x="9515475" y="1060450"/>
              <a:ext cx="996660"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Consolas"/>
                  <a:ea typeface="Consolas"/>
                  <a:cs typeface="Consolas"/>
                </a:rPr>
                <a:t>$ cargo run</a:t>
              </a:r>
              <a:endParaRPr lang="en-US" sz="1200" dirty="0"/>
            </a:p>
          </p:txBody>
        </p:sp>
        <p:sp>
          <p:nvSpPr>
            <p:cNvPr id="10" name="rect 11"/>
            <p:cNvSpPr/>
            <p:nvPr/>
          </p:nvSpPr>
          <p:spPr>
            <a:xfrm>
              <a:off x="9353550" y="1409700"/>
              <a:ext cx="1143000" cy="304800"/>
            </a:xfrm>
            <a:prstGeom prst="roundRect">
              <a:avLst>
                <a:gd name="adj" fmla="val 6250"/>
              </a:avLst>
            </a:prstGeom>
            <a:noFill/>
            <a:ln w="9525" cap="flat">
              <a:solidFill>
                <a:srgbClr val="9C9A94">
                  <a:alpha val="50000"/>
                </a:srgbClr>
              </a:solidFill>
              <a:miter lim="800000"/>
            </a:ln>
          </p:spPr>
          <p:txBody>
            <a:bodyPr/>
            <a:lstStyle/>
            <a:p>
              <a:endParaRPr lang="en-US"/>
            </a:p>
          </p:txBody>
        </p:sp>
        <p:sp>
          <p:nvSpPr>
            <p:cNvPr id="11" name="Text 12"/>
            <p:cNvSpPr txBox="1"/>
            <p:nvPr/>
          </p:nvSpPr>
          <p:spPr>
            <a:xfrm>
              <a:off x="9515475" y="1479550"/>
              <a:ext cx="909518"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Consolas"/>
                  <a:ea typeface="Consolas"/>
                  <a:cs typeface="Consolas"/>
                </a:rPr>
                <a:t>$ go run .</a:t>
              </a:r>
              <a:endParaRPr lang="en-US" sz="1200" dirty="0"/>
            </a:p>
          </p:txBody>
        </p:sp>
        <p:sp>
          <p:nvSpPr>
            <p:cNvPr id="12" name="rect 13"/>
            <p:cNvSpPr/>
            <p:nvPr/>
          </p:nvSpPr>
          <p:spPr>
            <a:xfrm>
              <a:off x="9353550" y="1828800"/>
              <a:ext cx="1419225" cy="304800"/>
            </a:xfrm>
            <a:prstGeom prst="roundRect">
              <a:avLst>
                <a:gd name="adj" fmla="val 6250"/>
              </a:avLst>
            </a:prstGeom>
            <a:noFill/>
            <a:ln w="9525" cap="flat">
              <a:solidFill>
                <a:srgbClr val="9C9A94">
                  <a:alpha val="50000"/>
                </a:srgbClr>
              </a:solidFill>
              <a:miter lim="800000"/>
            </a:ln>
          </p:spPr>
          <p:txBody>
            <a:bodyPr/>
            <a:lstStyle/>
            <a:p>
              <a:endParaRPr lang="en-US"/>
            </a:p>
          </p:txBody>
        </p:sp>
        <p:sp>
          <p:nvSpPr>
            <p:cNvPr id="13" name="Text 14"/>
            <p:cNvSpPr txBox="1"/>
            <p:nvPr/>
          </p:nvSpPr>
          <p:spPr>
            <a:xfrm>
              <a:off x="9515475" y="1898650"/>
              <a:ext cx="1170944"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Consolas"/>
                  <a:ea typeface="Consolas"/>
                  <a:cs typeface="Consolas"/>
                </a:rPr>
                <a:t>$ flutter run</a:t>
              </a:r>
              <a:endParaRPr lang="en-US" sz="1200" dirty="0"/>
            </a:p>
          </p:txBody>
        </p:sp>
      </p:grpSp>
      <p:sp>
        <p:nvSpPr>
          <p:cNvPr id="15" name="Text 16"/>
          <p:cNvSpPr txBox="1"/>
          <p:nvPr/>
        </p:nvSpPr>
        <p:spPr>
          <a:xfrm>
            <a:off x="609600" y="2171700"/>
            <a:ext cx="8510148" cy="276225"/>
          </a:xfrm>
          <a:prstGeom prst="rect">
            <a:avLst/>
          </a:prstGeom>
          <a:noFill/>
        </p:spPr>
        <p:txBody>
          <a:bodyPr wrap="none" lIns="0" tIns="0" rIns="0" bIns="0" rtlCol="0" anchor="t">
            <a:noAutofit/>
          </a:bodyPr>
          <a:lstStyle/>
          <a:p>
            <a:pPr algn="l">
              <a:spcBef>
                <a:spcPts val="0"/>
              </a:spcBef>
              <a:spcAft>
                <a:spcPts val="0"/>
              </a:spcAft>
            </a:pPr>
            <a:r>
              <a:rPr lang="en-US" sz="1500" b="1" dirty="0">
                <a:solidFill>
                  <a:srgbClr val="EDE9E2"/>
                </a:solidFill>
                <a:latin typeface="Segoe UI"/>
                <a:ea typeface="Segoe UI"/>
                <a:cs typeface="Segoe UI"/>
              </a:rPr>
              <a:t>Press Run.</a:t>
            </a:r>
            <a:r>
              <a:rPr lang="en-US" sz="1500" b="0" dirty="0">
                <a:solidFill>
                  <a:srgbClr val="EDE9E2"/>
                </a:solidFill>
                <a:latin typeface="Segoe UI"/>
                <a:ea typeface="Segoe UI"/>
                <a:cs typeface="Segoe UI"/>
              </a:rPr>
              <a:t> YzPzCode reads the project's files, works out the right command, and starts it for you.</a:t>
            </a:r>
            <a:endParaRPr lang="en-US" sz="1500" dirty="0"/>
          </a:p>
        </p:txBody>
      </p:sp>
      <p:grpSp>
        <p:nvGrpSpPr>
          <p:cNvPr id="23" name="stat-block"/>
          <p:cNvGrpSpPr/>
          <p:nvPr/>
        </p:nvGrpSpPr>
        <p:grpSpPr>
          <a:xfrm>
            <a:off x="609600" y="2527300"/>
            <a:ext cx="2590800" cy="2812415"/>
            <a:chOff x="609600" y="2527300"/>
            <a:chExt cx="2590800" cy="2812415"/>
          </a:xfrm>
        </p:grpSpPr>
        <p:sp>
          <p:nvSpPr>
            <p:cNvPr id="17" name="path 18"/>
            <p:cNvSpPr/>
            <p:nvPr/>
          </p:nvSpPr>
          <p:spPr>
            <a:xfrm>
              <a:off x="609600" y="2705100"/>
              <a:ext cx="228600" cy="228600"/>
            </a:xfrm>
            <a:custGeom>
              <a:avLst/>
              <a:gdLst/>
              <a:ahLst/>
              <a:cxnLst/>
              <a:rect l="0" t="0" r="r" b="b"/>
              <a:pathLst>
                <a:path w="228600" h="228600" fill="none">
                  <a:moveTo>
                    <a:pt x="0" y="228600"/>
                  </a:moveTo>
                  <a:lnTo>
                    <a:pt x="0" y="0"/>
                  </a:lnTo>
                  <a:lnTo>
                    <a:pt x="228600" y="0"/>
                  </a:lnTo>
                </a:path>
              </a:pathLst>
            </a:custGeom>
            <a:noFill/>
            <a:ln w="19050" cap="flat">
              <a:solidFill>
                <a:srgbClr val="3D8BFF"/>
              </a:solidFill>
              <a:miter lim="800000"/>
            </a:ln>
          </p:spPr>
          <p:txBody>
            <a:bodyPr/>
            <a:lstStyle/>
            <a:p>
              <a:endParaRPr lang="en-US"/>
            </a:p>
          </p:txBody>
        </p:sp>
        <p:sp>
          <p:nvSpPr>
            <p:cNvPr id="18" name="path 19"/>
            <p:cNvSpPr/>
            <p:nvPr/>
          </p:nvSpPr>
          <p:spPr>
            <a:xfrm>
              <a:off x="2971800" y="5105400"/>
              <a:ext cx="228600" cy="228600"/>
            </a:xfrm>
            <a:custGeom>
              <a:avLst/>
              <a:gdLst/>
              <a:ahLst/>
              <a:cxnLst/>
              <a:rect l="0" t="0" r="r" b="b"/>
              <a:pathLst>
                <a:path w="228600" h="228600" fill="none">
                  <a:moveTo>
                    <a:pt x="228600" y="0"/>
                  </a:moveTo>
                  <a:lnTo>
                    <a:pt x="228600" y="228600"/>
                  </a:lnTo>
                  <a:lnTo>
                    <a:pt x="0" y="228600"/>
                  </a:lnTo>
                </a:path>
              </a:pathLst>
            </a:custGeom>
            <a:noFill/>
            <a:ln w="19050" cap="flat">
              <a:solidFill>
                <a:srgbClr val="3D8BFF"/>
              </a:solidFill>
              <a:miter lim="800000"/>
            </a:ln>
          </p:spPr>
          <p:txBody>
            <a:bodyPr/>
            <a:lstStyle/>
            <a:p>
              <a:endParaRPr lang="en-US"/>
            </a:p>
          </p:txBody>
        </p:sp>
        <p:sp>
          <p:nvSpPr>
            <p:cNvPr id="19" name="Text 20"/>
            <p:cNvSpPr txBox="1"/>
            <p:nvPr/>
          </p:nvSpPr>
          <p:spPr>
            <a:xfrm>
              <a:off x="762000" y="2527300"/>
              <a:ext cx="1986989" cy="1768475"/>
            </a:xfrm>
            <a:prstGeom prst="rect">
              <a:avLst/>
            </a:prstGeom>
            <a:noFill/>
          </p:spPr>
          <p:txBody>
            <a:bodyPr wrap="none" lIns="0" tIns="0" rIns="0" bIns="0" rtlCol="0" anchor="t">
              <a:noAutofit/>
            </a:bodyPr>
            <a:lstStyle/>
            <a:p>
              <a:pPr algn="l">
                <a:spcBef>
                  <a:spcPts val="0"/>
                </a:spcBef>
                <a:spcAft>
                  <a:spcPts val="0"/>
                </a:spcAft>
              </a:pPr>
              <a:r>
                <a:rPr lang="en-US" sz="10500" b="1" dirty="0">
                  <a:solidFill>
                    <a:srgbClr val="FF5B1F"/>
                  </a:solidFill>
                  <a:latin typeface="Bahnschrift"/>
                  <a:ea typeface="Bahnschrift"/>
                  <a:cs typeface="Bahnschrift"/>
                </a:rPr>
                <a:t>15+</a:t>
              </a:r>
              <a:endParaRPr lang="en-US" sz="10500" dirty="0"/>
            </a:p>
          </p:txBody>
        </p:sp>
        <p:sp>
          <p:nvSpPr>
            <p:cNvPr id="20" name="Text 21"/>
            <p:cNvSpPr txBox="1"/>
            <p:nvPr/>
          </p:nvSpPr>
          <p:spPr>
            <a:xfrm>
              <a:off x="762000" y="3949700"/>
              <a:ext cx="2338343" cy="822325"/>
            </a:xfrm>
            <a:prstGeom prst="rect">
              <a:avLst/>
            </a:prstGeom>
            <a:noFill/>
          </p:spPr>
          <p:txBody>
            <a:bodyPr wrap="none" lIns="0" tIns="0" rIns="0" bIns="0" rtlCol="0" anchor="t">
              <a:noAutofit/>
            </a:bodyPr>
            <a:lstStyle/>
            <a:p>
              <a:pPr algn="l">
                <a:lnSpc>
                  <a:spcPts val="2100"/>
                </a:lnSpc>
                <a:spcBef>
                  <a:spcPts val="0"/>
                </a:spcBef>
                <a:spcAft>
                  <a:spcPts val="0"/>
                </a:spcAft>
              </a:pPr>
              <a:r>
                <a:rPr lang="en-US" sz="1500" b="0" dirty="0">
                  <a:solidFill>
                    <a:srgbClr val="EDE9E2"/>
                  </a:solidFill>
                  <a:latin typeface="Segoe UI"/>
                  <a:ea typeface="Segoe UI"/>
                  <a:cs typeface="Segoe UI"/>
                </a:rPr>
                <a:t>ecosystems auto-detected</a:t>
              </a:r>
              <a:endParaRPr lang="en-US" sz="1500" dirty="0"/>
            </a:p>
            <a:p>
              <a:pPr algn="l">
                <a:lnSpc>
                  <a:spcPts val="2100"/>
                </a:lnSpc>
                <a:spcBef>
                  <a:spcPts val="0"/>
                </a:spcBef>
                <a:spcAft>
                  <a:spcPts val="0"/>
                </a:spcAft>
              </a:pPr>
              <a:r>
                <a:rPr lang="en-US" sz="1500" b="0" dirty="0">
                  <a:solidFill>
                    <a:srgbClr val="EDE9E2"/>
                  </a:solidFill>
                  <a:latin typeface="Segoe UI"/>
                  <a:ea typeface="Segoe UI"/>
                  <a:cs typeface="Segoe UI"/>
                </a:rPr>
                <a:t>from manifests and</a:t>
              </a:r>
              <a:endParaRPr lang="en-US" sz="1500" dirty="0"/>
            </a:p>
            <a:p>
              <a:pPr algn="l">
                <a:lnSpc>
                  <a:spcPts val="2100"/>
                </a:lnSpc>
                <a:spcBef>
                  <a:spcPts val="0"/>
                </a:spcBef>
                <a:spcAft>
                  <a:spcPts val="0"/>
                </a:spcAft>
              </a:pPr>
              <a:r>
                <a:rPr lang="en-US" sz="1500" b="0" dirty="0">
                  <a:solidFill>
                    <a:srgbClr val="EDE9E2"/>
                  </a:solidFill>
                  <a:latin typeface="Segoe UI"/>
                  <a:ea typeface="Segoe UI"/>
                  <a:cs typeface="Segoe UI"/>
                </a:rPr>
                <a:t>entry points</a:t>
              </a:r>
              <a:endParaRPr lang="en-US" sz="1500" dirty="0"/>
            </a:p>
          </p:txBody>
        </p:sp>
        <p:sp>
          <p:nvSpPr>
            <p:cNvPr id="21" name="line 22"/>
            <p:cNvSpPr/>
            <p:nvPr/>
          </p:nvSpPr>
          <p:spPr>
            <a:xfrm>
              <a:off x="762000" y="4838700"/>
              <a:ext cx="2286000" cy="95"/>
            </a:xfrm>
            <a:custGeom>
              <a:avLst/>
              <a:gdLst/>
              <a:ahLst/>
              <a:cxnLst/>
              <a:rect l="0" t="0" r="r" b="b"/>
              <a:pathLst>
                <a:path w="2286000" h="95" fill="none">
                  <a:moveTo>
                    <a:pt x="0" y="0"/>
                  </a:moveTo>
                  <a:lnTo>
                    <a:pt x="2286000" y="0"/>
                  </a:lnTo>
                </a:path>
              </a:pathLst>
            </a:custGeom>
            <a:noFill/>
            <a:ln w="9525" cap="flat">
              <a:solidFill>
                <a:srgbClr val="2A2E35"/>
              </a:solidFill>
              <a:miter lim="800000"/>
            </a:ln>
          </p:spPr>
          <p:txBody>
            <a:bodyPr/>
            <a:lstStyle/>
            <a:p>
              <a:endParaRPr lang="en-US"/>
            </a:p>
          </p:txBody>
        </p:sp>
        <p:sp>
          <p:nvSpPr>
            <p:cNvPr id="22" name="Text 23"/>
            <p:cNvSpPr txBox="1"/>
            <p:nvPr/>
          </p:nvSpPr>
          <p:spPr>
            <a:xfrm>
              <a:off x="762000" y="4892675"/>
              <a:ext cx="2052655" cy="447040"/>
            </a:xfrm>
            <a:prstGeom prst="rect">
              <a:avLst/>
            </a:prstGeom>
            <a:noFill/>
          </p:spPr>
          <p:txBody>
            <a:bodyPr wrap="none" lIns="0" tIns="0" rIns="0" bIns="0" rtlCol="0" anchor="t">
              <a:noAutofit/>
            </a:bodyPr>
            <a:lstStyle/>
            <a:p>
              <a:pPr algn="l">
                <a:lnSpc>
                  <a:spcPts val="1700"/>
                </a:lnSpc>
                <a:spcBef>
                  <a:spcPts val="0"/>
                </a:spcBef>
                <a:spcAft>
                  <a:spcPts val="0"/>
                </a:spcAft>
              </a:pPr>
              <a:r>
                <a:rPr lang="en-US" sz="1200" b="0" dirty="0">
                  <a:solidFill>
                    <a:srgbClr val="9C9A94"/>
                  </a:solidFill>
                  <a:latin typeface="Segoe UI"/>
                  <a:ea typeface="Segoe UI"/>
                  <a:cs typeface="Segoe UI"/>
                </a:rPr>
                <a:t>Ecosystem = a programming</a:t>
              </a:r>
              <a:endParaRPr lang="en-US" sz="1200" dirty="0"/>
            </a:p>
            <a:p>
              <a:pPr algn="l">
                <a:lnSpc>
                  <a:spcPts val="1700"/>
                </a:lnSpc>
                <a:spcBef>
                  <a:spcPts val="0"/>
                </a:spcBef>
                <a:spcAft>
                  <a:spcPts val="0"/>
                </a:spcAft>
              </a:pPr>
              <a:r>
                <a:rPr lang="en-US" sz="1200" b="0" dirty="0">
                  <a:solidFill>
                    <a:srgbClr val="9C9A94"/>
                  </a:solidFill>
                  <a:latin typeface="Segoe UI"/>
                  <a:ea typeface="Segoe UI"/>
                  <a:cs typeface="Segoe UI"/>
                </a:rPr>
                <a:t>language and its tools.</a:t>
              </a:r>
              <a:endParaRPr lang="en-US" sz="1200" dirty="0"/>
            </a:p>
          </p:txBody>
        </p:sp>
      </p:grpSp>
      <p:grpSp>
        <p:nvGrpSpPr>
          <p:cNvPr id="52" name="eco-table"/>
          <p:cNvGrpSpPr/>
          <p:nvPr/>
        </p:nvGrpSpPr>
        <p:grpSpPr>
          <a:xfrm>
            <a:off x="3352800" y="2584450"/>
            <a:ext cx="8229600" cy="2673445"/>
            <a:chOff x="3352800" y="2584450"/>
            <a:chExt cx="8229600" cy="2673445"/>
          </a:xfrm>
        </p:grpSpPr>
        <p:sp>
          <p:nvSpPr>
            <p:cNvPr id="24" name="Text 25"/>
            <p:cNvSpPr txBox="1"/>
            <p:nvPr/>
          </p:nvSpPr>
          <p:spPr>
            <a:xfrm>
              <a:off x="3352800" y="2584450"/>
              <a:ext cx="1321546" cy="212090"/>
            </a:xfrm>
            <a:prstGeom prst="rect">
              <a:avLst/>
            </a:prstGeom>
            <a:noFill/>
          </p:spPr>
          <p:txBody>
            <a:bodyPr wrap="none" lIns="0" tIns="0" rIns="0" bIns="0" rtlCol="0" anchor="t">
              <a:noAutofit/>
            </a:bodyPr>
            <a:lstStyle/>
            <a:p>
              <a:pPr algn="l">
                <a:spcBef>
                  <a:spcPts val="0"/>
                </a:spcBef>
                <a:spcAft>
                  <a:spcPts val="0"/>
                </a:spcAft>
              </a:pPr>
              <a:r>
                <a:rPr lang="en-US" sz="1200" b="0" spc="150" dirty="0">
                  <a:solidFill>
                    <a:srgbClr val="9C9A94"/>
                  </a:solidFill>
                  <a:latin typeface="Consolas"/>
                  <a:ea typeface="Consolas"/>
                  <a:cs typeface="Consolas"/>
                </a:rPr>
                <a:t>PROJECT TYPE</a:t>
              </a:r>
              <a:endParaRPr lang="en-US" sz="1200" dirty="0"/>
            </a:p>
          </p:txBody>
        </p:sp>
        <p:sp>
          <p:nvSpPr>
            <p:cNvPr id="25" name="Text 26"/>
            <p:cNvSpPr txBox="1"/>
            <p:nvPr/>
          </p:nvSpPr>
          <p:spPr>
            <a:xfrm>
              <a:off x="6819900" y="2584450"/>
              <a:ext cx="2818900" cy="212090"/>
            </a:xfrm>
            <a:prstGeom prst="rect">
              <a:avLst/>
            </a:prstGeom>
            <a:noFill/>
          </p:spPr>
          <p:txBody>
            <a:bodyPr wrap="none" lIns="0" tIns="0" rIns="0" bIns="0" rtlCol="0" anchor="t">
              <a:noAutofit/>
            </a:bodyPr>
            <a:lstStyle/>
            <a:p>
              <a:pPr algn="l">
                <a:spcBef>
                  <a:spcPts val="0"/>
                </a:spcBef>
                <a:spcAft>
                  <a:spcPts val="0"/>
                </a:spcAft>
              </a:pPr>
              <a:r>
                <a:rPr lang="en-US" sz="1200" b="0" spc="150" dirty="0">
                  <a:solidFill>
                    <a:srgbClr val="9C9A94"/>
                  </a:solidFill>
                  <a:latin typeface="Consolas"/>
                  <a:ea typeface="Consolas"/>
                  <a:cs typeface="Consolas"/>
                </a:rPr>
                <a:t>WHAT IT LOOKS FOR AND RUNS</a:t>
              </a:r>
              <a:endParaRPr lang="en-US" sz="1200" dirty="0"/>
            </a:p>
          </p:txBody>
        </p:sp>
        <p:sp>
          <p:nvSpPr>
            <p:cNvPr id="26" name="line 27"/>
            <p:cNvSpPr/>
            <p:nvPr/>
          </p:nvSpPr>
          <p:spPr>
            <a:xfrm>
              <a:off x="3352800" y="2819400"/>
              <a:ext cx="8229600" cy="95"/>
            </a:xfrm>
            <a:custGeom>
              <a:avLst/>
              <a:gdLst/>
              <a:ahLst/>
              <a:cxnLst/>
              <a:rect l="0" t="0" r="r" b="b"/>
              <a:pathLst>
                <a:path w="8229600" h="95" fill="none">
                  <a:moveTo>
                    <a:pt x="0" y="0"/>
                  </a:moveTo>
                  <a:lnTo>
                    <a:pt x="8229600" y="0"/>
                  </a:lnTo>
                </a:path>
              </a:pathLst>
            </a:custGeom>
            <a:noFill/>
            <a:ln w="9525" cap="flat">
              <a:solidFill>
                <a:srgbClr val="2A2E35"/>
              </a:solidFill>
              <a:miter lim="800000"/>
            </a:ln>
          </p:spPr>
          <p:txBody>
            <a:bodyPr/>
            <a:lstStyle/>
            <a:p>
              <a:endParaRPr lang="en-US"/>
            </a:p>
          </p:txBody>
        </p:sp>
        <p:sp>
          <p:nvSpPr>
            <p:cNvPr id="27" name="line 28"/>
            <p:cNvSpPr/>
            <p:nvPr/>
          </p:nvSpPr>
          <p:spPr>
            <a:xfrm>
              <a:off x="3352800" y="3124200"/>
              <a:ext cx="8229600" cy="95"/>
            </a:xfrm>
            <a:custGeom>
              <a:avLst/>
              <a:gdLst/>
              <a:ahLst/>
              <a:cxnLst/>
              <a:rect l="0" t="0" r="r" b="b"/>
              <a:pathLst>
                <a:path w="8229600" h="95" fill="none">
                  <a:moveTo>
                    <a:pt x="0" y="0"/>
                  </a:moveTo>
                  <a:lnTo>
                    <a:pt x="8229600" y="0"/>
                  </a:lnTo>
                </a:path>
              </a:pathLst>
            </a:custGeom>
            <a:noFill/>
            <a:ln w="9525" cap="flat">
              <a:solidFill>
                <a:srgbClr val="2A2E35"/>
              </a:solidFill>
              <a:miter lim="800000"/>
            </a:ln>
          </p:spPr>
          <p:txBody>
            <a:bodyPr/>
            <a:lstStyle/>
            <a:p>
              <a:endParaRPr lang="en-US"/>
            </a:p>
          </p:txBody>
        </p:sp>
        <p:sp>
          <p:nvSpPr>
            <p:cNvPr id="28" name="line 29"/>
            <p:cNvSpPr/>
            <p:nvPr/>
          </p:nvSpPr>
          <p:spPr>
            <a:xfrm>
              <a:off x="3352800" y="3429000"/>
              <a:ext cx="8229600" cy="95"/>
            </a:xfrm>
            <a:custGeom>
              <a:avLst/>
              <a:gdLst/>
              <a:ahLst/>
              <a:cxnLst/>
              <a:rect l="0" t="0" r="r" b="b"/>
              <a:pathLst>
                <a:path w="8229600" h="95" fill="none">
                  <a:moveTo>
                    <a:pt x="0" y="0"/>
                  </a:moveTo>
                  <a:lnTo>
                    <a:pt x="8229600" y="0"/>
                  </a:lnTo>
                </a:path>
              </a:pathLst>
            </a:custGeom>
            <a:noFill/>
            <a:ln w="9525" cap="flat">
              <a:solidFill>
                <a:srgbClr val="2A2E35"/>
              </a:solidFill>
              <a:miter lim="800000"/>
            </a:ln>
          </p:spPr>
          <p:txBody>
            <a:bodyPr/>
            <a:lstStyle/>
            <a:p>
              <a:endParaRPr lang="en-US"/>
            </a:p>
          </p:txBody>
        </p:sp>
        <p:sp>
          <p:nvSpPr>
            <p:cNvPr id="29" name="line 30"/>
            <p:cNvSpPr/>
            <p:nvPr/>
          </p:nvSpPr>
          <p:spPr>
            <a:xfrm>
              <a:off x="3352800" y="3733800"/>
              <a:ext cx="8229600" cy="95"/>
            </a:xfrm>
            <a:custGeom>
              <a:avLst/>
              <a:gdLst/>
              <a:ahLst/>
              <a:cxnLst/>
              <a:rect l="0" t="0" r="r" b="b"/>
              <a:pathLst>
                <a:path w="8229600" h="95" fill="none">
                  <a:moveTo>
                    <a:pt x="0" y="0"/>
                  </a:moveTo>
                  <a:lnTo>
                    <a:pt x="8229600" y="0"/>
                  </a:lnTo>
                </a:path>
              </a:pathLst>
            </a:custGeom>
            <a:noFill/>
            <a:ln w="9525" cap="flat">
              <a:solidFill>
                <a:srgbClr val="2A2E35"/>
              </a:solidFill>
              <a:miter lim="800000"/>
            </a:ln>
          </p:spPr>
          <p:txBody>
            <a:bodyPr/>
            <a:lstStyle/>
            <a:p>
              <a:endParaRPr lang="en-US"/>
            </a:p>
          </p:txBody>
        </p:sp>
        <p:sp>
          <p:nvSpPr>
            <p:cNvPr id="30" name="line 31"/>
            <p:cNvSpPr/>
            <p:nvPr/>
          </p:nvSpPr>
          <p:spPr>
            <a:xfrm>
              <a:off x="3352800" y="4038600"/>
              <a:ext cx="8229600" cy="95"/>
            </a:xfrm>
            <a:custGeom>
              <a:avLst/>
              <a:gdLst/>
              <a:ahLst/>
              <a:cxnLst/>
              <a:rect l="0" t="0" r="r" b="b"/>
              <a:pathLst>
                <a:path w="8229600" h="95" fill="none">
                  <a:moveTo>
                    <a:pt x="0" y="0"/>
                  </a:moveTo>
                  <a:lnTo>
                    <a:pt x="8229600" y="0"/>
                  </a:lnTo>
                </a:path>
              </a:pathLst>
            </a:custGeom>
            <a:noFill/>
            <a:ln w="9525" cap="flat">
              <a:solidFill>
                <a:srgbClr val="2A2E35"/>
              </a:solidFill>
              <a:miter lim="800000"/>
            </a:ln>
          </p:spPr>
          <p:txBody>
            <a:bodyPr/>
            <a:lstStyle/>
            <a:p>
              <a:endParaRPr lang="en-US"/>
            </a:p>
          </p:txBody>
        </p:sp>
        <p:sp>
          <p:nvSpPr>
            <p:cNvPr id="31" name="line 32"/>
            <p:cNvSpPr/>
            <p:nvPr/>
          </p:nvSpPr>
          <p:spPr>
            <a:xfrm>
              <a:off x="3352800" y="4343400"/>
              <a:ext cx="8229600" cy="95"/>
            </a:xfrm>
            <a:custGeom>
              <a:avLst/>
              <a:gdLst/>
              <a:ahLst/>
              <a:cxnLst/>
              <a:rect l="0" t="0" r="r" b="b"/>
              <a:pathLst>
                <a:path w="8229600" h="95" fill="none">
                  <a:moveTo>
                    <a:pt x="0" y="0"/>
                  </a:moveTo>
                  <a:lnTo>
                    <a:pt x="8229600" y="0"/>
                  </a:lnTo>
                </a:path>
              </a:pathLst>
            </a:custGeom>
            <a:noFill/>
            <a:ln w="9525" cap="flat">
              <a:solidFill>
                <a:srgbClr val="2A2E35"/>
              </a:solidFill>
              <a:miter lim="800000"/>
            </a:ln>
          </p:spPr>
          <p:txBody>
            <a:bodyPr/>
            <a:lstStyle/>
            <a:p>
              <a:endParaRPr lang="en-US"/>
            </a:p>
          </p:txBody>
        </p:sp>
        <p:sp>
          <p:nvSpPr>
            <p:cNvPr id="32" name="line 33"/>
            <p:cNvSpPr/>
            <p:nvPr/>
          </p:nvSpPr>
          <p:spPr>
            <a:xfrm>
              <a:off x="3352800" y="4648200"/>
              <a:ext cx="8229600" cy="95"/>
            </a:xfrm>
            <a:custGeom>
              <a:avLst/>
              <a:gdLst/>
              <a:ahLst/>
              <a:cxnLst/>
              <a:rect l="0" t="0" r="r" b="b"/>
              <a:pathLst>
                <a:path w="8229600" h="95" fill="none">
                  <a:moveTo>
                    <a:pt x="0" y="0"/>
                  </a:moveTo>
                  <a:lnTo>
                    <a:pt x="8229600" y="0"/>
                  </a:lnTo>
                </a:path>
              </a:pathLst>
            </a:custGeom>
            <a:noFill/>
            <a:ln w="9525" cap="flat">
              <a:solidFill>
                <a:srgbClr val="2A2E35"/>
              </a:solidFill>
              <a:miter lim="800000"/>
            </a:ln>
          </p:spPr>
          <p:txBody>
            <a:bodyPr/>
            <a:lstStyle/>
            <a:p>
              <a:endParaRPr lang="en-US"/>
            </a:p>
          </p:txBody>
        </p:sp>
        <p:sp>
          <p:nvSpPr>
            <p:cNvPr id="33" name="line 34"/>
            <p:cNvSpPr/>
            <p:nvPr/>
          </p:nvSpPr>
          <p:spPr>
            <a:xfrm>
              <a:off x="3352800" y="4953000"/>
              <a:ext cx="8229600" cy="95"/>
            </a:xfrm>
            <a:custGeom>
              <a:avLst/>
              <a:gdLst/>
              <a:ahLst/>
              <a:cxnLst/>
              <a:rect l="0" t="0" r="r" b="b"/>
              <a:pathLst>
                <a:path w="8229600" h="95" fill="none">
                  <a:moveTo>
                    <a:pt x="0" y="0"/>
                  </a:moveTo>
                  <a:lnTo>
                    <a:pt x="8229600" y="0"/>
                  </a:lnTo>
                </a:path>
              </a:pathLst>
            </a:custGeom>
            <a:noFill/>
            <a:ln w="9525" cap="flat">
              <a:solidFill>
                <a:srgbClr val="2A2E35"/>
              </a:solidFill>
              <a:miter lim="800000"/>
            </a:ln>
          </p:spPr>
          <p:txBody>
            <a:bodyPr/>
            <a:lstStyle/>
            <a:p>
              <a:endParaRPr lang="en-US"/>
            </a:p>
          </p:txBody>
        </p:sp>
        <p:sp>
          <p:nvSpPr>
            <p:cNvPr id="34" name="line 35"/>
            <p:cNvSpPr/>
            <p:nvPr/>
          </p:nvSpPr>
          <p:spPr>
            <a:xfrm>
              <a:off x="3352800" y="5257800"/>
              <a:ext cx="8229600" cy="95"/>
            </a:xfrm>
            <a:custGeom>
              <a:avLst/>
              <a:gdLst/>
              <a:ahLst/>
              <a:cxnLst/>
              <a:rect l="0" t="0" r="r" b="b"/>
              <a:pathLst>
                <a:path w="8229600" h="95" fill="none">
                  <a:moveTo>
                    <a:pt x="0" y="0"/>
                  </a:moveTo>
                  <a:lnTo>
                    <a:pt x="8229600" y="0"/>
                  </a:lnTo>
                </a:path>
              </a:pathLst>
            </a:custGeom>
            <a:noFill/>
            <a:ln w="9525" cap="flat">
              <a:solidFill>
                <a:srgbClr val="2A2E35"/>
              </a:solidFill>
              <a:miter lim="800000"/>
            </a:ln>
          </p:spPr>
          <p:txBody>
            <a:bodyPr/>
            <a:lstStyle/>
            <a:p>
              <a:endParaRPr lang="en-US"/>
            </a:p>
          </p:txBody>
        </p:sp>
        <p:sp>
          <p:nvSpPr>
            <p:cNvPr id="35" name="line 36"/>
            <p:cNvSpPr/>
            <p:nvPr/>
          </p:nvSpPr>
          <p:spPr>
            <a:xfrm>
              <a:off x="3352800" y="2819400"/>
              <a:ext cx="457200" cy="95"/>
            </a:xfrm>
            <a:custGeom>
              <a:avLst/>
              <a:gdLst/>
              <a:ahLst/>
              <a:cxnLst/>
              <a:rect l="0" t="0" r="r" b="b"/>
              <a:pathLst>
                <a:path w="457200" h="95" fill="none">
                  <a:moveTo>
                    <a:pt x="0" y="0"/>
                  </a:moveTo>
                  <a:lnTo>
                    <a:pt x="457200" y="0"/>
                  </a:lnTo>
                </a:path>
              </a:pathLst>
            </a:custGeom>
            <a:noFill/>
            <a:ln w="19050" cap="flat">
              <a:solidFill>
                <a:srgbClr val="FF5B1F"/>
              </a:solidFill>
              <a:miter lim="800000"/>
            </a:ln>
          </p:spPr>
          <p:txBody>
            <a:bodyPr/>
            <a:lstStyle/>
            <a:p>
              <a:endParaRPr lang="en-US"/>
            </a:p>
          </p:txBody>
        </p:sp>
        <p:sp>
          <p:nvSpPr>
            <p:cNvPr id="36" name="Text 37"/>
            <p:cNvSpPr txBox="1"/>
            <p:nvPr/>
          </p:nvSpPr>
          <p:spPr>
            <a:xfrm>
              <a:off x="3352800" y="2863850"/>
              <a:ext cx="637539" cy="244158"/>
            </a:xfrm>
            <a:prstGeom prst="rect">
              <a:avLst/>
            </a:prstGeom>
            <a:noFill/>
          </p:spPr>
          <p:txBody>
            <a:bodyPr wrap="none" lIns="0" tIns="0" rIns="0" bIns="0" rtlCol="0" anchor="t">
              <a:noAutofit/>
            </a:bodyPr>
            <a:lstStyle/>
            <a:p>
              <a:pPr algn="l">
                <a:spcBef>
                  <a:spcPts val="0"/>
                </a:spcBef>
                <a:spcAft>
                  <a:spcPts val="0"/>
                </a:spcAft>
              </a:pPr>
              <a:r>
                <a:rPr lang="en-US" sz="1350" b="1" dirty="0">
                  <a:solidFill>
                    <a:srgbClr val="EDE9E2"/>
                  </a:solidFill>
                  <a:latin typeface="Segoe UI"/>
                  <a:ea typeface="Segoe UI"/>
                  <a:cs typeface="Segoe UI"/>
                </a:rPr>
                <a:t>Python</a:t>
              </a:r>
              <a:endParaRPr lang="en-US" sz="1350" dirty="0"/>
            </a:p>
          </p:txBody>
        </p:sp>
        <p:sp>
          <p:nvSpPr>
            <p:cNvPr id="37" name="Text 38"/>
            <p:cNvSpPr txBox="1"/>
            <p:nvPr/>
          </p:nvSpPr>
          <p:spPr>
            <a:xfrm>
              <a:off x="6819900" y="2876550"/>
              <a:ext cx="4235535"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Segoe UI"/>
                  <a:ea typeface="Segoe UI"/>
                  <a:cs typeface="Segoe UI"/>
                </a:rPr>
                <a:t>.py, main.py, Django manage.py, Flask, FastAPI; prefers .venv</a:t>
              </a:r>
              <a:endParaRPr lang="en-US" sz="1200" dirty="0"/>
            </a:p>
          </p:txBody>
        </p:sp>
        <p:sp>
          <p:nvSpPr>
            <p:cNvPr id="38" name="Text 39"/>
            <p:cNvSpPr txBox="1"/>
            <p:nvPr/>
          </p:nvSpPr>
          <p:spPr>
            <a:xfrm>
              <a:off x="3352800" y="3168650"/>
              <a:ext cx="1954127" cy="244158"/>
            </a:xfrm>
            <a:prstGeom prst="rect">
              <a:avLst/>
            </a:prstGeom>
            <a:noFill/>
          </p:spPr>
          <p:txBody>
            <a:bodyPr wrap="none" lIns="0" tIns="0" rIns="0" bIns="0" rtlCol="0" anchor="t">
              <a:noAutofit/>
            </a:bodyPr>
            <a:lstStyle/>
            <a:p>
              <a:pPr algn="l">
                <a:spcBef>
                  <a:spcPts val="0"/>
                </a:spcBef>
                <a:spcAft>
                  <a:spcPts val="0"/>
                </a:spcAft>
              </a:pPr>
              <a:r>
                <a:rPr lang="en-US" sz="1350" b="1" dirty="0">
                  <a:solidFill>
                    <a:srgbClr val="EDE9E2"/>
                  </a:solidFill>
                  <a:latin typeface="Segoe UI"/>
                  <a:ea typeface="Segoe UI"/>
                  <a:cs typeface="Segoe UI"/>
                </a:rPr>
                <a:t>JavaScript / TypeScript</a:t>
              </a:r>
              <a:endParaRPr lang="en-US" sz="1350" dirty="0"/>
            </a:p>
          </p:txBody>
        </p:sp>
        <p:sp>
          <p:nvSpPr>
            <p:cNvPr id="39" name="Text 40"/>
            <p:cNvSpPr txBox="1"/>
            <p:nvPr/>
          </p:nvSpPr>
          <p:spPr>
            <a:xfrm>
              <a:off x="6819900" y="3181350"/>
              <a:ext cx="4157526"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Segoe UI"/>
                  <a:ea typeface="Segoe UI"/>
                  <a:cs typeface="Segoe UI"/>
                </a:rPr>
                <a:t>package.json scripts via npm, pnpm, Yarn or Bun by lockfile</a:t>
              </a:r>
              <a:endParaRPr lang="en-US" sz="1200" dirty="0"/>
            </a:p>
          </p:txBody>
        </p:sp>
        <p:sp>
          <p:nvSpPr>
            <p:cNvPr id="40" name="Text 41"/>
            <p:cNvSpPr txBox="1"/>
            <p:nvPr/>
          </p:nvSpPr>
          <p:spPr>
            <a:xfrm>
              <a:off x="3352800" y="3473450"/>
              <a:ext cx="1557636" cy="244158"/>
            </a:xfrm>
            <a:prstGeom prst="rect">
              <a:avLst/>
            </a:prstGeom>
            <a:noFill/>
          </p:spPr>
          <p:txBody>
            <a:bodyPr wrap="none" lIns="0" tIns="0" rIns="0" bIns="0" rtlCol="0" anchor="t">
              <a:noAutofit/>
            </a:bodyPr>
            <a:lstStyle/>
            <a:p>
              <a:pPr algn="l">
                <a:spcBef>
                  <a:spcPts val="0"/>
                </a:spcBef>
                <a:spcAft>
                  <a:spcPts val="0"/>
                </a:spcAft>
              </a:pPr>
              <a:r>
                <a:rPr lang="en-US" sz="1350" b="1" dirty="0">
                  <a:solidFill>
                    <a:srgbClr val="EDE9E2"/>
                  </a:solidFill>
                  <a:latin typeface="Segoe UI"/>
                  <a:ea typeface="Segoe UI"/>
                  <a:cs typeface="Segoe UI"/>
                </a:rPr>
                <a:t>Rust / Go / Flutter</a:t>
              </a:r>
              <a:endParaRPr lang="en-US" sz="1350" dirty="0"/>
            </a:p>
          </p:txBody>
        </p:sp>
        <p:sp>
          <p:nvSpPr>
            <p:cNvPr id="41" name="Text 42"/>
            <p:cNvSpPr txBox="1"/>
            <p:nvPr/>
          </p:nvSpPr>
          <p:spPr>
            <a:xfrm>
              <a:off x="6819900" y="3486150"/>
              <a:ext cx="2109615"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Segoe UI"/>
                  <a:ea typeface="Segoe UI"/>
                  <a:cs typeface="Segoe UI"/>
                </a:rPr>
                <a:t>cargo run, go run ., flutter run</a:t>
              </a:r>
              <a:endParaRPr lang="en-US" sz="1200" dirty="0"/>
            </a:p>
          </p:txBody>
        </p:sp>
        <p:sp>
          <p:nvSpPr>
            <p:cNvPr id="42" name="Text 43"/>
            <p:cNvSpPr txBox="1"/>
            <p:nvPr/>
          </p:nvSpPr>
          <p:spPr>
            <a:xfrm>
              <a:off x="3352800" y="3778250"/>
              <a:ext cx="690213" cy="244158"/>
            </a:xfrm>
            <a:prstGeom prst="rect">
              <a:avLst/>
            </a:prstGeom>
            <a:noFill/>
          </p:spPr>
          <p:txBody>
            <a:bodyPr wrap="none" lIns="0" tIns="0" rIns="0" bIns="0" rtlCol="0" anchor="t">
              <a:noAutofit/>
            </a:bodyPr>
            <a:lstStyle/>
            <a:p>
              <a:pPr algn="l">
                <a:spcBef>
                  <a:spcPts val="0"/>
                </a:spcBef>
                <a:spcAft>
                  <a:spcPts val="0"/>
                </a:spcAft>
              </a:pPr>
              <a:r>
                <a:rPr lang="en-US" sz="1350" b="1" dirty="0">
                  <a:solidFill>
                    <a:srgbClr val="EDE9E2"/>
                  </a:solidFill>
                  <a:latin typeface="Segoe UI"/>
                  <a:ea typeface="Segoe UI"/>
                  <a:cs typeface="Segoe UI"/>
                </a:rPr>
                <a:t>C / C++</a:t>
              </a:r>
              <a:endParaRPr lang="en-US" sz="1350" dirty="0"/>
            </a:p>
          </p:txBody>
        </p:sp>
        <p:sp>
          <p:nvSpPr>
            <p:cNvPr id="43" name="Text 44"/>
            <p:cNvSpPr txBox="1"/>
            <p:nvPr/>
          </p:nvSpPr>
          <p:spPr>
            <a:xfrm>
              <a:off x="6819900" y="3790950"/>
              <a:ext cx="3948726"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Segoe UI"/>
                  <a:ea typeface="Segoe UI"/>
                  <a:cs typeface="Segoe UI"/>
                </a:rPr>
                <a:t>finds main(), compiles with GCC or Clang into .yzpz-run/</a:t>
              </a:r>
              <a:endParaRPr lang="en-US" sz="1200" dirty="0"/>
            </a:p>
          </p:txBody>
        </p:sp>
        <p:sp>
          <p:nvSpPr>
            <p:cNvPr id="44" name="Text 45"/>
            <p:cNvSpPr txBox="1"/>
            <p:nvPr/>
          </p:nvSpPr>
          <p:spPr>
            <a:xfrm>
              <a:off x="3352800" y="4083050"/>
              <a:ext cx="609591" cy="244158"/>
            </a:xfrm>
            <a:prstGeom prst="rect">
              <a:avLst/>
            </a:prstGeom>
            <a:noFill/>
          </p:spPr>
          <p:txBody>
            <a:bodyPr wrap="none" lIns="0" tIns="0" rIns="0" bIns="0" rtlCol="0" anchor="t">
              <a:noAutofit/>
            </a:bodyPr>
            <a:lstStyle/>
            <a:p>
              <a:pPr algn="l">
                <a:spcBef>
                  <a:spcPts val="0"/>
                </a:spcBef>
                <a:spcAft>
                  <a:spcPts val="0"/>
                </a:spcAft>
              </a:pPr>
              <a:r>
                <a:rPr lang="en-US" sz="1350" b="1" dirty="0">
                  <a:solidFill>
                    <a:srgbClr val="EDE9E2"/>
                  </a:solidFill>
                  <a:latin typeface="Segoe UI"/>
                  <a:ea typeface="Segoe UI"/>
                  <a:cs typeface="Segoe UI"/>
                </a:rPr>
                <a:t>CMake</a:t>
              </a:r>
              <a:endParaRPr lang="en-US" sz="1350" dirty="0"/>
            </a:p>
          </p:txBody>
        </p:sp>
        <p:sp>
          <p:nvSpPr>
            <p:cNvPr id="45" name="Text 46"/>
            <p:cNvSpPr txBox="1"/>
            <p:nvPr/>
          </p:nvSpPr>
          <p:spPr>
            <a:xfrm>
              <a:off x="6819900" y="4095750"/>
              <a:ext cx="2670387"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Segoe UI"/>
                  <a:ea typeface="Segoe UI"/>
                  <a:cs typeface="Segoe UI"/>
                </a:rPr>
                <a:t>File API, Debug targets in .yzpz-build/</a:t>
              </a:r>
              <a:endParaRPr lang="en-US" sz="1200" dirty="0"/>
            </a:p>
          </p:txBody>
        </p:sp>
        <p:sp>
          <p:nvSpPr>
            <p:cNvPr id="46" name="Text 47"/>
            <p:cNvSpPr txBox="1"/>
            <p:nvPr/>
          </p:nvSpPr>
          <p:spPr>
            <a:xfrm>
              <a:off x="3352800" y="4387850"/>
              <a:ext cx="825946" cy="244158"/>
            </a:xfrm>
            <a:prstGeom prst="rect">
              <a:avLst/>
            </a:prstGeom>
            <a:noFill/>
          </p:spPr>
          <p:txBody>
            <a:bodyPr wrap="none" lIns="0" tIns="0" rIns="0" bIns="0" rtlCol="0" anchor="t">
              <a:noAutofit/>
            </a:bodyPr>
            <a:lstStyle/>
            <a:p>
              <a:pPr algn="l">
                <a:spcBef>
                  <a:spcPts val="0"/>
                </a:spcBef>
                <a:spcAft>
                  <a:spcPts val="0"/>
                </a:spcAft>
              </a:pPr>
              <a:r>
                <a:rPr lang="en-US" sz="1350" b="1" dirty="0">
                  <a:solidFill>
                    <a:srgbClr val="EDE9E2"/>
                  </a:solidFill>
                  <a:latin typeface="Segoe UI"/>
                  <a:ea typeface="Segoe UI"/>
                  <a:cs typeface="Segoe UI"/>
                </a:rPr>
                <a:t>C# (.NET)</a:t>
              </a:r>
              <a:endParaRPr lang="en-US" sz="1350" dirty="0"/>
            </a:p>
          </p:txBody>
        </p:sp>
        <p:sp>
          <p:nvSpPr>
            <p:cNvPr id="47" name="Text 48"/>
            <p:cNvSpPr txBox="1"/>
            <p:nvPr/>
          </p:nvSpPr>
          <p:spPr>
            <a:xfrm>
              <a:off x="6819900" y="4400550"/>
              <a:ext cx="2907280"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Segoe UI"/>
                  <a:ea typeface="Segoe UI"/>
                  <a:cs typeface="Segoe UI"/>
                </a:rPr>
                <a:t>runnable .csproj in projects and solutions</a:t>
              </a:r>
              <a:endParaRPr lang="en-US" sz="1200" dirty="0"/>
            </a:p>
          </p:txBody>
        </p:sp>
        <p:sp>
          <p:nvSpPr>
            <p:cNvPr id="48" name="Text 49"/>
            <p:cNvSpPr txBox="1"/>
            <p:nvPr/>
          </p:nvSpPr>
          <p:spPr>
            <a:xfrm>
              <a:off x="3352800" y="4692650"/>
              <a:ext cx="401594" cy="244158"/>
            </a:xfrm>
            <a:prstGeom prst="rect">
              <a:avLst/>
            </a:prstGeom>
            <a:noFill/>
          </p:spPr>
          <p:txBody>
            <a:bodyPr wrap="none" lIns="0" tIns="0" rIns="0" bIns="0" rtlCol="0" anchor="t">
              <a:noAutofit/>
            </a:bodyPr>
            <a:lstStyle/>
            <a:p>
              <a:pPr algn="l">
                <a:spcBef>
                  <a:spcPts val="0"/>
                </a:spcBef>
                <a:spcAft>
                  <a:spcPts val="0"/>
                </a:spcAft>
              </a:pPr>
              <a:r>
                <a:rPr lang="en-US" sz="1350" b="1" dirty="0">
                  <a:solidFill>
                    <a:srgbClr val="EDE9E2"/>
                  </a:solidFill>
                  <a:latin typeface="Segoe UI"/>
                  <a:ea typeface="Segoe UI"/>
                  <a:cs typeface="Segoe UI"/>
                </a:rPr>
                <a:t>Java</a:t>
              </a:r>
              <a:endParaRPr lang="en-US" sz="1350" dirty="0"/>
            </a:p>
          </p:txBody>
        </p:sp>
        <p:sp>
          <p:nvSpPr>
            <p:cNvPr id="49" name="Text 50"/>
            <p:cNvSpPr txBox="1"/>
            <p:nvPr/>
          </p:nvSpPr>
          <p:spPr>
            <a:xfrm>
              <a:off x="6819900" y="4705350"/>
              <a:ext cx="2076879"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Segoe UI"/>
                  <a:ea typeface="Segoe UI"/>
                  <a:cs typeface="Segoe UI"/>
                </a:rPr>
                <a:t>single-file source on JDK 11+</a:t>
              </a:r>
              <a:endParaRPr lang="en-US" sz="1200" dirty="0"/>
            </a:p>
          </p:txBody>
        </p:sp>
        <p:sp>
          <p:nvSpPr>
            <p:cNvPr id="50" name="Text 51"/>
            <p:cNvSpPr txBox="1"/>
            <p:nvPr/>
          </p:nvSpPr>
          <p:spPr>
            <a:xfrm>
              <a:off x="3352800" y="4997450"/>
              <a:ext cx="2908093" cy="244158"/>
            </a:xfrm>
            <a:prstGeom prst="rect">
              <a:avLst/>
            </a:prstGeom>
            <a:noFill/>
          </p:spPr>
          <p:txBody>
            <a:bodyPr wrap="none" lIns="0" tIns="0" rIns="0" bIns="0" rtlCol="0" anchor="t">
              <a:noAutofit/>
            </a:bodyPr>
            <a:lstStyle/>
            <a:p>
              <a:pPr algn="l">
                <a:spcBef>
                  <a:spcPts val="0"/>
                </a:spcBef>
                <a:spcAft>
                  <a:spcPts val="0"/>
                </a:spcAft>
              </a:pPr>
              <a:r>
                <a:rPr lang="en-US" sz="1350" b="1" dirty="0">
                  <a:solidFill>
                    <a:srgbClr val="EDE9E2"/>
                  </a:solidFill>
                  <a:latin typeface="Segoe UI"/>
                  <a:ea typeface="Segoe UI"/>
                  <a:cs typeface="Segoe UI"/>
                </a:rPr>
                <a:t>Ruby, PHP, Dart, Swift, Lua, Perl, R</a:t>
              </a:r>
              <a:endParaRPr lang="en-US" sz="1350" dirty="0"/>
            </a:p>
          </p:txBody>
        </p:sp>
        <p:sp>
          <p:nvSpPr>
            <p:cNvPr id="51" name="Text 52"/>
            <p:cNvSpPr txBox="1"/>
            <p:nvPr/>
          </p:nvSpPr>
          <p:spPr>
            <a:xfrm>
              <a:off x="6819900" y="5010150"/>
              <a:ext cx="3425101"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Segoe UI"/>
                  <a:ea typeface="Segoe UI"/>
                  <a:cs typeface="Segoe UI"/>
                </a:rPr>
                <a:t>system interpreters, Rails and Laravel commands</a:t>
              </a:r>
              <a:endParaRPr lang="en-US" sz="1200" dirty="0"/>
            </a:p>
          </p:txBody>
        </p:sp>
      </p:grpSp>
      <p:grpSp>
        <p:nvGrpSpPr>
          <p:cNvPr id="65" name="run-chips"/>
          <p:cNvGrpSpPr/>
          <p:nvPr/>
        </p:nvGrpSpPr>
        <p:grpSpPr>
          <a:xfrm>
            <a:off x="609600" y="5448300"/>
            <a:ext cx="10972800" cy="952500"/>
            <a:chOff x="609600" y="5448300"/>
            <a:chExt cx="10972800" cy="952500"/>
          </a:xfrm>
        </p:grpSpPr>
        <p:sp>
          <p:nvSpPr>
            <p:cNvPr id="53" name="rect 54"/>
            <p:cNvSpPr/>
            <p:nvPr/>
          </p:nvSpPr>
          <p:spPr>
            <a:xfrm>
              <a:off x="609600" y="5448300"/>
              <a:ext cx="2628900" cy="952500"/>
            </a:xfrm>
            <a:prstGeom prst="roundRect">
              <a:avLst>
                <a:gd name="adj" fmla="val 2000"/>
              </a:avLst>
            </a:prstGeom>
            <a:solidFill>
              <a:srgbClr val="14171B"/>
            </a:solidFill>
            <a:ln>
              <a:noFill/>
            </a:ln>
          </p:spPr>
          <p:txBody>
            <a:bodyPr/>
            <a:lstStyle/>
            <a:p>
              <a:endParaRPr lang="en-US"/>
            </a:p>
          </p:txBody>
        </p:sp>
        <p:sp>
          <p:nvSpPr>
            <p:cNvPr id="54" name="Text 55"/>
            <p:cNvSpPr txBox="1"/>
            <p:nvPr/>
          </p:nvSpPr>
          <p:spPr>
            <a:xfrm>
              <a:off x="800100" y="5543550"/>
              <a:ext cx="1681645" cy="224790"/>
            </a:xfrm>
            <a:prstGeom prst="rect">
              <a:avLst/>
            </a:prstGeom>
            <a:noFill/>
          </p:spPr>
          <p:txBody>
            <a:bodyPr wrap="none" lIns="0" tIns="0" rIns="0" bIns="0" rtlCol="0" anchor="t">
              <a:noAutofit/>
            </a:bodyPr>
            <a:lstStyle/>
            <a:p>
              <a:pPr algn="l">
                <a:spcBef>
                  <a:spcPts val="0"/>
                </a:spcBef>
                <a:spcAft>
                  <a:spcPts val="0"/>
                </a:spcAft>
              </a:pPr>
              <a:r>
                <a:rPr lang="en-US" sz="1200" b="1" dirty="0">
                  <a:solidFill>
                    <a:srgbClr val="EDE9E2"/>
                  </a:solidFill>
                  <a:latin typeface="Segoe UI"/>
                  <a:ea typeface="Segoe UI"/>
                  <a:cs typeface="Segoe UI"/>
                </a:rPr>
                <a:t>One-click Run &amp; Build</a:t>
              </a:r>
              <a:endParaRPr lang="en-US" sz="1200" dirty="0"/>
            </a:p>
          </p:txBody>
        </p:sp>
        <p:sp>
          <p:nvSpPr>
            <p:cNvPr id="55" name="Text 56"/>
            <p:cNvSpPr txBox="1"/>
            <p:nvPr/>
          </p:nvSpPr>
          <p:spPr>
            <a:xfrm>
              <a:off x="800100" y="5772150"/>
              <a:ext cx="1788599"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Segoe UI"/>
                  <a:ea typeface="Segoe UI"/>
                  <a:cs typeface="Segoe UI"/>
                </a:rPr>
                <a:t>from the terminal header</a:t>
              </a:r>
              <a:endParaRPr lang="en-US" sz="1200" dirty="0"/>
            </a:p>
          </p:txBody>
        </p:sp>
        <p:sp>
          <p:nvSpPr>
            <p:cNvPr id="56" name="rect 57"/>
            <p:cNvSpPr/>
            <p:nvPr/>
          </p:nvSpPr>
          <p:spPr>
            <a:xfrm>
              <a:off x="3390900" y="5448300"/>
              <a:ext cx="2628900" cy="952500"/>
            </a:xfrm>
            <a:prstGeom prst="roundRect">
              <a:avLst>
                <a:gd name="adj" fmla="val 2000"/>
              </a:avLst>
            </a:prstGeom>
            <a:solidFill>
              <a:srgbClr val="14171B"/>
            </a:solidFill>
            <a:ln>
              <a:noFill/>
            </a:ln>
          </p:spPr>
          <p:txBody>
            <a:bodyPr/>
            <a:lstStyle/>
            <a:p>
              <a:endParaRPr lang="en-US"/>
            </a:p>
          </p:txBody>
        </p:sp>
        <p:sp>
          <p:nvSpPr>
            <p:cNvPr id="57" name="Text 58"/>
            <p:cNvSpPr txBox="1"/>
            <p:nvPr/>
          </p:nvSpPr>
          <p:spPr>
            <a:xfrm>
              <a:off x="3581400" y="5543550"/>
              <a:ext cx="1824353" cy="224790"/>
            </a:xfrm>
            <a:prstGeom prst="rect">
              <a:avLst/>
            </a:prstGeom>
            <a:noFill/>
          </p:spPr>
          <p:txBody>
            <a:bodyPr wrap="none" lIns="0" tIns="0" rIns="0" bIns="0" rtlCol="0" anchor="t">
              <a:noAutofit/>
            </a:bodyPr>
            <a:lstStyle/>
            <a:p>
              <a:pPr algn="l">
                <a:spcBef>
                  <a:spcPts val="0"/>
                </a:spcBef>
                <a:spcAft>
                  <a:spcPts val="0"/>
                </a:spcAft>
              </a:pPr>
              <a:r>
                <a:rPr lang="en-US" sz="1200" b="1" dirty="0">
                  <a:solidFill>
                    <a:srgbClr val="EDE9E2"/>
                  </a:solidFill>
                  <a:latin typeface="Segoe UI"/>
                  <a:ea typeface="Segoe UI"/>
                  <a:cs typeface="Segoe UI"/>
                </a:rPr>
                <a:t>Type into a running app</a:t>
              </a:r>
              <a:endParaRPr lang="en-US" sz="1200" dirty="0"/>
            </a:p>
          </p:txBody>
        </p:sp>
        <p:sp>
          <p:nvSpPr>
            <p:cNvPr id="58" name="Text 59"/>
            <p:cNvSpPr txBox="1"/>
            <p:nvPr/>
          </p:nvSpPr>
          <p:spPr>
            <a:xfrm>
              <a:off x="3581400" y="5784850"/>
              <a:ext cx="1744254" cy="593090"/>
            </a:xfrm>
            <a:prstGeom prst="rect">
              <a:avLst/>
            </a:prstGeom>
            <a:noFill/>
          </p:spPr>
          <p:txBody>
            <a:bodyPr wrap="none" lIns="0" tIns="0" rIns="0" bIns="0" rtlCol="0" anchor="t">
              <a:noAutofit/>
            </a:bodyPr>
            <a:lstStyle/>
            <a:p>
              <a:pPr algn="l">
                <a:lnSpc>
                  <a:spcPts val="1500"/>
                </a:lnSpc>
                <a:spcBef>
                  <a:spcPts val="0"/>
                </a:spcBef>
                <a:spcAft>
                  <a:spcPts val="0"/>
                </a:spcAft>
              </a:pPr>
              <a:r>
                <a:rPr lang="en-US" sz="1200" b="0" dirty="0">
                  <a:solidFill>
                    <a:srgbClr val="9C9A94"/>
                  </a:solidFill>
                  <a:latin typeface="Segoe UI"/>
                  <a:ea typeface="Segoe UI"/>
                  <a:cs typeface="Segoe UI"/>
                </a:rPr>
                <a:t>Interactive stdin pipe for</a:t>
              </a:r>
              <a:endParaRPr lang="en-US" sz="1200" dirty="0"/>
            </a:p>
            <a:p>
              <a:pPr algn="l">
                <a:lnSpc>
                  <a:spcPts val="1500"/>
                </a:lnSpc>
                <a:spcBef>
                  <a:spcPts val="0"/>
                </a:spcBef>
                <a:spcAft>
                  <a:spcPts val="0"/>
                </a:spcAft>
              </a:pPr>
              <a:r>
                <a:rPr lang="en-US" sz="1200" b="0" dirty="0">
                  <a:solidFill>
                    <a:srgbClr val="9C9A94"/>
                  </a:solidFill>
                  <a:latin typeface="Segoe UI"/>
                  <a:ea typeface="Segoe UI"/>
                  <a:cs typeface="Segoe UI"/>
                </a:rPr>
                <a:t>input(), scanf,</a:t>
              </a:r>
              <a:endParaRPr lang="en-US" sz="1200" dirty="0"/>
            </a:p>
            <a:p>
              <a:pPr algn="l">
                <a:lnSpc>
                  <a:spcPts val="1500"/>
                </a:lnSpc>
                <a:spcBef>
                  <a:spcPts val="0"/>
                </a:spcBef>
                <a:spcAft>
                  <a:spcPts val="0"/>
                </a:spcAft>
              </a:pPr>
              <a:r>
                <a:rPr lang="en-US" sz="1200" b="0" dirty="0">
                  <a:solidFill>
                    <a:srgbClr val="9C9A94"/>
                  </a:solidFill>
                  <a:latin typeface="Segoe UI"/>
                  <a:ea typeface="Segoe UI"/>
                  <a:cs typeface="Segoe UI"/>
                </a:rPr>
                <a:t>Console.ReadLine()</a:t>
              </a:r>
              <a:endParaRPr lang="en-US" sz="1200" dirty="0"/>
            </a:p>
          </p:txBody>
        </p:sp>
        <p:sp>
          <p:nvSpPr>
            <p:cNvPr id="59" name="rect 60"/>
            <p:cNvSpPr/>
            <p:nvPr/>
          </p:nvSpPr>
          <p:spPr>
            <a:xfrm>
              <a:off x="6172200" y="5448300"/>
              <a:ext cx="2628900" cy="952500"/>
            </a:xfrm>
            <a:prstGeom prst="roundRect">
              <a:avLst>
                <a:gd name="adj" fmla="val 2000"/>
              </a:avLst>
            </a:prstGeom>
            <a:solidFill>
              <a:srgbClr val="14171B"/>
            </a:solidFill>
            <a:ln>
              <a:noFill/>
            </a:ln>
          </p:spPr>
          <p:txBody>
            <a:bodyPr/>
            <a:lstStyle/>
            <a:p>
              <a:endParaRPr lang="en-US"/>
            </a:p>
          </p:txBody>
        </p:sp>
        <p:sp>
          <p:nvSpPr>
            <p:cNvPr id="60" name="Text 61"/>
            <p:cNvSpPr txBox="1"/>
            <p:nvPr/>
          </p:nvSpPr>
          <p:spPr>
            <a:xfrm>
              <a:off x="6362700" y="5543550"/>
              <a:ext cx="1820406" cy="224790"/>
            </a:xfrm>
            <a:prstGeom prst="rect">
              <a:avLst/>
            </a:prstGeom>
            <a:noFill/>
          </p:spPr>
          <p:txBody>
            <a:bodyPr wrap="none" lIns="0" tIns="0" rIns="0" bIns="0" rtlCol="0" anchor="t">
              <a:noAutofit/>
            </a:bodyPr>
            <a:lstStyle/>
            <a:p>
              <a:pPr algn="l">
                <a:spcBef>
                  <a:spcPts val="0"/>
                </a:spcBef>
                <a:spcAft>
                  <a:spcPts val="0"/>
                </a:spcAft>
              </a:pPr>
              <a:r>
                <a:rPr lang="en-US" sz="1200" b="1" dirty="0">
                  <a:solidFill>
                    <a:srgbClr val="EDE9E2"/>
                  </a:solidFill>
                  <a:latin typeface="Segoe UI"/>
                  <a:ea typeface="Segoe UI"/>
                  <a:cs typeface="Segoe UI"/>
                </a:rPr>
                <a:t>Your app, found for you</a:t>
              </a:r>
              <a:endParaRPr lang="en-US" sz="1200" dirty="0"/>
            </a:p>
          </p:txBody>
        </p:sp>
        <p:sp>
          <p:nvSpPr>
            <p:cNvPr id="61" name="Text 62"/>
            <p:cNvSpPr txBox="1"/>
            <p:nvPr/>
          </p:nvSpPr>
          <p:spPr>
            <a:xfrm>
              <a:off x="6362700" y="5784850"/>
              <a:ext cx="1780705" cy="402590"/>
            </a:xfrm>
            <a:prstGeom prst="rect">
              <a:avLst/>
            </a:prstGeom>
            <a:noFill/>
          </p:spPr>
          <p:txBody>
            <a:bodyPr wrap="none" lIns="0" tIns="0" rIns="0" bIns="0" rtlCol="0" anchor="t">
              <a:noAutofit/>
            </a:bodyPr>
            <a:lstStyle/>
            <a:p>
              <a:pPr algn="l">
                <a:lnSpc>
                  <a:spcPts val="1500"/>
                </a:lnSpc>
                <a:spcBef>
                  <a:spcPts val="0"/>
                </a:spcBef>
                <a:spcAft>
                  <a:spcPts val="0"/>
                </a:spcAft>
              </a:pPr>
              <a:r>
                <a:rPr lang="en-US" sz="1200" b="0" dirty="0">
                  <a:solidFill>
                    <a:srgbClr val="9C9A94"/>
                  </a:solidFill>
                  <a:latin typeface="Segoe UI"/>
                  <a:ea typeface="Segoe UI"/>
                  <a:cs typeface="Segoe UI"/>
                </a:rPr>
                <a:t>Localhost auto-discovery</a:t>
              </a:r>
              <a:endParaRPr lang="en-US" sz="1200" dirty="0"/>
            </a:p>
            <a:p>
              <a:pPr algn="l">
                <a:lnSpc>
                  <a:spcPts val="1500"/>
                </a:lnSpc>
                <a:spcBef>
                  <a:spcPts val="0"/>
                </a:spcBef>
                <a:spcAft>
                  <a:spcPts val="0"/>
                </a:spcAft>
              </a:pPr>
              <a:r>
                <a:rPr lang="en-US" sz="1200" b="0" dirty="0">
                  <a:solidFill>
                    <a:srgbClr val="9C9A94"/>
                  </a:solidFill>
                  <a:latin typeface="Segoe UI"/>
                  <a:ea typeface="Segoe UI"/>
                  <a:cs typeface="Segoe UI"/>
                </a:rPr>
                <a:t>with 1-click preview</a:t>
              </a:r>
              <a:endParaRPr lang="en-US" sz="1200" dirty="0"/>
            </a:p>
          </p:txBody>
        </p:sp>
        <p:sp>
          <p:nvSpPr>
            <p:cNvPr id="62" name="rect 63"/>
            <p:cNvSpPr/>
            <p:nvPr/>
          </p:nvSpPr>
          <p:spPr>
            <a:xfrm>
              <a:off x="8953500" y="5448300"/>
              <a:ext cx="2628900" cy="952500"/>
            </a:xfrm>
            <a:prstGeom prst="roundRect">
              <a:avLst>
                <a:gd name="adj" fmla="val 2000"/>
              </a:avLst>
            </a:prstGeom>
            <a:solidFill>
              <a:srgbClr val="14171B"/>
            </a:solidFill>
            <a:ln>
              <a:noFill/>
            </a:ln>
          </p:spPr>
          <p:txBody>
            <a:bodyPr/>
            <a:lstStyle/>
            <a:p>
              <a:endParaRPr lang="en-US"/>
            </a:p>
          </p:txBody>
        </p:sp>
        <p:sp>
          <p:nvSpPr>
            <p:cNvPr id="63" name="Text 64"/>
            <p:cNvSpPr txBox="1"/>
            <p:nvPr/>
          </p:nvSpPr>
          <p:spPr>
            <a:xfrm>
              <a:off x="9144000" y="5543550"/>
              <a:ext cx="1491032" cy="224790"/>
            </a:xfrm>
            <a:prstGeom prst="rect">
              <a:avLst/>
            </a:prstGeom>
            <a:noFill/>
          </p:spPr>
          <p:txBody>
            <a:bodyPr wrap="none" lIns="0" tIns="0" rIns="0" bIns="0" rtlCol="0" anchor="t">
              <a:noAutofit/>
            </a:bodyPr>
            <a:lstStyle/>
            <a:p>
              <a:pPr algn="l">
                <a:spcBef>
                  <a:spcPts val="0"/>
                </a:spcBef>
                <a:spcAft>
                  <a:spcPts val="0"/>
                </a:spcAft>
              </a:pPr>
              <a:r>
                <a:rPr lang="en-US" sz="1200" b="1" dirty="0">
                  <a:solidFill>
                    <a:srgbClr val="EDE9E2"/>
                  </a:solidFill>
                  <a:latin typeface="Segoe UI"/>
                  <a:ea typeface="Segoe UI"/>
                  <a:cs typeface="Segoe UI"/>
                </a:rPr>
                <a:t>Custom run configs</a:t>
              </a:r>
              <a:endParaRPr lang="en-US" sz="1200" dirty="0"/>
            </a:p>
          </p:txBody>
        </p:sp>
        <p:sp>
          <p:nvSpPr>
            <p:cNvPr id="64" name="Text 65"/>
            <p:cNvSpPr txBox="1"/>
            <p:nvPr/>
          </p:nvSpPr>
          <p:spPr>
            <a:xfrm>
              <a:off x="9144000" y="5784850"/>
              <a:ext cx="1998250" cy="402590"/>
            </a:xfrm>
            <a:prstGeom prst="rect">
              <a:avLst/>
            </a:prstGeom>
            <a:noFill/>
          </p:spPr>
          <p:txBody>
            <a:bodyPr wrap="none" lIns="0" tIns="0" rIns="0" bIns="0" rtlCol="0" anchor="t">
              <a:noAutofit/>
            </a:bodyPr>
            <a:lstStyle/>
            <a:p>
              <a:pPr algn="l">
                <a:lnSpc>
                  <a:spcPts val="1500"/>
                </a:lnSpc>
                <a:spcBef>
                  <a:spcPts val="0"/>
                </a:spcBef>
                <a:spcAft>
                  <a:spcPts val="0"/>
                </a:spcAft>
              </a:pPr>
              <a:r>
                <a:rPr lang="en-US" sz="1200" b="0" dirty="0">
                  <a:solidFill>
                    <a:srgbClr val="9C9A94"/>
                  </a:solidFill>
                  <a:latin typeface="Segoe UI"/>
                  <a:ea typeface="Segoe UI"/>
                  <a:cs typeface="Segoe UI"/>
                </a:rPr>
                <a:t>Settings → Application runs,</a:t>
              </a:r>
              <a:endParaRPr lang="en-US" sz="1200" dirty="0"/>
            </a:p>
            <a:p>
              <a:pPr algn="l">
                <a:lnSpc>
                  <a:spcPts val="1500"/>
                </a:lnSpc>
                <a:spcBef>
                  <a:spcPts val="0"/>
                </a:spcBef>
                <a:spcAft>
                  <a:spcPts val="0"/>
                </a:spcAft>
              </a:pPr>
              <a:r>
                <a:rPr lang="en-US" sz="1200" b="0" dirty="0">
                  <a:solidFill>
                    <a:srgbClr val="9C9A94"/>
                  </a:solidFill>
                  <a:latin typeface="Segoe UI"/>
                  <a:ea typeface="Segoe UI"/>
                  <a:cs typeface="Segoe UI"/>
                </a:rPr>
                <a:t>global or per workspace</a:t>
              </a:r>
              <a:endParaRPr lang="en-US" sz="1200" dirty="0"/>
            </a:p>
          </p:txBody>
        </p:sp>
      </p:grpSp>
      <p:grpSp>
        <p:nvGrpSpPr>
          <p:cNvPr id="68" name="progress-rule"/>
          <p:cNvGrpSpPr/>
          <p:nvPr/>
        </p:nvGrpSpPr>
        <p:grpSpPr>
          <a:xfrm>
            <a:off x="609600" y="6591300"/>
            <a:ext cx="10972800" cy="95"/>
            <a:chOff x="609600" y="6591300"/>
            <a:chExt cx="10972800" cy="95"/>
          </a:xfrm>
        </p:grpSpPr>
        <p:sp>
          <p:nvSpPr>
            <p:cNvPr id="66" name="line 67"/>
            <p:cNvSpPr/>
            <p:nvPr/>
          </p:nvSpPr>
          <p:spPr>
            <a:xfrm>
              <a:off x="609600" y="6591300"/>
              <a:ext cx="10972800" cy="95"/>
            </a:xfrm>
            <a:custGeom>
              <a:avLst/>
              <a:gdLst/>
              <a:ahLst/>
              <a:cxnLst/>
              <a:rect l="0" t="0" r="r" b="b"/>
              <a:pathLst>
                <a:path w="10972800" h="95" fill="none">
                  <a:moveTo>
                    <a:pt x="0" y="0"/>
                  </a:moveTo>
                  <a:lnTo>
                    <a:pt x="10972800" y="0"/>
                  </a:lnTo>
                </a:path>
              </a:pathLst>
            </a:custGeom>
            <a:noFill/>
            <a:ln w="9525" cap="flat">
              <a:solidFill>
                <a:srgbClr val="2A2E35"/>
              </a:solidFill>
              <a:miter lim="800000"/>
            </a:ln>
          </p:spPr>
          <p:txBody>
            <a:bodyPr/>
            <a:lstStyle/>
            <a:p>
              <a:endParaRPr lang="en-US"/>
            </a:p>
          </p:txBody>
        </p:sp>
        <p:sp>
          <p:nvSpPr>
            <p:cNvPr id="67" name="line 68"/>
            <p:cNvSpPr/>
            <p:nvPr/>
          </p:nvSpPr>
          <p:spPr>
            <a:xfrm>
              <a:off x="609600" y="6591300"/>
              <a:ext cx="6172200" cy="95"/>
            </a:xfrm>
            <a:custGeom>
              <a:avLst/>
              <a:gdLst/>
              <a:ahLst/>
              <a:cxnLst/>
              <a:rect l="0" t="0" r="r" b="b"/>
              <a:pathLst>
                <a:path w="6172200" h="95" fill="none">
                  <a:moveTo>
                    <a:pt x="0" y="0"/>
                  </a:moveTo>
                  <a:lnTo>
                    <a:pt x="6172200" y="0"/>
                  </a:lnTo>
                </a:path>
              </a:pathLst>
            </a:custGeom>
            <a:noFill/>
            <a:ln w="19050" cap="flat">
              <a:solidFill>
                <a:srgbClr val="FF5B1F"/>
              </a:solidFill>
              <a:miter lim="800000"/>
            </a:ln>
          </p:spPr>
          <p:txBody>
            <a:bodyPr/>
            <a:lstStyle/>
            <a:p>
              <a:endParaRPr lang="en-US"/>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600" fill="hold"/>
                                        <p:tgtEl>
                                          <p:spTgt spid="6"/>
                                        </p:tgtEl>
                                        <p:attrNameLst>
                                          <p:attrName>ppt_y</p:attrName>
                                        </p:attrNameLst>
                                      </p:cBhvr>
                                      <p:tavLst>
                                        <p:tav tm="0">
                                          <p:val>
                                            <p:strVal val="#ppt_y+.1"/>
                                          </p:val>
                                        </p:tav>
                                        <p:tav tm="100000">
                                          <p:val>
                                            <p:strVal val="#ppt_y"/>
                                          </p:val>
                                        </p:tav>
                                      </p:tavLst>
                                    </p:anim>
                                    <p:animEffect transition="in" filter="fade">
                                      <p:cBhvr>
                                        <p:cTn id="8" dur="600"/>
                                        <p:tgtEl>
                                          <p:spTgt spid="6"/>
                                        </p:tgtEl>
                                      </p:cBhvr>
                                    </p:animEffect>
                                  </p:childTnLst>
                                </p:cTn>
                              </p:par>
                              <p:par>
                                <p:cTn id="9" presetID="10"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childTnLst>
                          </p:cTn>
                        </p:par>
                        <p:par>
                          <p:cTn id="12" fill="hold">
                            <p:stCondLst>
                              <p:cond delay="600"/>
                            </p:stCondLst>
                            <p:childTnLst>
                              <p:par>
                                <p:cTn id="13" presetID="10" presetClass="entr" presetSubtype="0"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nodeType="clickEffect">
                                  <p:stCondLst>
                                    <p:cond delay="0"/>
                                  </p:stCondLst>
                                  <p:childTnLst>
                                    <p:set>
                                      <p:cBhvr>
                                        <p:cTn id="19" dur="1" fill="hold">
                                          <p:stCondLst>
                                            <p:cond delay="0"/>
                                          </p:stCondLst>
                                        </p:cTn>
                                        <p:tgtEl>
                                          <p:spTgt spid="23"/>
                                        </p:tgtEl>
                                        <p:attrNameLst>
                                          <p:attrName>style.visibility</p:attrName>
                                        </p:attrNameLst>
                                      </p:cBhvr>
                                      <p:to>
                                        <p:strVal val="visible"/>
                                      </p:to>
                                    </p:set>
                                    <p:anim calcmode="lin" valueType="num">
                                      <p:cBhvr>
                                        <p:cTn id="20" dur="500" fill="hold"/>
                                        <p:tgtEl>
                                          <p:spTgt spid="23"/>
                                        </p:tgtEl>
                                        <p:attrNameLst>
                                          <p:attrName>ppt_w</p:attrName>
                                        </p:attrNameLst>
                                      </p:cBhvr>
                                      <p:tavLst>
                                        <p:tav tm="0">
                                          <p:val>
                                            <p:fltVal val="0"/>
                                          </p:val>
                                        </p:tav>
                                        <p:tav tm="100000">
                                          <p:val>
                                            <p:strVal val="#ppt_w"/>
                                          </p:val>
                                        </p:tav>
                                      </p:tavLst>
                                    </p:anim>
                                    <p:anim calcmode="lin" valueType="num">
                                      <p:cBhvr>
                                        <p:cTn id="21" dur="500" fill="hold"/>
                                        <p:tgtEl>
                                          <p:spTgt spid="23"/>
                                        </p:tgtEl>
                                        <p:attrNameLst>
                                          <p:attrName>ppt_h</p:attrName>
                                        </p:attrNameLst>
                                      </p:cBhvr>
                                      <p:tavLst>
                                        <p:tav tm="0">
                                          <p:val>
                                            <p:fltVal val="0"/>
                                          </p:val>
                                        </p:tav>
                                        <p:tav tm="100000">
                                          <p:val>
                                            <p:strVal val="#ppt_h"/>
                                          </p:val>
                                        </p:tav>
                                      </p:tavLst>
                                    </p:anim>
                                    <p:animEffect transition="in" filter="fade">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2"/>
                                        </p:tgtEl>
                                        <p:attrNameLst>
                                          <p:attrName>style.visibility</p:attrName>
                                        </p:attrNameLst>
                                      </p:cBhvr>
                                      <p:to>
                                        <p:strVal val="visible"/>
                                      </p:to>
                                    </p:set>
                                    <p:animEffect transition="in" filter="wipe(left)">
                                      <p:cBhvr>
                                        <p:cTn id="27" dur="700"/>
                                        <p:tgtEl>
                                          <p:spTgt spid="52"/>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65"/>
                                        </p:tgtEl>
                                        <p:attrNameLst>
                                          <p:attrName>style.visibility</p:attrName>
                                        </p:attrNameLst>
                                      </p:cBhvr>
                                      <p:to>
                                        <p:strVal val="visible"/>
                                      </p:to>
                                    </p:set>
                                    <p:anim calcmode="lin" valueType="num">
                                      <p:cBhvr additive="base">
                                        <p:cTn id="32" dur="500" fill="hold"/>
                                        <p:tgtEl>
                                          <p:spTgt spid="65"/>
                                        </p:tgtEl>
                                        <p:attrNameLst>
                                          <p:attrName>ppt_x</p:attrName>
                                        </p:attrNameLst>
                                      </p:cBhvr>
                                      <p:tavLst>
                                        <p:tav tm="0">
                                          <p:val>
                                            <p:strVal val="#ppt_x"/>
                                          </p:val>
                                        </p:tav>
                                        <p:tav tm="100000">
                                          <p:val>
                                            <p:strVal val="#ppt_x"/>
                                          </p:val>
                                        </p:tav>
                                      </p:tavLst>
                                    </p:anim>
                                    <p:anim calcmode="lin" valueType="num">
                                      <p:cBhvr additive="base">
                                        <p:cTn id="33" dur="500" fill="hold"/>
                                        <p:tgtEl>
                                          <p:spTgt spid="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B0D"/>
        </a:solidFill>
        <a:effectLst/>
      </p:bgPr>
    </p:bg>
    <p:spTree>
      <p:nvGrpSpPr>
        <p:cNvPr id="1" name=""/>
        <p:cNvGrpSpPr/>
        <p:nvPr/>
      </p:nvGrpSpPr>
      <p:grpSpPr>
        <a:xfrm>
          <a:off x="0" y="0"/>
          <a:ext cx="0" cy="0"/>
          <a:chOff x="0" y="0"/>
          <a:chExt cx="0" cy="0"/>
        </a:xfrm>
      </p:grpSpPr>
      <p:grpSp>
        <p:nvGrpSpPr>
          <p:cNvPr id="4" name="cursor-kicker"/>
          <p:cNvGrpSpPr/>
          <p:nvPr/>
        </p:nvGrpSpPr>
        <p:grpSpPr>
          <a:xfrm>
            <a:off x="609600" y="419100"/>
            <a:ext cx="4102346" cy="415290"/>
            <a:chOff x="609600" y="419100"/>
            <a:chExt cx="4102346" cy="415290"/>
          </a:xfrm>
        </p:grpSpPr>
        <p:sp>
          <p:nvSpPr>
            <p:cNvPr id="2" name="rect 3"/>
            <p:cNvSpPr/>
            <p:nvPr/>
          </p:nvSpPr>
          <p:spPr>
            <a:xfrm>
              <a:off x="609600" y="419100"/>
              <a:ext cx="457200" cy="57150"/>
            </a:xfrm>
            <a:prstGeom prst="roundRect">
              <a:avLst>
                <a:gd name="adj" fmla="val 50000"/>
              </a:avLst>
            </a:prstGeom>
            <a:solidFill>
              <a:srgbClr val="FF5B1F"/>
            </a:solidFill>
            <a:ln>
              <a:noFill/>
            </a:ln>
          </p:spPr>
          <p:txBody>
            <a:bodyPr/>
            <a:lstStyle/>
            <a:p>
              <a:endParaRPr lang="en-US"/>
            </a:p>
          </p:txBody>
        </p:sp>
        <p:sp>
          <p:nvSpPr>
            <p:cNvPr id="3" name="Text 4"/>
            <p:cNvSpPr txBox="1"/>
            <p:nvPr/>
          </p:nvSpPr>
          <p:spPr>
            <a:xfrm>
              <a:off x="609600" y="622300"/>
              <a:ext cx="4102346" cy="212090"/>
            </a:xfrm>
            <a:prstGeom prst="rect">
              <a:avLst/>
            </a:prstGeom>
            <a:noFill/>
          </p:spPr>
          <p:txBody>
            <a:bodyPr wrap="none" lIns="0" tIns="0" rIns="0" bIns="0" rtlCol="0" anchor="t">
              <a:noAutofit/>
            </a:bodyPr>
            <a:lstStyle/>
            <a:p>
              <a:pPr algn="l">
                <a:spcBef>
                  <a:spcPts val="0"/>
                </a:spcBef>
                <a:spcAft>
                  <a:spcPts val="0"/>
                </a:spcAft>
              </a:pPr>
              <a:r>
                <a:rPr lang="en-US" sz="1200" b="0" spc="150" dirty="0">
                  <a:solidFill>
                    <a:srgbClr val="9C9A94"/>
                  </a:solidFill>
                  <a:latin typeface="Consolas"/>
                  <a:ea typeface="Consolas"/>
                  <a:cs typeface="Consolas"/>
                </a:rPr>
                <a:t>YZPZCODE / BROWSER PREVIEW + INSPECTOR</a:t>
              </a:r>
              <a:endParaRPr lang="en-US" sz="1200" dirty="0"/>
            </a:p>
          </p:txBody>
        </p:sp>
      </p:grpSp>
      <p:sp>
        <p:nvSpPr>
          <p:cNvPr id="5" name="Text 6"/>
          <p:cNvSpPr txBox="1"/>
          <p:nvPr/>
        </p:nvSpPr>
        <p:spPr>
          <a:xfrm>
            <a:off x="10795623" y="622300"/>
            <a:ext cx="786777" cy="212090"/>
          </a:xfrm>
          <a:prstGeom prst="rect">
            <a:avLst/>
          </a:prstGeom>
          <a:noFill/>
        </p:spPr>
        <p:txBody>
          <a:bodyPr wrap="none" lIns="0" tIns="0" rIns="0" bIns="0" rtlCol="0" anchor="t">
            <a:noAutofit/>
          </a:bodyPr>
          <a:lstStyle/>
          <a:p>
            <a:pPr algn="r">
              <a:spcBef>
                <a:spcPts val="0"/>
              </a:spcBef>
              <a:spcAft>
                <a:spcPts val="0"/>
              </a:spcAft>
            </a:pPr>
            <a:r>
              <a:rPr lang="en-US" sz="1200" b="0" spc="150" dirty="0">
                <a:solidFill>
                  <a:srgbClr val="9C9A94"/>
                </a:solidFill>
                <a:latin typeface="Consolas"/>
                <a:ea typeface="Consolas"/>
                <a:cs typeface="Consolas"/>
              </a:rPr>
              <a:t>10 / 16</a:t>
            </a:r>
            <a:endParaRPr lang="en-US" sz="1200" dirty="0"/>
          </a:p>
        </p:txBody>
      </p:sp>
      <p:sp>
        <p:nvSpPr>
          <p:cNvPr id="6" name="Text 7"/>
          <p:cNvSpPr txBox="1"/>
          <p:nvPr/>
        </p:nvSpPr>
        <p:spPr>
          <a:xfrm>
            <a:off x="609600" y="825500"/>
            <a:ext cx="7128552" cy="1054735"/>
          </a:xfrm>
          <a:prstGeom prst="rect">
            <a:avLst/>
          </a:prstGeom>
          <a:noFill/>
        </p:spPr>
        <p:txBody>
          <a:bodyPr wrap="none" lIns="0" tIns="0" rIns="0" bIns="0" rtlCol="0" anchor="t">
            <a:noAutofit/>
          </a:bodyPr>
          <a:lstStyle/>
          <a:p>
            <a:pPr algn="l">
              <a:lnSpc>
                <a:spcPts val="3900"/>
              </a:lnSpc>
              <a:spcBef>
                <a:spcPts val="0"/>
              </a:spcBef>
              <a:spcAft>
                <a:spcPts val="0"/>
              </a:spcAft>
            </a:pPr>
            <a:r>
              <a:rPr lang="en-US" sz="3300" b="1" dirty="0">
                <a:solidFill>
                  <a:srgbClr val="EDE9E2"/>
                </a:solidFill>
                <a:latin typeface="Bahnschrift"/>
                <a:ea typeface="Bahnschrift"/>
                <a:cs typeface="Bahnschrift"/>
              </a:rPr>
              <a:t>Preview and </a:t>
            </a:r>
            <a:r>
              <a:rPr lang="en-US" sz="3300" b="1" dirty="0">
                <a:solidFill>
                  <a:srgbClr val="FF5B1F"/>
                </a:solidFill>
                <a:latin typeface="Bahnschrift"/>
                <a:ea typeface="Bahnschrift"/>
                <a:cs typeface="Bahnschrift"/>
              </a:rPr>
              <a:t>inspect</a:t>
            </a:r>
            <a:r>
              <a:rPr lang="en-US" sz="3300" b="1" dirty="0">
                <a:solidFill>
                  <a:srgbClr val="EDE9E2"/>
                </a:solidFill>
                <a:latin typeface="Bahnschrift"/>
                <a:ea typeface="Bahnschrift"/>
                <a:cs typeface="Bahnschrift"/>
              </a:rPr>
              <a:t> the running app</a:t>
            </a:r>
            <a:endParaRPr lang="en-US" sz="3300" dirty="0"/>
          </a:p>
          <a:p>
            <a:pPr algn="l">
              <a:lnSpc>
                <a:spcPts val="3900"/>
              </a:lnSpc>
              <a:spcBef>
                <a:spcPts val="0"/>
              </a:spcBef>
              <a:spcAft>
                <a:spcPts val="0"/>
              </a:spcAft>
            </a:pPr>
            <a:r>
              <a:rPr lang="en-US" sz="3300" b="1" dirty="0">
                <a:solidFill>
                  <a:srgbClr val="EDE9E2"/>
                </a:solidFill>
                <a:latin typeface="Bahnschrift"/>
                <a:ea typeface="Bahnschrift"/>
                <a:cs typeface="Bahnschrift"/>
              </a:rPr>
              <a:t>without leaving the workspace</a:t>
            </a:r>
            <a:endParaRPr lang="en-US" sz="3300" dirty="0"/>
          </a:p>
        </p:txBody>
      </p:sp>
      <p:grpSp>
        <p:nvGrpSpPr>
          <p:cNvPr id="20" name="shot-left"/>
          <p:cNvGrpSpPr/>
          <p:nvPr/>
        </p:nvGrpSpPr>
        <p:grpSpPr>
          <a:xfrm>
            <a:off x="495301" y="1943005"/>
            <a:ext cx="4038600" cy="3177540"/>
            <a:chOff x="495300" y="1905000"/>
            <a:chExt cx="4038600" cy="3177540"/>
          </a:xfrm>
        </p:grpSpPr>
        <p:sp>
          <p:nvSpPr>
            <p:cNvPr id="8" name="rect 9"/>
            <p:cNvSpPr/>
            <p:nvPr/>
          </p:nvSpPr>
          <p:spPr>
            <a:xfrm>
              <a:off x="609600" y="2019300"/>
              <a:ext cx="3810000" cy="2209800"/>
            </a:xfrm>
            <a:prstGeom prst="roundRect">
              <a:avLst>
                <a:gd name="adj" fmla="val 3448"/>
              </a:avLst>
            </a:prstGeom>
            <a:solidFill>
              <a:srgbClr val="14171B"/>
            </a:solidFill>
            <a:ln w="9525" cap="flat">
              <a:solidFill>
                <a:srgbClr val="2A2E35"/>
              </a:solidFill>
              <a:miter lim="800000"/>
            </a:ln>
          </p:spPr>
          <p:txBody>
            <a:bodyPr/>
            <a:lstStyle/>
            <a:p>
              <a:endParaRPr lang="en-US"/>
            </a:p>
          </p:txBody>
        </p:sp>
        <p:sp>
          <p:nvSpPr>
            <p:cNvPr id="9" name="circle 10"/>
            <p:cNvSpPr/>
            <p:nvPr/>
          </p:nvSpPr>
          <p:spPr>
            <a:xfrm>
              <a:off x="714375" y="2076450"/>
              <a:ext cx="57150" cy="57150"/>
            </a:xfrm>
            <a:prstGeom prst="ellipse">
              <a:avLst/>
            </a:prstGeom>
            <a:solidFill>
              <a:srgbClr val="4A5058"/>
            </a:solidFill>
            <a:ln>
              <a:noFill/>
            </a:ln>
          </p:spPr>
          <p:txBody>
            <a:bodyPr/>
            <a:lstStyle/>
            <a:p>
              <a:endParaRPr lang="en-US"/>
            </a:p>
          </p:txBody>
        </p:sp>
        <p:sp>
          <p:nvSpPr>
            <p:cNvPr id="10" name="circle 11"/>
            <p:cNvSpPr/>
            <p:nvPr/>
          </p:nvSpPr>
          <p:spPr>
            <a:xfrm>
              <a:off x="828675" y="2076450"/>
              <a:ext cx="57150" cy="57150"/>
            </a:xfrm>
            <a:prstGeom prst="ellipse">
              <a:avLst/>
            </a:prstGeom>
            <a:solidFill>
              <a:srgbClr val="4A5058"/>
            </a:solidFill>
            <a:ln>
              <a:noFill/>
            </a:ln>
          </p:spPr>
          <p:txBody>
            <a:bodyPr/>
            <a:lstStyle/>
            <a:p>
              <a:endParaRPr lang="en-US"/>
            </a:p>
          </p:txBody>
        </p:sp>
        <p:sp>
          <p:nvSpPr>
            <p:cNvPr id="11" name="circle 12"/>
            <p:cNvSpPr/>
            <p:nvPr/>
          </p:nvSpPr>
          <p:spPr>
            <a:xfrm>
              <a:off x="942975" y="2076450"/>
              <a:ext cx="57150" cy="57150"/>
            </a:xfrm>
            <a:prstGeom prst="ellipse">
              <a:avLst/>
            </a:prstGeom>
            <a:solidFill>
              <a:srgbClr val="4A5058"/>
            </a:solidFill>
            <a:ln>
              <a:noFill/>
            </a:ln>
          </p:spPr>
          <p:txBody>
            <a:bodyPr/>
            <a:lstStyle/>
            <a:p>
              <a:endParaRPr lang="en-US"/>
            </a:p>
          </p:txBody>
        </p:sp>
        <p:pic>
          <p:nvPicPr>
            <p:cNvPr id="12" name="Picture 13"/>
            <p:cNvPicPr>
              <a:picLocks noChangeAspect="1"/>
            </p:cNvPicPr>
            <p:nvPr/>
          </p:nvPicPr>
          <p:blipFill>
            <a:blip r:embed="rId3"/>
            <a:stretch>
              <a:fillRect/>
            </a:stretch>
          </p:blipFill>
          <p:spPr>
            <a:xfrm>
              <a:off x="609600" y="2190750"/>
              <a:ext cx="3810000" cy="2038350"/>
            </a:xfrm>
            <a:prstGeom prst="roundRect">
              <a:avLst>
                <a:gd name="adj" fmla="val 3738"/>
              </a:avLst>
            </a:prstGeom>
          </p:spPr>
        </p:pic>
        <p:sp>
          <p:nvSpPr>
            <p:cNvPr id="13" name="path 14"/>
            <p:cNvSpPr/>
            <p:nvPr/>
          </p:nvSpPr>
          <p:spPr>
            <a:xfrm>
              <a:off x="495300" y="1905000"/>
              <a:ext cx="228600" cy="228600"/>
            </a:xfrm>
            <a:custGeom>
              <a:avLst/>
              <a:gdLst/>
              <a:ahLst/>
              <a:cxnLst/>
              <a:rect l="0" t="0" r="r" b="b"/>
              <a:pathLst>
                <a:path w="228600" h="228600" fill="none">
                  <a:moveTo>
                    <a:pt x="0" y="228600"/>
                  </a:moveTo>
                  <a:lnTo>
                    <a:pt x="0" y="0"/>
                  </a:lnTo>
                  <a:lnTo>
                    <a:pt x="228600" y="0"/>
                  </a:lnTo>
                </a:path>
              </a:pathLst>
            </a:custGeom>
            <a:noFill/>
            <a:ln w="19050" cap="flat">
              <a:solidFill>
                <a:srgbClr val="FF5B1F"/>
              </a:solidFill>
              <a:miter lim="800000"/>
            </a:ln>
          </p:spPr>
          <p:txBody>
            <a:bodyPr/>
            <a:lstStyle/>
            <a:p>
              <a:endParaRPr lang="en-US"/>
            </a:p>
          </p:txBody>
        </p:sp>
        <p:sp>
          <p:nvSpPr>
            <p:cNvPr id="14" name="path 15"/>
            <p:cNvSpPr/>
            <p:nvPr/>
          </p:nvSpPr>
          <p:spPr>
            <a:xfrm>
              <a:off x="4305300" y="1905000"/>
              <a:ext cx="228600" cy="228600"/>
            </a:xfrm>
            <a:custGeom>
              <a:avLst/>
              <a:gdLst/>
              <a:ahLst/>
              <a:cxnLst/>
              <a:rect l="0" t="0" r="r" b="b"/>
              <a:pathLst>
                <a:path w="228600" h="228600" fill="none">
                  <a:moveTo>
                    <a:pt x="0" y="0"/>
                  </a:moveTo>
                  <a:lnTo>
                    <a:pt x="228600" y="0"/>
                  </a:lnTo>
                  <a:lnTo>
                    <a:pt x="228600" y="228600"/>
                  </a:lnTo>
                </a:path>
              </a:pathLst>
            </a:custGeom>
            <a:noFill/>
            <a:ln w="19050" cap="flat">
              <a:solidFill>
                <a:srgbClr val="FF5B1F"/>
              </a:solidFill>
              <a:miter lim="800000"/>
            </a:ln>
          </p:spPr>
          <p:txBody>
            <a:bodyPr/>
            <a:lstStyle/>
            <a:p>
              <a:endParaRPr lang="en-US"/>
            </a:p>
          </p:txBody>
        </p:sp>
        <p:sp>
          <p:nvSpPr>
            <p:cNvPr id="15" name="path 16"/>
            <p:cNvSpPr/>
            <p:nvPr/>
          </p:nvSpPr>
          <p:spPr>
            <a:xfrm>
              <a:off x="495300" y="4114800"/>
              <a:ext cx="228600" cy="228600"/>
            </a:xfrm>
            <a:custGeom>
              <a:avLst/>
              <a:gdLst/>
              <a:ahLst/>
              <a:cxnLst/>
              <a:rect l="0" t="0" r="r" b="b"/>
              <a:pathLst>
                <a:path w="228600" h="228600" fill="none">
                  <a:moveTo>
                    <a:pt x="0" y="0"/>
                  </a:moveTo>
                  <a:lnTo>
                    <a:pt x="0" y="228600"/>
                  </a:lnTo>
                  <a:lnTo>
                    <a:pt x="228600" y="228600"/>
                  </a:lnTo>
                </a:path>
              </a:pathLst>
            </a:custGeom>
            <a:noFill/>
            <a:ln w="19050" cap="flat">
              <a:solidFill>
                <a:srgbClr val="FF5B1F"/>
              </a:solidFill>
              <a:miter lim="800000"/>
            </a:ln>
          </p:spPr>
          <p:txBody>
            <a:bodyPr/>
            <a:lstStyle/>
            <a:p>
              <a:endParaRPr lang="en-US"/>
            </a:p>
          </p:txBody>
        </p:sp>
        <p:sp>
          <p:nvSpPr>
            <p:cNvPr id="16" name="path 17"/>
            <p:cNvSpPr/>
            <p:nvPr/>
          </p:nvSpPr>
          <p:spPr>
            <a:xfrm>
              <a:off x="4305300" y="4114800"/>
              <a:ext cx="228600" cy="228600"/>
            </a:xfrm>
            <a:custGeom>
              <a:avLst/>
              <a:gdLst/>
              <a:ahLst/>
              <a:cxnLst/>
              <a:rect l="0" t="0" r="r" b="b"/>
              <a:pathLst>
                <a:path w="228600" h="228600" fill="none">
                  <a:moveTo>
                    <a:pt x="228600" y="0"/>
                  </a:moveTo>
                  <a:lnTo>
                    <a:pt x="228600" y="228600"/>
                  </a:lnTo>
                  <a:lnTo>
                    <a:pt x="0" y="228600"/>
                  </a:lnTo>
                </a:path>
              </a:pathLst>
            </a:custGeom>
            <a:noFill/>
            <a:ln w="19050" cap="flat">
              <a:solidFill>
                <a:srgbClr val="FF5B1F"/>
              </a:solidFill>
              <a:miter lim="800000"/>
            </a:ln>
          </p:spPr>
          <p:txBody>
            <a:bodyPr/>
            <a:lstStyle/>
            <a:p>
              <a:endParaRPr lang="en-US"/>
            </a:p>
          </p:txBody>
        </p:sp>
        <p:sp>
          <p:nvSpPr>
            <p:cNvPr id="17" name="Text 18"/>
            <p:cNvSpPr txBox="1"/>
            <p:nvPr/>
          </p:nvSpPr>
          <p:spPr>
            <a:xfrm>
              <a:off x="609600" y="4432300"/>
              <a:ext cx="125242" cy="212090"/>
            </a:xfrm>
            <a:prstGeom prst="rect">
              <a:avLst/>
            </a:prstGeom>
            <a:noFill/>
          </p:spPr>
          <p:txBody>
            <a:bodyPr wrap="none" lIns="0" tIns="0" rIns="0" bIns="0" rtlCol="0" anchor="t">
              <a:noAutofit/>
            </a:bodyPr>
            <a:lstStyle/>
            <a:p>
              <a:pPr algn="l">
                <a:spcBef>
                  <a:spcPts val="0"/>
                </a:spcBef>
                <a:spcAft>
                  <a:spcPts val="0"/>
                </a:spcAft>
              </a:pPr>
              <a:r>
                <a:rPr lang="en-US" sz="1200" b="1" dirty="0">
                  <a:solidFill>
                    <a:srgbClr val="FF5B1F"/>
                  </a:solidFill>
                  <a:latin typeface="Consolas"/>
                  <a:ea typeface="Consolas"/>
                  <a:cs typeface="Consolas"/>
                </a:rPr>
                <a:t>A</a:t>
              </a:r>
              <a:endParaRPr lang="en-US" sz="1200" dirty="0"/>
            </a:p>
          </p:txBody>
        </p:sp>
        <p:sp>
          <p:nvSpPr>
            <p:cNvPr id="18" name="Text 19"/>
            <p:cNvSpPr txBox="1"/>
            <p:nvPr/>
          </p:nvSpPr>
          <p:spPr>
            <a:xfrm>
              <a:off x="838200" y="4419600"/>
              <a:ext cx="2706684"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Segoe UI"/>
                  <a:ea typeface="Segoe UI"/>
                  <a:cs typeface="Segoe UI"/>
                </a:rPr>
                <a:t>Integrated multi-tab webview browser</a:t>
              </a:r>
              <a:endParaRPr lang="en-US" sz="1200" dirty="0"/>
            </a:p>
          </p:txBody>
        </p:sp>
        <p:sp>
          <p:nvSpPr>
            <p:cNvPr id="19" name="Text 20"/>
            <p:cNvSpPr txBox="1"/>
            <p:nvPr/>
          </p:nvSpPr>
          <p:spPr>
            <a:xfrm>
              <a:off x="838200" y="4635500"/>
              <a:ext cx="2319034" cy="447040"/>
            </a:xfrm>
            <a:prstGeom prst="rect">
              <a:avLst/>
            </a:prstGeom>
            <a:noFill/>
          </p:spPr>
          <p:txBody>
            <a:bodyPr wrap="none" lIns="0" tIns="0" rIns="0" bIns="0" rtlCol="0" anchor="t">
              <a:noAutofit/>
            </a:bodyPr>
            <a:lstStyle/>
            <a:p>
              <a:pPr algn="l">
                <a:lnSpc>
                  <a:spcPts val="1700"/>
                </a:lnSpc>
                <a:spcBef>
                  <a:spcPts val="0"/>
                </a:spcBef>
                <a:spcAft>
                  <a:spcPts val="0"/>
                </a:spcAft>
              </a:pPr>
              <a:r>
                <a:rPr lang="en-US" sz="1200" b="0" dirty="0">
                  <a:solidFill>
                    <a:srgbClr val="9C9A94"/>
                  </a:solidFill>
                  <a:latin typeface="Segoe UI"/>
                  <a:ea typeface="Segoe UI"/>
                  <a:cs typeface="Segoe UI"/>
                </a:rPr>
                <a:t>Your running app opens in a tab,</a:t>
              </a:r>
              <a:endParaRPr lang="en-US" sz="1200" dirty="0"/>
            </a:p>
            <a:p>
              <a:pPr algn="l">
                <a:lnSpc>
                  <a:spcPts val="1700"/>
                </a:lnSpc>
                <a:spcBef>
                  <a:spcPts val="0"/>
                </a:spcBef>
                <a:spcAft>
                  <a:spcPts val="0"/>
                </a:spcAft>
              </a:pPr>
              <a:r>
                <a:rPr lang="en-US" sz="1200" b="0" dirty="0">
                  <a:solidFill>
                    <a:srgbClr val="9C9A94"/>
                  </a:solidFill>
                  <a:latin typeface="Segoe UI"/>
                  <a:ea typeface="Segoe UI"/>
                  <a:cs typeface="Segoe UI"/>
                </a:rPr>
                <a:t>right inside the workspace.</a:t>
              </a:r>
              <a:endParaRPr lang="en-US" sz="1200" dirty="0"/>
            </a:p>
          </p:txBody>
        </p:sp>
      </p:grpSp>
      <p:grpSp>
        <p:nvGrpSpPr>
          <p:cNvPr id="25" name="pick-connector"/>
          <p:cNvGrpSpPr/>
          <p:nvPr/>
        </p:nvGrpSpPr>
        <p:grpSpPr>
          <a:xfrm>
            <a:off x="4610100" y="2908300"/>
            <a:ext cx="3009900" cy="1793240"/>
            <a:chOff x="4610100" y="2908300"/>
            <a:chExt cx="3009900" cy="1793240"/>
          </a:xfrm>
        </p:grpSpPr>
        <p:sp>
          <p:nvSpPr>
            <p:cNvPr id="21" name="circle 22"/>
            <p:cNvSpPr/>
            <p:nvPr/>
          </p:nvSpPr>
          <p:spPr>
            <a:xfrm>
              <a:off x="4610100" y="3171825"/>
              <a:ext cx="76200" cy="76200"/>
            </a:xfrm>
            <a:prstGeom prst="ellipse">
              <a:avLst/>
            </a:prstGeom>
            <a:solidFill>
              <a:srgbClr val="3D8BFF"/>
            </a:solidFill>
            <a:ln>
              <a:noFill/>
            </a:ln>
          </p:spPr>
          <p:txBody>
            <a:bodyPr/>
            <a:lstStyle/>
            <a:p>
              <a:endParaRPr lang="en-US"/>
            </a:p>
          </p:txBody>
        </p:sp>
        <p:sp>
          <p:nvSpPr>
            <p:cNvPr id="22" name="path 23"/>
            <p:cNvSpPr/>
            <p:nvPr/>
          </p:nvSpPr>
          <p:spPr>
            <a:xfrm>
              <a:off x="4648200" y="3209925"/>
              <a:ext cx="2971800" cy="381000"/>
            </a:xfrm>
            <a:custGeom>
              <a:avLst/>
              <a:gdLst/>
              <a:ahLst/>
              <a:cxnLst/>
              <a:rect l="0" t="0" r="r" b="b"/>
              <a:pathLst>
                <a:path w="2971800" h="381000" fill="none">
                  <a:moveTo>
                    <a:pt x="0" y="0"/>
                  </a:moveTo>
                  <a:lnTo>
                    <a:pt x="1447800" y="0"/>
                  </a:lnTo>
                  <a:lnTo>
                    <a:pt x="1447800" y="381000"/>
                  </a:lnTo>
                  <a:lnTo>
                    <a:pt x="2971800" y="381000"/>
                  </a:lnTo>
                </a:path>
              </a:pathLst>
            </a:custGeom>
            <a:noFill/>
            <a:ln w="19050" cap="flat">
              <a:solidFill>
                <a:srgbClr val="3D8BFF"/>
              </a:solidFill>
              <a:prstDash val="sysDash"/>
              <a:miter lim="800000"/>
              <a:tailEnd type="triangle" w="med" len="med"/>
            </a:ln>
          </p:spPr>
          <p:txBody>
            <a:bodyPr/>
            <a:lstStyle/>
            <a:p>
              <a:endParaRPr lang="en-US"/>
            </a:p>
          </p:txBody>
        </p:sp>
        <p:sp>
          <p:nvSpPr>
            <p:cNvPr id="23" name="Text 24"/>
            <p:cNvSpPr txBox="1"/>
            <p:nvPr/>
          </p:nvSpPr>
          <p:spPr>
            <a:xfrm>
              <a:off x="4648200" y="2908300"/>
              <a:ext cx="1493818" cy="212090"/>
            </a:xfrm>
            <a:prstGeom prst="rect">
              <a:avLst/>
            </a:prstGeom>
            <a:noFill/>
          </p:spPr>
          <p:txBody>
            <a:bodyPr wrap="none" lIns="0" tIns="0" rIns="0" bIns="0" rtlCol="0" anchor="t">
              <a:noAutofit/>
            </a:bodyPr>
            <a:lstStyle/>
            <a:p>
              <a:pPr algn="l">
                <a:spcBef>
                  <a:spcPts val="0"/>
                </a:spcBef>
                <a:spcAft>
                  <a:spcPts val="0"/>
                </a:spcAft>
              </a:pPr>
              <a:r>
                <a:rPr lang="en-US" sz="1200" b="0" spc="75" dirty="0">
                  <a:solidFill>
                    <a:srgbClr val="3D8BFF"/>
                  </a:solidFill>
                  <a:latin typeface="Consolas"/>
                  <a:ea typeface="Consolas"/>
                  <a:cs typeface="Consolas"/>
                </a:rPr>
                <a:t>PICK AN ELEMENT</a:t>
              </a:r>
              <a:endParaRPr lang="en-US" sz="1200" dirty="0"/>
            </a:p>
          </p:txBody>
        </p:sp>
        <p:sp>
          <p:nvSpPr>
            <p:cNvPr id="24" name="Text 25"/>
            <p:cNvSpPr txBox="1"/>
            <p:nvPr/>
          </p:nvSpPr>
          <p:spPr>
            <a:xfrm>
              <a:off x="4648200" y="3765550"/>
              <a:ext cx="2158371" cy="935990"/>
            </a:xfrm>
            <a:prstGeom prst="rect">
              <a:avLst/>
            </a:prstGeom>
            <a:noFill/>
          </p:spPr>
          <p:txBody>
            <a:bodyPr wrap="none" lIns="0" tIns="0" rIns="0" bIns="0" rtlCol="0" anchor="t">
              <a:noAutofit/>
            </a:bodyPr>
            <a:lstStyle/>
            <a:p>
              <a:pPr algn="l">
                <a:lnSpc>
                  <a:spcPts val="1800"/>
                </a:lnSpc>
                <a:spcBef>
                  <a:spcPts val="0"/>
                </a:spcBef>
                <a:spcAft>
                  <a:spcPts val="0"/>
                </a:spcAft>
              </a:pPr>
              <a:r>
                <a:rPr lang="en-US" sz="1200" b="0" dirty="0">
                  <a:solidFill>
                    <a:srgbClr val="EDE9E2"/>
                  </a:solidFill>
                  <a:latin typeface="Segoe UI"/>
                  <a:ea typeface="Segoe UI"/>
                  <a:cs typeface="Segoe UI"/>
                </a:rPr>
                <a:t>Click any item on the page.</a:t>
              </a:r>
              <a:endParaRPr lang="en-US" sz="1200" dirty="0"/>
            </a:p>
            <a:p>
              <a:pPr algn="l">
                <a:lnSpc>
                  <a:spcPts val="1800"/>
                </a:lnSpc>
                <a:spcBef>
                  <a:spcPts val="0"/>
                </a:spcBef>
                <a:spcAft>
                  <a:spcPts val="0"/>
                </a:spcAft>
              </a:pPr>
              <a:r>
                <a:rPr lang="en-US" sz="1200" b="0" dirty="0">
                  <a:solidFill>
                    <a:srgbClr val="EDE9E2"/>
                  </a:solidFill>
                  <a:latin typeface="Segoe UI"/>
                  <a:ea typeface="Segoe UI"/>
                  <a:cs typeface="Segoe UI"/>
                </a:rPr>
                <a:t>The inspector then shows how</a:t>
              </a:r>
              <a:endParaRPr lang="en-US" sz="1200" dirty="0"/>
            </a:p>
            <a:p>
              <a:pPr algn="l">
                <a:lnSpc>
                  <a:spcPts val="1800"/>
                </a:lnSpc>
                <a:spcBef>
                  <a:spcPts val="0"/>
                </a:spcBef>
                <a:spcAft>
                  <a:spcPts val="0"/>
                </a:spcAft>
              </a:pPr>
              <a:r>
                <a:rPr lang="en-US" sz="1200" b="0" dirty="0">
                  <a:solidFill>
                    <a:srgbClr val="EDE9E2"/>
                  </a:solidFill>
                  <a:latin typeface="Segoe UI"/>
                  <a:ea typeface="Segoe UI"/>
                  <a:cs typeface="Segoe UI"/>
                </a:rPr>
                <a:t>it is built and styled, like</a:t>
              </a:r>
              <a:endParaRPr lang="en-US" sz="1200" dirty="0"/>
            </a:p>
            <a:p>
              <a:pPr algn="l">
                <a:lnSpc>
                  <a:spcPts val="1800"/>
                </a:lnSpc>
                <a:spcBef>
                  <a:spcPts val="0"/>
                </a:spcBef>
                <a:spcAft>
                  <a:spcPts val="0"/>
                </a:spcAft>
              </a:pPr>
              <a:r>
                <a:rPr lang="en-US" sz="1200" b="0" dirty="0">
                  <a:solidFill>
                    <a:srgbClr val="EDE9E2"/>
                  </a:solidFill>
                  <a:latin typeface="Segoe UI"/>
                  <a:ea typeface="Segoe UI"/>
                  <a:cs typeface="Segoe UI"/>
                </a:rPr>
                <a:t>a look under the hood.</a:t>
              </a:r>
              <a:endParaRPr lang="en-US" sz="1200" dirty="0"/>
            </a:p>
          </p:txBody>
        </p:sp>
      </p:grpSp>
      <p:grpSp>
        <p:nvGrpSpPr>
          <p:cNvPr id="38" name="shot-right"/>
          <p:cNvGrpSpPr/>
          <p:nvPr/>
        </p:nvGrpSpPr>
        <p:grpSpPr>
          <a:xfrm>
            <a:off x="7658100" y="2286000"/>
            <a:ext cx="4038600" cy="2758440"/>
            <a:chOff x="7658100" y="2286000"/>
            <a:chExt cx="4038600" cy="2758440"/>
          </a:xfrm>
        </p:grpSpPr>
        <p:sp>
          <p:nvSpPr>
            <p:cNvPr id="27" name="rect 28"/>
            <p:cNvSpPr/>
            <p:nvPr/>
          </p:nvSpPr>
          <p:spPr>
            <a:xfrm>
              <a:off x="7772400" y="2400300"/>
              <a:ext cx="3810000" cy="2209800"/>
            </a:xfrm>
            <a:prstGeom prst="roundRect">
              <a:avLst>
                <a:gd name="adj" fmla="val 3448"/>
              </a:avLst>
            </a:prstGeom>
            <a:solidFill>
              <a:srgbClr val="14171B"/>
            </a:solidFill>
            <a:ln w="9525" cap="flat">
              <a:solidFill>
                <a:srgbClr val="2A2E35"/>
              </a:solidFill>
              <a:miter lim="800000"/>
            </a:ln>
          </p:spPr>
          <p:txBody>
            <a:bodyPr/>
            <a:lstStyle/>
            <a:p>
              <a:endParaRPr lang="en-US"/>
            </a:p>
          </p:txBody>
        </p:sp>
        <p:sp>
          <p:nvSpPr>
            <p:cNvPr id="28" name="circle 29"/>
            <p:cNvSpPr/>
            <p:nvPr/>
          </p:nvSpPr>
          <p:spPr>
            <a:xfrm>
              <a:off x="7877175" y="2457450"/>
              <a:ext cx="57150" cy="57150"/>
            </a:xfrm>
            <a:prstGeom prst="ellipse">
              <a:avLst/>
            </a:prstGeom>
            <a:solidFill>
              <a:srgbClr val="4A5058"/>
            </a:solidFill>
            <a:ln>
              <a:noFill/>
            </a:ln>
          </p:spPr>
          <p:txBody>
            <a:bodyPr/>
            <a:lstStyle/>
            <a:p>
              <a:endParaRPr lang="en-US"/>
            </a:p>
          </p:txBody>
        </p:sp>
        <p:sp>
          <p:nvSpPr>
            <p:cNvPr id="29" name="circle 30"/>
            <p:cNvSpPr/>
            <p:nvPr/>
          </p:nvSpPr>
          <p:spPr>
            <a:xfrm>
              <a:off x="7991475" y="2457450"/>
              <a:ext cx="57150" cy="57150"/>
            </a:xfrm>
            <a:prstGeom prst="ellipse">
              <a:avLst/>
            </a:prstGeom>
            <a:solidFill>
              <a:srgbClr val="4A5058"/>
            </a:solidFill>
            <a:ln>
              <a:noFill/>
            </a:ln>
          </p:spPr>
          <p:txBody>
            <a:bodyPr/>
            <a:lstStyle/>
            <a:p>
              <a:endParaRPr lang="en-US"/>
            </a:p>
          </p:txBody>
        </p:sp>
        <p:sp>
          <p:nvSpPr>
            <p:cNvPr id="30" name="circle 31"/>
            <p:cNvSpPr/>
            <p:nvPr/>
          </p:nvSpPr>
          <p:spPr>
            <a:xfrm>
              <a:off x="8105775" y="2457450"/>
              <a:ext cx="57150" cy="57150"/>
            </a:xfrm>
            <a:prstGeom prst="ellipse">
              <a:avLst/>
            </a:prstGeom>
            <a:solidFill>
              <a:srgbClr val="4A5058"/>
            </a:solidFill>
            <a:ln>
              <a:noFill/>
            </a:ln>
          </p:spPr>
          <p:txBody>
            <a:bodyPr/>
            <a:lstStyle/>
            <a:p>
              <a:endParaRPr lang="en-US"/>
            </a:p>
          </p:txBody>
        </p:sp>
        <p:pic>
          <p:nvPicPr>
            <p:cNvPr id="31" name="Picture 32"/>
            <p:cNvPicPr>
              <a:picLocks noChangeAspect="1"/>
            </p:cNvPicPr>
            <p:nvPr/>
          </p:nvPicPr>
          <p:blipFill>
            <a:blip r:embed="rId4"/>
            <a:srcRect t="139" b="139"/>
            <a:stretch>
              <a:fillRect/>
            </a:stretch>
          </p:blipFill>
          <p:spPr>
            <a:xfrm>
              <a:off x="7772400" y="2571750"/>
              <a:ext cx="3810000" cy="2038350"/>
            </a:xfrm>
            <a:prstGeom prst="roundRect">
              <a:avLst>
                <a:gd name="adj" fmla="val 3738"/>
              </a:avLst>
            </a:prstGeom>
          </p:spPr>
        </p:pic>
        <p:sp>
          <p:nvSpPr>
            <p:cNvPr id="32" name="path 33"/>
            <p:cNvSpPr/>
            <p:nvPr/>
          </p:nvSpPr>
          <p:spPr>
            <a:xfrm>
              <a:off x="7658100" y="2286000"/>
              <a:ext cx="228600" cy="228600"/>
            </a:xfrm>
            <a:custGeom>
              <a:avLst/>
              <a:gdLst/>
              <a:ahLst/>
              <a:cxnLst/>
              <a:rect l="0" t="0" r="r" b="b"/>
              <a:pathLst>
                <a:path w="228600" h="228600" fill="none">
                  <a:moveTo>
                    <a:pt x="0" y="228600"/>
                  </a:moveTo>
                  <a:lnTo>
                    <a:pt x="0" y="0"/>
                  </a:lnTo>
                  <a:lnTo>
                    <a:pt x="228600" y="0"/>
                  </a:lnTo>
                </a:path>
              </a:pathLst>
            </a:custGeom>
            <a:noFill/>
            <a:ln w="19050" cap="flat">
              <a:solidFill>
                <a:srgbClr val="FF5B1F"/>
              </a:solidFill>
              <a:miter lim="800000"/>
            </a:ln>
          </p:spPr>
          <p:txBody>
            <a:bodyPr/>
            <a:lstStyle/>
            <a:p>
              <a:endParaRPr lang="en-US"/>
            </a:p>
          </p:txBody>
        </p:sp>
        <p:sp>
          <p:nvSpPr>
            <p:cNvPr id="33" name="path 34"/>
            <p:cNvSpPr/>
            <p:nvPr/>
          </p:nvSpPr>
          <p:spPr>
            <a:xfrm>
              <a:off x="11468100" y="2286000"/>
              <a:ext cx="228600" cy="228600"/>
            </a:xfrm>
            <a:custGeom>
              <a:avLst/>
              <a:gdLst/>
              <a:ahLst/>
              <a:cxnLst/>
              <a:rect l="0" t="0" r="r" b="b"/>
              <a:pathLst>
                <a:path w="228600" h="228600" fill="none">
                  <a:moveTo>
                    <a:pt x="0" y="0"/>
                  </a:moveTo>
                  <a:lnTo>
                    <a:pt x="228600" y="0"/>
                  </a:lnTo>
                  <a:lnTo>
                    <a:pt x="228600" y="228600"/>
                  </a:lnTo>
                </a:path>
              </a:pathLst>
            </a:custGeom>
            <a:noFill/>
            <a:ln w="19050" cap="flat">
              <a:solidFill>
                <a:srgbClr val="FF5B1F"/>
              </a:solidFill>
              <a:miter lim="800000"/>
            </a:ln>
          </p:spPr>
          <p:txBody>
            <a:bodyPr/>
            <a:lstStyle/>
            <a:p>
              <a:endParaRPr lang="en-US"/>
            </a:p>
          </p:txBody>
        </p:sp>
        <p:sp>
          <p:nvSpPr>
            <p:cNvPr id="34" name="path 35"/>
            <p:cNvSpPr/>
            <p:nvPr/>
          </p:nvSpPr>
          <p:spPr>
            <a:xfrm>
              <a:off x="7658100" y="4495800"/>
              <a:ext cx="228600" cy="228600"/>
            </a:xfrm>
            <a:custGeom>
              <a:avLst/>
              <a:gdLst/>
              <a:ahLst/>
              <a:cxnLst/>
              <a:rect l="0" t="0" r="r" b="b"/>
              <a:pathLst>
                <a:path w="228600" h="228600" fill="none">
                  <a:moveTo>
                    <a:pt x="0" y="0"/>
                  </a:moveTo>
                  <a:lnTo>
                    <a:pt x="0" y="228600"/>
                  </a:lnTo>
                  <a:lnTo>
                    <a:pt x="228600" y="228600"/>
                  </a:lnTo>
                </a:path>
              </a:pathLst>
            </a:custGeom>
            <a:noFill/>
            <a:ln w="19050" cap="flat">
              <a:solidFill>
                <a:srgbClr val="FF5B1F"/>
              </a:solidFill>
              <a:miter lim="800000"/>
            </a:ln>
          </p:spPr>
          <p:txBody>
            <a:bodyPr/>
            <a:lstStyle/>
            <a:p>
              <a:endParaRPr lang="en-US"/>
            </a:p>
          </p:txBody>
        </p:sp>
        <p:sp>
          <p:nvSpPr>
            <p:cNvPr id="35" name="path 36"/>
            <p:cNvSpPr/>
            <p:nvPr/>
          </p:nvSpPr>
          <p:spPr>
            <a:xfrm>
              <a:off x="11468100" y="4495800"/>
              <a:ext cx="228600" cy="228600"/>
            </a:xfrm>
            <a:custGeom>
              <a:avLst/>
              <a:gdLst/>
              <a:ahLst/>
              <a:cxnLst/>
              <a:rect l="0" t="0" r="r" b="b"/>
              <a:pathLst>
                <a:path w="228600" h="228600" fill="none">
                  <a:moveTo>
                    <a:pt x="228600" y="0"/>
                  </a:moveTo>
                  <a:lnTo>
                    <a:pt x="228600" y="228600"/>
                  </a:lnTo>
                  <a:lnTo>
                    <a:pt x="0" y="228600"/>
                  </a:lnTo>
                </a:path>
              </a:pathLst>
            </a:custGeom>
            <a:noFill/>
            <a:ln w="19050" cap="flat">
              <a:solidFill>
                <a:srgbClr val="FF5B1F"/>
              </a:solidFill>
              <a:miter lim="800000"/>
            </a:ln>
          </p:spPr>
          <p:txBody>
            <a:bodyPr/>
            <a:lstStyle/>
            <a:p>
              <a:endParaRPr lang="en-US"/>
            </a:p>
          </p:txBody>
        </p:sp>
        <p:sp>
          <p:nvSpPr>
            <p:cNvPr id="36" name="Text 37"/>
            <p:cNvSpPr txBox="1"/>
            <p:nvPr/>
          </p:nvSpPr>
          <p:spPr>
            <a:xfrm>
              <a:off x="7772400" y="4832350"/>
              <a:ext cx="125242" cy="212090"/>
            </a:xfrm>
            <a:prstGeom prst="rect">
              <a:avLst/>
            </a:prstGeom>
            <a:noFill/>
          </p:spPr>
          <p:txBody>
            <a:bodyPr wrap="none" lIns="0" tIns="0" rIns="0" bIns="0" rtlCol="0" anchor="t">
              <a:noAutofit/>
            </a:bodyPr>
            <a:lstStyle/>
            <a:p>
              <a:pPr algn="l">
                <a:spcBef>
                  <a:spcPts val="0"/>
                </a:spcBef>
                <a:spcAft>
                  <a:spcPts val="0"/>
                </a:spcAft>
              </a:pPr>
              <a:r>
                <a:rPr lang="en-US" sz="1200" b="1" dirty="0">
                  <a:solidFill>
                    <a:srgbClr val="3D8BFF"/>
                  </a:solidFill>
                  <a:latin typeface="Consolas"/>
                  <a:ea typeface="Consolas"/>
                  <a:cs typeface="Consolas"/>
                </a:rPr>
                <a:t>B</a:t>
              </a:r>
              <a:endParaRPr lang="en-US" sz="1200" dirty="0"/>
            </a:p>
          </p:txBody>
        </p:sp>
        <p:sp>
          <p:nvSpPr>
            <p:cNvPr id="37" name="Text 38"/>
            <p:cNvSpPr txBox="1"/>
            <p:nvPr/>
          </p:nvSpPr>
          <p:spPr>
            <a:xfrm>
              <a:off x="8001000" y="4819650"/>
              <a:ext cx="2674566"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Segoe UI"/>
                  <a:ea typeface="Segoe UI"/>
                  <a:cs typeface="Segoe UI"/>
                </a:rPr>
                <a:t>Deep visual element &amp; style inspector</a:t>
              </a:r>
              <a:endParaRPr lang="en-US" sz="1200" dirty="0"/>
            </a:p>
          </p:txBody>
        </p:sp>
      </p:grpSp>
      <p:grpSp>
        <p:nvGrpSpPr>
          <p:cNvPr id="54" name="facts-strip"/>
          <p:cNvGrpSpPr/>
          <p:nvPr/>
        </p:nvGrpSpPr>
        <p:grpSpPr>
          <a:xfrm>
            <a:off x="609600" y="5219700"/>
            <a:ext cx="10972800" cy="1101090"/>
            <a:chOff x="609600" y="5219700"/>
            <a:chExt cx="10972800" cy="1101090"/>
          </a:xfrm>
        </p:grpSpPr>
        <p:sp>
          <p:nvSpPr>
            <p:cNvPr id="39" name="line 40"/>
            <p:cNvSpPr/>
            <p:nvPr/>
          </p:nvSpPr>
          <p:spPr>
            <a:xfrm>
              <a:off x="609600" y="5219700"/>
              <a:ext cx="10972800" cy="95"/>
            </a:xfrm>
            <a:custGeom>
              <a:avLst/>
              <a:gdLst/>
              <a:ahLst/>
              <a:cxnLst/>
              <a:rect l="0" t="0" r="r" b="b"/>
              <a:pathLst>
                <a:path w="10972800" h="95" fill="none">
                  <a:moveTo>
                    <a:pt x="0" y="0"/>
                  </a:moveTo>
                  <a:lnTo>
                    <a:pt x="10972800" y="0"/>
                  </a:lnTo>
                </a:path>
              </a:pathLst>
            </a:custGeom>
            <a:noFill/>
            <a:ln w="9525" cap="flat">
              <a:solidFill>
                <a:srgbClr val="2A2E35"/>
              </a:solidFill>
              <a:miter lim="800000"/>
            </a:ln>
          </p:spPr>
          <p:txBody>
            <a:bodyPr/>
            <a:lstStyle/>
            <a:p>
              <a:endParaRPr lang="en-US"/>
            </a:p>
          </p:txBody>
        </p:sp>
        <p:sp>
          <p:nvSpPr>
            <p:cNvPr id="40" name="line 41"/>
            <p:cNvSpPr/>
            <p:nvPr/>
          </p:nvSpPr>
          <p:spPr>
            <a:xfrm>
              <a:off x="4038600" y="5353050"/>
              <a:ext cx="95" cy="952500"/>
            </a:xfrm>
            <a:custGeom>
              <a:avLst/>
              <a:gdLst/>
              <a:ahLst/>
              <a:cxnLst/>
              <a:rect l="0" t="0" r="r" b="b"/>
              <a:pathLst>
                <a:path w="95" h="952500" fill="none">
                  <a:moveTo>
                    <a:pt x="0" y="0"/>
                  </a:moveTo>
                  <a:lnTo>
                    <a:pt x="0" y="952500"/>
                  </a:lnTo>
                </a:path>
              </a:pathLst>
            </a:custGeom>
            <a:noFill/>
            <a:ln w="9525" cap="flat">
              <a:solidFill>
                <a:srgbClr val="2A2E35"/>
              </a:solidFill>
              <a:miter lim="800000"/>
            </a:ln>
          </p:spPr>
          <p:txBody>
            <a:bodyPr/>
            <a:lstStyle/>
            <a:p>
              <a:endParaRPr lang="en-US"/>
            </a:p>
          </p:txBody>
        </p:sp>
        <p:sp>
          <p:nvSpPr>
            <p:cNvPr id="41" name="line 42"/>
            <p:cNvSpPr/>
            <p:nvPr/>
          </p:nvSpPr>
          <p:spPr>
            <a:xfrm>
              <a:off x="7696200" y="5353050"/>
              <a:ext cx="95" cy="952500"/>
            </a:xfrm>
            <a:custGeom>
              <a:avLst/>
              <a:gdLst/>
              <a:ahLst/>
              <a:cxnLst/>
              <a:rect l="0" t="0" r="r" b="b"/>
              <a:pathLst>
                <a:path w="95" h="952500" fill="none">
                  <a:moveTo>
                    <a:pt x="0" y="0"/>
                  </a:moveTo>
                  <a:lnTo>
                    <a:pt x="0" y="952500"/>
                  </a:lnTo>
                </a:path>
              </a:pathLst>
            </a:custGeom>
            <a:noFill/>
            <a:ln w="9525" cap="flat">
              <a:solidFill>
                <a:srgbClr val="2A2E35"/>
              </a:solidFill>
              <a:miter lim="800000"/>
            </a:ln>
          </p:spPr>
          <p:txBody>
            <a:bodyPr/>
            <a:lstStyle/>
            <a:p>
              <a:endParaRPr lang="en-US"/>
            </a:p>
          </p:txBody>
        </p:sp>
        <p:sp>
          <p:nvSpPr>
            <p:cNvPr id="42" name="rect 43"/>
            <p:cNvSpPr/>
            <p:nvPr/>
          </p:nvSpPr>
          <p:spPr>
            <a:xfrm>
              <a:off x="609600" y="5438775"/>
              <a:ext cx="76200" cy="76200"/>
            </a:xfrm>
            <a:prstGeom prst="rect">
              <a:avLst/>
            </a:prstGeom>
            <a:solidFill>
              <a:srgbClr val="FF5B1F"/>
            </a:solidFill>
            <a:ln>
              <a:noFill/>
            </a:ln>
          </p:spPr>
          <p:txBody>
            <a:bodyPr/>
            <a:lstStyle/>
            <a:p>
              <a:endParaRPr lang="en-US"/>
            </a:p>
          </p:txBody>
        </p:sp>
        <p:sp>
          <p:nvSpPr>
            <p:cNvPr id="43" name="Text 44"/>
            <p:cNvSpPr txBox="1"/>
            <p:nvPr/>
          </p:nvSpPr>
          <p:spPr>
            <a:xfrm>
              <a:off x="781050" y="5384800"/>
              <a:ext cx="1535454" cy="212090"/>
            </a:xfrm>
            <a:prstGeom prst="rect">
              <a:avLst/>
            </a:prstGeom>
            <a:noFill/>
          </p:spPr>
          <p:txBody>
            <a:bodyPr wrap="none" lIns="0" tIns="0" rIns="0" bIns="0" rtlCol="0" anchor="t">
              <a:noAutofit/>
            </a:bodyPr>
            <a:lstStyle/>
            <a:p>
              <a:pPr algn="l">
                <a:spcBef>
                  <a:spcPts val="0"/>
                </a:spcBef>
                <a:spcAft>
                  <a:spcPts val="0"/>
                </a:spcAft>
              </a:pPr>
              <a:r>
                <a:rPr lang="en-US" sz="1200" b="1" spc="150" dirty="0">
                  <a:solidFill>
                    <a:srgbClr val="EDE9E2"/>
                  </a:solidFill>
                  <a:latin typeface="Consolas"/>
                  <a:ea typeface="Consolas"/>
                  <a:cs typeface="Consolas"/>
                </a:rPr>
                <a:t>DEVICE PRESETS</a:t>
              </a:r>
              <a:endParaRPr lang="en-US" sz="1200" dirty="0"/>
            </a:p>
          </p:txBody>
        </p:sp>
        <p:sp>
          <p:nvSpPr>
            <p:cNvPr id="44" name="Text 45"/>
            <p:cNvSpPr txBox="1"/>
            <p:nvPr/>
          </p:nvSpPr>
          <p:spPr>
            <a:xfrm>
              <a:off x="609600" y="5619750"/>
              <a:ext cx="2061091"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Segoe UI"/>
                  <a:ea typeface="Segoe UI"/>
                  <a:cs typeface="Segoe UI"/>
                </a:rPr>
                <a:t>See it on a phone or a tablet.</a:t>
              </a:r>
              <a:endParaRPr lang="en-US" sz="1200" dirty="0"/>
            </a:p>
          </p:txBody>
        </p:sp>
        <p:sp>
          <p:nvSpPr>
            <p:cNvPr id="45" name="Text 46"/>
            <p:cNvSpPr txBox="1"/>
            <p:nvPr/>
          </p:nvSpPr>
          <p:spPr>
            <a:xfrm>
              <a:off x="609600" y="5842000"/>
              <a:ext cx="2356878" cy="478790"/>
            </a:xfrm>
            <a:prstGeom prst="rect">
              <a:avLst/>
            </a:prstGeom>
            <a:noFill/>
          </p:spPr>
          <p:txBody>
            <a:bodyPr wrap="none" lIns="0" tIns="0" rIns="0" bIns="0" rtlCol="0" anchor="t">
              <a:noAutofit/>
            </a:bodyPr>
            <a:lstStyle/>
            <a:p>
              <a:pPr algn="l">
                <a:lnSpc>
                  <a:spcPts val="1800"/>
                </a:lnSpc>
                <a:spcBef>
                  <a:spcPts val="0"/>
                </a:spcBef>
                <a:spcAft>
                  <a:spcPts val="0"/>
                </a:spcAft>
              </a:pPr>
              <a:r>
                <a:rPr lang="en-US" sz="1200" b="0" dirty="0">
                  <a:solidFill>
                    <a:srgbClr val="9C9A94"/>
                  </a:solidFill>
                  <a:latin typeface="Segoe UI"/>
                  <a:ea typeface="Segoe UI"/>
                  <a:cs typeface="Segoe UI"/>
                </a:rPr>
                <a:t>iPhone, iPad, responsive desktop,</a:t>
              </a:r>
              <a:endParaRPr lang="en-US" sz="1200" dirty="0"/>
            </a:p>
            <a:p>
              <a:pPr algn="l">
                <a:lnSpc>
                  <a:spcPts val="1800"/>
                </a:lnSpc>
                <a:spcBef>
                  <a:spcPts val="0"/>
                </a:spcBef>
                <a:spcAft>
                  <a:spcPts val="0"/>
                </a:spcAft>
              </a:pPr>
              <a:r>
                <a:rPr lang="en-US" sz="1200" b="0" dirty="0">
                  <a:solidFill>
                    <a:srgbClr val="9C9A94"/>
                  </a:solidFill>
                  <a:latin typeface="Segoe UI"/>
                  <a:ea typeface="Segoe UI"/>
                  <a:cs typeface="Segoe UI"/>
                </a:rPr>
                <a:t>portrait / landscape</a:t>
              </a:r>
              <a:endParaRPr lang="en-US" sz="1200" dirty="0"/>
            </a:p>
          </p:txBody>
        </p:sp>
        <p:sp>
          <p:nvSpPr>
            <p:cNvPr id="46" name="rect 47"/>
            <p:cNvSpPr/>
            <p:nvPr/>
          </p:nvSpPr>
          <p:spPr>
            <a:xfrm>
              <a:off x="4267200" y="5438775"/>
              <a:ext cx="76200" cy="76200"/>
            </a:xfrm>
            <a:prstGeom prst="rect">
              <a:avLst/>
            </a:prstGeom>
            <a:solidFill>
              <a:srgbClr val="3D8BFF"/>
            </a:solidFill>
            <a:ln>
              <a:noFill/>
            </a:ln>
          </p:spPr>
          <p:txBody>
            <a:bodyPr/>
            <a:lstStyle/>
            <a:p>
              <a:endParaRPr lang="en-US"/>
            </a:p>
          </p:txBody>
        </p:sp>
        <p:sp>
          <p:nvSpPr>
            <p:cNvPr id="47" name="Text 48"/>
            <p:cNvSpPr txBox="1"/>
            <p:nvPr/>
          </p:nvSpPr>
          <p:spPr>
            <a:xfrm>
              <a:off x="4438650" y="5384800"/>
              <a:ext cx="1000685" cy="212090"/>
            </a:xfrm>
            <a:prstGeom prst="rect">
              <a:avLst/>
            </a:prstGeom>
            <a:noFill/>
          </p:spPr>
          <p:txBody>
            <a:bodyPr wrap="none" lIns="0" tIns="0" rIns="0" bIns="0" rtlCol="0" anchor="t">
              <a:noAutofit/>
            </a:bodyPr>
            <a:lstStyle/>
            <a:p>
              <a:pPr algn="l">
                <a:spcBef>
                  <a:spcPts val="0"/>
                </a:spcBef>
                <a:spcAft>
                  <a:spcPts val="0"/>
                </a:spcAft>
              </a:pPr>
              <a:r>
                <a:rPr lang="en-US" sz="1200" b="1" spc="150" dirty="0">
                  <a:solidFill>
                    <a:srgbClr val="EDE9E2"/>
                  </a:solidFill>
                  <a:latin typeface="Consolas"/>
                  <a:ea typeface="Consolas"/>
                  <a:cs typeface="Consolas"/>
                </a:rPr>
                <a:t>INSPECTOR</a:t>
              </a:r>
              <a:endParaRPr lang="en-US" sz="1200" dirty="0"/>
            </a:p>
          </p:txBody>
        </p:sp>
        <p:sp>
          <p:nvSpPr>
            <p:cNvPr id="48" name="Text 49"/>
            <p:cNvSpPr txBox="1"/>
            <p:nvPr/>
          </p:nvSpPr>
          <p:spPr>
            <a:xfrm>
              <a:off x="4267200" y="5619750"/>
              <a:ext cx="2634323"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Segoe UI"/>
                  <a:ea typeface="Segoe UI"/>
                  <a:cs typeface="Segoe UI"/>
                </a:rPr>
                <a:t>See how any part of the page is built.</a:t>
              </a:r>
              <a:endParaRPr lang="en-US" sz="1200" dirty="0"/>
            </a:p>
          </p:txBody>
        </p:sp>
        <p:sp>
          <p:nvSpPr>
            <p:cNvPr id="49" name="Text 50"/>
            <p:cNvSpPr txBox="1"/>
            <p:nvPr/>
          </p:nvSpPr>
          <p:spPr>
            <a:xfrm>
              <a:off x="4267200" y="5842000"/>
              <a:ext cx="2417320" cy="478790"/>
            </a:xfrm>
            <a:prstGeom prst="rect">
              <a:avLst/>
            </a:prstGeom>
            <a:noFill/>
          </p:spPr>
          <p:txBody>
            <a:bodyPr wrap="none" lIns="0" tIns="0" rIns="0" bIns="0" rtlCol="0" anchor="t">
              <a:noAutofit/>
            </a:bodyPr>
            <a:lstStyle/>
            <a:p>
              <a:pPr algn="l">
                <a:lnSpc>
                  <a:spcPts val="1800"/>
                </a:lnSpc>
                <a:spcBef>
                  <a:spcPts val="0"/>
                </a:spcBef>
                <a:spcAft>
                  <a:spcPts val="0"/>
                </a:spcAft>
              </a:pPr>
              <a:r>
                <a:rPr lang="en-US" sz="1200" b="0" dirty="0">
                  <a:solidFill>
                    <a:srgbClr val="9C9A94"/>
                  </a:solidFill>
                  <a:latin typeface="Segoe UI"/>
                  <a:ea typeface="Segoe UI"/>
                  <a:cs typeface="Segoe UI"/>
                </a:rPr>
                <a:t>Computed CSS, pseudo-elements,</a:t>
              </a:r>
              <a:endParaRPr lang="en-US" sz="1200" dirty="0"/>
            </a:p>
            <a:p>
              <a:pPr algn="l">
                <a:lnSpc>
                  <a:spcPts val="1800"/>
                </a:lnSpc>
                <a:spcBef>
                  <a:spcPts val="0"/>
                </a:spcBef>
                <a:spcAft>
                  <a:spcPts val="0"/>
                </a:spcAft>
              </a:pPr>
              <a:r>
                <a:rPr lang="en-US" sz="1200" b="0" dirty="0">
                  <a:solidFill>
                    <a:srgbClr val="9C9A94"/>
                  </a:solidFill>
                  <a:latin typeface="Segoe UI"/>
                  <a:ea typeface="Segoe UI"/>
                  <a:cs typeface="Segoe UI"/>
                </a:rPr>
                <a:t>box model, DOM hierarchy</a:t>
              </a:r>
              <a:endParaRPr lang="en-US" sz="1200" dirty="0"/>
            </a:p>
          </p:txBody>
        </p:sp>
        <p:sp>
          <p:nvSpPr>
            <p:cNvPr id="50" name="rect 51"/>
            <p:cNvSpPr/>
            <p:nvPr/>
          </p:nvSpPr>
          <p:spPr>
            <a:xfrm>
              <a:off x="7924800" y="5438775"/>
              <a:ext cx="76200" cy="76200"/>
            </a:xfrm>
            <a:prstGeom prst="rect">
              <a:avLst/>
            </a:prstGeom>
            <a:solidFill>
              <a:srgbClr val="A28BFF"/>
            </a:solidFill>
            <a:ln>
              <a:noFill/>
            </a:ln>
          </p:spPr>
          <p:txBody>
            <a:bodyPr/>
            <a:lstStyle/>
            <a:p>
              <a:endParaRPr lang="en-US"/>
            </a:p>
          </p:txBody>
        </p:sp>
        <p:sp>
          <p:nvSpPr>
            <p:cNvPr id="51" name="Text 52"/>
            <p:cNvSpPr txBox="1"/>
            <p:nvPr/>
          </p:nvSpPr>
          <p:spPr>
            <a:xfrm>
              <a:off x="8096250" y="5384800"/>
              <a:ext cx="1321546" cy="212090"/>
            </a:xfrm>
            <a:prstGeom prst="rect">
              <a:avLst/>
            </a:prstGeom>
            <a:noFill/>
          </p:spPr>
          <p:txBody>
            <a:bodyPr wrap="none" lIns="0" tIns="0" rIns="0" bIns="0" rtlCol="0" anchor="t">
              <a:noAutofit/>
            </a:bodyPr>
            <a:lstStyle/>
            <a:p>
              <a:pPr algn="l">
                <a:spcBef>
                  <a:spcPts val="0"/>
                </a:spcBef>
                <a:spcAft>
                  <a:spcPts val="0"/>
                </a:spcAft>
              </a:pPr>
              <a:r>
                <a:rPr lang="en-US" sz="1200" b="1" spc="150" dirty="0">
                  <a:solidFill>
                    <a:srgbClr val="EDE9E2"/>
                  </a:solidFill>
                  <a:latin typeface="Consolas"/>
                  <a:ea typeface="Consolas"/>
                  <a:cs typeface="Consolas"/>
                </a:rPr>
                <a:t>STYLE PICKER</a:t>
              </a:r>
              <a:endParaRPr lang="en-US" sz="1200" dirty="0"/>
            </a:p>
          </p:txBody>
        </p:sp>
        <p:sp>
          <p:nvSpPr>
            <p:cNvPr id="52" name="Text 53"/>
            <p:cNvSpPr txBox="1"/>
            <p:nvPr/>
          </p:nvSpPr>
          <p:spPr>
            <a:xfrm>
              <a:off x="7924800" y="5619750"/>
              <a:ext cx="2285059"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Segoe UI"/>
                  <a:ea typeface="Segoe UI"/>
                  <a:cs typeface="Segoe UI"/>
                </a:rPr>
                <a:t>Copy a look, and undo any step.</a:t>
              </a:r>
              <a:endParaRPr lang="en-US" sz="1200" dirty="0"/>
            </a:p>
          </p:txBody>
        </p:sp>
        <p:sp>
          <p:nvSpPr>
            <p:cNvPr id="53" name="Text 54"/>
            <p:cNvSpPr txBox="1"/>
            <p:nvPr/>
          </p:nvSpPr>
          <p:spPr>
            <a:xfrm>
              <a:off x="7924800" y="5842000"/>
              <a:ext cx="2356181" cy="478790"/>
            </a:xfrm>
            <a:prstGeom prst="rect">
              <a:avLst/>
            </a:prstGeom>
            <a:noFill/>
          </p:spPr>
          <p:txBody>
            <a:bodyPr wrap="none" lIns="0" tIns="0" rIns="0" bIns="0" rtlCol="0" anchor="t">
              <a:noAutofit/>
            </a:bodyPr>
            <a:lstStyle/>
            <a:p>
              <a:pPr algn="l">
                <a:lnSpc>
                  <a:spcPts val="1800"/>
                </a:lnSpc>
                <a:spcBef>
                  <a:spcPts val="0"/>
                </a:spcBef>
                <a:spcAft>
                  <a:spcPts val="0"/>
                </a:spcAft>
              </a:pPr>
              <a:r>
                <a:rPr lang="en-US" sz="1200" b="0" dirty="0">
                  <a:solidFill>
                    <a:srgbClr val="9C9A94"/>
                  </a:solidFill>
                  <a:latin typeface="Segoe UI"/>
                  <a:ea typeface="Segoe UI"/>
                  <a:cs typeface="Segoe UI"/>
                </a:rPr>
                <a:t>Copy styles, generate atomic CSS</a:t>
              </a:r>
              <a:endParaRPr lang="en-US" sz="1200" dirty="0"/>
            </a:p>
            <a:p>
              <a:pPr algn="l">
                <a:lnSpc>
                  <a:spcPts val="1800"/>
                </a:lnSpc>
                <a:spcBef>
                  <a:spcPts val="0"/>
                </a:spcBef>
                <a:spcAft>
                  <a:spcPts val="0"/>
                </a:spcAft>
              </a:pPr>
              <a:r>
                <a:rPr lang="en-US" sz="1200" b="0" dirty="0">
                  <a:solidFill>
                    <a:srgbClr val="9C9A94"/>
                  </a:solidFill>
                  <a:latin typeface="Segoe UI"/>
                  <a:ea typeface="Segoe UI"/>
                  <a:cs typeface="Segoe UI"/>
                </a:rPr>
                <a:t>classes, full undo stack</a:t>
              </a:r>
              <a:endParaRPr lang="en-US" sz="1200" dirty="0"/>
            </a:p>
          </p:txBody>
        </p:sp>
      </p:grpSp>
      <p:sp>
        <p:nvSpPr>
          <p:cNvPr id="55" name="Text 56"/>
          <p:cNvSpPr txBox="1"/>
          <p:nvPr/>
        </p:nvSpPr>
        <p:spPr>
          <a:xfrm>
            <a:off x="609600" y="6388100"/>
            <a:ext cx="9131972" cy="295593"/>
          </a:xfrm>
          <a:prstGeom prst="rect">
            <a:avLst/>
          </a:prstGeom>
          <a:noFill/>
        </p:spPr>
        <p:txBody>
          <a:bodyPr wrap="none" lIns="0" tIns="0" rIns="0" bIns="0" rtlCol="0" anchor="t">
            <a:noAutofit/>
          </a:bodyPr>
          <a:lstStyle/>
          <a:p>
            <a:pPr algn="l">
              <a:spcBef>
                <a:spcPts val="0"/>
              </a:spcBef>
              <a:spcAft>
                <a:spcPts val="0"/>
              </a:spcAft>
            </a:pPr>
            <a:r>
              <a:rPr lang="en-US" sz="1650" b="0" dirty="0">
                <a:solidFill>
                  <a:srgbClr val="EDE9E2"/>
                </a:solidFill>
                <a:latin typeface="Segoe UI"/>
                <a:ea typeface="Segoe UI"/>
                <a:cs typeface="Segoe UI"/>
              </a:rPr>
              <a:t>A dev server prints a </a:t>
            </a:r>
            <a:r>
              <a:rPr lang="en-US" sz="1650" b="1" dirty="0">
                <a:solidFill>
                  <a:srgbClr val="EDE9E2"/>
                </a:solidFill>
                <a:latin typeface="Segoe UI"/>
                <a:ea typeface="Segoe UI"/>
                <a:cs typeface="Segoe UI"/>
              </a:rPr>
              <a:t>localhost URL</a:t>
            </a:r>
            <a:r>
              <a:rPr lang="en-US" sz="1650" b="0" dirty="0">
                <a:solidFill>
                  <a:srgbClr val="EDE9E2"/>
                </a:solidFill>
                <a:latin typeface="Segoe UI"/>
                <a:ea typeface="Segoe UI"/>
                <a:cs typeface="Segoe UI"/>
              </a:rPr>
              <a:t>, and a </a:t>
            </a:r>
            <a:r>
              <a:rPr lang="en-US" sz="1650" b="1" dirty="0">
                <a:solidFill>
                  <a:srgbClr val="FF5B1F"/>
                </a:solidFill>
                <a:latin typeface="Segoe UI"/>
                <a:ea typeface="Segoe UI"/>
                <a:cs typeface="Segoe UI"/>
              </a:rPr>
              <a:t>1-click preview button</a:t>
            </a:r>
            <a:r>
              <a:rPr lang="en-US" sz="1650" b="0" dirty="0">
                <a:solidFill>
                  <a:srgbClr val="EDE9E2"/>
                </a:solidFill>
                <a:latin typeface="Segoe UI"/>
                <a:ea typeface="Segoe UI"/>
                <a:cs typeface="Segoe UI"/>
              </a:rPr>
              <a:t> appears in the browser bar.</a:t>
            </a:r>
            <a:endParaRPr lang="en-US" sz="1650" dirty="0"/>
          </a:p>
        </p:txBody>
      </p:sp>
      <p:grpSp>
        <p:nvGrpSpPr>
          <p:cNvPr id="58" name="foot-progress"/>
          <p:cNvGrpSpPr/>
          <p:nvPr/>
        </p:nvGrpSpPr>
        <p:grpSpPr>
          <a:xfrm>
            <a:off x="609600" y="6705600"/>
            <a:ext cx="10972800" cy="38100"/>
            <a:chOff x="609600" y="6705600"/>
            <a:chExt cx="10972800" cy="38100"/>
          </a:xfrm>
        </p:grpSpPr>
        <p:sp>
          <p:nvSpPr>
            <p:cNvPr id="56" name="line 57"/>
            <p:cNvSpPr/>
            <p:nvPr/>
          </p:nvSpPr>
          <p:spPr>
            <a:xfrm>
              <a:off x="609600" y="6724650"/>
              <a:ext cx="10972800" cy="95"/>
            </a:xfrm>
            <a:custGeom>
              <a:avLst/>
              <a:gdLst/>
              <a:ahLst/>
              <a:cxnLst/>
              <a:rect l="0" t="0" r="r" b="b"/>
              <a:pathLst>
                <a:path w="10972800" h="95" fill="none">
                  <a:moveTo>
                    <a:pt x="0" y="0"/>
                  </a:moveTo>
                  <a:lnTo>
                    <a:pt x="10972800" y="0"/>
                  </a:lnTo>
                </a:path>
              </a:pathLst>
            </a:custGeom>
            <a:noFill/>
            <a:ln w="9525" cap="flat">
              <a:solidFill>
                <a:srgbClr val="2A2E35"/>
              </a:solidFill>
              <a:miter lim="800000"/>
            </a:ln>
          </p:spPr>
          <p:txBody>
            <a:bodyPr/>
            <a:lstStyle/>
            <a:p>
              <a:endParaRPr lang="en-US"/>
            </a:p>
          </p:txBody>
        </p:sp>
        <p:sp>
          <p:nvSpPr>
            <p:cNvPr id="57" name="rect 58"/>
            <p:cNvSpPr/>
            <p:nvPr/>
          </p:nvSpPr>
          <p:spPr>
            <a:xfrm>
              <a:off x="609600" y="6705600"/>
              <a:ext cx="6858000" cy="38100"/>
            </a:xfrm>
            <a:prstGeom prst="roundRect">
              <a:avLst>
                <a:gd name="adj" fmla="val 50000"/>
              </a:avLst>
            </a:prstGeom>
            <a:solidFill>
              <a:srgbClr val="FF5B1F"/>
            </a:solidFill>
            <a:ln>
              <a:noFill/>
            </a:ln>
          </p:spPr>
          <p:txBody>
            <a:bodyPr/>
            <a:lstStyle/>
            <a:p>
              <a:endParaRPr lang="en-US"/>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ppt_y</p:attrName>
                                        </p:attrNameLst>
                                      </p:cBhvr>
                                      <p:tavLst>
                                        <p:tav tm="0">
                                          <p:val>
                                            <p:strVal val="#ppt_y+.1"/>
                                          </p:val>
                                        </p:tav>
                                        <p:tav tm="100000">
                                          <p:val>
                                            <p:strVal val="#ppt_y"/>
                                          </p:val>
                                        </p:tav>
                                      </p:tavLst>
                                    </p:anim>
                                    <p:animEffect transition="in" filter="fade">
                                      <p:cBhvr>
                                        <p:cTn id="8" dur="500"/>
                                        <p:tgtEl>
                                          <p:spTgt spid="6"/>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600" fill="hold"/>
                                        <p:tgtEl>
                                          <p:spTgt spid="20"/>
                                        </p:tgtEl>
                                        <p:attrNameLst>
                                          <p:attrName>ppt_x</p:attrName>
                                        </p:attrNameLst>
                                      </p:cBhvr>
                                      <p:tavLst>
                                        <p:tav tm="0">
                                          <p:val>
                                            <p:strVal val="0-#ppt_w/2"/>
                                          </p:val>
                                        </p:tav>
                                        <p:tav tm="100000">
                                          <p:val>
                                            <p:strVal val="#ppt_x"/>
                                          </p:val>
                                        </p:tav>
                                      </p:tavLst>
                                    </p:anim>
                                    <p:anim calcmode="lin" valueType="num">
                                      <p:cBhvr additive="base">
                                        <p:cTn id="14" dur="600" fill="hold"/>
                                        <p:tgtEl>
                                          <p:spTgt spid="20"/>
                                        </p:tgtEl>
                                        <p:attrNameLst>
                                          <p:attrName>ppt_y</p:attrName>
                                        </p:attrNameLst>
                                      </p:cBhvr>
                                      <p:tavLst>
                                        <p:tav tm="0">
                                          <p:val>
                                            <p:strVal val="#ppt_y"/>
                                          </p:val>
                                        </p:tav>
                                        <p:tav tm="100000">
                                          <p:val>
                                            <p:strVal val="#ppt_y"/>
                                          </p:val>
                                        </p:tav>
                                      </p:tavLst>
                                    </p:anim>
                                  </p:childTnLst>
                                </p:cTn>
                              </p:par>
                            </p:childTnLst>
                          </p:cTn>
                        </p:par>
                        <p:par>
                          <p:cTn id="15" fill="hold">
                            <p:stCondLst>
                              <p:cond delay="600"/>
                            </p:stCondLst>
                            <p:childTnLst>
                              <p:par>
                                <p:cTn id="16" presetID="22" presetClass="entr" presetSubtype="8" fill="hold" nodeType="after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wipe(left)">
                                      <p:cBhvr>
                                        <p:cTn id="18" dur="500"/>
                                        <p:tgtEl>
                                          <p:spTgt spid="25"/>
                                        </p:tgtEl>
                                      </p:cBhvr>
                                    </p:animEffect>
                                  </p:childTnLst>
                                </p:cTn>
                              </p:par>
                            </p:childTnLst>
                          </p:cTn>
                        </p:par>
                        <p:par>
                          <p:cTn id="19" fill="hold">
                            <p:stCondLst>
                              <p:cond delay="1100"/>
                            </p:stCondLst>
                            <p:childTnLst>
                              <p:par>
                                <p:cTn id="20" presetID="2" presetClass="entr" presetSubtype="2" fill="hold" nodeType="afterEffect">
                                  <p:stCondLst>
                                    <p:cond delay="0"/>
                                  </p:stCondLst>
                                  <p:childTnLst>
                                    <p:set>
                                      <p:cBhvr>
                                        <p:cTn id="21" dur="1" fill="hold">
                                          <p:stCondLst>
                                            <p:cond delay="0"/>
                                          </p:stCondLst>
                                        </p:cTn>
                                        <p:tgtEl>
                                          <p:spTgt spid="38"/>
                                        </p:tgtEl>
                                        <p:attrNameLst>
                                          <p:attrName>style.visibility</p:attrName>
                                        </p:attrNameLst>
                                      </p:cBhvr>
                                      <p:to>
                                        <p:strVal val="visible"/>
                                      </p:to>
                                    </p:set>
                                    <p:anim calcmode="lin" valueType="num">
                                      <p:cBhvr additive="base">
                                        <p:cTn id="22" dur="600" fill="hold"/>
                                        <p:tgtEl>
                                          <p:spTgt spid="38"/>
                                        </p:tgtEl>
                                        <p:attrNameLst>
                                          <p:attrName>ppt_x</p:attrName>
                                        </p:attrNameLst>
                                      </p:cBhvr>
                                      <p:tavLst>
                                        <p:tav tm="0">
                                          <p:val>
                                            <p:strVal val="1+#ppt_w/2"/>
                                          </p:val>
                                        </p:tav>
                                        <p:tav tm="100000">
                                          <p:val>
                                            <p:strVal val="#ppt_x"/>
                                          </p:val>
                                        </p:tav>
                                      </p:tavLst>
                                    </p:anim>
                                    <p:anim calcmode="lin" valueType="num">
                                      <p:cBhvr additive="base">
                                        <p:cTn id="23" dur="600" fill="hold"/>
                                        <p:tgtEl>
                                          <p:spTgt spid="38"/>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54"/>
                                        </p:tgtEl>
                                        <p:attrNameLst>
                                          <p:attrName>style.visibility</p:attrName>
                                        </p:attrNameLst>
                                      </p:cBhvr>
                                      <p:to>
                                        <p:strVal val="visible"/>
                                      </p:to>
                                    </p:set>
                                    <p:anim calcmode="lin" valueType="num">
                                      <p:cBhvr>
                                        <p:cTn id="28" dur="500" fill="hold"/>
                                        <p:tgtEl>
                                          <p:spTgt spid="54"/>
                                        </p:tgtEl>
                                        <p:attrNameLst>
                                          <p:attrName>ppt_y</p:attrName>
                                        </p:attrNameLst>
                                      </p:cBhvr>
                                      <p:tavLst>
                                        <p:tav tm="0">
                                          <p:val>
                                            <p:strVal val="#ppt_y+.1"/>
                                          </p:val>
                                        </p:tav>
                                        <p:tav tm="100000">
                                          <p:val>
                                            <p:strVal val="#ppt_y"/>
                                          </p:val>
                                        </p:tav>
                                      </p:tavLst>
                                    </p:anim>
                                    <p:animEffect transition="in" filter="fade">
                                      <p:cBhvr>
                                        <p:cTn id="29" dur="500"/>
                                        <p:tgtEl>
                                          <p:spTgt spid="5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55"/>
                                        </p:tgtEl>
                                        <p:attrNameLst>
                                          <p:attrName>style.visibility</p:attrName>
                                        </p:attrNameLst>
                                      </p:cBhvr>
                                      <p:to>
                                        <p:strVal val="visible"/>
                                      </p:to>
                                    </p:set>
                                    <p:animEffect transition="in" filter="fade">
                                      <p:cBhvr>
                                        <p:cTn id="34"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5" grpId="0"/>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B0D"/>
        </a:solidFill>
        <a:effectLst/>
      </p:bgPr>
    </p:bg>
    <p:spTree>
      <p:nvGrpSpPr>
        <p:cNvPr id="1" name=""/>
        <p:cNvGrpSpPr/>
        <p:nvPr/>
      </p:nvGrpSpPr>
      <p:grpSpPr>
        <a:xfrm>
          <a:off x="0" y="0"/>
          <a:ext cx="0" cy="0"/>
          <a:chOff x="0" y="0"/>
          <a:chExt cx="0" cy="0"/>
        </a:xfrm>
      </p:grpSpPr>
      <p:grpSp>
        <p:nvGrpSpPr>
          <p:cNvPr id="5" name="cursor-kicker"/>
          <p:cNvGrpSpPr/>
          <p:nvPr/>
        </p:nvGrpSpPr>
        <p:grpSpPr>
          <a:xfrm>
            <a:off x="609600" y="419100"/>
            <a:ext cx="2711946" cy="415290"/>
            <a:chOff x="609600" y="419100"/>
            <a:chExt cx="2711946" cy="415290"/>
          </a:xfrm>
        </p:grpSpPr>
        <p:sp>
          <p:nvSpPr>
            <p:cNvPr id="3" name="rect 4"/>
            <p:cNvSpPr/>
            <p:nvPr/>
          </p:nvSpPr>
          <p:spPr>
            <a:xfrm>
              <a:off x="609600" y="419100"/>
              <a:ext cx="457200" cy="57150"/>
            </a:xfrm>
            <a:prstGeom prst="roundRect">
              <a:avLst>
                <a:gd name="adj" fmla="val 50000"/>
              </a:avLst>
            </a:prstGeom>
            <a:solidFill>
              <a:srgbClr val="FF5B1F"/>
            </a:solidFill>
            <a:ln>
              <a:noFill/>
            </a:ln>
          </p:spPr>
          <p:txBody>
            <a:bodyPr/>
            <a:lstStyle/>
            <a:p>
              <a:endParaRPr lang="en-US"/>
            </a:p>
          </p:txBody>
        </p:sp>
        <p:sp>
          <p:nvSpPr>
            <p:cNvPr id="4" name="Text 5"/>
            <p:cNvSpPr txBox="1"/>
            <p:nvPr/>
          </p:nvSpPr>
          <p:spPr>
            <a:xfrm>
              <a:off x="609600" y="622300"/>
              <a:ext cx="2711946" cy="212090"/>
            </a:xfrm>
            <a:prstGeom prst="rect">
              <a:avLst/>
            </a:prstGeom>
            <a:noFill/>
          </p:spPr>
          <p:txBody>
            <a:bodyPr wrap="none" lIns="0" tIns="0" rIns="0" bIns="0" rtlCol="0" anchor="t">
              <a:noAutofit/>
            </a:bodyPr>
            <a:lstStyle/>
            <a:p>
              <a:pPr algn="l">
                <a:spcBef>
                  <a:spcPts val="0"/>
                </a:spcBef>
                <a:spcAft>
                  <a:spcPts val="0"/>
                </a:spcAft>
              </a:pPr>
              <a:r>
                <a:rPr lang="en-US" sz="1200" b="0" spc="150" dirty="0">
                  <a:solidFill>
                    <a:srgbClr val="9C9A94"/>
                  </a:solidFill>
                  <a:latin typeface="Consolas"/>
                  <a:ea typeface="Consolas"/>
                  <a:cs typeface="Consolas"/>
                </a:rPr>
                <a:t>YZPZCODE / BUILT-IN TOOLS</a:t>
              </a:r>
              <a:endParaRPr lang="en-US" sz="1200" dirty="0"/>
            </a:p>
          </p:txBody>
        </p:sp>
      </p:grpSp>
      <p:sp>
        <p:nvSpPr>
          <p:cNvPr id="6" name="Text 7"/>
          <p:cNvSpPr txBox="1"/>
          <p:nvPr/>
        </p:nvSpPr>
        <p:spPr>
          <a:xfrm>
            <a:off x="10795623" y="622300"/>
            <a:ext cx="786777" cy="212090"/>
          </a:xfrm>
          <a:prstGeom prst="rect">
            <a:avLst/>
          </a:prstGeom>
          <a:noFill/>
        </p:spPr>
        <p:txBody>
          <a:bodyPr wrap="none" lIns="0" tIns="0" rIns="0" bIns="0" rtlCol="0" anchor="t">
            <a:noAutofit/>
          </a:bodyPr>
          <a:lstStyle/>
          <a:p>
            <a:pPr algn="r">
              <a:spcBef>
                <a:spcPts val="0"/>
              </a:spcBef>
              <a:spcAft>
                <a:spcPts val="0"/>
              </a:spcAft>
            </a:pPr>
            <a:r>
              <a:rPr lang="en-US" sz="1200" b="0" spc="150" dirty="0">
                <a:solidFill>
                  <a:srgbClr val="9C9A94"/>
                </a:solidFill>
                <a:latin typeface="Consolas"/>
                <a:ea typeface="Consolas"/>
                <a:cs typeface="Consolas"/>
              </a:rPr>
              <a:t>11 / 16</a:t>
            </a:r>
            <a:endParaRPr lang="en-US" sz="1200" dirty="0"/>
          </a:p>
        </p:txBody>
      </p:sp>
      <p:sp>
        <p:nvSpPr>
          <p:cNvPr id="7" name="Text 8"/>
          <p:cNvSpPr txBox="1"/>
          <p:nvPr/>
        </p:nvSpPr>
        <p:spPr>
          <a:xfrm>
            <a:off x="609600" y="850900"/>
            <a:ext cx="5074798" cy="572135"/>
          </a:xfrm>
          <a:prstGeom prst="rect">
            <a:avLst/>
          </a:prstGeom>
          <a:noFill/>
        </p:spPr>
        <p:txBody>
          <a:bodyPr wrap="none" lIns="0" tIns="0" rIns="0" bIns="0" rtlCol="0" anchor="t">
            <a:noAutofit/>
          </a:bodyPr>
          <a:lstStyle/>
          <a:p>
            <a:pPr algn="l">
              <a:spcBef>
                <a:spcPts val="0"/>
              </a:spcBef>
              <a:spcAft>
                <a:spcPts val="0"/>
              </a:spcAft>
            </a:pPr>
            <a:r>
              <a:rPr lang="en-US" sz="3300" b="1" dirty="0">
                <a:solidFill>
                  <a:srgbClr val="EDE9E2"/>
                </a:solidFill>
                <a:latin typeface="Bahnschrift"/>
                <a:ea typeface="Bahnschrift"/>
                <a:cs typeface="Bahnschrift"/>
              </a:rPr>
              <a:t>built-in tools, one window</a:t>
            </a:r>
            <a:endParaRPr lang="en-US" sz="3300" dirty="0"/>
          </a:p>
        </p:txBody>
      </p:sp>
      <p:grpSp>
        <p:nvGrpSpPr>
          <p:cNvPr id="14" name="agent-poster"/>
          <p:cNvGrpSpPr/>
          <p:nvPr/>
        </p:nvGrpSpPr>
        <p:grpSpPr>
          <a:xfrm>
            <a:off x="609600" y="1752600"/>
            <a:ext cx="5029200" cy="4168140"/>
            <a:chOff x="609600" y="1752600"/>
            <a:chExt cx="5029200" cy="4168140"/>
          </a:xfrm>
        </p:grpSpPr>
        <p:pic>
          <p:nvPicPr>
            <p:cNvPr id="8" name="Picture 9"/>
            <p:cNvPicPr>
              <a:picLocks noChangeAspect="1"/>
            </p:cNvPicPr>
            <p:nvPr/>
          </p:nvPicPr>
          <p:blipFill>
            <a:blip r:embed="rId3"/>
            <a:stretch>
              <a:fillRect/>
            </a:stretch>
          </p:blipFill>
          <p:spPr>
            <a:xfrm>
              <a:off x="723900" y="1866900"/>
              <a:ext cx="4800600" cy="3600450"/>
            </a:xfrm>
            <a:prstGeom prst="rect">
              <a:avLst/>
            </a:prstGeom>
          </p:spPr>
        </p:pic>
        <p:sp>
          <p:nvSpPr>
            <p:cNvPr id="9" name="rect 10"/>
            <p:cNvSpPr/>
            <p:nvPr/>
          </p:nvSpPr>
          <p:spPr>
            <a:xfrm>
              <a:off x="723900" y="1866900"/>
              <a:ext cx="4800600" cy="3600450"/>
            </a:xfrm>
            <a:prstGeom prst="roundRect">
              <a:avLst>
                <a:gd name="adj" fmla="val 529"/>
              </a:avLst>
            </a:prstGeom>
            <a:noFill/>
            <a:ln w="9525" cap="flat">
              <a:solidFill>
                <a:srgbClr val="2A2E35"/>
              </a:solidFill>
              <a:miter lim="800000"/>
            </a:ln>
          </p:spPr>
          <p:txBody>
            <a:bodyPr/>
            <a:lstStyle/>
            <a:p>
              <a:endParaRPr lang="en-US"/>
            </a:p>
          </p:txBody>
        </p:sp>
        <p:sp>
          <p:nvSpPr>
            <p:cNvPr id="10" name="path 11"/>
            <p:cNvSpPr/>
            <p:nvPr/>
          </p:nvSpPr>
          <p:spPr>
            <a:xfrm>
              <a:off x="609600" y="1752600"/>
              <a:ext cx="228600" cy="228600"/>
            </a:xfrm>
            <a:custGeom>
              <a:avLst/>
              <a:gdLst/>
              <a:ahLst/>
              <a:cxnLst/>
              <a:rect l="0" t="0" r="r" b="b"/>
              <a:pathLst>
                <a:path w="228600" h="228600" fill="none">
                  <a:moveTo>
                    <a:pt x="0" y="228600"/>
                  </a:moveTo>
                  <a:lnTo>
                    <a:pt x="0" y="0"/>
                  </a:lnTo>
                  <a:lnTo>
                    <a:pt x="228600" y="0"/>
                  </a:lnTo>
                </a:path>
              </a:pathLst>
            </a:custGeom>
            <a:noFill/>
            <a:ln w="19050" cap="flat">
              <a:solidFill>
                <a:srgbClr val="3D8BFF"/>
              </a:solidFill>
              <a:miter lim="800000"/>
            </a:ln>
          </p:spPr>
          <p:txBody>
            <a:bodyPr/>
            <a:lstStyle/>
            <a:p>
              <a:endParaRPr lang="en-US"/>
            </a:p>
          </p:txBody>
        </p:sp>
        <p:sp>
          <p:nvSpPr>
            <p:cNvPr id="11" name="path 12"/>
            <p:cNvSpPr/>
            <p:nvPr/>
          </p:nvSpPr>
          <p:spPr>
            <a:xfrm>
              <a:off x="5410200" y="1752600"/>
              <a:ext cx="228600" cy="228600"/>
            </a:xfrm>
            <a:custGeom>
              <a:avLst/>
              <a:gdLst/>
              <a:ahLst/>
              <a:cxnLst/>
              <a:rect l="0" t="0" r="r" b="b"/>
              <a:pathLst>
                <a:path w="228600" h="228600" fill="none">
                  <a:moveTo>
                    <a:pt x="0" y="0"/>
                  </a:moveTo>
                  <a:lnTo>
                    <a:pt x="228600" y="0"/>
                  </a:lnTo>
                  <a:lnTo>
                    <a:pt x="228600" y="228600"/>
                  </a:lnTo>
                </a:path>
              </a:pathLst>
            </a:custGeom>
            <a:noFill/>
            <a:ln w="19050" cap="flat">
              <a:solidFill>
                <a:srgbClr val="3D8BFF"/>
              </a:solidFill>
              <a:miter lim="800000"/>
            </a:ln>
          </p:spPr>
          <p:txBody>
            <a:bodyPr/>
            <a:lstStyle/>
            <a:p>
              <a:endParaRPr lang="en-US"/>
            </a:p>
          </p:txBody>
        </p:sp>
        <p:sp>
          <p:nvSpPr>
            <p:cNvPr id="12" name="path 13"/>
            <p:cNvSpPr/>
            <p:nvPr/>
          </p:nvSpPr>
          <p:spPr>
            <a:xfrm>
              <a:off x="609600" y="5353050"/>
              <a:ext cx="228600" cy="228600"/>
            </a:xfrm>
            <a:custGeom>
              <a:avLst/>
              <a:gdLst/>
              <a:ahLst/>
              <a:cxnLst/>
              <a:rect l="0" t="0" r="r" b="b"/>
              <a:pathLst>
                <a:path w="228600" h="228600" fill="none">
                  <a:moveTo>
                    <a:pt x="0" y="0"/>
                  </a:moveTo>
                  <a:lnTo>
                    <a:pt x="0" y="228600"/>
                  </a:lnTo>
                  <a:lnTo>
                    <a:pt x="228600" y="228600"/>
                  </a:lnTo>
                </a:path>
              </a:pathLst>
            </a:custGeom>
            <a:noFill/>
            <a:ln w="19050" cap="flat">
              <a:solidFill>
                <a:srgbClr val="3D8BFF"/>
              </a:solidFill>
              <a:miter lim="800000"/>
            </a:ln>
          </p:spPr>
          <p:txBody>
            <a:bodyPr/>
            <a:lstStyle/>
            <a:p>
              <a:endParaRPr lang="en-US"/>
            </a:p>
          </p:txBody>
        </p:sp>
        <p:sp>
          <p:nvSpPr>
            <p:cNvPr id="13" name="Text 14"/>
            <p:cNvSpPr txBox="1"/>
            <p:nvPr/>
          </p:nvSpPr>
          <p:spPr>
            <a:xfrm>
              <a:off x="723900" y="5708650"/>
              <a:ext cx="1432370"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Consolas"/>
                  <a:ea typeface="Consolas"/>
                  <a:cs typeface="Consolas"/>
                </a:rPr>
                <a:t>ASK / ACT / PLAN</a:t>
              </a:r>
              <a:endParaRPr lang="en-US" sz="1200" dirty="0"/>
            </a:p>
          </p:txBody>
        </p:sp>
      </p:grpSp>
      <p:grpSp>
        <p:nvGrpSpPr>
          <p:cNvPr id="20" name="Group 21"/>
          <p:cNvGrpSpPr/>
          <p:nvPr/>
        </p:nvGrpSpPr>
        <p:grpSpPr>
          <a:xfrm>
            <a:off x="6967061" y="1730978"/>
            <a:ext cx="4648200" cy="796290"/>
            <a:chOff x="6967061" y="1730978"/>
            <a:chExt cx="4648200" cy="796290"/>
          </a:xfrm>
        </p:grpSpPr>
        <p:sp>
          <p:nvSpPr>
            <p:cNvPr id="15" name="rect 16"/>
            <p:cNvSpPr/>
            <p:nvPr/>
          </p:nvSpPr>
          <p:spPr>
            <a:xfrm>
              <a:off x="6967061" y="1730978"/>
              <a:ext cx="457200" cy="57150"/>
            </a:xfrm>
            <a:prstGeom prst="roundRect">
              <a:avLst>
                <a:gd name="adj" fmla="val 50000"/>
              </a:avLst>
            </a:prstGeom>
            <a:solidFill>
              <a:srgbClr val="FF5B1F"/>
            </a:solidFill>
            <a:ln>
              <a:noFill/>
            </a:ln>
          </p:spPr>
          <p:txBody>
            <a:bodyPr/>
            <a:lstStyle/>
            <a:p>
              <a:endParaRPr lang="en-US"/>
            </a:p>
          </p:txBody>
        </p:sp>
        <p:sp>
          <p:nvSpPr>
            <p:cNvPr id="16" name="Text 17"/>
            <p:cNvSpPr txBox="1"/>
            <p:nvPr/>
          </p:nvSpPr>
          <p:spPr>
            <a:xfrm>
              <a:off x="6967061" y="1813528"/>
              <a:ext cx="1433588" cy="295593"/>
            </a:xfrm>
            <a:prstGeom prst="rect">
              <a:avLst/>
            </a:prstGeom>
            <a:noFill/>
          </p:spPr>
          <p:txBody>
            <a:bodyPr wrap="none" lIns="0" tIns="0" rIns="0" bIns="0" rtlCol="0" anchor="t">
              <a:noAutofit/>
            </a:bodyPr>
            <a:lstStyle/>
            <a:p>
              <a:pPr algn="l">
                <a:spcBef>
                  <a:spcPts val="0"/>
                </a:spcBef>
                <a:spcAft>
                  <a:spcPts val="0"/>
                </a:spcAft>
              </a:pPr>
              <a:r>
                <a:rPr lang="en-US" sz="1650" b="1" spc="75" dirty="0">
                  <a:solidFill>
                    <a:srgbClr val="EDE9E2"/>
                  </a:solidFill>
                  <a:latin typeface="Bahnschrift"/>
                  <a:ea typeface="Bahnschrift"/>
                  <a:cs typeface="Bahnschrift"/>
                </a:rPr>
                <a:t>AI DESIGNER</a:t>
              </a:r>
              <a:endParaRPr lang="en-US" sz="1650" dirty="0"/>
            </a:p>
          </p:txBody>
        </p:sp>
        <p:sp>
          <p:nvSpPr>
            <p:cNvPr id="17" name="rect 18"/>
            <p:cNvSpPr/>
            <p:nvPr/>
          </p:nvSpPr>
          <p:spPr>
            <a:xfrm>
              <a:off x="10462736" y="1807178"/>
              <a:ext cx="1152525" cy="266700"/>
            </a:xfrm>
            <a:prstGeom prst="roundRect">
              <a:avLst>
                <a:gd name="adj" fmla="val 7143"/>
              </a:avLst>
            </a:prstGeom>
            <a:noFill/>
            <a:ln w="9525" cap="flat">
              <a:solidFill>
                <a:srgbClr val="9C9A94">
                  <a:alpha val="50000"/>
                </a:srgbClr>
              </a:solidFill>
              <a:miter lim="800000"/>
            </a:ln>
          </p:spPr>
          <p:txBody>
            <a:bodyPr/>
            <a:lstStyle/>
            <a:p>
              <a:endParaRPr lang="en-US"/>
            </a:p>
          </p:txBody>
        </p:sp>
        <p:sp>
          <p:nvSpPr>
            <p:cNvPr id="18" name="Text 19"/>
            <p:cNvSpPr txBox="1"/>
            <p:nvPr/>
          </p:nvSpPr>
          <p:spPr>
            <a:xfrm>
              <a:off x="10577036" y="1857978"/>
              <a:ext cx="996660"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Consolas"/>
                  <a:ea typeface="Consolas"/>
                  <a:cs typeface="Consolas"/>
                </a:rPr>
                <a:t>PROMPT → UI</a:t>
              </a:r>
              <a:endParaRPr lang="en-US" sz="1200" dirty="0"/>
            </a:p>
          </p:txBody>
        </p:sp>
        <p:sp>
          <p:nvSpPr>
            <p:cNvPr id="19" name="Text 20"/>
            <p:cNvSpPr txBox="1"/>
            <p:nvPr/>
          </p:nvSpPr>
          <p:spPr>
            <a:xfrm>
              <a:off x="6967061" y="2080228"/>
              <a:ext cx="3592961" cy="447040"/>
            </a:xfrm>
            <a:prstGeom prst="rect">
              <a:avLst/>
            </a:prstGeom>
            <a:noFill/>
          </p:spPr>
          <p:txBody>
            <a:bodyPr wrap="none" lIns="0" tIns="0" rIns="0" bIns="0" rtlCol="0" anchor="t">
              <a:noAutofit/>
            </a:bodyPr>
            <a:lstStyle/>
            <a:p>
              <a:pPr algn="l">
                <a:lnSpc>
                  <a:spcPts val="1700"/>
                </a:lnSpc>
                <a:spcBef>
                  <a:spcPts val="0"/>
                </a:spcBef>
                <a:spcAft>
                  <a:spcPts val="0"/>
                </a:spcAft>
              </a:pPr>
              <a:r>
                <a:rPr lang="en-US" sz="1200" b="0" dirty="0">
                  <a:solidFill>
                    <a:srgbClr val="9C9A94"/>
                  </a:solidFill>
                  <a:latin typeface="Segoe UI"/>
                  <a:ea typeface="Segoe UI"/>
                  <a:cs typeface="Segoe UI"/>
                </a:rPr>
                <a:t>Describe a screen in plain words and get a working</a:t>
              </a:r>
              <a:endParaRPr lang="en-US" sz="1200" dirty="0"/>
            </a:p>
            <a:p>
              <a:pPr algn="l">
                <a:lnSpc>
                  <a:spcPts val="1700"/>
                </a:lnSpc>
                <a:spcBef>
                  <a:spcPts val="0"/>
                </a:spcBef>
                <a:spcAft>
                  <a:spcPts val="0"/>
                </a:spcAft>
              </a:pPr>
              <a:r>
                <a:rPr lang="en-US" sz="1200" b="1" dirty="0">
                  <a:solidFill>
                    <a:srgbClr val="EDE9E2"/>
                  </a:solidFill>
                  <a:latin typeface="Segoe UI"/>
                  <a:ea typeface="Segoe UI"/>
                  <a:cs typeface="Segoe UI"/>
                </a:rPr>
                <a:t>HTML/CSS/JS</a:t>
              </a:r>
              <a:r>
                <a:rPr lang="en-US" sz="1200" b="0" dirty="0">
                  <a:solidFill>
                    <a:srgbClr val="9C9A94"/>
                  </a:solidFill>
                  <a:latin typeface="Segoe UI"/>
                  <a:ea typeface="Segoe UI"/>
                  <a:cs typeface="Segoe UI"/>
                </a:rPr>
                <a:t> interface that fits any screen size.</a:t>
              </a:r>
              <a:endParaRPr lang="en-US" sz="1200" dirty="0"/>
            </a:p>
          </p:txBody>
        </p:sp>
      </p:grpSp>
      <p:grpSp>
        <p:nvGrpSpPr>
          <p:cNvPr id="26" name="Group 27"/>
          <p:cNvGrpSpPr/>
          <p:nvPr/>
        </p:nvGrpSpPr>
        <p:grpSpPr>
          <a:xfrm>
            <a:off x="6967061" y="2588228"/>
            <a:ext cx="4648200" cy="796290"/>
            <a:chOff x="6967061" y="2588228"/>
            <a:chExt cx="4648200" cy="796290"/>
          </a:xfrm>
        </p:grpSpPr>
        <p:sp>
          <p:nvSpPr>
            <p:cNvPr id="21" name="rect 22"/>
            <p:cNvSpPr/>
            <p:nvPr/>
          </p:nvSpPr>
          <p:spPr>
            <a:xfrm>
              <a:off x="6967061" y="2588228"/>
              <a:ext cx="457200" cy="57150"/>
            </a:xfrm>
            <a:prstGeom prst="roundRect">
              <a:avLst>
                <a:gd name="adj" fmla="val 50000"/>
              </a:avLst>
            </a:prstGeom>
            <a:solidFill>
              <a:srgbClr val="FF5B1F"/>
            </a:solidFill>
            <a:ln>
              <a:noFill/>
            </a:ln>
          </p:spPr>
          <p:txBody>
            <a:bodyPr/>
            <a:lstStyle/>
            <a:p>
              <a:endParaRPr lang="en-US"/>
            </a:p>
          </p:txBody>
        </p:sp>
        <p:sp>
          <p:nvSpPr>
            <p:cNvPr id="22" name="Text 23"/>
            <p:cNvSpPr txBox="1"/>
            <p:nvPr/>
          </p:nvSpPr>
          <p:spPr>
            <a:xfrm>
              <a:off x="6967061" y="2670778"/>
              <a:ext cx="2622618" cy="295593"/>
            </a:xfrm>
            <a:prstGeom prst="rect">
              <a:avLst/>
            </a:prstGeom>
            <a:noFill/>
          </p:spPr>
          <p:txBody>
            <a:bodyPr wrap="none" lIns="0" tIns="0" rIns="0" bIns="0" rtlCol="0" anchor="t">
              <a:noAutofit/>
            </a:bodyPr>
            <a:lstStyle/>
            <a:p>
              <a:pPr algn="l">
                <a:spcBef>
                  <a:spcPts val="0"/>
                </a:spcBef>
                <a:spcAft>
                  <a:spcPts val="0"/>
                </a:spcAft>
              </a:pPr>
              <a:r>
                <a:rPr lang="en-US" sz="1650" b="1" spc="75" dirty="0">
                  <a:solidFill>
                    <a:srgbClr val="EDE9E2"/>
                  </a:solidFill>
                  <a:latin typeface="Bahnschrift"/>
                  <a:ea typeface="Bahnschrift"/>
                  <a:cs typeface="Bahnschrift"/>
                </a:rPr>
                <a:t>LAYERED IMAGE EDITOR</a:t>
              </a:r>
              <a:endParaRPr lang="en-US" sz="1650" dirty="0"/>
            </a:p>
          </p:txBody>
        </p:sp>
        <p:sp>
          <p:nvSpPr>
            <p:cNvPr id="23" name="rect 24"/>
            <p:cNvSpPr/>
            <p:nvPr/>
          </p:nvSpPr>
          <p:spPr>
            <a:xfrm>
              <a:off x="10881836" y="2664428"/>
              <a:ext cx="733425" cy="266700"/>
            </a:xfrm>
            <a:prstGeom prst="roundRect">
              <a:avLst>
                <a:gd name="adj" fmla="val 7143"/>
              </a:avLst>
            </a:prstGeom>
            <a:noFill/>
            <a:ln w="9525" cap="flat">
              <a:solidFill>
                <a:srgbClr val="9C9A94">
                  <a:alpha val="50000"/>
                </a:srgbClr>
              </a:solidFill>
              <a:miter lim="800000"/>
            </a:ln>
          </p:spPr>
          <p:txBody>
            <a:bodyPr/>
            <a:lstStyle/>
            <a:p>
              <a:endParaRPr lang="en-US"/>
            </a:p>
          </p:txBody>
        </p:sp>
        <p:sp>
          <p:nvSpPr>
            <p:cNvPr id="24" name="Text 25"/>
            <p:cNvSpPr txBox="1"/>
            <p:nvPr/>
          </p:nvSpPr>
          <p:spPr>
            <a:xfrm>
              <a:off x="10996136" y="2715228"/>
              <a:ext cx="560951"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Consolas"/>
                  <a:ea typeface="Consolas"/>
                  <a:cs typeface="Consolas"/>
                </a:rPr>
                <a:t>IMAGES</a:t>
              </a:r>
              <a:endParaRPr lang="en-US" sz="1200" dirty="0"/>
            </a:p>
          </p:txBody>
        </p:sp>
        <p:sp>
          <p:nvSpPr>
            <p:cNvPr id="25" name="Text 26"/>
            <p:cNvSpPr txBox="1"/>
            <p:nvPr/>
          </p:nvSpPr>
          <p:spPr>
            <a:xfrm>
              <a:off x="6967061" y="2937478"/>
              <a:ext cx="3823275" cy="447040"/>
            </a:xfrm>
            <a:prstGeom prst="rect">
              <a:avLst/>
            </a:prstGeom>
            <a:noFill/>
          </p:spPr>
          <p:txBody>
            <a:bodyPr wrap="none" lIns="0" tIns="0" rIns="0" bIns="0" rtlCol="0" anchor="t">
              <a:noAutofit/>
            </a:bodyPr>
            <a:lstStyle/>
            <a:p>
              <a:pPr algn="l">
                <a:lnSpc>
                  <a:spcPts val="1700"/>
                </a:lnSpc>
                <a:spcBef>
                  <a:spcPts val="0"/>
                </a:spcBef>
                <a:spcAft>
                  <a:spcPts val="0"/>
                </a:spcAft>
              </a:pPr>
              <a:r>
                <a:rPr lang="en-US" sz="1200" b="0" dirty="0">
                  <a:solidFill>
                    <a:srgbClr val="9C9A94"/>
                  </a:solidFill>
                  <a:latin typeface="Segoe UI"/>
                  <a:ea typeface="Segoe UI"/>
                  <a:cs typeface="Segoe UI"/>
                </a:rPr>
                <a:t>Layers for pictures, shapes and text, </a:t>
              </a:r>
              <a:r>
                <a:rPr lang="en-US" sz="1200" b="1" dirty="0">
                  <a:solidFill>
                    <a:srgbClr val="EDE9E2"/>
                  </a:solidFill>
                  <a:latin typeface="Segoe UI"/>
                  <a:ea typeface="Segoe UI"/>
                  <a:cs typeface="Segoe UI"/>
                </a:rPr>
                <a:t>16 blend modes</a:t>
              </a:r>
              <a:r>
                <a:rPr lang="en-US" sz="1200" b="0" dirty="0">
                  <a:solidFill>
                    <a:srgbClr val="9C9A94"/>
                  </a:solidFill>
                  <a:latin typeface="Segoe UI"/>
                  <a:ea typeface="Segoe UI"/>
                  <a:cs typeface="Segoe UI"/>
                </a:rPr>
                <a:t>,</a:t>
              </a:r>
              <a:endParaRPr lang="en-US" sz="1200" dirty="0"/>
            </a:p>
            <a:p>
              <a:pPr algn="l">
                <a:lnSpc>
                  <a:spcPts val="1700"/>
                </a:lnSpc>
                <a:spcBef>
                  <a:spcPts val="0"/>
                </a:spcBef>
                <a:spcAft>
                  <a:spcPts val="0"/>
                </a:spcAft>
              </a:pPr>
              <a:r>
                <a:rPr lang="en-US" sz="1200" b="0" dirty="0">
                  <a:solidFill>
                    <a:srgbClr val="9C9A94"/>
                  </a:solidFill>
                  <a:latin typeface="Segoe UI"/>
                  <a:ea typeface="Segoe UI"/>
                  <a:cs typeface="Segoe UI"/>
                </a:rPr>
                <a:t>masks and history. Exports PNG, JPG, SVG and 5 more.</a:t>
              </a:r>
              <a:endParaRPr lang="en-US" sz="1200" dirty="0"/>
            </a:p>
          </p:txBody>
        </p:sp>
      </p:grpSp>
      <p:grpSp>
        <p:nvGrpSpPr>
          <p:cNvPr id="32" name="Group 33"/>
          <p:cNvGrpSpPr/>
          <p:nvPr/>
        </p:nvGrpSpPr>
        <p:grpSpPr>
          <a:xfrm>
            <a:off x="6967061" y="3445478"/>
            <a:ext cx="4648200" cy="796290"/>
            <a:chOff x="6967061" y="3445478"/>
            <a:chExt cx="4648200" cy="796290"/>
          </a:xfrm>
        </p:grpSpPr>
        <p:sp>
          <p:nvSpPr>
            <p:cNvPr id="27" name="rect 28"/>
            <p:cNvSpPr/>
            <p:nvPr/>
          </p:nvSpPr>
          <p:spPr>
            <a:xfrm>
              <a:off x="6967061" y="3445478"/>
              <a:ext cx="457200" cy="57150"/>
            </a:xfrm>
            <a:prstGeom prst="roundRect">
              <a:avLst>
                <a:gd name="adj" fmla="val 50000"/>
              </a:avLst>
            </a:prstGeom>
            <a:solidFill>
              <a:srgbClr val="FF5B1F"/>
            </a:solidFill>
            <a:ln>
              <a:noFill/>
            </a:ln>
          </p:spPr>
          <p:txBody>
            <a:bodyPr/>
            <a:lstStyle/>
            <a:p>
              <a:endParaRPr lang="en-US"/>
            </a:p>
          </p:txBody>
        </p:sp>
        <p:sp>
          <p:nvSpPr>
            <p:cNvPr id="28" name="Text 29"/>
            <p:cNvSpPr txBox="1"/>
            <p:nvPr/>
          </p:nvSpPr>
          <p:spPr>
            <a:xfrm>
              <a:off x="6967061" y="3528028"/>
              <a:ext cx="2532264" cy="295593"/>
            </a:xfrm>
            <a:prstGeom prst="rect">
              <a:avLst/>
            </a:prstGeom>
            <a:noFill/>
          </p:spPr>
          <p:txBody>
            <a:bodyPr wrap="none" lIns="0" tIns="0" rIns="0" bIns="0" rtlCol="0" anchor="t">
              <a:noAutofit/>
            </a:bodyPr>
            <a:lstStyle/>
            <a:p>
              <a:pPr algn="l">
                <a:spcBef>
                  <a:spcPts val="0"/>
                </a:spcBef>
                <a:spcAft>
                  <a:spcPts val="0"/>
                </a:spcAft>
              </a:pPr>
              <a:r>
                <a:rPr lang="en-US" sz="1650" b="1" spc="75" dirty="0">
                  <a:solidFill>
                    <a:srgbClr val="EDE9E2"/>
                  </a:solidFill>
                  <a:latin typeface="Bahnschrift"/>
                  <a:ea typeface="Bahnschrift"/>
                  <a:cs typeface="Bahnschrift"/>
                </a:rPr>
                <a:t>PRESENTATION STUDIO</a:t>
              </a:r>
              <a:endParaRPr lang="en-US" sz="1650" dirty="0"/>
            </a:p>
          </p:txBody>
        </p:sp>
        <p:sp>
          <p:nvSpPr>
            <p:cNvPr id="29" name="rect 30"/>
            <p:cNvSpPr/>
            <p:nvPr/>
          </p:nvSpPr>
          <p:spPr>
            <a:xfrm>
              <a:off x="10881836" y="3521678"/>
              <a:ext cx="733425" cy="266700"/>
            </a:xfrm>
            <a:prstGeom prst="roundRect">
              <a:avLst>
                <a:gd name="adj" fmla="val 7143"/>
              </a:avLst>
            </a:prstGeom>
            <a:noFill/>
            <a:ln w="9525" cap="flat">
              <a:solidFill>
                <a:srgbClr val="9C9A94">
                  <a:alpha val="50000"/>
                </a:srgbClr>
              </a:solidFill>
              <a:miter lim="800000"/>
            </a:ln>
          </p:spPr>
          <p:txBody>
            <a:bodyPr/>
            <a:lstStyle/>
            <a:p>
              <a:endParaRPr lang="en-US"/>
            </a:p>
          </p:txBody>
        </p:sp>
        <p:sp>
          <p:nvSpPr>
            <p:cNvPr id="30" name="Text 31"/>
            <p:cNvSpPr txBox="1"/>
            <p:nvPr/>
          </p:nvSpPr>
          <p:spPr>
            <a:xfrm>
              <a:off x="10996136" y="3572478"/>
              <a:ext cx="560951"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Consolas"/>
                  <a:ea typeface="Consolas"/>
                  <a:cs typeface="Consolas"/>
                </a:rPr>
                <a:t>SLIDES</a:t>
              </a:r>
              <a:endParaRPr lang="en-US" sz="1200" dirty="0"/>
            </a:p>
          </p:txBody>
        </p:sp>
        <p:sp>
          <p:nvSpPr>
            <p:cNvPr id="31" name="Text 32"/>
            <p:cNvSpPr txBox="1"/>
            <p:nvPr/>
          </p:nvSpPr>
          <p:spPr>
            <a:xfrm>
              <a:off x="6967061" y="3794728"/>
              <a:ext cx="3445454" cy="447040"/>
            </a:xfrm>
            <a:prstGeom prst="rect">
              <a:avLst/>
            </a:prstGeom>
            <a:noFill/>
          </p:spPr>
          <p:txBody>
            <a:bodyPr wrap="none" lIns="0" tIns="0" rIns="0" bIns="0" rtlCol="0" anchor="t">
              <a:noAutofit/>
            </a:bodyPr>
            <a:lstStyle/>
            <a:p>
              <a:pPr algn="l">
                <a:lnSpc>
                  <a:spcPts val="1700"/>
                </a:lnSpc>
                <a:spcBef>
                  <a:spcPts val="0"/>
                </a:spcBef>
                <a:spcAft>
                  <a:spcPts val="0"/>
                </a:spcAft>
              </a:pPr>
              <a:r>
                <a:rPr lang="en-US" sz="1200" b="0" dirty="0">
                  <a:solidFill>
                    <a:srgbClr val="9C9A94"/>
                  </a:solidFill>
                  <a:latin typeface="Segoe UI"/>
                  <a:ea typeface="Segoe UI"/>
                  <a:cs typeface="Segoe UI"/>
                </a:rPr>
                <a:t>Turns a topic into a </a:t>
              </a:r>
              <a:r>
                <a:rPr lang="en-US" sz="1200" b="1" dirty="0">
                  <a:solidFill>
                    <a:srgbClr val="EDE9E2"/>
                  </a:solidFill>
                  <a:latin typeface="Segoe UI"/>
                  <a:ea typeface="Segoe UI"/>
                  <a:cs typeface="Segoe UI"/>
                </a:rPr>
                <a:t>designed slide deck</a:t>
              </a:r>
              <a:r>
                <a:rPr lang="en-US" sz="1200" b="0" dirty="0">
                  <a:solidFill>
                    <a:srgbClr val="9C9A94"/>
                  </a:solidFill>
                  <a:latin typeface="Segoe UI"/>
                  <a:ea typeface="Segoe UI"/>
                  <a:cs typeface="Segoe UI"/>
                </a:rPr>
                <a:t> with AI,</a:t>
              </a:r>
              <a:endParaRPr lang="en-US" sz="1200" dirty="0"/>
            </a:p>
            <a:p>
              <a:pPr algn="l">
                <a:lnSpc>
                  <a:spcPts val="1700"/>
                </a:lnSpc>
                <a:spcBef>
                  <a:spcPts val="0"/>
                </a:spcBef>
                <a:spcAft>
                  <a:spcPts val="0"/>
                </a:spcAft>
              </a:pPr>
              <a:r>
                <a:rPr lang="en-US" sz="1200" b="0" dirty="0">
                  <a:solidFill>
                    <a:srgbClr val="9C9A94"/>
                  </a:solidFill>
                  <a:latin typeface="Segoe UI"/>
                  <a:ea typeface="Segoe UI"/>
                  <a:cs typeface="Segoe UI"/>
                </a:rPr>
                <a:t>page by page, ready to edit in PowerPoint.</a:t>
              </a:r>
              <a:endParaRPr lang="en-US" sz="1200" dirty="0"/>
            </a:p>
          </p:txBody>
        </p:sp>
      </p:grpSp>
      <p:grpSp>
        <p:nvGrpSpPr>
          <p:cNvPr id="38" name="Group 39"/>
          <p:cNvGrpSpPr/>
          <p:nvPr/>
        </p:nvGrpSpPr>
        <p:grpSpPr>
          <a:xfrm>
            <a:off x="6967061" y="4302728"/>
            <a:ext cx="4648200" cy="796290"/>
            <a:chOff x="6967061" y="4302728"/>
            <a:chExt cx="4648200" cy="796290"/>
          </a:xfrm>
        </p:grpSpPr>
        <p:sp>
          <p:nvSpPr>
            <p:cNvPr id="33" name="rect 34"/>
            <p:cNvSpPr/>
            <p:nvPr/>
          </p:nvSpPr>
          <p:spPr>
            <a:xfrm>
              <a:off x="6967061" y="4302728"/>
              <a:ext cx="457200" cy="57150"/>
            </a:xfrm>
            <a:prstGeom prst="roundRect">
              <a:avLst>
                <a:gd name="adj" fmla="val 50000"/>
              </a:avLst>
            </a:prstGeom>
            <a:solidFill>
              <a:srgbClr val="FF5B1F"/>
            </a:solidFill>
            <a:ln>
              <a:noFill/>
            </a:ln>
          </p:spPr>
          <p:txBody>
            <a:bodyPr/>
            <a:lstStyle/>
            <a:p>
              <a:endParaRPr lang="en-US"/>
            </a:p>
          </p:txBody>
        </p:sp>
        <p:sp>
          <p:nvSpPr>
            <p:cNvPr id="34" name="Text 35"/>
            <p:cNvSpPr txBox="1"/>
            <p:nvPr/>
          </p:nvSpPr>
          <p:spPr>
            <a:xfrm>
              <a:off x="6967061" y="4385278"/>
              <a:ext cx="1815530" cy="295593"/>
            </a:xfrm>
            <a:prstGeom prst="rect">
              <a:avLst/>
            </a:prstGeom>
            <a:noFill/>
          </p:spPr>
          <p:txBody>
            <a:bodyPr wrap="none" lIns="0" tIns="0" rIns="0" bIns="0" rtlCol="0" anchor="t">
              <a:noAutofit/>
            </a:bodyPr>
            <a:lstStyle/>
            <a:p>
              <a:pPr algn="l">
                <a:spcBef>
                  <a:spcPts val="0"/>
                </a:spcBef>
                <a:spcAft>
                  <a:spcPts val="0"/>
                </a:spcAft>
              </a:pPr>
              <a:r>
                <a:rPr lang="en-US" sz="1650" b="1" spc="75" dirty="0">
                  <a:solidFill>
                    <a:srgbClr val="EDE9E2"/>
                  </a:solidFill>
                  <a:latin typeface="Bahnschrift"/>
                  <a:ea typeface="Bahnschrift"/>
                  <a:cs typeface="Bahnschrift"/>
                </a:rPr>
                <a:t>WRITING STUDIO</a:t>
              </a:r>
              <a:endParaRPr lang="en-US" sz="1650" dirty="0"/>
            </a:p>
          </p:txBody>
        </p:sp>
        <p:sp>
          <p:nvSpPr>
            <p:cNvPr id="35" name="rect 36"/>
            <p:cNvSpPr/>
            <p:nvPr/>
          </p:nvSpPr>
          <p:spPr>
            <a:xfrm>
              <a:off x="10634186" y="4378928"/>
              <a:ext cx="981075" cy="266700"/>
            </a:xfrm>
            <a:prstGeom prst="roundRect">
              <a:avLst>
                <a:gd name="adj" fmla="val 7143"/>
              </a:avLst>
            </a:prstGeom>
            <a:noFill/>
            <a:ln w="9525" cap="flat">
              <a:solidFill>
                <a:srgbClr val="9C9A94">
                  <a:alpha val="50000"/>
                </a:srgbClr>
              </a:solidFill>
              <a:miter lim="800000"/>
            </a:ln>
          </p:spPr>
          <p:txBody>
            <a:bodyPr/>
            <a:lstStyle/>
            <a:p>
              <a:endParaRPr lang="en-US"/>
            </a:p>
          </p:txBody>
        </p:sp>
        <p:sp>
          <p:nvSpPr>
            <p:cNvPr id="36" name="Text 37"/>
            <p:cNvSpPr txBox="1"/>
            <p:nvPr/>
          </p:nvSpPr>
          <p:spPr>
            <a:xfrm>
              <a:off x="10748486" y="4429728"/>
              <a:ext cx="822377"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Consolas"/>
                  <a:ea typeface="Consolas"/>
                  <a:cs typeface="Consolas"/>
                </a:rPr>
                <a:t>DOCUMENTS</a:t>
              </a:r>
              <a:endParaRPr lang="en-US" sz="1200" dirty="0"/>
            </a:p>
          </p:txBody>
        </p:sp>
        <p:sp>
          <p:nvSpPr>
            <p:cNvPr id="37" name="Text 38"/>
            <p:cNvSpPr txBox="1"/>
            <p:nvPr/>
          </p:nvSpPr>
          <p:spPr>
            <a:xfrm>
              <a:off x="6967061" y="4651978"/>
              <a:ext cx="3776686" cy="447040"/>
            </a:xfrm>
            <a:prstGeom prst="rect">
              <a:avLst/>
            </a:prstGeom>
            <a:noFill/>
          </p:spPr>
          <p:txBody>
            <a:bodyPr wrap="none" lIns="0" tIns="0" rIns="0" bIns="0" rtlCol="0" anchor="t">
              <a:noAutofit/>
            </a:bodyPr>
            <a:lstStyle/>
            <a:p>
              <a:pPr algn="l">
                <a:lnSpc>
                  <a:spcPts val="1700"/>
                </a:lnSpc>
                <a:spcBef>
                  <a:spcPts val="0"/>
                </a:spcBef>
                <a:spcAft>
                  <a:spcPts val="0"/>
                </a:spcAft>
              </a:pPr>
              <a:r>
                <a:rPr lang="en-US" sz="1200" b="0" dirty="0">
                  <a:solidFill>
                    <a:srgbClr val="9C9A94"/>
                  </a:solidFill>
                  <a:latin typeface="Segoe UI"/>
                  <a:ea typeface="Segoe UI"/>
                  <a:cs typeface="Segoe UI"/>
                </a:rPr>
                <a:t>Drafts and polishes </a:t>
              </a:r>
              <a:r>
                <a:rPr lang="en-US" sz="1200" b="1" dirty="0">
                  <a:solidFill>
                    <a:srgbClr val="EDE9E2"/>
                  </a:solidFill>
                  <a:latin typeface="Segoe UI"/>
                  <a:ea typeface="Segoe UI"/>
                  <a:cs typeface="Segoe UI"/>
                </a:rPr>
                <a:t>reports, articles and documents</a:t>
              </a:r>
              <a:endParaRPr lang="en-US" sz="1200" dirty="0"/>
            </a:p>
            <a:p>
              <a:pPr algn="l">
                <a:lnSpc>
                  <a:spcPts val="1700"/>
                </a:lnSpc>
                <a:spcBef>
                  <a:spcPts val="0"/>
                </a:spcBef>
                <a:spcAft>
                  <a:spcPts val="0"/>
                </a:spcAft>
              </a:pPr>
              <a:r>
                <a:rPr lang="en-US" sz="1200" b="0" dirty="0">
                  <a:solidFill>
                    <a:srgbClr val="9C9A94"/>
                  </a:solidFill>
                  <a:latin typeface="Segoe UI"/>
                  <a:ea typeface="Segoe UI"/>
                  <a:cs typeface="Segoe UI"/>
                </a:rPr>
                <a:t>with AI help. No code needed.</a:t>
              </a:r>
              <a:endParaRPr lang="en-US" sz="1200" dirty="0"/>
            </a:p>
          </p:txBody>
        </p:sp>
      </p:grpSp>
      <p:grpSp>
        <p:nvGrpSpPr>
          <p:cNvPr id="42" name="Group 43"/>
          <p:cNvGrpSpPr/>
          <p:nvPr/>
        </p:nvGrpSpPr>
        <p:grpSpPr>
          <a:xfrm>
            <a:off x="6967061" y="5179028"/>
            <a:ext cx="4648200" cy="304800"/>
            <a:chOff x="6967061" y="5179028"/>
            <a:chExt cx="4648200" cy="304800"/>
          </a:xfrm>
        </p:grpSpPr>
        <p:sp>
          <p:nvSpPr>
            <p:cNvPr id="39" name="rect 40"/>
            <p:cNvSpPr/>
            <p:nvPr/>
          </p:nvSpPr>
          <p:spPr>
            <a:xfrm>
              <a:off x="6967061" y="5179028"/>
              <a:ext cx="4648200" cy="304800"/>
            </a:xfrm>
            <a:prstGeom prst="roundRect">
              <a:avLst>
                <a:gd name="adj" fmla="val 6250"/>
              </a:avLst>
            </a:prstGeom>
            <a:noFill/>
            <a:ln w="9525" cap="flat">
              <a:solidFill>
                <a:srgbClr val="FF5B1F">
                  <a:alpha val="60000"/>
                </a:srgbClr>
              </a:solidFill>
              <a:miter lim="800000"/>
            </a:ln>
          </p:spPr>
          <p:txBody>
            <a:bodyPr/>
            <a:lstStyle/>
            <a:p>
              <a:endParaRPr lang="en-US"/>
            </a:p>
          </p:txBody>
        </p:sp>
        <p:sp>
          <p:nvSpPr>
            <p:cNvPr id="40" name="Text 41"/>
            <p:cNvSpPr txBox="1"/>
            <p:nvPr/>
          </p:nvSpPr>
          <p:spPr>
            <a:xfrm>
              <a:off x="7119461" y="5239353"/>
              <a:ext cx="1008578" cy="212090"/>
            </a:xfrm>
            <a:prstGeom prst="rect">
              <a:avLst/>
            </a:prstGeom>
            <a:noFill/>
          </p:spPr>
          <p:txBody>
            <a:bodyPr wrap="none" lIns="0" tIns="0" rIns="0" bIns="0" rtlCol="0" anchor="t">
              <a:noAutofit/>
            </a:bodyPr>
            <a:lstStyle/>
            <a:p>
              <a:pPr algn="l">
                <a:spcBef>
                  <a:spcPts val="0"/>
                </a:spcBef>
                <a:spcAft>
                  <a:spcPts val="0"/>
                </a:spcAft>
              </a:pPr>
              <a:r>
                <a:rPr lang="en-US" sz="1200" b="0" spc="75" dirty="0">
                  <a:solidFill>
                    <a:srgbClr val="FF5B1F"/>
                  </a:solidFill>
                  <a:latin typeface="Consolas"/>
                  <a:ea typeface="Consolas"/>
                  <a:cs typeface="Consolas"/>
                </a:rPr>
                <a:t>EXTENSIONS</a:t>
              </a:r>
              <a:endParaRPr lang="en-US" sz="1200" dirty="0"/>
            </a:p>
          </p:txBody>
        </p:sp>
        <p:sp>
          <p:nvSpPr>
            <p:cNvPr id="41" name="Text 42"/>
            <p:cNvSpPr txBox="1"/>
            <p:nvPr/>
          </p:nvSpPr>
          <p:spPr>
            <a:xfrm>
              <a:off x="8224361" y="5226653"/>
              <a:ext cx="2457021"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Segoe UI"/>
                  <a:ea typeface="Segoe UI"/>
                  <a:cs typeface="Segoe UI"/>
                </a:rPr>
                <a:t>Add-ons for the coding workspace</a:t>
              </a:r>
              <a:endParaRPr lang="en-US" sz="1200" dirty="0"/>
            </a:p>
          </p:txBody>
        </p:sp>
      </p:grpSp>
      <p:grpSp>
        <p:nvGrpSpPr>
          <p:cNvPr id="45" name="progress-rule"/>
          <p:cNvGrpSpPr/>
          <p:nvPr/>
        </p:nvGrpSpPr>
        <p:grpSpPr>
          <a:xfrm>
            <a:off x="609600" y="6386513"/>
            <a:ext cx="10972800" cy="28575"/>
            <a:chOff x="609600" y="6386513"/>
            <a:chExt cx="10972800" cy="28575"/>
          </a:xfrm>
        </p:grpSpPr>
        <p:sp>
          <p:nvSpPr>
            <p:cNvPr id="43" name="line 44"/>
            <p:cNvSpPr/>
            <p:nvPr/>
          </p:nvSpPr>
          <p:spPr>
            <a:xfrm>
              <a:off x="609600" y="6400800"/>
              <a:ext cx="10972800" cy="95"/>
            </a:xfrm>
            <a:custGeom>
              <a:avLst/>
              <a:gdLst/>
              <a:ahLst/>
              <a:cxnLst/>
              <a:rect l="0" t="0" r="r" b="b"/>
              <a:pathLst>
                <a:path w="10972800" h="95" fill="none">
                  <a:moveTo>
                    <a:pt x="0" y="0"/>
                  </a:moveTo>
                  <a:lnTo>
                    <a:pt x="10972800" y="0"/>
                  </a:lnTo>
                </a:path>
              </a:pathLst>
            </a:custGeom>
            <a:noFill/>
            <a:ln w="9525" cap="flat">
              <a:solidFill>
                <a:srgbClr val="2A2E35"/>
              </a:solidFill>
              <a:miter lim="800000"/>
            </a:ln>
          </p:spPr>
          <p:txBody>
            <a:bodyPr/>
            <a:lstStyle/>
            <a:p>
              <a:endParaRPr lang="en-US"/>
            </a:p>
          </p:txBody>
        </p:sp>
        <p:sp>
          <p:nvSpPr>
            <p:cNvPr id="44" name="rect 45"/>
            <p:cNvSpPr/>
            <p:nvPr/>
          </p:nvSpPr>
          <p:spPr>
            <a:xfrm>
              <a:off x="609600" y="6386513"/>
              <a:ext cx="7543800" cy="28575"/>
            </a:xfrm>
            <a:prstGeom prst="roundRect">
              <a:avLst>
                <a:gd name="adj" fmla="val 50000"/>
              </a:avLst>
            </a:prstGeom>
            <a:solidFill>
              <a:srgbClr val="FF5B1F"/>
            </a:solidFill>
            <a:ln>
              <a:noFill/>
            </a:ln>
          </p:spPr>
          <p:txBody>
            <a:bodyPr/>
            <a:lstStyle/>
            <a:p>
              <a:endParaRPr lang="en-US"/>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600" fill="hold"/>
                                        <p:tgtEl>
                                          <p:spTgt spid="7"/>
                                        </p:tgtEl>
                                        <p:attrNameLst>
                                          <p:attrName>ppt_y</p:attrName>
                                        </p:attrNameLst>
                                      </p:cBhvr>
                                      <p:tavLst>
                                        <p:tav tm="0">
                                          <p:val>
                                            <p:strVal val="#ppt_y+.1"/>
                                          </p:val>
                                        </p:tav>
                                        <p:tav tm="100000">
                                          <p:val>
                                            <p:strVal val="#ppt_y"/>
                                          </p:val>
                                        </p:tav>
                                      </p:tavLst>
                                    </p:anim>
                                    <p:animEffect transition="in" filter="fade">
                                      <p:cBhvr>
                                        <p:cTn id="8" dur="600"/>
                                        <p:tgtEl>
                                          <p:spTgt spid="7"/>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nodeType="clickEffect">
                                  <p:stCondLst>
                                    <p:cond delay="0"/>
                                  </p:stCondLst>
                                  <p:childTnLst>
                                    <p:set>
                                      <p:cBhvr>
                                        <p:cTn id="17" dur="1" fill="hold">
                                          <p:stCondLst>
                                            <p:cond delay="0"/>
                                          </p:stCondLst>
                                        </p:cTn>
                                        <p:tgtEl>
                                          <p:spTgt spid="20"/>
                                        </p:tgtEl>
                                        <p:attrNameLst>
                                          <p:attrName>style.visibility</p:attrName>
                                        </p:attrNameLst>
                                      </p:cBhvr>
                                      <p:to>
                                        <p:strVal val="visible"/>
                                      </p:to>
                                    </p:set>
                                    <p:anim calcmode="lin" valueType="num">
                                      <p:cBhvr additive="base">
                                        <p:cTn id="18" dur="500" fill="hold"/>
                                        <p:tgtEl>
                                          <p:spTgt spid="20"/>
                                        </p:tgtEl>
                                        <p:attrNameLst>
                                          <p:attrName>ppt_x</p:attrName>
                                        </p:attrNameLst>
                                      </p:cBhvr>
                                      <p:tavLst>
                                        <p:tav tm="0">
                                          <p:val>
                                            <p:strVal val="1+#ppt_w/2"/>
                                          </p:val>
                                        </p:tav>
                                        <p:tav tm="100000">
                                          <p:val>
                                            <p:strVal val="#ppt_x"/>
                                          </p:val>
                                        </p:tav>
                                      </p:tavLst>
                                    </p:anim>
                                    <p:anim calcmode="lin" valueType="num">
                                      <p:cBhvr additive="base">
                                        <p:cTn id="19"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nodeType="clickEffect">
                                  <p:stCondLst>
                                    <p:cond delay="0"/>
                                  </p:stCondLst>
                                  <p:childTnLst>
                                    <p:set>
                                      <p:cBhvr>
                                        <p:cTn id="23" dur="1" fill="hold">
                                          <p:stCondLst>
                                            <p:cond delay="0"/>
                                          </p:stCondLst>
                                        </p:cTn>
                                        <p:tgtEl>
                                          <p:spTgt spid="26"/>
                                        </p:tgtEl>
                                        <p:attrNameLst>
                                          <p:attrName>style.visibility</p:attrName>
                                        </p:attrNameLst>
                                      </p:cBhvr>
                                      <p:to>
                                        <p:strVal val="visible"/>
                                      </p:to>
                                    </p:set>
                                    <p:anim calcmode="lin" valueType="num">
                                      <p:cBhvr additive="base">
                                        <p:cTn id="24" dur="500" fill="hold"/>
                                        <p:tgtEl>
                                          <p:spTgt spid="26"/>
                                        </p:tgtEl>
                                        <p:attrNameLst>
                                          <p:attrName>ppt_x</p:attrName>
                                        </p:attrNameLst>
                                      </p:cBhvr>
                                      <p:tavLst>
                                        <p:tav tm="0">
                                          <p:val>
                                            <p:strVal val="1+#ppt_w/2"/>
                                          </p:val>
                                        </p:tav>
                                        <p:tav tm="100000">
                                          <p:val>
                                            <p:strVal val="#ppt_x"/>
                                          </p:val>
                                        </p:tav>
                                      </p:tavLst>
                                    </p:anim>
                                    <p:anim calcmode="lin" valueType="num">
                                      <p:cBhvr additive="base">
                                        <p:cTn id="25"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nodeType="clickEffect">
                                  <p:stCondLst>
                                    <p:cond delay="0"/>
                                  </p:stCondLst>
                                  <p:childTnLst>
                                    <p:set>
                                      <p:cBhvr>
                                        <p:cTn id="29" dur="1" fill="hold">
                                          <p:stCondLst>
                                            <p:cond delay="0"/>
                                          </p:stCondLst>
                                        </p:cTn>
                                        <p:tgtEl>
                                          <p:spTgt spid="32"/>
                                        </p:tgtEl>
                                        <p:attrNameLst>
                                          <p:attrName>style.visibility</p:attrName>
                                        </p:attrNameLst>
                                      </p:cBhvr>
                                      <p:to>
                                        <p:strVal val="visible"/>
                                      </p:to>
                                    </p:set>
                                    <p:anim calcmode="lin" valueType="num">
                                      <p:cBhvr additive="base">
                                        <p:cTn id="30" dur="500" fill="hold"/>
                                        <p:tgtEl>
                                          <p:spTgt spid="32"/>
                                        </p:tgtEl>
                                        <p:attrNameLst>
                                          <p:attrName>ppt_x</p:attrName>
                                        </p:attrNameLst>
                                      </p:cBhvr>
                                      <p:tavLst>
                                        <p:tav tm="0">
                                          <p:val>
                                            <p:strVal val="1+#ppt_w/2"/>
                                          </p:val>
                                        </p:tav>
                                        <p:tav tm="100000">
                                          <p:val>
                                            <p:strVal val="#ppt_x"/>
                                          </p:val>
                                        </p:tav>
                                      </p:tavLst>
                                    </p:anim>
                                    <p:anim calcmode="lin" valueType="num">
                                      <p:cBhvr additive="base">
                                        <p:cTn id="31" dur="500" fill="hold"/>
                                        <p:tgtEl>
                                          <p:spTgt spid="32"/>
                                        </p:tgtEl>
                                        <p:attrNameLst>
                                          <p:attrName>ppt_y</p:attrName>
                                        </p:attrNameLst>
                                      </p:cBhvr>
                                      <p:tavLst>
                                        <p:tav tm="0">
                                          <p:val>
                                            <p:strVal val="#ppt_y"/>
                                          </p:val>
                                        </p:tav>
                                        <p:tav tm="100000">
                                          <p:val>
                                            <p:strVal val="#ppt_y"/>
                                          </p:val>
                                        </p:tav>
                                      </p:tavLst>
                                    </p:anim>
                                  </p:childTnLst>
                                </p:cTn>
                              </p:par>
                            </p:childTnLst>
                          </p:cTn>
                        </p:par>
                        <p:par>
                          <p:cTn id="32" fill="hold">
                            <p:stCondLst>
                              <p:cond delay="500"/>
                            </p:stCondLst>
                            <p:childTnLst>
                              <p:par>
                                <p:cTn id="33" presetID="2" presetClass="entr" presetSubtype="2" fill="hold" nodeType="afterEffect">
                                  <p:stCondLst>
                                    <p:cond delay="0"/>
                                  </p:stCondLst>
                                  <p:childTnLst>
                                    <p:set>
                                      <p:cBhvr>
                                        <p:cTn id="34" dur="1" fill="hold">
                                          <p:stCondLst>
                                            <p:cond delay="0"/>
                                          </p:stCondLst>
                                        </p:cTn>
                                        <p:tgtEl>
                                          <p:spTgt spid="38"/>
                                        </p:tgtEl>
                                        <p:attrNameLst>
                                          <p:attrName>style.visibility</p:attrName>
                                        </p:attrNameLst>
                                      </p:cBhvr>
                                      <p:to>
                                        <p:strVal val="visible"/>
                                      </p:to>
                                    </p:set>
                                    <p:anim calcmode="lin" valueType="num">
                                      <p:cBhvr additive="base">
                                        <p:cTn id="35" dur="500" fill="hold"/>
                                        <p:tgtEl>
                                          <p:spTgt spid="38"/>
                                        </p:tgtEl>
                                        <p:attrNameLst>
                                          <p:attrName>ppt_x</p:attrName>
                                        </p:attrNameLst>
                                      </p:cBhvr>
                                      <p:tavLst>
                                        <p:tav tm="0">
                                          <p:val>
                                            <p:strVal val="1+#ppt_w/2"/>
                                          </p:val>
                                        </p:tav>
                                        <p:tav tm="100000">
                                          <p:val>
                                            <p:strVal val="#ppt_x"/>
                                          </p:val>
                                        </p:tav>
                                      </p:tavLst>
                                    </p:anim>
                                    <p:anim calcmode="lin" valueType="num">
                                      <p:cBhvr additive="base">
                                        <p:cTn id="36" dur="500" fill="hold"/>
                                        <p:tgtEl>
                                          <p:spTgt spid="38"/>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42"/>
                                        </p:tgtEl>
                                        <p:attrNameLst>
                                          <p:attrName>style.visibility</p:attrName>
                                        </p:attrNameLst>
                                      </p:cBhvr>
                                      <p:to>
                                        <p:strVal val="visible"/>
                                      </p:to>
                                    </p:set>
                                    <p:animEffect transition="in" filter="fade">
                                      <p:cBhvr>
                                        <p:cTn id="41"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B0D"/>
        </a:solidFill>
        <a:effectLst/>
      </p:bgPr>
    </p:bg>
    <p:spTree>
      <p:nvGrpSpPr>
        <p:cNvPr id="1" name=""/>
        <p:cNvGrpSpPr/>
        <p:nvPr/>
      </p:nvGrpSpPr>
      <p:grpSpPr>
        <a:xfrm>
          <a:off x="0" y="0"/>
          <a:ext cx="0" cy="0"/>
          <a:chOff x="0" y="0"/>
          <a:chExt cx="0" cy="0"/>
        </a:xfrm>
      </p:grpSpPr>
      <p:grpSp>
        <p:nvGrpSpPr>
          <p:cNvPr id="5" name="cursor-kicker"/>
          <p:cNvGrpSpPr/>
          <p:nvPr/>
        </p:nvGrpSpPr>
        <p:grpSpPr>
          <a:xfrm>
            <a:off x="609600" y="419100"/>
            <a:ext cx="2498038" cy="415290"/>
            <a:chOff x="609600" y="419100"/>
            <a:chExt cx="2498038" cy="415290"/>
          </a:xfrm>
        </p:grpSpPr>
        <p:sp>
          <p:nvSpPr>
            <p:cNvPr id="3" name="rect 4"/>
            <p:cNvSpPr/>
            <p:nvPr/>
          </p:nvSpPr>
          <p:spPr>
            <a:xfrm>
              <a:off x="609600" y="419100"/>
              <a:ext cx="457200" cy="57150"/>
            </a:xfrm>
            <a:prstGeom prst="roundRect">
              <a:avLst>
                <a:gd name="adj" fmla="val 50000"/>
              </a:avLst>
            </a:prstGeom>
            <a:solidFill>
              <a:srgbClr val="FF5B1F"/>
            </a:solidFill>
            <a:ln>
              <a:noFill/>
            </a:ln>
          </p:spPr>
          <p:txBody>
            <a:bodyPr/>
            <a:lstStyle/>
            <a:p>
              <a:endParaRPr lang="en-US"/>
            </a:p>
          </p:txBody>
        </p:sp>
        <p:sp>
          <p:nvSpPr>
            <p:cNvPr id="4" name="Text 5"/>
            <p:cNvSpPr txBox="1"/>
            <p:nvPr/>
          </p:nvSpPr>
          <p:spPr>
            <a:xfrm>
              <a:off x="609600" y="622300"/>
              <a:ext cx="2498038" cy="212090"/>
            </a:xfrm>
            <a:prstGeom prst="rect">
              <a:avLst/>
            </a:prstGeom>
            <a:noFill/>
          </p:spPr>
          <p:txBody>
            <a:bodyPr wrap="none" lIns="0" tIns="0" rIns="0" bIns="0" rtlCol="0" anchor="t">
              <a:noAutofit/>
            </a:bodyPr>
            <a:lstStyle/>
            <a:p>
              <a:pPr algn="l">
                <a:spcBef>
                  <a:spcPts val="0"/>
                </a:spcBef>
                <a:spcAft>
                  <a:spcPts val="0"/>
                </a:spcAft>
              </a:pPr>
              <a:r>
                <a:rPr lang="en-US" sz="1200" b="0" spc="150" dirty="0">
                  <a:solidFill>
                    <a:srgbClr val="9C9A94"/>
                  </a:solidFill>
                  <a:latin typeface="Consolas"/>
                  <a:ea typeface="Consolas"/>
                  <a:cs typeface="Consolas"/>
                </a:rPr>
                <a:t>YZPZCODE / ARCHITECTURE</a:t>
              </a:r>
              <a:endParaRPr lang="en-US" sz="1200" dirty="0"/>
            </a:p>
          </p:txBody>
        </p:sp>
      </p:grpSp>
      <p:sp>
        <p:nvSpPr>
          <p:cNvPr id="6" name="Text 7"/>
          <p:cNvSpPr txBox="1"/>
          <p:nvPr/>
        </p:nvSpPr>
        <p:spPr>
          <a:xfrm>
            <a:off x="10795623" y="622300"/>
            <a:ext cx="786777" cy="212090"/>
          </a:xfrm>
          <a:prstGeom prst="rect">
            <a:avLst/>
          </a:prstGeom>
          <a:noFill/>
        </p:spPr>
        <p:txBody>
          <a:bodyPr wrap="none" lIns="0" tIns="0" rIns="0" bIns="0" rtlCol="0" anchor="t">
            <a:noAutofit/>
          </a:bodyPr>
          <a:lstStyle/>
          <a:p>
            <a:pPr algn="r">
              <a:spcBef>
                <a:spcPts val="0"/>
              </a:spcBef>
              <a:spcAft>
                <a:spcPts val="0"/>
              </a:spcAft>
            </a:pPr>
            <a:r>
              <a:rPr lang="en-US" sz="1200" b="0" spc="150" dirty="0">
                <a:solidFill>
                  <a:srgbClr val="9C9A94"/>
                </a:solidFill>
                <a:latin typeface="Consolas"/>
                <a:ea typeface="Consolas"/>
                <a:cs typeface="Consolas"/>
              </a:rPr>
              <a:t>12 / 16</a:t>
            </a:r>
            <a:endParaRPr lang="en-US" sz="1200" dirty="0"/>
          </a:p>
        </p:txBody>
      </p:sp>
      <p:sp>
        <p:nvSpPr>
          <p:cNvPr id="7" name="Text 8"/>
          <p:cNvSpPr txBox="1"/>
          <p:nvPr/>
        </p:nvSpPr>
        <p:spPr>
          <a:xfrm>
            <a:off x="609600" y="857250"/>
            <a:ext cx="7343156" cy="824865"/>
          </a:xfrm>
          <a:prstGeom prst="rect">
            <a:avLst/>
          </a:prstGeom>
          <a:noFill/>
        </p:spPr>
        <p:txBody>
          <a:bodyPr wrap="none" lIns="0" tIns="0" rIns="0" bIns="0" rtlCol="0" anchor="t">
            <a:noAutofit/>
          </a:bodyPr>
          <a:lstStyle/>
          <a:p>
            <a:pPr algn="l">
              <a:lnSpc>
                <a:spcPts val="3000"/>
              </a:lnSpc>
              <a:spcBef>
                <a:spcPts val="0"/>
              </a:spcBef>
              <a:spcAft>
                <a:spcPts val="0"/>
              </a:spcAft>
            </a:pPr>
            <a:r>
              <a:rPr lang="en-US" sz="2700" b="1" dirty="0">
                <a:solidFill>
                  <a:srgbClr val="EDE9E2"/>
                </a:solidFill>
                <a:latin typeface="Bahnschrift"/>
                <a:ea typeface="Bahnschrift"/>
                <a:cs typeface="Bahnschrift"/>
              </a:rPr>
              <a:t>A Rust core hosts the terminals, a React shell</a:t>
            </a:r>
            <a:endParaRPr lang="en-US" sz="2700" dirty="0"/>
          </a:p>
          <a:p>
            <a:pPr algn="l">
              <a:lnSpc>
                <a:spcPts val="3000"/>
              </a:lnSpc>
              <a:spcBef>
                <a:spcPts val="0"/>
              </a:spcBef>
              <a:spcAft>
                <a:spcPts val="0"/>
              </a:spcAft>
            </a:pPr>
            <a:r>
              <a:rPr lang="en-US" sz="2700" b="1" dirty="0">
                <a:solidFill>
                  <a:srgbClr val="EDE9E2"/>
                </a:solidFill>
                <a:latin typeface="Bahnschrift"/>
                <a:ea typeface="Bahnschrift"/>
                <a:cs typeface="Bahnschrift"/>
              </a:rPr>
              <a:t>draws the grid, Tauri IPC joins them</a:t>
            </a:r>
            <a:endParaRPr lang="en-US" sz="2700" dirty="0"/>
          </a:p>
        </p:txBody>
      </p:sp>
      <p:sp>
        <p:nvSpPr>
          <p:cNvPr id="8" name="Text 9"/>
          <p:cNvSpPr txBox="1"/>
          <p:nvPr/>
        </p:nvSpPr>
        <p:spPr>
          <a:xfrm>
            <a:off x="609600" y="1657350"/>
            <a:ext cx="7968995" cy="276225"/>
          </a:xfrm>
          <a:prstGeom prst="rect">
            <a:avLst/>
          </a:prstGeom>
          <a:noFill/>
        </p:spPr>
        <p:txBody>
          <a:bodyPr wrap="none" lIns="0" tIns="0" rIns="0" bIns="0" rtlCol="0" anchor="t">
            <a:noAutofit/>
          </a:bodyPr>
          <a:lstStyle/>
          <a:p>
            <a:pPr algn="l">
              <a:spcBef>
                <a:spcPts val="0"/>
              </a:spcBef>
              <a:spcAft>
                <a:spcPts val="0"/>
              </a:spcAft>
            </a:pPr>
            <a:r>
              <a:rPr lang="en-US" sz="1500" b="1" dirty="0">
                <a:solidFill>
                  <a:srgbClr val="EDE9E2"/>
                </a:solidFill>
                <a:latin typeface="Segoe UI"/>
                <a:ea typeface="Segoe UI"/>
                <a:cs typeface="Segoe UI"/>
              </a:rPr>
              <a:t>In plain words:</a:t>
            </a:r>
            <a:r>
              <a:rPr lang="en-US" sz="1500" b="0" dirty="0">
                <a:solidFill>
                  <a:srgbClr val="9C9A94"/>
                </a:solidFill>
                <a:latin typeface="Segoe UI"/>
                <a:ea typeface="Segoe UI"/>
                <a:cs typeface="Segoe UI"/>
              </a:rPr>
              <a:t> a screen you use, an engine that does the work, and outside tools it drives.</a:t>
            </a:r>
            <a:endParaRPr lang="en-US" sz="1500" dirty="0"/>
          </a:p>
        </p:txBody>
      </p:sp>
      <p:grpSp>
        <p:nvGrpSpPr>
          <p:cNvPr id="13" name="viewfinder-brackets"/>
          <p:cNvGrpSpPr/>
          <p:nvPr/>
        </p:nvGrpSpPr>
        <p:grpSpPr>
          <a:xfrm>
            <a:off x="609600" y="1981200"/>
            <a:ext cx="10972800" cy="3829050"/>
            <a:chOff x="609600" y="1981200"/>
            <a:chExt cx="10972800" cy="3829050"/>
          </a:xfrm>
        </p:grpSpPr>
        <p:sp>
          <p:nvSpPr>
            <p:cNvPr id="9" name="path 10"/>
            <p:cNvSpPr/>
            <p:nvPr/>
          </p:nvSpPr>
          <p:spPr>
            <a:xfrm>
              <a:off x="609600" y="1981200"/>
              <a:ext cx="228600" cy="228600"/>
            </a:xfrm>
            <a:custGeom>
              <a:avLst/>
              <a:gdLst/>
              <a:ahLst/>
              <a:cxnLst/>
              <a:rect l="0" t="0" r="r" b="b"/>
              <a:pathLst>
                <a:path w="228600" h="228600" fill="none">
                  <a:moveTo>
                    <a:pt x="0" y="228600"/>
                  </a:moveTo>
                  <a:lnTo>
                    <a:pt x="0" y="0"/>
                  </a:lnTo>
                  <a:lnTo>
                    <a:pt x="228600" y="0"/>
                  </a:lnTo>
                </a:path>
              </a:pathLst>
            </a:custGeom>
            <a:noFill/>
            <a:ln w="19050" cap="flat">
              <a:solidFill>
                <a:srgbClr val="3D8BFF"/>
              </a:solidFill>
              <a:miter lim="800000"/>
            </a:ln>
          </p:spPr>
          <p:txBody>
            <a:bodyPr/>
            <a:lstStyle/>
            <a:p>
              <a:endParaRPr lang="en-US"/>
            </a:p>
          </p:txBody>
        </p:sp>
        <p:sp>
          <p:nvSpPr>
            <p:cNvPr id="10" name="path 11"/>
            <p:cNvSpPr/>
            <p:nvPr/>
          </p:nvSpPr>
          <p:spPr>
            <a:xfrm>
              <a:off x="11353800" y="1981200"/>
              <a:ext cx="228600" cy="228600"/>
            </a:xfrm>
            <a:custGeom>
              <a:avLst/>
              <a:gdLst/>
              <a:ahLst/>
              <a:cxnLst/>
              <a:rect l="0" t="0" r="r" b="b"/>
              <a:pathLst>
                <a:path w="228600" h="228600" fill="none">
                  <a:moveTo>
                    <a:pt x="228600" y="228600"/>
                  </a:moveTo>
                  <a:lnTo>
                    <a:pt x="228600" y="0"/>
                  </a:lnTo>
                  <a:lnTo>
                    <a:pt x="0" y="0"/>
                  </a:lnTo>
                </a:path>
              </a:pathLst>
            </a:custGeom>
            <a:noFill/>
            <a:ln w="19050" cap="flat">
              <a:solidFill>
                <a:srgbClr val="3D8BFF"/>
              </a:solidFill>
              <a:miter lim="800000"/>
            </a:ln>
          </p:spPr>
          <p:txBody>
            <a:bodyPr/>
            <a:lstStyle/>
            <a:p>
              <a:endParaRPr lang="en-US"/>
            </a:p>
          </p:txBody>
        </p:sp>
        <p:sp>
          <p:nvSpPr>
            <p:cNvPr id="11" name="path 12"/>
            <p:cNvSpPr/>
            <p:nvPr/>
          </p:nvSpPr>
          <p:spPr>
            <a:xfrm>
              <a:off x="609600" y="5581650"/>
              <a:ext cx="228600" cy="228600"/>
            </a:xfrm>
            <a:custGeom>
              <a:avLst/>
              <a:gdLst/>
              <a:ahLst/>
              <a:cxnLst/>
              <a:rect l="0" t="0" r="r" b="b"/>
              <a:pathLst>
                <a:path w="228600" h="228600" fill="none">
                  <a:moveTo>
                    <a:pt x="0" y="0"/>
                  </a:moveTo>
                  <a:lnTo>
                    <a:pt x="0" y="228600"/>
                  </a:lnTo>
                  <a:lnTo>
                    <a:pt x="228600" y="228600"/>
                  </a:lnTo>
                </a:path>
              </a:pathLst>
            </a:custGeom>
            <a:noFill/>
            <a:ln w="19050" cap="flat">
              <a:solidFill>
                <a:srgbClr val="3D8BFF"/>
              </a:solidFill>
              <a:miter lim="800000"/>
            </a:ln>
          </p:spPr>
          <p:txBody>
            <a:bodyPr/>
            <a:lstStyle/>
            <a:p>
              <a:endParaRPr lang="en-US"/>
            </a:p>
          </p:txBody>
        </p:sp>
        <p:sp>
          <p:nvSpPr>
            <p:cNvPr id="12" name="path 13"/>
            <p:cNvSpPr/>
            <p:nvPr/>
          </p:nvSpPr>
          <p:spPr>
            <a:xfrm>
              <a:off x="11353800" y="5581650"/>
              <a:ext cx="228600" cy="228600"/>
            </a:xfrm>
            <a:custGeom>
              <a:avLst/>
              <a:gdLst/>
              <a:ahLst/>
              <a:cxnLst/>
              <a:rect l="0" t="0" r="r" b="b"/>
              <a:pathLst>
                <a:path w="228600" h="228600" fill="none">
                  <a:moveTo>
                    <a:pt x="228600" y="0"/>
                  </a:moveTo>
                  <a:lnTo>
                    <a:pt x="228600" y="228600"/>
                  </a:lnTo>
                  <a:lnTo>
                    <a:pt x="0" y="228600"/>
                  </a:lnTo>
                </a:path>
              </a:pathLst>
            </a:custGeom>
            <a:noFill/>
            <a:ln w="19050" cap="flat">
              <a:solidFill>
                <a:srgbClr val="3D8BFF"/>
              </a:solidFill>
              <a:miter lim="800000"/>
            </a:ln>
          </p:spPr>
          <p:txBody>
            <a:bodyPr/>
            <a:lstStyle/>
            <a:p>
              <a:endParaRPr lang="en-US"/>
            </a:p>
          </p:txBody>
        </p:sp>
      </p:grpSp>
      <p:grpSp>
        <p:nvGrpSpPr>
          <p:cNvPr id="36" name="col-frontend"/>
          <p:cNvGrpSpPr/>
          <p:nvPr/>
        </p:nvGrpSpPr>
        <p:grpSpPr>
          <a:xfrm>
            <a:off x="723900" y="2095500"/>
            <a:ext cx="2590800" cy="3600450"/>
            <a:chOff x="723900" y="2095500"/>
            <a:chExt cx="2590800" cy="3600450"/>
          </a:xfrm>
        </p:grpSpPr>
        <p:sp>
          <p:nvSpPr>
            <p:cNvPr id="14" name="rect 15"/>
            <p:cNvSpPr/>
            <p:nvPr/>
          </p:nvSpPr>
          <p:spPr>
            <a:xfrm>
              <a:off x="723900" y="2095500"/>
              <a:ext cx="2590800" cy="3600450"/>
            </a:xfrm>
            <a:prstGeom prst="roundRect">
              <a:avLst>
                <a:gd name="adj" fmla="val 735"/>
              </a:avLst>
            </a:prstGeom>
            <a:noFill/>
            <a:ln w="9525" cap="flat">
              <a:solidFill>
                <a:srgbClr val="3D8BFF">
                  <a:alpha val="60000"/>
                </a:srgbClr>
              </a:solidFill>
              <a:miter lim="800000"/>
            </a:ln>
          </p:spPr>
          <p:txBody>
            <a:bodyPr/>
            <a:lstStyle/>
            <a:p>
              <a:endParaRPr lang="en-US"/>
            </a:p>
          </p:txBody>
        </p:sp>
        <p:sp>
          <p:nvSpPr>
            <p:cNvPr id="15" name="rect 16"/>
            <p:cNvSpPr/>
            <p:nvPr/>
          </p:nvSpPr>
          <p:spPr>
            <a:xfrm>
              <a:off x="723900" y="2095500"/>
              <a:ext cx="2590800" cy="647700"/>
            </a:xfrm>
            <a:prstGeom prst="rect">
              <a:avLst/>
            </a:prstGeom>
            <a:solidFill>
              <a:srgbClr val="3D8BFF">
                <a:alpha val="10000"/>
              </a:srgbClr>
            </a:solidFill>
            <a:ln>
              <a:noFill/>
            </a:ln>
          </p:spPr>
          <p:txBody>
            <a:bodyPr/>
            <a:lstStyle/>
            <a:p>
              <a:endParaRPr lang="en-US"/>
            </a:p>
          </p:txBody>
        </p:sp>
        <p:sp>
          <p:nvSpPr>
            <p:cNvPr id="16" name="line 17"/>
            <p:cNvSpPr/>
            <p:nvPr/>
          </p:nvSpPr>
          <p:spPr>
            <a:xfrm>
              <a:off x="723900" y="2743200"/>
              <a:ext cx="2590800" cy="95"/>
            </a:xfrm>
            <a:custGeom>
              <a:avLst/>
              <a:gdLst/>
              <a:ahLst/>
              <a:cxnLst/>
              <a:rect l="0" t="0" r="r" b="b"/>
              <a:pathLst>
                <a:path w="2590800" h="95" fill="none">
                  <a:moveTo>
                    <a:pt x="0" y="0"/>
                  </a:moveTo>
                  <a:lnTo>
                    <a:pt x="2590800" y="0"/>
                  </a:lnTo>
                </a:path>
              </a:pathLst>
            </a:custGeom>
            <a:noFill/>
            <a:ln w="9525" cap="flat">
              <a:solidFill>
                <a:srgbClr val="3D8BFF">
                  <a:alpha val="40000"/>
                </a:srgbClr>
              </a:solidFill>
              <a:miter lim="800000"/>
            </a:ln>
          </p:spPr>
          <p:txBody>
            <a:bodyPr/>
            <a:lstStyle/>
            <a:p>
              <a:endParaRPr lang="en-US"/>
            </a:p>
          </p:txBody>
        </p:sp>
        <p:sp>
          <p:nvSpPr>
            <p:cNvPr id="17" name="Text 18"/>
            <p:cNvSpPr txBox="1"/>
            <p:nvPr/>
          </p:nvSpPr>
          <p:spPr>
            <a:xfrm>
              <a:off x="876300" y="2159000"/>
              <a:ext cx="1190833" cy="192722"/>
            </a:xfrm>
            <a:prstGeom prst="rect">
              <a:avLst/>
            </a:prstGeom>
            <a:noFill/>
          </p:spPr>
          <p:txBody>
            <a:bodyPr wrap="none" lIns="0" tIns="0" rIns="0" bIns="0" rtlCol="0" anchor="t">
              <a:noAutofit/>
            </a:bodyPr>
            <a:lstStyle/>
            <a:p>
              <a:pPr algn="l">
                <a:spcBef>
                  <a:spcPts val="0"/>
                </a:spcBef>
                <a:spcAft>
                  <a:spcPts val="0"/>
                </a:spcAft>
              </a:pPr>
              <a:r>
                <a:rPr lang="en-US" sz="1050" b="0" spc="150" dirty="0">
                  <a:solidFill>
                    <a:srgbClr val="9C9A94"/>
                  </a:solidFill>
                  <a:latin typeface="Consolas"/>
                  <a:ea typeface="Consolas"/>
                  <a:cs typeface="Consolas"/>
                </a:rPr>
                <a:t>WHAT YOU SEE</a:t>
              </a:r>
              <a:endParaRPr lang="en-US" sz="1050" dirty="0"/>
            </a:p>
          </p:txBody>
        </p:sp>
        <p:sp>
          <p:nvSpPr>
            <p:cNvPr id="18" name="Text 19"/>
            <p:cNvSpPr txBox="1"/>
            <p:nvPr/>
          </p:nvSpPr>
          <p:spPr>
            <a:xfrm>
              <a:off x="876300" y="2343150"/>
              <a:ext cx="1709999" cy="421958"/>
            </a:xfrm>
            <a:prstGeom prst="rect">
              <a:avLst/>
            </a:prstGeom>
            <a:noFill/>
          </p:spPr>
          <p:txBody>
            <a:bodyPr wrap="none" lIns="0" tIns="0" rIns="0" bIns="0" rtlCol="0" anchor="t">
              <a:noAutofit/>
            </a:bodyPr>
            <a:lstStyle/>
            <a:p>
              <a:pPr algn="l">
                <a:lnSpc>
                  <a:spcPts val="1500"/>
                </a:lnSpc>
                <a:spcBef>
                  <a:spcPts val="0"/>
                </a:spcBef>
                <a:spcAft>
                  <a:spcPts val="0"/>
                </a:spcAft>
              </a:pPr>
              <a:r>
                <a:rPr lang="en-US" sz="1350" b="1" dirty="0">
                  <a:solidFill>
                    <a:srgbClr val="EDE9E2"/>
                  </a:solidFill>
                  <a:latin typeface="Bahnschrift"/>
                  <a:ea typeface="Bahnschrift"/>
                  <a:cs typeface="Bahnschrift"/>
                </a:rPr>
                <a:t>React 19 + TypeScript</a:t>
              </a:r>
              <a:endParaRPr lang="en-US" sz="1350" dirty="0"/>
            </a:p>
            <a:p>
              <a:pPr algn="l">
                <a:lnSpc>
                  <a:spcPts val="1500"/>
                </a:lnSpc>
                <a:spcBef>
                  <a:spcPts val="0"/>
                </a:spcBef>
                <a:spcAft>
                  <a:spcPts val="0"/>
                </a:spcAft>
              </a:pPr>
              <a:r>
                <a:rPr lang="en-US" sz="1350" b="1" dirty="0">
                  <a:solidFill>
                    <a:srgbClr val="EDE9E2"/>
                  </a:solidFill>
                  <a:latin typeface="Bahnschrift"/>
                  <a:ea typeface="Bahnschrift"/>
                  <a:cs typeface="Bahnschrift"/>
                </a:rPr>
                <a:t>frontend (Vite 6)</a:t>
              </a:r>
              <a:endParaRPr lang="en-US" sz="1350" dirty="0"/>
            </a:p>
          </p:txBody>
        </p:sp>
        <p:sp>
          <p:nvSpPr>
            <p:cNvPr id="19" name="rect 20"/>
            <p:cNvSpPr/>
            <p:nvPr/>
          </p:nvSpPr>
          <p:spPr>
            <a:xfrm>
              <a:off x="838200" y="2819400"/>
              <a:ext cx="2362200" cy="342900"/>
            </a:xfrm>
            <a:prstGeom prst="roundRect">
              <a:avLst>
                <a:gd name="adj" fmla="val 5556"/>
              </a:avLst>
            </a:prstGeom>
            <a:solidFill>
              <a:srgbClr val="14171B"/>
            </a:solidFill>
            <a:ln w="9525" cap="flat">
              <a:solidFill>
                <a:srgbClr val="3D8BFF">
                  <a:alpha val="40000"/>
                </a:srgbClr>
              </a:solidFill>
              <a:miter lim="800000"/>
            </a:ln>
          </p:spPr>
          <p:txBody>
            <a:bodyPr/>
            <a:lstStyle/>
            <a:p>
              <a:endParaRPr lang="en-US"/>
            </a:p>
          </p:txBody>
        </p:sp>
        <p:sp>
          <p:nvSpPr>
            <p:cNvPr id="20" name="Text 21"/>
            <p:cNvSpPr txBox="1"/>
            <p:nvPr/>
          </p:nvSpPr>
          <p:spPr>
            <a:xfrm>
              <a:off x="971550" y="2886075"/>
              <a:ext cx="950845"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Segoe UI"/>
                  <a:ea typeface="Segoe UI"/>
                  <a:cs typeface="Segoe UI"/>
                </a:rPr>
                <a:t>Terminal grid</a:t>
              </a:r>
              <a:endParaRPr lang="en-US" sz="1200" dirty="0"/>
            </a:p>
          </p:txBody>
        </p:sp>
        <p:sp>
          <p:nvSpPr>
            <p:cNvPr id="21" name="Text 22"/>
            <p:cNvSpPr txBox="1"/>
            <p:nvPr/>
          </p:nvSpPr>
          <p:spPr>
            <a:xfrm>
              <a:off x="2285509" y="2911475"/>
              <a:ext cx="800591" cy="192722"/>
            </a:xfrm>
            <a:prstGeom prst="rect">
              <a:avLst/>
            </a:prstGeom>
            <a:noFill/>
          </p:spPr>
          <p:txBody>
            <a:bodyPr wrap="none" lIns="0" tIns="0" rIns="0" bIns="0" rtlCol="0" anchor="t">
              <a:noAutofit/>
            </a:bodyPr>
            <a:lstStyle/>
            <a:p>
              <a:pPr algn="r">
                <a:spcBef>
                  <a:spcPts val="0"/>
                </a:spcBef>
                <a:spcAft>
                  <a:spcPts val="0"/>
                </a:spcAft>
              </a:pPr>
              <a:r>
                <a:rPr lang="en-US" sz="1050" b="0" dirty="0">
                  <a:solidFill>
                    <a:srgbClr val="3D8BFF"/>
                  </a:solidFill>
                  <a:latin typeface="Consolas"/>
                  <a:ea typeface="Consolas"/>
                  <a:cs typeface="Consolas"/>
                </a:rPr>
                <a:t>xterm.js 6</a:t>
              </a:r>
              <a:endParaRPr lang="en-US" sz="1050" dirty="0"/>
            </a:p>
          </p:txBody>
        </p:sp>
        <p:sp>
          <p:nvSpPr>
            <p:cNvPr id="22" name="rect 23"/>
            <p:cNvSpPr/>
            <p:nvPr/>
          </p:nvSpPr>
          <p:spPr>
            <a:xfrm>
              <a:off x="838200" y="3219450"/>
              <a:ext cx="2362200" cy="342900"/>
            </a:xfrm>
            <a:prstGeom prst="roundRect">
              <a:avLst>
                <a:gd name="adj" fmla="val 5556"/>
              </a:avLst>
            </a:prstGeom>
            <a:solidFill>
              <a:srgbClr val="14171B"/>
            </a:solidFill>
            <a:ln w="9525" cap="flat">
              <a:solidFill>
                <a:srgbClr val="3D8BFF">
                  <a:alpha val="40000"/>
                </a:srgbClr>
              </a:solidFill>
              <a:miter lim="800000"/>
            </a:ln>
          </p:spPr>
          <p:txBody>
            <a:bodyPr/>
            <a:lstStyle/>
            <a:p>
              <a:endParaRPr lang="en-US"/>
            </a:p>
          </p:txBody>
        </p:sp>
        <p:sp>
          <p:nvSpPr>
            <p:cNvPr id="23" name="Text 24"/>
            <p:cNvSpPr txBox="1"/>
            <p:nvPr/>
          </p:nvSpPr>
          <p:spPr>
            <a:xfrm>
              <a:off x="971550" y="3286125"/>
              <a:ext cx="865019"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Segoe UI"/>
                  <a:ea typeface="Segoe UI"/>
                  <a:cs typeface="Segoe UI"/>
                </a:rPr>
                <a:t>Code editor</a:t>
              </a:r>
              <a:endParaRPr lang="en-US" sz="1200" dirty="0"/>
            </a:p>
          </p:txBody>
        </p:sp>
        <p:sp>
          <p:nvSpPr>
            <p:cNvPr id="24" name="Text 25"/>
            <p:cNvSpPr txBox="1"/>
            <p:nvPr/>
          </p:nvSpPr>
          <p:spPr>
            <a:xfrm>
              <a:off x="2590505" y="3311525"/>
              <a:ext cx="495595" cy="192722"/>
            </a:xfrm>
            <a:prstGeom prst="rect">
              <a:avLst/>
            </a:prstGeom>
            <a:noFill/>
          </p:spPr>
          <p:txBody>
            <a:bodyPr wrap="none" lIns="0" tIns="0" rIns="0" bIns="0" rtlCol="0" anchor="t">
              <a:noAutofit/>
            </a:bodyPr>
            <a:lstStyle/>
            <a:p>
              <a:pPr algn="r">
                <a:spcBef>
                  <a:spcPts val="0"/>
                </a:spcBef>
                <a:spcAft>
                  <a:spcPts val="0"/>
                </a:spcAft>
              </a:pPr>
              <a:r>
                <a:rPr lang="en-US" sz="1050" b="0" dirty="0">
                  <a:solidFill>
                    <a:srgbClr val="3D8BFF"/>
                  </a:solidFill>
                  <a:latin typeface="Consolas"/>
                  <a:ea typeface="Consolas"/>
                  <a:cs typeface="Consolas"/>
                </a:rPr>
                <a:t>Monaco</a:t>
              </a:r>
              <a:endParaRPr lang="en-US" sz="1050" dirty="0"/>
            </a:p>
          </p:txBody>
        </p:sp>
        <p:sp>
          <p:nvSpPr>
            <p:cNvPr id="25" name="rect 26"/>
            <p:cNvSpPr/>
            <p:nvPr/>
          </p:nvSpPr>
          <p:spPr>
            <a:xfrm>
              <a:off x="838200" y="3619500"/>
              <a:ext cx="2362200" cy="342900"/>
            </a:xfrm>
            <a:prstGeom prst="roundRect">
              <a:avLst>
                <a:gd name="adj" fmla="val 5556"/>
              </a:avLst>
            </a:prstGeom>
            <a:solidFill>
              <a:srgbClr val="14171B"/>
            </a:solidFill>
            <a:ln w="9525" cap="flat">
              <a:solidFill>
                <a:srgbClr val="3D8BFF">
                  <a:alpha val="40000"/>
                </a:srgbClr>
              </a:solidFill>
              <a:miter lim="800000"/>
            </a:ln>
          </p:spPr>
          <p:txBody>
            <a:bodyPr/>
            <a:lstStyle/>
            <a:p>
              <a:endParaRPr lang="en-US"/>
            </a:p>
          </p:txBody>
        </p:sp>
        <p:sp>
          <p:nvSpPr>
            <p:cNvPr id="26" name="Text 27"/>
            <p:cNvSpPr txBox="1"/>
            <p:nvPr/>
          </p:nvSpPr>
          <p:spPr>
            <a:xfrm>
              <a:off x="971550" y="3686175"/>
              <a:ext cx="1456670"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Segoe UI"/>
                  <a:ea typeface="Segoe UI"/>
                  <a:cs typeface="Segoe UI"/>
                </a:rPr>
                <a:t>Browser &amp; inspector</a:t>
              </a:r>
              <a:endParaRPr lang="en-US" sz="1200" dirty="0"/>
            </a:p>
          </p:txBody>
        </p:sp>
        <p:sp>
          <p:nvSpPr>
            <p:cNvPr id="27" name="rect 28"/>
            <p:cNvSpPr/>
            <p:nvPr/>
          </p:nvSpPr>
          <p:spPr>
            <a:xfrm>
              <a:off x="838200" y="4019550"/>
              <a:ext cx="2362200" cy="342900"/>
            </a:xfrm>
            <a:prstGeom prst="roundRect">
              <a:avLst>
                <a:gd name="adj" fmla="val 5556"/>
              </a:avLst>
            </a:prstGeom>
            <a:solidFill>
              <a:srgbClr val="14171B"/>
            </a:solidFill>
            <a:ln w="9525" cap="flat">
              <a:solidFill>
                <a:srgbClr val="3D8BFF">
                  <a:alpha val="40000"/>
                </a:srgbClr>
              </a:solidFill>
              <a:miter lim="800000"/>
            </a:ln>
          </p:spPr>
          <p:txBody>
            <a:bodyPr/>
            <a:lstStyle/>
            <a:p>
              <a:endParaRPr lang="en-US"/>
            </a:p>
          </p:txBody>
        </p:sp>
        <p:sp>
          <p:nvSpPr>
            <p:cNvPr id="28" name="Text 29"/>
            <p:cNvSpPr txBox="1"/>
            <p:nvPr/>
          </p:nvSpPr>
          <p:spPr>
            <a:xfrm>
              <a:off x="971550" y="4086225"/>
              <a:ext cx="933355"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Segoe UI"/>
                  <a:ea typeface="Segoe UI"/>
                  <a:cs typeface="Segoe UI"/>
                </a:rPr>
                <a:t>Image editor</a:t>
              </a:r>
              <a:endParaRPr lang="en-US" sz="1200" dirty="0"/>
            </a:p>
          </p:txBody>
        </p:sp>
        <p:sp>
          <p:nvSpPr>
            <p:cNvPr id="29" name="Text 30"/>
            <p:cNvSpPr txBox="1"/>
            <p:nvPr/>
          </p:nvSpPr>
          <p:spPr>
            <a:xfrm>
              <a:off x="2666754" y="4111625"/>
              <a:ext cx="419346" cy="192722"/>
            </a:xfrm>
            <a:prstGeom prst="rect">
              <a:avLst/>
            </a:prstGeom>
            <a:noFill/>
          </p:spPr>
          <p:txBody>
            <a:bodyPr wrap="none" lIns="0" tIns="0" rIns="0" bIns="0" rtlCol="0" anchor="t">
              <a:noAutofit/>
            </a:bodyPr>
            <a:lstStyle/>
            <a:p>
              <a:pPr algn="r">
                <a:spcBef>
                  <a:spcPts val="0"/>
                </a:spcBef>
                <a:spcAft>
                  <a:spcPts val="0"/>
                </a:spcAft>
              </a:pPr>
              <a:r>
                <a:rPr lang="en-US" sz="1050" b="0" dirty="0">
                  <a:solidFill>
                    <a:srgbClr val="3D8BFF"/>
                  </a:solidFill>
                  <a:latin typeface="Consolas"/>
                  <a:ea typeface="Consolas"/>
                  <a:cs typeface="Consolas"/>
                </a:rPr>
                <a:t>Konva</a:t>
              </a:r>
              <a:endParaRPr lang="en-US" sz="1050" dirty="0"/>
            </a:p>
          </p:txBody>
        </p:sp>
        <p:sp>
          <p:nvSpPr>
            <p:cNvPr id="30" name="rect 31"/>
            <p:cNvSpPr/>
            <p:nvPr/>
          </p:nvSpPr>
          <p:spPr>
            <a:xfrm>
              <a:off x="838200" y="4419600"/>
              <a:ext cx="2362200" cy="342900"/>
            </a:xfrm>
            <a:prstGeom prst="roundRect">
              <a:avLst>
                <a:gd name="adj" fmla="val 5556"/>
              </a:avLst>
            </a:prstGeom>
            <a:solidFill>
              <a:srgbClr val="14171B"/>
            </a:solidFill>
            <a:ln w="9525" cap="flat">
              <a:solidFill>
                <a:srgbClr val="A28BFF">
                  <a:alpha val="80000"/>
                </a:srgbClr>
              </a:solidFill>
              <a:miter lim="800000"/>
            </a:ln>
          </p:spPr>
          <p:txBody>
            <a:bodyPr/>
            <a:lstStyle/>
            <a:p>
              <a:endParaRPr lang="en-US"/>
            </a:p>
          </p:txBody>
        </p:sp>
        <p:sp>
          <p:nvSpPr>
            <p:cNvPr id="31" name="Text 32"/>
            <p:cNvSpPr txBox="1"/>
            <p:nvPr/>
          </p:nvSpPr>
          <p:spPr>
            <a:xfrm>
              <a:off x="971550" y="4486275"/>
              <a:ext cx="1584674"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Segoe UI"/>
                  <a:ea typeface="Segoe UI"/>
                  <a:cs typeface="Segoe UI"/>
                </a:rPr>
                <a:t>Workspace extensions</a:t>
              </a:r>
              <a:endParaRPr lang="en-US" sz="1200" dirty="0"/>
            </a:p>
          </p:txBody>
        </p:sp>
        <p:sp>
          <p:nvSpPr>
            <p:cNvPr id="32" name="rect 33"/>
            <p:cNvSpPr/>
            <p:nvPr/>
          </p:nvSpPr>
          <p:spPr>
            <a:xfrm>
              <a:off x="838200" y="4819650"/>
              <a:ext cx="2362200" cy="342900"/>
            </a:xfrm>
            <a:prstGeom prst="roundRect">
              <a:avLst>
                <a:gd name="adj" fmla="val 5556"/>
              </a:avLst>
            </a:prstGeom>
            <a:solidFill>
              <a:srgbClr val="14171B"/>
            </a:solidFill>
            <a:ln w="9525" cap="flat">
              <a:solidFill>
                <a:srgbClr val="A28BFF">
                  <a:alpha val="80000"/>
                </a:srgbClr>
              </a:solidFill>
              <a:miter lim="800000"/>
            </a:ln>
          </p:spPr>
          <p:txBody>
            <a:bodyPr/>
            <a:lstStyle/>
            <a:p>
              <a:endParaRPr lang="en-US"/>
            </a:p>
          </p:txBody>
        </p:sp>
        <p:sp>
          <p:nvSpPr>
            <p:cNvPr id="33" name="Text 34"/>
            <p:cNvSpPr txBox="1"/>
            <p:nvPr/>
          </p:nvSpPr>
          <p:spPr>
            <a:xfrm>
              <a:off x="971550" y="4886325"/>
              <a:ext cx="1392359"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Segoe UI"/>
                  <a:ea typeface="Segoe UI"/>
                  <a:cs typeface="Segoe UI"/>
                </a:rPr>
                <a:t>Presentation studio</a:t>
              </a:r>
              <a:endParaRPr lang="en-US" sz="1200" dirty="0"/>
            </a:p>
          </p:txBody>
        </p:sp>
        <p:sp>
          <p:nvSpPr>
            <p:cNvPr id="34" name="rect 35"/>
            <p:cNvSpPr/>
            <p:nvPr/>
          </p:nvSpPr>
          <p:spPr>
            <a:xfrm>
              <a:off x="838200" y="5219700"/>
              <a:ext cx="2362200" cy="342900"/>
            </a:xfrm>
            <a:prstGeom prst="roundRect">
              <a:avLst>
                <a:gd name="adj" fmla="val 5556"/>
              </a:avLst>
            </a:prstGeom>
            <a:solidFill>
              <a:srgbClr val="14171B"/>
            </a:solidFill>
            <a:ln w="9525" cap="flat">
              <a:solidFill>
                <a:srgbClr val="A28BFF">
                  <a:alpha val="80000"/>
                </a:srgbClr>
              </a:solidFill>
              <a:miter lim="800000"/>
            </a:ln>
          </p:spPr>
          <p:txBody>
            <a:bodyPr/>
            <a:lstStyle/>
            <a:p>
              <a:endParaRPr lang="en-US"/>
            </a:p>
          </p:txBody>
        </p:sp>
        <p:sp>
          <p:nvSpPr>
            <p:cNvPr id="35" name="Text 36"/>
            <p:cNvSpPr txBox="1"/>
            <p:nvPr/>
          </p:nvSpPr>
          <p:spPr>
            <a:xfrm>
              <a:off x="971550" y="5286375"/>
              <a:ext cx="1033421"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Segoe UI"/>
                  <a:ea typeface="Segoe UI"/>
                  <a:cs typeface="Segoe UI"/>
                </a:rPr>
                <a:t>Writing studio</a:t>
              </a:r>
              <a:endParaRPr lang="en-US" sz="1200" dirty="0"/>
            </a:p>
          </p:txBody>
        </p:sp>
      </p:grpSp>
      <p:grpSp>
        <p:nvGrpSpPr>
          <p:cNvPr id="59" name="col-core"/>
          <p:cNvGrpSpPr/>
          <p:nvPr/>
        </p:nvGrpSpPr>
        <p:grpSpPr>
          <a:xfrm>
            <a:off x="4610100" y="2095500"/>
            <a:ext cx="2971800" cy="3600450"/>
            <a:chOff x="4610100" y="2095500"/>
            <a:chExt cx="2971800" cy="3600450"/>
          </a:xfrm>
        </p:grpSpPr>
        <p:sp>
          <p:nvSpPr>
            <p:cNvPr id="37" name="rect 38"/>
            <p:cNvSpPr/>
            <p:nvPr/>
          </p:nvSpPr>
          <p:spPr>
            <a:xfrm>
              <a:off x="4610100" y="2095500"/>
              <a:ext cx="2971800" cy="3600450"/>
            </a:xfrm>
            <a:prstGeom prst="roundRect">
              <a:avLst>
                <a:gd name="adj" fmla="val 641"/>
              </a:avLst>
            </a:prstGeom>
            <a:noFill/>
            <a:ln w="14288" cap="flat">
              <a:solidFill>
                <a:srgbClr val="3D8BFF">
                  <a:alpha val="85000"/>
                </a:srgbClr>
              </a:solidFill>
              <a:miter lim="800000"/>
            </a:ln>
          </p:spPr>
          <p:txBody>
            <a:bodyPr/>
            <a:lstStyle/>
            <a:p>
              <a:endParaRPr lang="en-US"/>
            </a:p>
          </p:txBody>
        </p:sp>
        <p:sp>
          <p:nvSpPr>
            <p:cNvPr id="38" name="rect 39"/>
            <p:cNvSpPr/>
            <p:nvPr/>
          </p:nvSpPr>
          <p:spPr>
            <a:xfrm>
              <a:off x="4610100" y="2095500"/>
              <a:ext cx="2971800" cy="647700"/>
            </a:xfrm>
            <a:prstGeom prst="rect">
              <a:avLst/>
            </a:prstGeom>
            <a:solidFill>
              <a:srgbClr val="3D8BFF">
                <a:alpha val="14000"/>
              </a:srgbClr>
            </a:solidFill>
            <a:ln>
              <a:noFill/>
            </a:ln>
          </p:spPr>
          <p:txBody>
            <a:bodyPr/>
            <a:lstStyle/>
            <a:p>
              <a:endParaRPr lang="en-US"/>
            </a:p>
          </p:txBody>
        </p:sp>
        <p:sp>
          <p:nvSpPr>
            <p:cNvPr id="39" name="line 40"/>
            <p:cNvSpPr/>
            <p:nvPr/>
          </p:nvSpPr>
          <p:spPr>
            <a:xfrm>
              <a:off x="4610100" y="2743200"/>
              <a:ext cx="2971800" cy="95"/>
            </a:xfrm>
            <a:custGeom>
              <a:avLst/>
              <a:gdLst/>
              <a:ahLst/>
              <a:cxnLst/>
              <a:rect l="0" t="0" r="r" b="b"/>
              <a:pathLst>
                <a:path w="2971800" h="95" fill="none">
                  <a:moveTo>
                    <a:pt x="0" y="0"/>
                  </a:moveTo>
                  <a:lnTo>
                    <a:pt x="2971800" y="0"/>
                  </a:lnTo>
                </a:path>
              </a:pathLst>
            </a:custGeom>
            <a:noFill/>
            <a:ln w="9525" cap="flat">
              <a:solidFill>
                <a:srgbClr val="3D8BFF">
                  <a:alpha val="40000"/>
                </a:srgbClr>
              </a:solidFill>
              <a:miter lim="800000"/>
            </a:ln>
          </p:spPr>
          <p:txBody>
            <a:bodyPr/>
            <a:lstStyle/>
            <a:p>
              <a:endParaRPr lang="en-US"/>
            </a:p>
          </p:txBody>
        </p:sp>
        <p:sp>
          <p:nvSpPr>
            <p:cNvPr id="40" name="Text 41"/>
            <p:cNvSpPr txBox="1"/>
            <p:nvPr/>
          </p:nvSpPr>
          <p:spPr>
            <a:xfrm>
              <a:off x="4762500" y="2159000"/>
              <a:ext cx="1479017" cy="192722"/>
            </a:xfrm>
            <a:prstGeom prst="rect">
              <a:avLst/>
            </a:prstGeom>
            <a:noFill/>
          </p:spPr>
          <p:txBody>
            <a:bodyPr wrap="none" lIns="0" tIns="0" rIns="0" bIns="0" rtlCol="0" anchor="t">
              <a:noAutofit/>
            </a:bodyPr>
            <a:lstStyle/>
            <a:p>
              <a:pPr algn="l">
                <a:spcBef>
                  <a:spcPts val="0"/>
                </a:spcBef>
                <a:spcAft>
                  <a:spcPts val="0"/>
                </a:spcAft>
              </a:pPr>
              <a:r>
                <a:rPr lang="en-US" sz="1050" b="0" spc="150" dirty="0">
                  <a:solidFill>
                    <a:srgbClr val="9C9A94"/>
                  </a:solidFill>
                  <a:latin typeface="Consolas"/>
                  <a:ea typeface="Consolas"/>
                  <a:cs typeface="Consolas"/>
                </a:rPr>
                <a:t>THE ENGINE ROOM</a:t>
              </a:r>
              <a:endParaRPr lang="en-US" sz="1050" dirty="0"/>
            </a:p>
          </p:txBody>
        </p:sp>
        <p:sp>
          <p:nvSpPr>
            <p:cNvPr id="41" name="Text 42"/>
            <p:cNvSpPr txBox="1"/>
            <p:nvPr/>
          </p:nvSpPr>
          <p:spPr>
            <a:xfrm>
              <a:off x="4762500" y="2343150"/>
              <a:ext cx="1214428" cy="421958"/>
            </a:xfrm>
            <a:prstGeom prst="rect">
              <a:avLst/>
            </a:prstGeom>
            <a:noFill/>
          </p:spPr>
          <p:txBody>
            <a:bodyPr wrap="none" lIns="0" tIns="0" rIns="0" bIns="0" rtlCol="0" anchor="t">
              <a:noAutofit/>
            </a:bodyPr>
            <a:lstStyle/>
            <a:p>
              <a:pPr algn="l">
                <a:lnSpc>
                  <a:spcPts val="1500"/>
                </a:lnSpc>
                <a:spcBef>
                  <a:spcPts val="0"/>
                </a:spcBef>
                <a:spcAft>
                  <a:spcPts val="0"/>
                </a:spcAft>
              </a:pPr>
              <a:r>
                <a:rPr lang="en-US" sz="1350" b="1" dirty="0">
                  <a:solidFill>
                    <a:srgbClr val="EDE9E2"/>
                  </a:solidFill>
                  <a:latin typeface="Bahnschrift"/>
                  <a:ea typeface="Bahnschrift"/>
                  <a:cs typeface="Bahnschrift"/>
                </a:rPr>
                <a:t>Tauri v2 + Rust</a:t>
              </a:r>
              <a:endParaRPr lang="en-US" sz="1350" dirty="0"/>
            </a:p>
            <a:p>
              <a:pPr algn="l">
                <a:lnSpc>
                  <a:spcPts val="1500"/>
                </a:lnSpc>
                <a:spcBef>
                  <a:spcPts val="0"/>
                </a:spcBef>
                <a:spcAft>
                  <a:spcPts val="0"/>
                </a:spcAft>
              </a:pPr>
              <a:r>
                <a:rPr lang="en-US" sz="1350" b="1" dirty="0">
                  <a:solidFill>
                    <a:srgbClr val="EDE9E2"/>
                  </a:solidFill>
                  <a:latin typeface="Bahnschrift"/>
                  <a:ea typeface="Bahnschrift"/>
                  <a:cs typeface="Bahnschrift"/>
                </a:rPr>
                <a:t>core host</a:t>
              </a:r>
              <a:endParaRPr lang="en-US" sz="1350" dirty="0"/>
            </a:p>
          </p:txBody>
        </p:sp>
        <p:sp>
          <p:nvSpPr>
            <p:cNvPr id="42" name="rect 43"/>
            <p:cNvSpPr/>
            <p:nvPr/>
          </p:nvSpPr>
          <p:spPr>
            <a:xfrm>
              <a:off x="4724400" y="2819400"/>
              <a:ext cx="2743200" cy="495300"/>
            </a:xfrm>
            <a:prstGeom prst="roundRect">
              <a:avLst>
                <a:gd name="adj" fmla="val 3846"/>
              </a:avLst>
            </a:prstGeom>
            <a:solidFill>
              <a:srgbClr val="14171B"/>
            </a:solidFill>
            <a:ln w="9525" cap="flat">
              <a:solidFill>
                <a:srgbClr val="3D8BFF">
                  <a:alpha val="40000"/>
                </a:srgbClr>
              </a:solidFill>
              <a:miter lim="800000"/>
            </a:ln>
          </p:spPr>
          <p:txBody>
            <a:bodyPr/>
            <a:lstStyle/>
            <a:p>
              <a:endParaRPr lang="en-US"/>
            </a:p>
          </p:txBody>
        </p:sp>
        <p:sp>
          <p:nvSpPr>
            <p:cNvPr id="43" name="Text 44"/>
            <p:cNvSpPr txBox="1"/>
            <p:nvPr/>
          </p:nvSpPr>
          <p:spPr>
            <a:xfrm>
              <a:off x="4857750" y="2876550"/>
              <a:ext cx="1858637"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Segoe UI"/>
                  <a:ea typeface="Segoe UI"/>
                  <a:cs typeface="Segoe UI"/>
                </a:rPr>
                <a:t>Tauri IPC command router</a:t>
              </a:r>
              <a:endParaRPr lang="en-US" sz="1200" dirty="0"/>
            </a:p>
          </p:txBody>
        </p:sp>
        <p:sp>
          <p:nvSpPr>
            <p:cNvPr id="44" name="Text 45"/>
            <p:cNvSpPr txBox="1"/>
            <p:nvPr/>
          </p:nvSpPr>
          <p:spPr>
            <a:xfrm>
              <a:off x="4857750" y="3092450"/>
              <a:ext cx="1656328"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9C9A94"/>
                  </a:solidFill>
                  <a:latin typeface="Segoe UI"/>
                  <a:ea typeface="Segoe UI"/>
                  <a:cs typeface="Segoe UI"/>
                </a:rPr>
                <a:t>passes requests both ways</a:t>
              </a:r>
              <a:endParaRPr lang="en-US" sz="1050" dirty="0"/>
            </a:p>
          </p:txBody>
        </p:sp>
        <p:sp>
          <p:nvSpPr>
            <p:cNvPr id="45" name="rect 46"/>
            <p:cNvSpPr/>
            <p:nvPr/>
          </p:nvSpPr>
          <p:spPr>
            <a:xfrm>
              <a:off x="4724400" y="3390900"/>
              <a:ext cx="2743200" cy="495300"/>
            </a:xfrm>
            <a:prstGeom prst="roundRect">
              <a:avLst>
                <a:gd name="adj" fmla="val 3846"/>
              </a:avLst>
            </a:prstGeom>
            <a:solidFill>
              <a:srgbClr val="221813"/>
            </a:solidFill>
            <a:ln w="14288" cap="flat">
              <a:solidFill>
                <a:srgbClr val="FF5B1F"/>
              </a:solidFill>
              <a:miter lim="800000"/>
            </a:ln>
          </p:spPr>
          <p:txBody>
            <a:bodyPr/>
            <a:lstStyle/>
            <a:p>
              <a:endParaRPr lang="en-US"/>
            </a:p>
          </p:txBody>
        </p:sp>
        <p:sp>
          <p:nvSpPr>
            <p:cNvPr id="46" name="Text 47"/>
            <p:cNvSpPr txBox="1"/>
            <p:nvPr/>
          </p:nvSpPr>
          <p:spPr>
            <a:xfrm>
              <a:off x="4857750" y="3448050"/>
              <a:ext cx="1269075"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Segoe UI"/>
                  <a:ea typeface="Segoe UI"/>
                  <a:cs typeface="Segoe UI"/>
                </a:rPr>
                <a:t>PTY &amp; run engine</a:t>
              </a:r>
              <a:endParaRPr lang="en-US" sz="1200" dirty="0"/>
            </a:p>
          </p:txBody>
        </p:sp>
        <p:sp>
          <p:nvSpPr>
            <p:cNvPr id="47" name="Text 48"/>
            <p:cNvSpPr txBox="1"/>
            <p:nvPr/>
          </p:nvSpPr>
          <p:spPr>
            <a:xfrm>
              <a:off x="6400211" y="3473450"/>
              <a:ext cx="953089" cy="192722"/>
            </a:xfrm>
            <a:prstGeom prst="rect">
              <a:avLst/>
            </a:prstGeom>
            <a:noFill/>
          </p:spPr>
          <p:txBody>
            <a:bodyPr wrap="none" lIns="0" tIns="0" rIns="0" bIns="0" rtlCol="0" anchor="t">
              <a:noAutofit/>
            </a:bodyPr>
            <a:lstStyle/>
            <a:p>
              <a:pPr algn="r">
                <a:spcBef>
                  <a:spcPts val="0"/>
                </a:spcBef>
                <a:spcAft>
                  <a:spcPts val="0"/>
                </a:spcAft>
              </a:pPr>
              <a:r>
                <a:rPr lang="en-US" sz="1050" b="0" dirty="0">
                  <a:solidFill>
                    <a:srgbClr val="FF5B1F"/>
                  </a:solidFill>
                  <a:latin typeface="Consolas"/>
                  <a:ea typeface="Consolas"/>
                  <a:cs typeface="Consolas"/>
                </a:rPr>
                <a:t>portable-pty</a:t>
              </a:r>
              <a:endParaRPr lang="en-US" sz="1050" dirty="0"/>
            </a:p>
          </p:txBody>
        </p:sp>
        <p:sp>
          <p:nvSpPr>
            <p:cNvPr id="48" name="Text 49"/>
            <p:cNvSpPr txBox="1"/>
            <p:nvPr/>
          </p:nvSpPr>
          <p:spPr>
            <a:xfrm>
              <a:off x="4857750" y="3663950"/>
              <a:ext cx="1876814"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9C9A94"/>
                  </a:solidFill>
                  <a:latin typeface="Segoe UI"/>
                  <a:ea typeface="Segoe UI"/>
                  <a:cs typeface="Segoe UI"/>
                </a:rPr>
                <a:t>a real terminal for every agent</a:t>
              </a:r>
              <a:endParaRPr lang="en-US" sz="1050" dirty="0"/>
            </a:p>
          </p:txBody>
        </p:sp>
        <p:sp>
          <p:nvSpPr>
            <p:cNvPr id="49" name="rect 50"/>
            <p:cNvSpPr/>
            <p:nvPr/>
          </p:nvSpPr>
          <p:spPr>
            <a:xfrm>
              <a:off x="4724400" y="3962400"/>
              <a:ext cx="2743200" cy="495300"/>
            </a:xfrm>
            <a:prstGeom prst="roundRect">
              <a:avLst>
                <a:gd name="adj" fmla="val 3846"/>
              </a:avLst>
            </a:prstGeom>
            <a:solidFill>
              <a:srgbClr val="14171B"/>
            </a:solidFill>
            <a:ln w="9525" cap="flat">
              <a:solidFill>
                <a:srgbClr val="3D8BFF">
                  <a:alpha val="40000"/>
                </a:srgbClr>
              </a:solidFill>
              <a:miter lim="800000"/>
            </a:ln>
          </p:spPr>
          <p:txBody>
            <a:bodyPr/>
            <a:lstStyle/>
            <a:p>
              <a:endParaRPr lang="en-US"/>
            </a:p>
          </p:txBody>
        </p:sp>
        <p:sp>
          <p:nvSpPr>
            <p:cNvPr id="50" name="Text 51"/>
            <p:cNvSpPr txBox="1"/>
            <p:nvPr/>
          </p:nvSpPr>
          <p:spPr>
            <a:xfrm>
              <a:off x="4857750" y="4019550"/>
              <a:ext cx="1714691"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Segoe UI"/>
                  <a:ea typeface="Segoe UI"/>
                  <a:cs typeface="Segoe UI"/>
                </a:rPr>
                <a:t>Extension host manager</a:t>
              </a:r>
              <a:endParaRPr lang="en-US" sz="1200" dirty="0"/>
            </a:p>
          </p:txBody>
        </p:sp>
        <p:sp>
          <p:nvSpPr>
            <p:cNvPr id="51" name="Text 52"/>
            <p:cNvSpPr txBox="1"/>
            <p:nvPr/>
          </p:nvSpPr>
          <p:spPr>
            <a:xfrm>
              <a:off x="4857750" y="4235450"/>
              <a:ext cx="1453787"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9C9A94"/>
                  </a:solidFill>
                  <a:latin typeface="Segoe UI"/>
                  <a:ea typeface="Segoe UI"/>
                  <a:cs typeface="Segoe UI"/>
                </a:rPr>
                <a:t>keeps add-ons running</a:t>
              </a:r>
              <a:endParaRPr lang="en-US" sz="1050" dirty="0"/>
            </a:p>
          </p:txBody>
        </p:sp>
        <p:sp>
          <p:nvSpPr>
            <p:cNvPr id="52" name="rect 53"/>
            <p:cNvSpPr/>
            <p:nvPr/>
          </p:nvSpPr>
          <p:spPr>
            <a:xfrm>
              <a:off x="4724400" y="4533900"/>
              <a:ext cx="2743200" cy="495300"/>
            </a:xfrm>
            <a:prstGeom prst="roundRect">
              <a:avLst>
                <a:gd name="adj" fmla="val 3846"/>
              </a:avLst>
            </a:prstGeom>
            <a:solidFill>
              <a:srgbClr val="14171B"/>
            </a:solidFill>
            <a:ln w="9525" cap="flat">
              <a:solidFill>
                <a:srgbClr val="3D8BFF">
                  <a:alpha val="40000"/>
                </a:srgbClr>
              </a:solidFill>
              <a:miter lim="800000"/>
            </a:ln>
          </p:spPr>
          <p:txBody>
            <a:bodyPr/>
            <a:lstStyle/>
            <a:p>
              <a:endParaRPr lang="en-US"/>
            </a:p>
          </p:txBody>
        </p:sp>
        <p:sp>
          <p:nvSpPr>
            <p:cNvPr id="53" name="Text 54"/>
            <p:cNvSpPr txBox="1"/>
            <p:nvPr/>
          </p:nvSpPr>
          <p:spPr>
            <a:xfrm>
              <a:off x="4857750" y="4591050"/>
              <a:ext cx="1282851"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Segoe UI"/>
                  <a:ea typeface="Segoe UI"/>
                  <a:cs typeface="Segoe UI"/>
                </a:rPr>
                <a:t>File &amp; Git watcher</a:t>
              </a:r>
              <a:endParaRPr lang="en-US" sz="1200" dirty="0"/>
            </a:p>
          </p:txBody>
        </p:sp>
        <p:sp>
          <p:nvSpPr>
            <p:cNvPr id="54" name="Text 55"/>
            <p:cNvSpPr txBox="1"/>
            <p:nvPr/>
          </p:nvSpPr>
          <p:spPr>
            <a:xfrm>
              <a:off x="6857705" y="4616450"/>
              <a:ext cx="495595" cy="192722"/>
            </a:xfrm>
            <a:prstGeom prst="rect">
              <a:avLst/>
            </a:prstGeom>
            <a:noFill/>
          </p:spPr>
          <p:txBody>
            <a:bodyPr wrap="none" lIns="0" tIns="0" rIns="0" bIns="0" rtlCol="0" anchor="t">
              <a:noAutofit/>
            </a:bodyPr>
            <a:lstStyle/>
            <a:p>
              <a:pPr algn="r">
                <a:spcBef>
                  <a:spcPts val="0"/>
                </a:spcBef>
                <a:spcAft>
                  <a:spcPts val="0"/>
                </a:spcAft>
              </a:pPr>
              <a:r>
                <a:rPr lang="en-US" sz="1050" b="0" dirty="0">
                  <a:solidFill>
                    <a:srgbClr val="3D8BFF"/>
                  </a:solidFill>
                  <a:latin typeface="Consolas"/>
                  <a:ea typeface="Consolas"/>
                  <a:cs typeface="Consolas"/>
                </a:rPr>
                <a:t>notify</a:t>
              </a:r>
              <a:endParaRPr lang="en-US" sz="1050" dirty="0"/>
            </a:p>
          </p:txBody>
        </p:sp>
        <p:sp>
          <p:nvSpPr>
            <p:cNvPr id="55" name="Text 56"/>
            <p:cNvSpPr txBox="1"/>
            <p:nvPr/>
          </p:nvSpPr>
          <p:spPr>
            <a:xfrm>
              <a:off x="4857750" y="4806950"/>
              <a:ext cx="1543512"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9C9A94"/>
                  </a:solidFill>
                  <a:latin typeface="Segoe UI"/>
                  <a:ea typeface="Segoe UI"/>
                  <a:cs typeface="Segoe UI"/>
                </a:rPr>
                <a:t>notices every file change</a:t>
              </a:r>
              <a:endParaRPr lang="en-US" sz="1050" dirty="0"/>
            </a:p>
          </p:txBody>
        </p:sp>
        <p:sp>
          <p:nvSpPr>
            <p:cNvPr id="56" name="rect 57"/>
            <p:cNvSpPr/>
            <p:nvPr/>
          </p:nvSpPr>
          <p:spPr>
            <a:xfrm>
              <a:off x="4724400" y="5105400"/>
              <a:ext cx="2743200" cy="495300"/>
            </a:xfrm>
            <a:prstGeom prst="roundRect">
              <a:avLst>
                <a:gd name="adj" fmla="val 3846"/>
              </a:avLst>
            </a:prstGeom>
            <a:solidFill>
              <a:srgbClr val="14171B"/>
            </a:solidFill>
            <a:ln w="9525" cap="flat">
              <a:solidFill>
                <a:srgbClr val="3D8BFF">
                  <a:alpha val="40000"/>
                </a:srgbClr>
              </a:solidFill>
              <a:miter lim="800000"/>
            </a:ln>
          </p:spPr>
          <p:txBody>
            <a:bodyPr/>
            <a:lstStyle/>
            <a:p>
              <a:endParaRPr lang="en-US"/>
            </a:p>
          </p:txBody>
        </p:sp>
        <p:sp>
          <p:nvSpPr>
            <p:cNvPr id="57" name="Text 58"/>
            <p:cNvSpPr txBox="1"/>
            <p:nvPr/>
          </p:nvSpPr>
          <p:spPr>
            <a:xfrm>
              <a:off x="4857750" y="5162550"/>
              <a:ext cx="1266212"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Segoe UI"/>
                  <a:ea typeface="Segoe UI"/>
                  <a:cs typeface="Segoe UI"/>
                </a:rPr>
                <a:t>IDE / CLI detector</a:t>
              </a:r>
              <a:endParaRPr lang="en-US" sz="1200" dirty="0"/>
            </a:p>
          </p:txBody>
        </p:sp>
        <p:sp>
          <p:nvSpPr>
            <p:cNvPr id="58" name="Text 59"/>
            <p:cNvSpPr txBox="1"/>
            <p:nvPr/>
          </p:nvSpPr>
          <p:spPr>
            <a:xfrm>
              <a:off x="4857750" y="5378450"/>
              <a:ext cx="1983062"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9C9A94"/>
                  </a:solidFill>
                  <a:latin typeface="Segoe UI"/>
                  <a:ea typeface="Segoe UI"/>
                  <a:cs typeface="Segoe UI"/>
                </a:rPr>
                <a:t>finds the tools you already have</a:t>
              </a:r>
              <a:endParaRPr lang="en-US" sz="1050" dirty="0"/>
            </a:p>
          </p:txBody>
        </p:sp>
      </p:grpSp>
      <p:grpSp>
        <p:nvGrpSpPr>
          <p:cNvPr id="75" name="col-runtime"/>
          <p:cNvGrpSpPr/>
          <p:nvPr/>
        </p:nvGrpSpPr>
        <p:grpSpPr>
          <a:xfrm>
            <a:off x="8877300" y="2095500"/>
            <a:ext cx="2590800" cy="3600450"/>
            <a:chOff x="8877300" y="2095500"/>
            <a:chExt cx="2590800" cy="3600450"/>
          </a:xfrm>
        </p:grpSpPr>
        <p:sp>
          <p:nvSpPr>
            <p:cNvPr id="60" name="rect 61"/>
            <p:cNvSpPr/>
            <p:nvPr/>
          </p:nvSpPr>
          <p:spPr>
            <a:xfrm>
              <a:off x="8877300" y="2095500"/>
              <a:ext cx="2590800" cy="3600450"/>
            </a:xfrm>
            <a:prstGeom prst="roundRect">
              <a:avLst>
                <a:gd name="adj" fmla="val 735"/>
              </a:avLst>
            </a:prstGeom>
            <a:noFill/>
            <a:ln w="9525" cap="flat">
              <a:solidFill>
                <a:srgbClr val="3D8BFF">
                  <a:alpha val="60000"/>
                </a:srgbClr>
              </a:solidFill>
              <a:miter lim="800000"/>
            </a:ln>
          </p:spPr>
          <p:txBody>
            <a:bodyPr/>
            <a:lstStyle/>
            <a:p>
              <a:endParaRPr lang="en-US"/>
            </a:p>
          </p:txBody>
        </p:sp>
        <p:sp>
          <p:nvSpPr>
            <p:cNvPr id="61" name="rect 62"/>
            <p:cNvSpPr/>
            <p:nvPr/>
          </p:nvSpPr>
          <p:spPr>
            <a:xfrm>
              <a:off x="8877300" y="2095500"/>
              <a:ext cx="2590800" cy="647700"/>
            </a:xfrm>
            <a:prstGeom prst="rect">
              <a:avLst/>
            </a:prstGeom>
            <a:solidFill>
              <a:srgbClr val="3D8BFF">
                <a:alpha val="10000"/>
              </a:srgbClr>
            </a:solidFill>
            <a:ln>
              <a:noFill/>
            </a:ln>
          </p:spPr>
          <p:txBody>
            <a:bodyPr/>
            <a:lstStyle/>
            <a:p>
              <a:endParaRPr lang="en-US"/>
            </a:p>
          </p:txBody>
        </p:sp>
        <p:sp>
          <p:nvSpPr>
            <p:cNvPr id="62" name="line 63"/>
            <p:cNvSpPr/>
            <p:nvPr/>
          </p:nvSpPr>
          <p:spPr>
            <a:xfrm>
              <a:off x="8877300" y="2743200"/>
              <a:ext cx="2590800" cy="95"/>
            </a:xfrm>
            <a:custGeom>
              <a:avLst/>
              <a:gdLst/>
              <a:ahLst/>
              <a:cxnLst/>
              <a:rect l="0" t="0" r="r" b="b"/>
              <a:pathLst>
                <a:path w="2590800" h="95" fill="none">
                  <a:moveTo>
                    <a:pt x="0" y="0"/>
                  </a:moveTo>
                  <a:lnTo>
                    <a:pt x="2590800" y="0"/>
                  </a:lnTo>
                </a:path>
              </a:pathLst>
            </a:custGeom>
            <a:noFill/>
            <a:ln w="9525" cap="flat">
              <a:solidFill>
                <a:srgbClr val="3D8BFF">
                  <a:alpha val="40000"/>
                </a:srgbClr>
              </a:solidFill>
              <a:miter lim="800000"/>
            </a:ln>
          </p:spPr>
          <p:txBody>
            <a:bodyPr/>
            <a:lstStyle/>
            <a:p>
              <a:endParaRPr lang="en-US"/>
            </a:p>
          </p:txBody>
        </p:sp>
        <p:sp>
          <p:nvSpPr>
            <p:cNvPr id="63" name="Text 64"/>
            <p:cNvSpPr txBox="1"/>
            <p:nvPr/>
          </p:nvSpPr>
          <p:spPr>
            <a:xfrm>
              <a:off x="9029700" y="2159000"/>
              <a:ext cx="1863261" cy="192722"/>
            </a:xfrm>
            <a:prstGeom prst="rect">
              <a:avLst/>
            </a:prstGeom>
            <a:noFill/>
          </p:spPr>
          <p:txBody>
            <a:bodyPr wrap="none" lIns="0" tIns="0" rIns="0" bIns="0" rtlCol="0" anchor="t">
              <a:noAutofit/>
            </a:bodyPr>
            <a:lstStyle/>
            <a:p>
              <a:pPr algn="l">
                <a:spcBef>
                  <a:spcPts val="0"/>
                </a:spcBef>
                <a:spcAft>
                  <a:spcPts val="0"/>
                </a:spcAft>
              </a:pPr>
              <a:r>
                <a:rPr lang="en-US" sz="1050" b="0" spc="150" dirty="0">
                  <a:solidFill>
                    <a:srgbClr val="9C9A94"/>
                  </a:solidFill>
                  <a:latin typeface="Consolas"/>
                  <a:ea typeface="Consolas"/>
                  <a:cs typeface="Consolas"/>
                </a:rPr>
                <a:t>THE TOOLS IT DRIVES</a:t>
              </a:r>
              <a:endParaRPr lang="en-US" sz="1050" dirty="0"/>
            </a:p>
          </p:txBody>
        </p:sp>
        <p:sp>
          <p:nvSpPr>
            <p:cNvPr id="64" name="Text 65"/>
            <p:cNvSpPr txBox="1"/>
            <p:nvPr/>
          </p:nvSpPr>
          <p:spPr>
            <a:xfrm>
              <a:off x="9029700" y="2387600"/>
              <a:ext cx="1386815" cy="244158"/>
            </a:xfrm>
            <a:prstGeom prst="rect">
              <a:avLst/>
            </a:prstGeom>
            <a:noFill/>
          </p:spPr>
          <p:txBody>
            <a:bodyPr wrap="none" lIns="0" tIns="0" rIns="0" bIns="0" rtlCol="0" anchor="t">
              <a:noAutofit/>
            </a:bodyPr>
            <a:lstStyle/>
            <a:p>
              <a:pPr algn="l">
                <a:spcBef>
                  <a:spcPts val="0"/>
                </a:spcBef>
                <a:spcAft>
                  <a:spcPts val="0"/>
                </a:spcAft>
              </a:pPr>
              <a:r>
                <a:rPr lang="en-US" sz="1350" b="1" dirty="0">
                  <a:solidFill>
                    <a:srgbClr val="EDE9E2"/>
                  </a:solidFill>
                  <a:latin typeface="Bahnschrift"/>
                  <a:ea typeface="Bahnschrift"/>
                  <a:cs typeface="Bahnschrift"/>
                </a:rPr>
                <a:t>External runtime</a:t>
              </a:r>
              <a:endParaRPr lang="en-US" sz="1350" dirty="0"/>
            </a:p>
          </p:txBody>
        </p:sp>
        <p:sp>
          <p:nvSpPr>
            <p:cNvPr id="65" name="Text 66"/>
            <p:cNvSpPr txBox="1"/>
            <p:nvPr/>
          </p:nvSpPr>
          <p:spPr>
            <a:xfrm>
              <a:off x="9029700" y="2927350"/>
              <a:ext cx="1774765" cy="376872"/>
            </a:xfrm>
            <a:prstGeom prst="rect">
              <a:avLst/>
            </a:prstGeom>
            <a:noFill/>
          </p:spPr>
          <p:txBody>
            <a:bodyPr wrap="none" lIns="0" tIns="0" rIns="0" bIns="0" rtlCol="0" anchor="t">
              <a:noAutofit/>
            </a:bodyPr>
            <a:lstStyle/>
            <a:p>
              <a:pPr algn="l">
                <a:lnSpc>
                  <a:spcPts val="1400"/>
                </a:lnSpc>
                <a:spcBef>
                  <a:spcPts val="0"/>
                </a:spcBef>
                <a:spcAft>
                  <a:spcPts val="0"/>
                </a:spcAft>
              </a:pPr>
              <a:r>
                <a:rPr lang="en-US" sz="1050" b="0" dirty="0">
                  <a:solidFill>
                    <a:srgbClr val="9C9A94"/>
                  </a:solidFill>
                  <a:latin typeface="Segoe UI"/>
                  <a:ea typeface="Segoe UI"/>
                  <a:cs typeface="Segoe UI"/>
                </a:rPr>
                <a:t>Outside tools that YzPzCode</a:t>
              </a:r>
              <a:endParaRPr lang="en-US" sz="1050" dirty="0"/>
            </a:p>
            <a:p>
              <a:pPr algn="l">
                <a:lnSpc>
                  <a:spcPts val="1400"/>
                </a:lnSpc>
                <a:spcBef>
                  <a:spcPts val="0"/>
                </a:spcBef>
                <a:spcAft>
                  <a:spcPts val="0"/>
                </a:spcAft>
              </a:pPr>
              <a:r>
                <a:rPr lang="en-US" sz="1050" b="0" dirty="0">
                  <a:solidFill>
                    <a:srgbClr val="9C9A94"/>
                  </a:solidFill>
                  <a:latin typeface="Segoe UI"/>
                  <a:ea typeface="Segoe UI"/>
                  <a:cs typeface="Segoe UI"/>
                </a:rPr>
                <a:t>plugs into and drives</a:t>
              </a:r>
              <a:endParaRPr lang="en-US" sz="1050" dirty="0"/>
            </a:p>
          </p:txBody>
        </p:sp>
        <p:sp>
          <p:nvSpPr>
            <p:cNvPr id="66" name="rect 67"/>
            <p:cNvSpPr/>
            <p:nvPr/>
          </p:nvSpPr>
          <p:spPr>
            <a:xfrm>
              <a:off x="8991600" y="3390900"/>
              <a:ext cx="2362200" cy="495300"/>
            </a:xfrm>
            <a:prstGeom prst="roundRect">
              <a:avLst>
                <a:gd name="adj" fmla="val 3846"/>
              </a:avLst>
            </a:prstGeom>
            <a:solidFill>
              <a:srgbClr val="221813"/>
            </a:solidFill>
            <a:ln w="14288" cap="flat">
              <a:solidFill>
                <a:srgbClr val="FF5B1F"/>
              </a:solidFill>
              <a:miter lim="800000"/>
            </a:ln>
          </p:spPr>
          <p:txBody>
            <a:bodyPr/>
            <a:lstStyle/>
            <a:p>
              <a:endParaRPr lang="en-US"/>
            </a:p>
          </p:txBody>
        </p:sp>
        <p:sp>
          <p:nvSpPr>
            <p:cNvPr id="67" name="Text 68"/>
            <p:cNvSpPr txBox="1"/>
            <p:nvPr/>
          </p:nvSpPr>
          <p:spPr>
            <a:xfrm>
              <a:off x="9124950" y="3448050"/>
              <a:ext cx="1596360"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Segoe UI"/>
                  <a:ea typeface="Segoe UI"/>
                  <a:cs typeface="Segoe UI"/>
                </a:rPr>
                <a:t>External AI &amp; tool CLIs</a:t>
              </a:r>
              <a:endParaRPr lang="en-US" sz="1200" dirty="0"/>
            </a:p>
          </p:txBody>
        </p:sp>
        <p:sp>
          <p:nvSpPr>
            <p:cNvPr id="68" name="Text 69"/>
            <p:cNvSpPr txBox="1"/>
            <p:nvPr/>
          </p:nvSpPr>
          <p:spPr>
            <a:xfrm>
              <a:off x="9124950" y="3663950"/>
              <a:ext cx="2020577"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FF5B1F"/>
                  </a:solidFill>
                  <a:latin typeface="Consolas"/>
                  <a:ea typeface="Consolas"/>
                  <a:cs typeface="Consolas"/>
                </a:rPr>
                <a:t>Claude, Antigravity, gh...</a:t>
              </a:r>
              <a:endParaRPr lang="en-US" sz="1050" dirty="0"/>
            </a:p>
          </p:txBody>
        </p:sp>
        <p:sp>
          <p:nvSpPr>
            <p:cNvPr id="69" name="rect 70"/>
            <p:cNvSpPr/>
            <p:nvPr/>
          </p:nvSpPr>
          <p:spPr>
            <a:xfrm>
              <a:off x="8991600" y="3962400"/>
              <a:ext cx="2362200" cy="495300"/>
            </a:xfrm>
            <a:prstGeom prst="roundRect">
              <a:avLst>
                <a:gd name="adj" fmla="val 3846"/>
              </a:avLst>
            </a:prstGeom>
            <a:solidFill>
              <a:srgbClr val="14171B"/>
            </a:solidFill>
            <a:ln w="9525" cap="flat">
              <a:solidFill>
                <a:srgbClr val="3D8BFF">
                  <a:alpha val="40000"/>
                </a:srgbClr>
              </a:solidFill>
              <a:miter lim="800000"/>
            </a:ln>
          </p:spPr>
          <p:txBody>
            <a:bodyPr/>
            <a:lstStyle/>
            <a:p>
              <a:endParaRPr lang="en-US"/>
            </a:p>
          </p:txBody>
        </p:sp>
        <p:sp>
          <p:nvSpPr>
            <p:cNvPr id="70" name="Text 71"/>
            <p:cNvSpPr txBox="1"/>
            <p:nvPr/>
          </p:nvSpPr>
          <p:spPr>
            <a:xfrm>
              <a:off x="9124950" y="4019550"/>
              <a:ext cx="1394758"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Segoe UI"/>
                  <a:ea typeface="Segoe UI"/>
                  <a:cs typeface="Segoe UI"/>
                </a:rPr>
                <a:t>VSCodium reh-web</a:t>
              </a:r>
              <a:endParaRPr lang="en-US" sz="1200" dirty="0"/>
            </a:p>
          </p:txBody>
        </p:sp>
        <p:sp>
          <p:nvSpPr>
            <p:cNvPr id="71" name="Text 72"/>
            <p:cNvSpPr txBox="1"/>
            <p:nvPr/>
          </p:nvSpPr>
          <p:spPr>
            <a:xfrm>
              <a:off x="9124950" y="4235450"/>
              <a:ext cx="1029338"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3D8BFF"/>
                  </a:solidFill>
                  <a:latin typeface="Consolas"/>
                  <a:ea typeface="Consolas"/>
                  <a:cs typeface="Consolas"/>
                </a:rPr>
                <a:t>Open VSX host</a:t>
              </a:r>
              <a:endParaRPr lang="en-US" sz="1050" dirty="0"/>
            </a:p>
          </p:txBody>
        </p:sp>
        <p:sp>
          <p:nvSpPr>
            <p:cNvPr id="72" name="rect 73"/>
            <p:cNvSpPr/>
            <p:nvPr/>
          </p:nvSpPr>
          <p:spPr>
            <a:xfrm>
              <a:off x="8991600" y="4533900"/>
              <a:ext cx="2362200" cy="495300"/>
            </a:xfrm>
            <a:prstGeom prst="roundRect">
              <a:avLst>
                <a:gd name="adj" fmla="val 3846"/>
              </a:avLst>
            </a:prstGeom>
            <a:solidFill>
              <a:srgbClr val="14171B"/>
            </a:solidFill>
            <a:ln w="9525" cap="flat">
              <a:solidFill>
                <a:srgbClr val="3D8BFF">
                  <a:alpha val="40000"/>
                </a:srgbClr>
              </a:solidFill>
              <a:miter lim="800000"/>
            </a:ln>
          </p:spPr>
          <p:txBody>
            <a:bodyPr/>
            <a:lstStyle/>
            <a:p>
              <a:endParaRPr lang="en-US"/>
            </a:p>
          </p:txBody>
        </p:sp>
        <p:sp>
          <p:nvSpPr>
            <p:cNvPr id="73" name="Text 74"/>
            <p:cNvSpPr txBox="1"/>
            <p:nvPr/>
          </p:nvSpPr>
          <p:spPr>
            <a:xfrm>
              <a:off x="9124950" y="4591050"/>
              <a:ext cx="935599"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Segoe UI"/>
                  <a:ea typeface="Segoe UI"/>
                  <a:cs typeface="Segoe UI"/>
                </a:rPr>
                <a:t>External IDEs</a:t>
              </a:r>
              <a:endParaRPr lang="en-US" sz="1200" dirty="0"/>
            </a:p>
          </p:txBody>
        </p:sp>
        <p:sp>
          <p:nvSpPr>
            <p:cNvPr id="74" name="Text 75"/>
            <p:cNvSpPr txBox="1"/>
            <p:nvPr/>
          </p:nvSpPr>
          <p:spPr>
            <a:xfrm>
              <a:off x="9124950" y="4806950"/>
              <a:ext cx="1563082"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3D8BFF"/>
                  </a:solidFill>
                  <a:latin typeface="Consolas"/>
                  <a:ea typeface="Consolas"/>
                  <a:cs typeface="Consolas"/>
                </a:rPr>
                <a:t>VS Code, Cursor, Zed</a:t>
              </a:r>
              <a:endParaRPr lang="en-US" sz="1050" dirty="0"/>
            </a:p>
          </p:txBody>
        </p:sp>
      </p:grpSp>
      <p:grpSp>
        <p:nvGrpSpPr>
          <p:cNvPr id="82" name="legend"/>
          <p:cNvGrpSpPr/>
          <p:nvPr/>
        </p:nvGrpSpPr>
        <p:grpSpPr>
          <a:xfrm>
            <a:off x="9029700" y="5092700"/>
            <a:ext cx="1715335" cy="573723"/>
            <a:chOff x="9029700" y="5092700"/>
            <a:chExt cx="1715335" cy="573723"/>
          </a:xfrm>
        </p:grpSpPr>
        <p:sp>
          <p:nvSpPr>
            <p:cNvPr id="76" name="line 77"/>
            <p:cNvSpPr/>
            <p:nvPr/>
          </p:nvSpPr>
          <p:spPr>
            <a:xfrm>
              <a:off x="9029700" y="5172075"/>
              <a:ext cx="266700" cy="95"/>
            </a:xfrm>
            <a:custGeom>
              <a:avLst/>
              <a:gdLst/>
              <a:ahLst/>
              <a:cxnLst/>
              <a:rect l="0" t="0" r="r" b="b"/>
              <a:pathLst>
                <a:path w="266700" h="95" fill="none">
                  <a:moveTo>
                    <a:pt x="0" y="0"/>
                  </a:moveTo>
                  <a:lnTo>
                    <a:pt x="266700" y="0"/>
                  </a:lnTo>
                </a:path>
              </a:pathLst>
            </a:custGeom>
            <a:noFill/>
            <a:ln w="19050" cap="flat">
              <a:solidFill>
                <a:srgbClr val="FF5B1F"/>
              </a:solidFill>
              <a:miter lim="800000"/>
            </a:ln>
          </p:spPr>
          <p:txBody>
            <a:bodyPr/>
            <a:lstStyle/>
            <a:p>
              <a:endParaRPr lang="en-US"/>
            </a:p>
          </p:txBody>
        </p:sp>
        <p:sp>
          <p:nvSpPr>
            <p:cNvPr id="77" name="Text 78"/>
            <p:cNvSpPr txBox="1"/>
            <p:nvPr/>
          </p:nvSpPr>
          <p:spPr>
            <a:xfrm>
              <a:off x="9410700" y="5092700"/>
              <a:ext cx="648093"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9C9A94"/>
                  </a:solidFill>
                  <a:latin typeface="Consolas"/>
                  <a:ea typeface="Consolas"/>
                  <a:cs typeface="Consolas"/>
                </a:rPr>
                <a:t>PTY path</a:t>
              </a:r>
              <a:endParaRPr lang="en-US" sz="1050" dirty="0"/>
            </a:p>
          </p:txBody>
        </p:sp>
        <p:sp>
          <p:nvSpPr>
            <p:cNvPr id="78" name="line 79"/>
            <p:cNvSpPr/>
            <p:nvPr/>
          </p:nvSpPr>
          <p:spPr>
            <a:xfrm>
              <a:off x="9029700" y="5362575"/>
              <a:ext cx="266700" cy="95"/>
            </a:xfrm>
            <a:custGeom>
              <a:avLst/>
              <a:gdLst/>
              <a:ahLst/>
              <a:cxnLst/>
              <a:rect l="0" t="0" r="r" b="b"/>
              <a:pathLst>
                <a:path w="266700" h="95" fill="none">
                  <a:moveTo>
                    <a:pt x="0" y="0"/>
                  </a:moveTo>
                  <a:lnTo>
                    <a:pt x="266700" y="0"/>
                  </a:lnTo>
                </a:path>
              </a:pathLst>
            </a:custGeom>
            <a:noFill/>
            <a:ln w="19050" cap="flat">
              <a:solidFill>
                <a:srgbClr val="3D8BFF"/>
              </a:solidFill>
              <a:miter lim="800000"/>
            </a:ln>
          </p:spPr>
          <p:txBody>
            <a:bodyPr/>
            <a:lstStyle/>
            <a:p>
              <a:endParaRPr lang="en-US"/>
            </a:p>
          </p:txBody>
        </p:sp>
        <p:sp>
          <p:nvSpPr>
            <p:cNvPr id="79" name="Text 80"/>
            <p:cNvSpPr txBox="1"/>
            <p:nvPr/>
          </p:nvSpPr>
          <p:spPr>
            <a:xfrm>
              <a:off x="9410700" y="5283200"/>
              <a:ext cx="1105588"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9C9A94"/>
                  </a:solidFill>
                  <a:latin typeface="Consolas"/>
                  <a:ea typeface="Consolas"/>
                  <a:cs typeface="Consolas"/>
                </a:rPr>
                <a:t>IPC / loopback</a:t>
              </a:r>
              <a:endParaRPr lang="en-US" sz="1050" dirty="0"/>
            </a:p>
          </p:txBody>
        </p:sp>
        <p:sp>
          <p:nvSpPr>
            <p:cNvPr id="80" name="rect 81"/>
            <p:cNvSpPr/>
            <p:nvPr/>
          </p:nvSpPr>
          <p:spPr>
            <a:xfrm>
              <a:off x="9029700" y="5495925"/>
              <a:ext cx="266700" cy="114300"/>
            </a:xfrm>
            <a:prstGeom prst="roundRect">
              <a:avLst>
                <a:gd name="adj" fmla="val 16667"/>
              </a:avLst>
            </a:prstGeom>
            <a:noFill/>
            <a:ln w="9525" cap="flat">
              <a:solidFill>
                <a:srgbClr val="A28BFF"/>
              </a:solidFill>
              <a:miter lim="800000"/>
            </a:ln>
          </p:spPr>
          <p:txBody>
            <a:bodyPr/>
            <a:lstStyle/>
            <a:p>
              <a:endParaRPr lang="en-US"/>
            </a:p>
          </p:txBody>
        </p:sp>
        <p:sp>
          <p:nvSpPr>
            <p:cNvPr id="81" name="Text 82"/>
            <p:cNvSpPr txBox="1"/>
            <p:nvPr/>
          </p:nvSpPr>
          <p:spPr>
            <a:xfrm>
              <a:off x="9410700" y="5473700"/>
              <a:ext cx="1334335"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9C9A94"/>
                  </a:solidFill>
                  <a:latin typeface="Consolas"/>
                  <a:ea typeface="Consolas"/>
                  <a:cs typeface="Consolas"/>
                </a:rPr>
                <a:t>Studios &amp; add-ons</a:t>
              </a:r>
              <a:endParaRPr lang="en-US" sz="1050" dirty="0"/>
            </a:p>
          </p:txBody>
        </p:sp>
      </p:grpSp>
      <p:grpSp>
        <p:nvGrpSpPr>
          <p:cNvPr id="86" name="link-ipc"/>
          <p:cNvGrpSpPr/>
          <p:nvPr/>
        </p:nvGrpSpPr>
        <p:grpSpPr>
          <a:xfrm>
            <a:off x="3314700" y="3067050"/>
            <a:ext cx="1295400" cy="1094423"/>
            <a:chOff x="3314700" y="3067050"/>
            <a:chExt cx="1295400" cy="1094423"/>
          </a:xfrm>
        </p:grpSpPr>
        <p:sp>
          <p:nvSpPr>
            <p:cNvPr id="83" name="line 84"/>
            <p:cNvSpPr/>
            <p:nvPr/>
          </p:nvSpPr>
          <p:spPr>
            <a:xfrm>
              <a:off x="3314700" y="3067050"/>
              <a:ext cx="1295400" cy="95"/>
            </a:xfrm>
            <a:custGeom>
              <a:avLst/>
              <a:gdLst/>
              <a:ahLst/>
              <a:cxnLst/>
              <a:rect l="0" t="0" r="r" b="b"/>
              <a:pathLst>
                <a:path w="1295400" h="95" fill="none">
                  <a:moveTo>
                    <a:pt x="0" y="0"/>
                  </a:moveTo>
                  <a:lnTo>
                    <a:pt x="1295400" y="0"/>
                  </a:lnTo>
                </a:path>
              </a:pathLst>
            </a:custGeom>
            <a:noFill/>
            <a:ln w="19050" cap="flat">
              <a:solidFill>
                <a:srgbClr val="3D8BFF"/>
              </a:solidFill>
              <a:miter lim="800000"/>
              <a:headEnd type="triangle" w="med" len="med"/>
              <a:tailEnd type="triangle" w="med" len="med"/>
            </a:ln>
          </p:spPr>
          <p:txBody>
            <a:bodyPr/>
            <a:lstStyle/>
            <a:p>
              <a:endParaRPr lang="en-US"/>
            </a:p>
          </p:txBody>
        </p:sp>
        <p:sp>
          <p:nvSpPr>
            <p:cNvPr id="84" name="Text 85"/>
            <p:cNvSpPr txBox="1"/>
            <p:nvPr/>
          </p:nvSpPr>
          <p:spPr>
            <a:xfrm>
              <a:off x="3447731" y="3155950"/>
              <a:ext cx="1029338" cy="554990"/>
            </a:xfrm>
            <a:prstGeom prst="rect">
              <a:avLst/>
            </a:prstGeom>
            <a:noFill/>
          </p:spPr>
          <p:txBody>
            <a:bodyPr wrap="none" lIns="0" tIns="0" rIns="0" bIns="0" rtlCol="0" anchor="t">
              <a:noAutofit/>
            </a:bodyPr>
            <a:lstStyle/>
            <a:p>
              <a:pPr algn="ctr">
                <a:lnSpc>
                  <a:spcPts val="1400"/>
                </a:lnSpc>
                <a:spcBef>
                  <a:spcPts val="0"/>
                </a:spcBef>
                <a:spcAft>
                  <a:spcPts val="0"/>
                </a:spcAft>
              </a:pPr>
              <a:r>
                <a:rPr lang="en-US" sz="1200" b="1" dirty="0">
                  <a:solidFill>
                    <a:srgbClr val="EDE9E2"/>
                  </a:solidFill>
                  <a:latin typeface="Consolas"/>
                  <a:ea typeface="Consolas"/>
                  <a:cs typeface="Consolas"/>
                </a:rPr>
                <a:t>Tauri IPC</a:t>
              </a:r>
              <a:endParaRPr lang="en-US" sz="1200" dirty="0"/>
            </a:p>
            <a:p>
              <a:pPr algn="ctr">
                <a:lnSpc>
                  <a:spcPts val="1400"/>
                </a:lnSpc>
                <a:spcBef>
                  <a:spcPts val="0"/>
                </a:spcBef>
                <a:spcAft>
                  <a:spcPts val="0"/>
                </a:spcAft>
              </a:pPr>
              <a:r>
                <a:rPr lang="en-US" sz="1050" b="0" dirty="0">
                  <a:solidFill>
                    <a:srgbClr val="9C9A94"/>
                  </a:solidFill>
                  <a:latin typeface="Consolas"/>
                  <a:ea typeface="Consolas"/>
                  <a:cs typeface="Consolas"/>
                </a:rPr>
                <a:t>async invokes</a:t>
              </a:r>
              <a:endParaRPr lang="en-US" sz="1050" dirty="0"/>
            </a:p>
            <a:p>
              <a:pPr algn="ctr">
                <a:lnSpc>
                  <a:spcPts val="1400"/>
                </a:lnSpc>
                <a:spcBef>
                  <a:spcPts val="0"/>
                </a:spcBef>
                <a:spcAft>
                  <a:spcPts val="0"/>
                </a:spcAft>
              </a:pPr>
              <a:r>
                <a:rPr lang="en-US" sz="1050" b="0" dirty="0">
                  <a:solidFill>
                    <a:srgbClr val="9C9A94"/>
                  </a:solidFill>
                  <a:latin typeface="Consolas"/>
                  <a:ea typeface="Consolas"/>
                  <a:cs typeface="Consolas"/>
                </a:rPr>
                <a:t>+ events</a:t>
              </a:r>
              <a:endParaRPr lang="en-US" sz="1050" dirty="0"/>
            </a:p>
          </p:txBody>
        </p:sp>
        <p:sp>
          <p:nvSpPr>
            <p:cNvPr id="85" name="Text 86"/>
            <p:cNvSpPr txBox="1"/>
            <p:nvPr/>
          </p:nvSpPr>
          <p:spPr>
            <a:xfrm>
              <a:off x="3465405" y="3784600"/>
              <a:ext cx="993990" cy="376872"/>
            </a:xfrm>
            <a:prstGeom prst="rect">
              <a:avLst/>
            </a:prstGeom>
            <a:noFill/>
          </p:spPr>
          <p:txBody>
            <a:bodyPr wrap="none" lIns="0" tIns="0" rIns="0" bIns="0" rtlCol="0" anchor="t">
              <a:noAutofit/>
            </a:bodyPr>
            <a:lstStyle/>
            <a:p>
              <a:pPr algn="ctr">
                <a:lnSpc>
                  <a:spcPts val="1400"/>
                </a:lnSpc>
                <a:spcBef>
                  <a:spcPts val="0"/>
                </a:spcBef>
                <a:spcAft>
                  <a:spcPts val="0"/>
                </a:spcAft>
              </a:pPr>
              <a:r>
                <a:rPr lang="en-US" sz="1050" b="0" dirty="0">
                  <a:solidFill>
                    <a:srgbClr val="9C9A94"/>
                  </a:solidFill>
                  <a:latin typeface="Segoe UI"/>
                  <a:ea typeface="Segoe UI"/>
                  <a:cs typeface="Segoe UI"/>
                </a:rPr>
                <a:t>the screen asks,</a:t>
              </a:r>
              <a:endParaRPr lang="en-US" sz="1050" dirty="0"/>
            </a:p>
            <a:p>
              <a:pPr algn="ctr">
                <a:lnSpc>
                  <a:spcPts val="1400"/>
                </a:lnSpc>
                <a:spcBef>
                  <a:spcPts val="0"/>
                </a:spcBef>
                <a:spcAft>
                  <a:spcPts val="0"/>
                </a:spcAft>
              </a:pPr>
              <a:r>
                <a:rPr lang="en-US" sz="1050" b="0" dirty="0">
                  <a:solidFill>
                    <a:srgbClr val="9C9A94"/>
                  </a:solidFill>
                  <a:latin typeface="Segoe UI"/>
                  <a:ea typeface="Segoe UI"/>
                  <a:cs typeface="Segoe UI"/>
                </a:rPr>
                <a:t>the engine acts</a:t>
              </a:r>
              <a:endParaRPr lang="en-US" sz="1050" dirty="0"/>
            </a:p>
          </p:txBody>
        </p:sp>
      </p:grpSp>
      <p:grpSp>
        <p:nvGrpSpPr>
          <p:cNvPr id="90" name="link-pty"/>
          <p:cNvGrpSpPr/>
          <p:nvPr/>
        </p:nvGrpSpPr>
        <p:grpSpPr>
          <a:xfrm>
            <a:off x="7581900" y="3397250"/>
            <a:ext cx="1295400" cy="516573"/>
            <a:chOff x="7581900" y="3397250"/>
            <a:chExt cx="1295400" cy="516573"/>
          </a:xfrm>
        </p:grpSpPr>
        <p:sp>
          <p:nvSpPr>
            <p:cNvPr id="87" name="line 88"/>
            <p:cNvSpPr/>
            <p:nvPr/>
          </p:nvSpPr>
          <p:spPr>
            <a:xfrm>
              <a:off x="7581900" y="3638550"/>
              <a:ext cx="1295400" cy="95"/>
            </a:xfrm>
            <a:custGeom>
              <a:avLst/>
              <a:gdLst/>
              <a:ahLst/>
              <a:cxnLst/>
              <a:rect l="0" t="0" r="r" b="b"/>
              <a:pathLst>
                <a:path w="1295400" h="95" fill="none">
                  <a:moveTo>
                    <a:pt x="0" y="0"/>
                  </a:moveTo>
                  <a:lnTo>
                    <a:pt x="1295400" y="0"/>
                  </a:lnTo>
                </a:path>
              </a:pathLst>
            </a:custGeom>
            <a:noFill/>
            <a:ln w="19050" cap="flat">
              <a:solidFill>
                <a:srgbClr val="FF5B1F"/>
              </a:solidFill>
              <a:miter lim="800000"/>
              <a:headEnd type="triangle" w="med" len="med"/>
              <a:tailEnd type="triangle" w="med" len="med"/>
            </a:ln>
          </p:spPr>
          <p:txBody>
            <a:bodyPr/>
            <a:lstStyle/>
            <a:p>
              <a:endParaRPr lang="en-US"/>
            </a:p>
          </p:txBody>
        </p:sp>
        <p:sp>
          <p:nvSpPr>
            <p:cNvPr id="88" name="Text 89"/>
            <p:cNvSpPr txBox="1"/>
            <p:nvPr/>
          </p:nvSpPr>
          <p:spPr>
            <a:xfrm>
              <a:off x="7676806" y="3397250"/>
              <a:ext cx="1105588" cy="192722"/>
            </a:xfrm>
            <a:prstGeom prst="rect">
              <a:avLst/>
            </a:prstGeom>
            <a:noFill/>
          </p:spPr>
          <p:txBody>
            <a:bodyPr wrap="none" lIns="0" tIns="0" rIns="0" bIns="0" rtlCol="0" anchor="t">
              <a:noAutofit/>
            </a:bodyPr>
            <a:lstStyle/>
            <a:p>
              <a:pPr algn="ctr">
                <a:spcBef>
                  <a:spcPts val="0"/>
                </a:spcBef>
                <a:spcAft>
                  <a:spcPts val="0"/>
                </a:spcAft>
              </a:pPr>
              <a:r>
                <a:rPr lang="en-US" sz="1050" b="0" dirty="0">
                  <a:solidFill>
                    <a:srgbClr val="FF5B1F"/>
                  </a:solidFill>
                  <a:latin typeface="Consolas"/>
                  <a:ea typeface="Consolas"/>
                  <a:cs typeface="Consolas"/>
                </a:rPr>
                <a:t>raw PTY stream</a:t>
              </a:r>
              <a:endParaRPr lang="en-US" sz="1050" dirty="0"/>
            </a:p>
          </p:txBody>
        </p:sp>
        <p:sp>
          <p:nvSpPr>
            <p:cNvPr id="89" name="Text 90"/>
            <p:cNvSpPr txBox="1"/>
            <p:nvPr/>
          </p:nvSpPr>
          <p:spPr>
            <a:xfrm>
              <a:off x="7819350" y="3721100"/>
              <a:ext cx="820500" cy="192722"/>
            </a:xfrm>
            <a:prstGeom prst="rect">
              <a:avLst/>
            </a:prstGeom>
            <a:noFill/>
          </p:spPr>
          <p:txBody>
            <a:bodyPr wrap="none" lIns="0" tIns="0" rIns="0" bIns="0" rtlCol="0" anchor="t">
              <a:noAutofit/>
            </a:bodyPr>
            <a:lstStyle/>
            <a:p>
              <a:pPr algn="ctr">
                <a:spcBef>
                  <a:spcPts val="0"/>
                </a:spcBef>
                <a:spcAft>
                  <a:spcPts val="0"/>
                </a:spcAft>
              </a:pPr>
              <a:r>
                <a:rPr lang="en-US" sz="1050" b="0" dirty="0">
                  <a:solidFill>
                    <a:srgbClr val="9C9A94"/>
                  </a:solidFill>
                  <a:latin typeface="Segoe UI"/>
                  <a:ea typeface="Segoe UI"/>
                  <a:cs typeface="Segoe UI"/>
                </a:rPr>
                <a:t>live text feed</a:t>
              </a:r>
              <a:endParaRPr lang="en-US" sz="1050" dirty="0"/>
            </a:p>
          </p:txBody>
        </p:sp>
      </p:grpSp>
      <p:grpSp>
        <p:nvGrpSpPr>
          <p:cNvPr id="94" name="link-loopback"/>
          <p:cNvGrpSpPr/>
          <p:nvPr/>
        </p:nvGrpSpPr>
        <p:grpSpPr>
          <a:xfrm>
            <a:off x="7581900" y="4210050"/>
            <a:ext cx="1295400" cy="694372"/>
            <a:chOff x="7581900" y="4210050"/>
            <a:chExt cx="1295400" cy="694372"/>
          </a:xfrm>
        </p:grpSpPr>
        <p:sp>
          <p:nvSpPr>
            <p:cNvPr id="91" name="line 92"/>
            <p:cNvSpPr/>
            <p:nvPr/>
          </p:nvSpPr>
          <p:spPr>
            <a:xfrm>
              <a:off x="7581900" y="4210050"/>
              <a:ext cx="1295400" cy="95"/>
            </a:xfrm>
            <a:custGeom>
              <a:avLst/>
              <a:gdLst/>
              <a:ahLst/>
              <a:cxnLst/>
              <a:rect l="0" t="0" r="r" b="b"/>
              <a:pathLst>
                <a:path w="1295400" h="95" fill="none">
                  <a:moveTo>
                    <a:pt x="0" y="0"/>
                  </a:moveTo>
                  <a:lnTo>
                    <a:pt x="1295400" y="0"/>
                  </a:lnTo>
                </a:path>
              </a:pathLst>
            </a:custGeom>
            <a:noFill/>
            <a:ln w="19050" cap="flat">
              <a:solidFill>
                <a:srgbClr val="3D8BFF"/>
              </a:solidFill>
              <a:miter lim="800000"/>
              <a:headEnd type="triangle" w="med" len="med"/>
              <a:tailEnd type="triangle" w="med" len="med"/>
            </a:ln>
          </p:spPr>
          <p:txBody>
            <a:bodyPr/>
            <a:lstStyle/>
            <a:p>
              <a:endParaRPr lang="en-US"/>
            </a:p>
          </p:txBody>
        </p:sp>
        <p:sp>
          <p:nvSpPr>
            <p:cNvPr id="92" name="Text 93"/>
            <p:cNvSpPr txBox="1"/>
            <p:nvPr/>
          </p:nvSpPr>
          <p:spPr>
            <a:xfrm>
              <a:off x="7638682" y="4298950"/>
              <a:ext cx="1181837" cy="376872"/>
            </a:xfrm>
            <a:prstGeom prst="rect">
              <a:avLst/>
            </a:prstGeom>
            <a:noFill/>
          </p:spPr>
          <p:txBody>
            <a:bodyPr wrap="none" lIns="0" tIns="0" rIns="0" bIns="0" rtlCol="0" anchor="t">
              <a:noAutofit/>
            </a:bodyPr>
            <a:lstStyle/>
            <a:p>
              <a:pPr algn="ctr">
                <a:lnSpc>
                  <a:spcPts val="1400"/>
                </a:lnSpc>
                <a:spcBef>
                  <a:spcPts val="0"/>
                </a:spcBef>
                <a:spcAft>
                  <a:spcPts val="0"/>
                </a:spcAft>
              </a:pPr>
              <a:r>
                <a:rPr lang="en-US" sz="1050" b="0" dirty="0">
                  <a:solidFill>
                    <a:srgbClr val="EDE9E2"/>
                  </a:solidFill>
                  <a:latin typeface="Consolas"/>
                  <a:ea typeface="Consolas"/>
                  <a:cs typeface="Consolas"/>
                </a:rPr>
                <a:t>loopback HTTP /</a:t>
              </a:r>
              <a:endParaRPr lang="en-US" sz="1050" dirty="0"/>
            </a:p>
            <a:p>
              <a:pPr algn="ctr">
                <a:lnSpc>
                  <a:spcPts val="1400"/>
                </a:lnSpc>
                <a:spcBef>
                  <a:spcPts val="0"/>
                </a:spcBef>
                <a:spcAft>
                  <a:spcPts val="0"/>
                </a:spcAft>
              </a:pPr>
              <a:r>
                <a:rPr lang="en-US" sz="1050" b="0" dirty="0">
                  <a:solidFill>
                    <a:srgbClr val="EDE9E2"/>
                  </a:solidFill>
                  <a:latin typeface="Consolas"/>
                  <a:ea typeface="Consolas"/>
                  <a:cs typeface="Consolas"/>
                </a:rPr>
                <a:t>child webview</a:t>
              </a:r>
              <a:endParaRPr lang="en-US" sz="1050" dirty="0"/>
            </a:p>
          </p:txBody>
        </p:sp>
        <p:sp>
          <p:nvSpPr>
            <p:cNvPr id="93" name="Text 94"/>
            <p:cNvSpPr txBox="1"/>
            <p:nvPr/>
          </p:nvSpPr>
          <p:spPr>
            <a:xfrm>
              <a:off x="7731792" y="4711700"/>
              <a:ext cx="995616" cy="192722"/>
            </a:xfrm>
            <a:prstGeom prst="rect">
              <a:avLst/>
            </a:prstGeom>
            <a:noFill/>
          </p:spPr>
          <p:txBody>
            <a:bodyPr wrap="none" lIns="0" tIns="0" rIns="0" bIns="0" rtlCol="0" anchor="t">
              <a:noAutofit/>
            </a:bodyPr>
            <a:lstStyle/>
            <a:p>
              <a:pPr algn="ctr">
                <a:spcBef>
                  <a:spcPts val="0"/>
                </a:spcBef>
                <a:spcAft>
                  <a:spcPts val="0"/>
                </a:spcAft>
              </a:pPr>
              <a:r>
                <a:rPr lang="en-US" sz="1050" b="0" dirty="0">
                  <a:solidFill>
                    <a:srgbClr val="9C9A94"/>
                  </a:solidFill>
                  <a:latin typeface="Segoe UI"/>
                  <a:ea typeface="Segoe UI"/>
                  <a:cs typeface="Segoe UI"/>
                </a:rPr>
                <a:t>stays on this PC</a:t>
              </a:r>
              <a:endParaRPr lang="en-US" sz="1050" dirty="0"/>
            </a:p>
          </p:txBody>
        </p:sp>
      </p:grpSp>
      <p:grpSp>
        <p:nvGrpSpPr>
          <p:cNvPr id="112" name="stack-tags"/>
          <p:cNvGrpSpPr/>
          <p:nvPr/>
        </p:nvGrpSpPr>
        <p:grpSpPr>
          <a:xfrm>
            <a:off x="723900" y="6096000"/>
            <a:ext cx="9544050" cy="266700"/>
            <a:chOff x="723900" y="6096000"/>
            <a:chExt cx="9544050" cy="266700"/>
          </a:xfrm>
        </p:grpSpPr>
        <p:sp>
          <p:nvSpPr>
            <p:cNvPr id="95" name="Text 96"/>
            <p:cNvSpPr txBox="1"/>
            <p:nvPr/>
          </p:nvSpPr>
          <p:spPr>
            <a:xfrm>
              <a:off x="723900" y="6149975"/>
              <a:ext cx="902650" cy="192722"/>
            </a:xfrm>
            <a:prstGeom prst="rect">
              <a:avLst/>
            </a:prstGeom>
            <a:noFill/>
          </p:spPr>
          <p:txBody>
            <a:bodyPr wrap="none" lIns="0" tIns="0" rIns="0" bIns="0" rtlCol="0" anchor="t">
              <a:noAutofit/>
            </a:bodyPr>
            <a:lstStyle/>
            <a:p>
              <a:pPr algn="l">
                <a:spcBef>
                  <a:spcPts val="0"/>
                </a:spcBef>
                <a:spcAft>
                  <a:spcPts val="0"/>
                </a:spcAft>
              </a:pPr>
              <a:r>
                <a:rPr lang="en-US" sz="1050" b="0" spc="150" dirty="0">
                  <a:solidFill>
                    <a:srgbClr val="9C9A94"/>
                  </a:solidFill>
                  <a:latin typeface="Consolas"/>
                  <a:ea typeface="Consolas"/>
                  <a:cs typeface="Consolas"/>
                </a:rPr>
                <a:t>ALSO USED</a:t>
              </a:r>
              <a:endParaRPr lang="en-US" sz="1050" dirty="0"/>
            </a:p>
          </p:txBody>
        </p:sp>
        <p:sp>
          <p:nvSpPr>
            <p:cNvPr id="96" name="rect 97"/>
            <p:cNvSpPr/>
            <p:nvPr/>
          </p:nvSpPr>
          <p:spPr>
            <a:xfrm>
              <a:off x="1905000" y="6096000"/>
              <a:ext cx="1485900" cy="266700"/>
            </a:xfrm>
            <a:prstGeom prst="roundRect">
              <a:avLst>
                <a:gd name="adj" fmla="val 7143"/>
              </a:avLst>
            </a:prstGeom>
            <a:noFill/>
            <a:ln w="9525" cap="flat">
              <a:solidFill>
                <a:srgbClr val="9C9A94">
                  <a:alpha val="50000"/>
                </a:srgbClr>
              </a:solidFill>
              <a:miter lim="800000"/>
            </a:ln>
          </p:spPr>
          <p:txBody>
            <a:bodyPr/>
            <a:lstStyle/>
            <a:p>
              <a:endParaRPr lang="en-US"/>
            </a:p>
          </p:txBody>
        </p:sp>
        <p:sp>
          <p:nvSpPr>
            <p:cNvPr id="97" name="Text 98"/>
            <p:cNvSpPr txBox="1"/>
            <p:nvPr/>
          </p:nvSpPr>
          <p:spPr>
            <a:xfrm>
              <a:off x="2019300" y="6137275"/>
              <a:ext cx="1345228"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Consolas"/>
                  <a:ea typeface="Consolas"/>
                  <a:cs typeface="Consolas"/>
                </a:rPr>
                <a:t>Tailwind CSS v4</a:t>
              </a:r>
              <a:endParaRPr lang="en-US" sz="1200" dirty="0"/>
            </a:p>
          </p:txBody>
        </p:sp>
        <p:sp>
          <p:nvSpPr>
            <p:cNvPr id="98" name="rect 99"/>
            <p:cNvSpPr/>
            <p:nvPr/>
          </p:nvSpPr>
          <p:spPr>
            <a:xfrm>
              <a:off x="3486150" y="6096000"/>
              <a:ext cx="1314450" cy="266700"/>
            </a:xfrm>
            <a:prstGeom prst="roundRect">
              <a:avLst>
                <a:gd name="adj" fmla="val 7143"/>
              </a:avLst>
            </a:prstGeom>
            <a:noFill/>
            <a:ln w="9525" cap="flat">
              <a:solidFill>
                <a:srgbClr val="9C9A94">
                  <a:alpha val="50000"/>
                </a:srgbClr>
              </a:solidFill>
              <a:miter lim="800000"/>
            </a:ln>
          </p:spPr>
          <p:txBody>
            <a:bodyPr/>
            <a:lstStyle/>
            <a:p>
              <a:endParaRPr lang="en-US"/>
            </a:p>
          </p:txBody>
        </p:sp>
        <p:sp>
          <p:nvSpPr>
            <p:cNvPr id="99" name="Text 100"/>
            <p:cNvSpPr txBox="1"/>
            <p:nvPr/>
          </p:nvSpPr>
          <p:spPr>
            <a:xfrm>
              <a:off x="3600450" y="6137275"/>
              <a:ext cx="1170944"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Consolas"/>
                  <a:ea typeface="Consolas"/>
                  <a:cs typeface="Consolas"/>
                </a:rPr>
                <a:t>Framer Motion</a:t>
              </a:r>
              <a:endParaRPr lang="en-US" sz="1200" dirty="0"/>
            </a:p>
          </p:txBody>
        </p:sp>
        <p:sp>
          <p:nvSpPr>
            <p:cNvPr id="100" name="rect 101"/>
            <p:cNvSpPr/>
            <p:nvPr/>
          </p:nvSpPr>
          <p:spPr>
            <a:xfrm>
              <a:off x="4895850" y="6096000"/>
              <a:ext cx="981075" cy="266700"/>
            </a:xfrm>
            <a:prstGeom prst="roundRect">
              <a:avLst>
                <a:gd name="adj" fmla="val 7143"/>
              </a:avLst>
            </a:prstGeom>
            <a:noFill/>
            <a:ln w="9525" cap="flat">
              <a:solidFill>
                <a:srgbClr val="9C9A94">
                  <a:alpha val="50000"/>
                </a:srgbClr>
              </a:solidFill>
              <a:miter lim="800000"/>
            </a:ln>
          </p:spPr>
          <p:txBody>
            <a:bodyPr/>
            <a:lstStyle/>
            <a:p>
              <a:endParaRPr lang="en-US"/>
            </a:p>
          </p:txBody>
        </p:sp>
        <p:sp>
          <p:nvSpPr>
            <p:cNvPr id="101" name="Text 102"/>
            <p:cNvSpPr txBox="1"/>
            <p:nvPr/>
          </p:nvSpPr>
          <p:spPr>
            <a:xfrm>
              <a:off x="5010150" y="6137275"/>
              <a:ext cx="822377"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Consolas"/>
                  <a:ea typeface="Consolas"/>
                  <a:cs typeface="Consolas"/>
                </a:rPr>
                <a:t>Zustand 5</a:t>
              </a:r>
              <a:endParaRPr lang="en-US" sz="1200" dirty="0"/>
            </a:p>
          </p:txBody>
        </p:sp>
        <p:sp>
          <p:nvSpPr>
            <p:cNvPr id="102" name="rect 103"/>
            <p:cNvSpPr/>
            <p:nvPr/>
          </p:nvSpPr>
          <p:spPr>
            <a:xfrm>
              <a:off x="5972175" y="6096000"/>
              <a:ext cx="1238250" cy="266700"/>
            </a:xfrm>
            <a:prstGeom prst="roundRect">
              <a:avLst>
                <a:gd name="adj" fmla="val 7143"/>
              </a:avLst>
            </a:prstGeom>
            <a:noFill/>
            <a:ln w="9525" cap="flat">
              <a:solidFill>
                <a:srgbClr val="9C9A94">
                  <a:alpha val="50000"/>
                </a:srgbClr>
              </a:solidFill>
              <a:miter lim="800000"/>
            </a:ln>
          </p:spPr>
          <p:txBody>
            <a:bodyPr/>
            <a:lstStyle/>
            <a:p>
              <a:endParaRPr lang="en-US"/>
            </a:p>
          </p:txBody>
        </p:sp>
        <p:sp>
          <p:nvSpPr>
            <p:cNvPr id="103" name="Text 104"/>
            <p:cNvSpPr txBox="1"/>
            <p:nvPr/>
          </p:nvSpPr>
          <p:spPr>
            <a:xfrm>
              <a:off x="6086475" y="6137275"/>
              <a:ext cx="1083802"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Consolas"/>
                  <a:ea typeface="Consolas"/>
                  <a:cs typeface="Consolas"/>
                </a:rPr>
                <a:t>CodeMirror 6</a:t>
              </a:r>
              <a:endParaRPr lang="en-US" sz="1200" dirty="0"/>
            </a:p>
          </p:txBody>
        </p:sp>
        <p:sp>
          <p:nvSpPr>
            <p:cNvPr id="104" name="rect 105"/>
            <p:cNvSpPr/>
            <p:nvPr/>
          </p:nvSpPr>
          <p:spPr>
            <a:xfrm>
              <a:off x="7305675" y="6096000"/>
              <a:ext cx="647700" cy="266700"/>
            </a:xfrm>
            <a:prstGeom prst="roundRect">
              <a:avLst>
                <a:gd name="adj" fmla="val 7143"/>
              </a:avLst>
            </a:prstGeom>
            <a:noFill/>
            <a:ln w="9525" cap="flat">
              <a:solidFill>
                <a:srgbClr val="9C9A94">
                  <a:alpha val="50000"/>
                </a:srgbClr>
              </a:solidFill>
              <a:miter lim="800000"/>
            </a:ln>
          </p:spPr>
          <p:txBody>
            <a:bodyPr/>
            <a:lstStyle/>
            <a:p>
              <a:endParaRPr lang="en-US"/>
            </a:p>
          </p:txBody>
        </p:sp>
        <p:sp>
          <p:nvSpPr>
            <p:cNvPr id="105" name="Text 106"/>
            <p:cNvSpPr txBox="1"/>
            <p:nvPr/>
          </p:nvSpPr>
          <p:spPr>
            <a:xfrm>
              <a:off x="7419975" y="6137275"/>
              <a:ext cx="473809"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Consolas"/>
                  <a:ea typeface="Consolas"/>
                  <a:cs typeface="Consolas"/>
                </a:rPr>
                <a:t>tokio</a:t>
              </a:r>
              <a:endParaRPr lang="en-US" sz="1200" dirty="0"/>
            </a:p>
          </p:txBody>
        </p:sp>
        <p:sp>
          <p:nvSpPr>
            <p:cNvPr id="106" name="rect 107"/>
            <p:cNvSpPr/>
            <p:nvPr/>
          </p:nvSpPr>
          <p:spPr>
            <a:xfrm>
              <a:off x="8048625" y="6096000"/>
              <a:ext cx="647700" cy="266700"/>
            </a:xfrm>
            <a:prstGeom prst="roundRect">
              <a:avLst>
                <a:gd name="adj" fmla="val 7143"/>
              </a:avLst>
            </a:prstGeom>
            <a:noFill/>
            <a:ln w="9525" cap="flat">
              <a:solidFill>
                <a:srgbClr val="9C9A94">
                  <a:alpha val="50000"/>
                </a:srgbClr>
              </a:solidFill>
              <a:miter lim="800000"/>
            </a:ln>
          </p:spPr>
          <p:txBody>
            <a:bodyPr/>
            <a:lstStyle/>
            <a:p>
              <a:endParaRPr lang="en-US"/>
            </a:p>
          </p:txBody>
        </p:sp>
        <p:sp>
          <p:nvSpPr>
            <p:cNvPr id="107" name="Text 108"/>
            <p:cNvSpPr txBox="1"/>
            <p:nvPr/>
          </p:nvSpPr>
          <p:spPr>
            <a:xfrm>
              <a:off x="8162925" y="6137275"/>
              <a:ext cx="473809"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Consolas"/>
                  <a:ea typeface="Consolas"/>
                  <a:cs typeface="Consolas"/>
                </a:rPr>
                <a:t>pdfjs</a:t>
              </a:r>
              <a:endParaRPr lang="en-US" sz="1200" dirty="0"/>
            </a:p>
          </p:txBody>
        </p:sp>
        <p:sp>
          <p:nvSpPr>
            <p:cNvPr id="108" name="rect 109"/>
            <p:cNvSpPr/>
            <p:nvPr/>
          </p:nvSpPr>
          <p:spPr>
            <a:xfrm>
              <a:off x="8791575" y="6096000"/>
              <a:ext cx="561975" cy="266700"/>
            </a:xfrm>
            <a:prstGeom prst="roundRect">
              <a:avLst>
                <a:gd name="adj" fmla="val 7143"/>
              </a:avLst>
            </a:prstGeom>
            <a:noFill/>
            <a:ln w="9525" cap="flat">
              <a:solidFill>
                <a:srgbClr val="9C9A94">
                  <a:alpha val="50000"/>
                </a:srgbClr>
              </a:solidFill>
              <a:miter lim="800000"/>
            </a:ln>
          </p:spPr>
          <p:txBody>
            <a:bodyPr/>
            <a:lstStyle/>
            <a:p>
              <a:endParaRPr lang="en-US"/>
            </a:p>
          </p:txBody>
        </p:sp>
        <p:sp>
          <p:nvSpPr>
            <p:cNvPr id="109" name="Text 110"/>
            <p:cNvSpPr txBox="1"/>
            <p:nvPr/>
          </p:nvSpPr>
          <p:spPr>
            <a:xfrm>
              <a:off x="8905875" y="6137275"/>
              <a:ext cx="386667"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Consolas"/>
                  <a:ea typeface="Consolas"/>
                  <a:cs typeface="Consolas"/>
                </a:rPr>
                <a:t>xlsx</a:t>
              </a:r>
              <a:endParaRPr lang="en-US" sz="1200" dirty="0"/>
            </a:p>
          </p:txBody>
        </p:sp>
        <p:sp>
          <p:nvSpPr>
            <p:cNvPr id="110" name="rect 111"/>
            <p:cNvSpPr/>
            <p:nvPr/>
          </p:nvSpPr>
          <p:spPr>
            <a:xfrm>
              <a:off x="9448800" y="6096000"/>
              <a:ext cx="819150" cy="266700"/>
            </a:xfrm>
            <a:prstGeom prst="roundRect">
              <a:avLst>
                <a:gd name="adj" fmla="val 7143"/>
              </a:avLst>
            </a:prstGeom>
            <a:noFill/>
            <a:ln w="9525" cap="flat">
              <a:solidFill>
                <a:srgbClr val="9C9A94">
                  <a:alpha val="50000"/>
                </a:srgbClr>
              </a:solidFill>
              <a:miter lim="800000"/>
            </a:ln>
          </p:spPr>
          <p:txBody>
            <a:bodyPr/>
            <a:lstStyle/>
            <a:p>
              <a:endParaRPr lang="en-US"/>
            </a:p>
          </p:txBody>
        </p:sp>
        <p:sp>
          <p:nvSpPr>
            <p:cNvPr id="111" name="Text 112"/>
            <p:cNvSpPr txBox="1"/>
            <p:nvPr/>
          </p:nvSpPr>
          <p:spPr>
            <a:xfrm>
              <a:off x="9563100" y="6137275"/>
              <a:ext cx="648093"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Consolas"/>
                  <a:ea typeface="Consolas"/>
                  <a:cs typeface="Consolas"/>
                </a:rPr>
                <a:t>mammoth</a:t>
              </a:r>
              <a:endParaRPr lang="en-US" sz="1200" dirty="0"/>
            </a:p>
          </p:txBody>
        </p:sp>
      </p:grpSp>
      <p:grpSp>
        <p:nvGrpSpPr>
          <p:cNvPr id="115" name="progress-rule"/>
          <p:cNvGrpSpPr/>
          <p:nvPr/>
        </p:nvGrpSpPr>
        <p:grpSpPr>
          <a:xfrm>
            <a:off x="609600" y="6591300"/>
            <a:ext cx="10972800" cy="38100"/>
            <a:chOff x="609600" y="6591300"/>
            <a:chExt cx="10972800" cy="38100"/>
          </a:xfrm>
        </p:grpSpPr>
        <p:sp>
          <p:nvSpPr>
            <p:cNvPr id="113" name="line 114"/>
            <p:cNvSpPr/>
            <p:nvPr/>
          </p:nvSpPr>
          <p:spPr>
            <a:xfrm>
              <a:off x="609600" y="6610350"/>
              <a:ext cx="10972800" cy="95"/>
            </a:xfrm>
            <a:custGeom>
              <a:avLst/>
              <a:gdLst/>
              <a:ahLst/>
              <a:cxnLst/>
              <a:rect l="0" t="0" r="r" b="b"/>
              <a:pathLst>
                <a:path w="10972800" h="95" fill="none">
                  <a:moveTo>
                    <a:pt x="0" y="0"/>
                  </a:moveTo>
                  <a:lnTo>
                    <a:pt x="10972800" y="0"/>
                  </a:lnTo>
                </a:path>
              </a:pathLst>
            </a:custGeom>
            <a:noFill/>
            <a:ln w="9525" cap="flat">
              <a:solidFill>
                <a:srgbClr val="2A2E35"/>
              </a:solidFill>
              <a:miter lim="800000"/>
            </a:ln>
          </p:spPr>
          <p:txBody>
            <a:bodyPr/>
            <a:lstStyle/>
            <a:p>
              <a:endParaRPr lang="en-US"/>
            </a:p>
          </p:txBody>
        </p:sp>
        <p:sp>
          <p:nvSpPr>
            <p:cNvPr id="114" name="rect 115"/>
            <p:cNvSpPr/>
            <p:nvPr/>
          </p:nvSpPr>
          <p:spPr>
            <a:xfrm>
              <a:off x="609600" y="6591300"/>
              <a:ext cx="8229600" cy="38100"/>
            </a:xfrm>
            <a:prstGeom prst="roundRect">
              <a:avLst>
                <a:gd name="adj" fmla="val 50000"/>
              </a:avLst>
            </a:prstGeom>
            <a:solidFill>
              <a:srgbClr val="FF5B1F"/>
            </a:solidFill>
            <a:ln>
              <a:noFill/>
            </a:ln>
          </p:spPr>
          <p:txBody>
            <a:bodyPr/>
            <a:lstStyle/>
            <a:p>
              <a:endParaRPr lang="en-US"/>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600" fill="hold"/>
                                        <p:tgtEl>
                                          <p:spTgt spid="7"/>
                                        </p:tgtEl>
                                        <p:attrNameLst>
                                          <p:attrName>ppt_y</p:attrName>
                                        </p:attrNameLst>
                                      </p:cBhvr>
                                      <p:tavLst>
                                        <p:tav tm="0">
                                          <p:val>
                                            <p:strVal val="#ppt_y+.1"/>
                                          </p:val>
                                        </p:tav>
                                        <p:tav tm="100000">
                                          <p:val>
                                            <p:strVal val="#ppt_y"/>
                                          </p:val>
                                        </p:tav>
                                      </p:tavLst>
                                    </p:anim>
                                    <p:animEffect transition="in" filter="fade">
                                      <p:cBhvr>
                                        <p:cTn id="8" dur="600"/>
                                        <p:tgtEl>
                                          <p:spTgt spid="7"/>
                                        </p:tgtEl>
                                      </p:cBhvr>
                                    </p:animEffect>
                                  </p:childTnLst>
                                </p:cTn>
                              </p:par>
                            </p:childTnLst>
                          </p:cTn>
                        </p:par>
                        <p:par>
                          <p:cTn id="9" fill="hold">
                            <p:stCondLst>
                              <p:cond delay="600"/>
                            </p:stCondLst>
                            <p:childTnLst>
                              <p:par>
                                <p:cTn id="10" presetID="10" presetClass="entr" presetSubtype="0"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 calcmode="lin" valueType="num">
                                      <p:cBhvr additive="base">
                                        <p:cTn id="17" dur="500" fill="hold"/>
                                        <p:tgtEl>
                                          <p:spTgt spid="36"/>
                                        </p:tgtEl>
                                        <p:attrNameLst>
                                          <p:attrName>ppt_x</p:attrName>
                                        </p:attrNameLst>
                                      </p:cBhvr>
                                      <p:tavLst>
                                        <p:tav tm="0">
                                          <p:val>
                                            <p:strVal val="0-#ppt_w/2"/>
                                          </p:val>
                                        </p:tav>
                                        <p:tav tm="100000">
                                          <p:val>
                                            <p:strVal val="#ppt_x"/>
                                          </p:val>
                                        </p:tav>
                                      </p:tavLst>
                                    </p:anim>
                                    <p:anim calcmode="lin" valueType="num">
                                      <p:cBhvr additive="base">
                                        <p:cTn id="18" dur="500" fill="hold"/>
                                        <p:tgtEl>
                                          <p:spTgt spid="36"/>
                                        </p:tgtEl>
                                        <p:attrNameLst>
                                          <p:attrName>ppt_y</p:attrName>
                                        </p:attrNameLst>
                                      </p:cBhvr>
                                      <p:tavLst>
                                        <p:tav tm="0">
                                          <p:val>
                                            <p:strVal val="#ppt_y"/>
                                          </p:val>
                                        </p:tav>
                                        <p:tav tm="100000">
                                          <p:val>
                                            <p:strVal val="#ppt_y"/>
                                          </p:val>
                                        </p:tav>
                                      </p:tavLst>
                                    </p:anim>
                                  </p:childTnLst>
                                </p:cTn>
                              </p:par>
                            </p:childTnLst>
                          </p:cTn>
                        </p:par>
                        <p:par>
                          <p:cTn id="19" fill="hold">
                            <p:stCondLst>
                              <p:cond delay="500"/>
                            </p:stCondLst>
                            <p:childTnLst>
                              <p:par>
                                <p:cTn id="20" presetID="22" presetClass="entr" presetSubtype="8" fill="hold" nodeType="afterEffect">
                                  <p:stCondLst>
                                    <p:cond delay="0"/>
                                  </p:stCondLst>
                                  <p:childTnLst>
                                    <p:set>
                                      <p:cBhvr>
                                        <p:cTn id="21" dur="1" fill="hold">
                                          <p:stCondLst>
                                            <p:cond delay="0"/>
                                          </p:stCondLst>
                                        </p:cTn>
                                        <p:tgtEl>
                                          <p:spTgt spid="86"/>
                                        </p:tgtEl>
                                        <p:attrNameLst>
                                          <p:attrName>style.visibility</p:attrName>
                                        </p:attrNameLst>
                                      </p:cBhvr>
                                      <p:to>
                                        <p:strVal val="visible"/>
                                      </p:to>
                                    </p:set>
                                    <p:animEffect transition="in" filter="wipe(left)">
                                      <p:cBhvr>
                                        <p:cTn id="22" dur="500"/>
                                        <p:tgtEl>
                                          <p:spTgt spid="86"/>
                                        </p:tgtEl>
                                      </p:cBhvr>
                                    </p:animEffect>
                                  </p:childTnLst>
                                </p:cTn>
                              </p:par>
                            </p:childTnLst>
                          </p:cTn>
                        </p:par>
                        <p:par>
                          <p:cTn id="23" fill="hold">
                            <p:stCondLst>
                              <p:cond delay="1000"/>
                            </p:stCondLst>
                            <p:childTnLst>
                              <p:par>
                                <p:cTn id="24" presetID="42" presetClass="entr" presetSubtype="0" fill="hold" nodeType="afterEffect">
                                  <p:stCondLst>
                                    <p:cond delay="0"/>
                                  </p:stCondLst>
                                  <p:childTnLst>
                                    <p:set>
                                      <p:cBhvr>
                                        <p:cTn id="25" dur="1" fill="hold">
                                          <p:stCondLst>
                                            <p:cond delay="0"/>
                                          </p:stCondLst>
                                        </p:cTn>
                                        <p:tgtEl>
                                          <p:spTgt spid="59"/>
                                        </p:tgtEl>
                                        <p:attrNameLst>
                                          <p:attrName>style.visibility</p:attrName>
                                        </p:attrNameLst>
                                      </p:cBhvr>
                                      <p:to>
                                        <p:strVal val="visible"/>
                                      </p:to>
                                    </p:set>
                                    <p:anim calcmode="lin" valueType="num">
                                      <p:cBhvr>
                                        <p:cTn id="26" dur="600" fill="hold"/>
                                        <p:tgtEl>
                                          <p:spTgt spid="59"/>
                                        </p:tgtEl>
                                        <p:attrNameLst>
                                          <p:attrName>ppt_y</p:attrName>
                                        </p:attrNameLst>
                                      </p:cBhvr>
                                      <p:tavLst>
                                        <p:tav tm="0">
                                          <p:val>
                                            <p:strVal val="#ppt_y+.1"/>
                                          </p:val>
                                        </p:tav>
                                        <p:tav tm="100000">
                                          <p:val>
                                            <p:strVal val="#ppt_y"/>
                                          </p:val>
                                        </p:tav>
                                      </p:tavLst>
                                    </p:anim>
                                    <p:animEffect transition="in" filter="fade">
                                      <p:cBhvr>
                                        <p:cTn id="27" dur="600"/>
                                        <p:tgtEl>
                                          <p:spTgt spid="59"/>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2" fill="hold" nodeType="clickEffect">
                                  <p:stCondLst>
                                    <p:cond delay="0"/>
                                  </p:stCondLst>
                                  <p:childTnLst>
                                    <p:set>
                                      <p:cBhvr>
                                        <p:cTn id="31" dur="1" fill="hold">
                                          <p:stCondLst>
                                            <p:cond delay="0"/>
                                          </p:stCondLst>
                                        </p:cTn>
                                        <p:tgtEl>
                                          <p:spTgt spid="75"/>
                                        </p:tgtEl>
                                        <p:attrNameLst>
                                          <p:attrName>style.visibility</p:attrName>
                                        </p:attrNameLst>
                                      </p:cBhvr>
                                      <p:to>
                                        <p:strVal val="visible"/>
                                      </p:to>
                                    </p:set>
                                    <p:anim calcmode="lin" valueType="num">
                                      <p:cBhvr additive="base">
                                        <p:cTn id="32" dur="500" fill="hold"/>
                                        <p:tgtEl>
                                          <p:spTgt spid="75"/>
                                        </p:tgtEl>
                                        <p:attrNameLst>
                                          <p:attrName>ppt_x</p:attrName>
                                        </p:attrNameLst>
                                      </p:cBhvr>
                                      <p:tavLst>
                                        <p:tav tm="0">
                                          <p:val>
                                            <p:strVal val="1+#ppt_w/2"/>
                                          </p:val>
                                        </p:tav>
                                        <p:tav tm="100000">
                                          <p:val>
                                            <p:strVal val="#ppt_x"/>
                                          </p:val>
                                        </p:tav>
                                      </p:tavLst>
                                    </p:anim>
                                    <p:anim calcmode="lin" valueType="num">
                                      <p:cBhvr additive="base">
                                        <p:cTn id="33" dur="500" fill="hold"/>
                                        <p:tgtEl>
                                          <p:spTgt spid="75"/>
                                        </p:tgtEl>
                                        <p:attrNameLst>
                                          <p:attrName>ppt_y</p:attrName>
                                        </p:attrNameLst>
                                      </p:cBhvr>
                                      <p:tavLst>
                                        <p:tav tm="0">
                                          <p:val>
                                            <p:strVal val="#ppt_y"/>
                                          </p:val>
                                        </p:tav>
                                        <p:tav tm="100000">
                                          <p:val>
                                            <p:strVal val="#ppt_y"/>
                                          </p:val>
                                        </p:tav>
                                      </p:tavLst>
                                    </p:anim>
                                  </p:childTnLst>
                                </p:cTn>
                              </p:par>
                            </p:childTnLst>
                          </p:cTn>
                        </p:par>
                        <p:par>
                          <p:cTn id="34" fill="hold">
                            <p:stCondLst>
                              <p:cond delay="500"/>
                            </p:stCondLst>
                            <p:childTnLst>
                              <p:par>
                                <p:cTn id="35" presetID="22" presetClass="entr" presetSubtype="8" fill="hold" nodeType="afterEffect">
                                  <p:stCondLst>
                                    <p:cond delay="0"/>
                                  </p:stCondLst>
                                  <p:childTnLst>
                                    <p:set>
                                      <p:cBhvr>
                                        <p:cTn id="36" dur="1" fill="hold">
                                          <p:stCondLst>
                                            <p:cond delay="0"/>
                                          </p:stCondLst>
                                        </p:cTn>
                                        <p:tgtEl>
                                          <p:spTgt spid="90"/>
                                        </p:tgtEl>
                                        <p:attrNameLst>
                                          <p:attrName>style.visibility</p:attrName>
                                        </p:attrNameLst>
                                      </p:cBhvr>
                                      <p:to>
                                        <p:strVal val="visible"/>
                                      </p:to>
                                    </p:set>
                                    <p:animEffect transition="in" filter="wipe(left)">
                                      <p:cBhvr>
                                        <p:cTn id="37" dur="500"/>
                                        <p:tgtEl>
                                          <p:spTgt spid="90"/>
                                        </p:tgtEl>
                                      </p:cBhvr>
                                    </p:animEffect>
                                  </p:childTnLst>
                                </p:cTn>
                              </p:par>
                            </p:childTnLst>
                          </p:cTn>
                        </p:par>
                        <p:par>
                          <p:cTn id="38" fill="hold">
                            <p:stCondLst>
                              <p:cond delay="1000"/>
                            </p:stCondLst>
                            <p:childTnLst>
                              <p:par>
                                <p:cTn id="39" presetID="22" presetClass="entr" presetSubtype="8" fill="hold" nodeType="afterEffect">
                                  <p:stCondLst>
                                    <p:cond delay="0"/>
                                  </p:stCondLst>
                                  <p:childTnLst>
                                    <p:set>
                                      <p:cBhvr>
                                        <p:cTn id="40" dur="1" fill="hold">
                                          <p:stCondLst>
                                            <p:cond delay="0"/>
                                          </p:stCondLst>
                                        </p:cTn>
                                        <p:tgtEl>
                                          <p:spTgt spid="94"/>
                                        </p:tgtEl>
                                        <p:attrNameLst>
                                          <p:attrName>style.visibility</p:attrName>
                                        </p:attrNameLst>
                                      </p:cBhvr>
                                      <p:to>
                                        <p:strVal val="visible"/>
                                      </p:to>
                                    </p:set>
                                    <p:animEffect transition="in" filter="wipe(left)">
                                      <p:cBhvr>
                                        <p:cTn id="41" dur="500"/>
                                        <p:tgtEl>
                                          <p:spTgt spid="94"/>
                                        </p:tgtEl>
                                      </p:cBhvr>
                                    </p:animEffect>
                                  </p:childTnLst>
                                </p:cTn>
                              </p:par>
                              <p:par>
                                <p:cTn id="42" presetID="10" presetClass="entr" presetSubtype="0" fill="hold" nodeType="withEffect">
                                  <p:stCondLst>
                                    <p:cond delay="0"/>
                                  </p:stCondLst>
                                  <p:childTnLst>
                                    <p:set>
                                      <p:cBhvr>
                                        <p:cTn id="43" dur="1" fill="hold">
                                          <p:stCondLst>
                                            <p:cond delay="0"/>
                                          </p:stCondLst>
                                        </p:cTn>
                                        <p:tgtEl>
                                          <p:spTgt spid="82"/>
                                        </p:tgtEl>
                                        <p:attrNameLst>
                                          <p:attrName>style.visibility</p:attrName>
                                        </p:attrNameLst>
                                      </p:cBhvr>
                                      <p:to>
                                        <p:strVal val="visible"/>
                                      </p:to>
                                    </p:set>
                                    <p:animEffect transition="in" filter="fade">
                                      <p:cBhvr>
                                        <p:cTn id="44" dur="500"/>
                                        <p:tgtEl>
                                          <p:spTgt spid="82"/>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12"/>
                                        </p:tgtEl>
                                        <p:attrNameLst>
                                          <p:attrName>style.visibility</p:attrName>
                                        </p:attrNameLst>
                                      </p:cBhvr>
                                      <p:to>
                                        <p:strVal val="visible"/>
                                      </p:to>
                                    </p:set>
                                    <p:animEffect transition="in" filter="fade">
                                      <p:cBhvr>
                                        <p:cTn id="49" dur="5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B0D"/>
        </a:solidFill>
        <a:effectLst/>
      </p:bgPr>
    </p:bg>
    <p:spTree>
      <p:nvGrpSpPr>
        <p:cNvPr id="1" name=""/>
        <p:cNvGrpSpPr/>
        <p:nvPr/>
      </p:nvGrpSpPr>
      <p:grpSpPr>
        <a:xfrm>
          <a:off x="0" y="0"/>
          <a:ext cx="0" cy="0"/>
          <a:chOff x="0" y="0"/>
          <a:chExt cx="0" cy="0"/>
        </a:xfrm>
      </p:grpSpPr>
      <p:grpSp>
        <p:nvGrpSpPr>
          <p:cNvPr id="8" name="cursor-kicker"/>
          <p:cNvGrpSpPr/>
          <p:nvPr/>
        </p:nvGrpSpPr>
        <p:grpSpPr>
          <a:xfrm>
            <a:off x="609600" y="419100"/>
            <a:ext cx="3353669" cy="415290"/>
            <a:chOff x="609600" y="419100"/>
            <a:chExt cx="3353669" cy="415290"/>
          </a:xfrm>
        </p:grpSpPr>
        <p:sp>
          <p:nvSpPr>
            <p:cNvPr id="6" name="rect 7"/>
            <p:cNvSpPr/>
            <p:nvPr/>
          </p:nvSpPr>
          <p:spPr>
            <a:xfrm>
              <a:off x="609600" y="419100"/>
              <a:ext cx="457200" cy="57150"/>
            </a:xfrm>
            <a:prstGeom prst="roundRect">
              <a:avLst>
                <a:gd name="adj" fmla="val 50000"/>
              </a:avLst>
            </a:prstGeom>
            <a:solidFill>
              <a:srgbClr val="FF5B1F"/>
            </a:solidFill>
            <a:ln>
              <a:noFill/>
            </a:ln>
          </p:spPr>
          <p:txBody>
            <a:bodyPr/>
            <a:lstStyle/>
            <a:p>
              <a:endParaRPr lang="en-US"/>
            </a:p>
          </p:txBody>
        </p:sp>
        <p:sp>
          <p:nvSpPr>
            <p:cNvPr id="7" name="Text 8"/>
            <p:cNvSpPr txBox="1"/>
            <p:nvPr/>
          </p:nvSpPr>
          <p:spPr>
            <a:xfrm>
              <a:off x="609600" y="622300"/>
              <a:ext cx="3353669" cy="212090"/>
            </a:xfrm>
            <a:prstGeom prst="rect">
              <a:avLst/>
            </a:prstGeom>
            <a:noFill/>
          </p:spPr>
          <p:txBody>
            <a:bodyPr wrap="none" lIns="0" tIns="0" rIns="0" bIns="0" rtlCol="0" anchor="t">
              <a:noAutofit/>
            </a:bodyPr>
            <a:lstStyle/>
            <a:p>
              <a:pPr algn="l">
                <a:spcBef>
                  <a:spcPts val="0"/>
                </a:spcBef>
                <a:spcAft>
                  <a:spcPts val="0"/>
                </a:spcAft>
              </a:pPr>
              <a:r>
                <a:rPr lang="en-US" sz="1200" b="0" spc="150" dirty="0">
                  <a:solidFill>
                    <a:srgbClr val="9C9A94"/>
                  </a:solidFill>
                  <a:latin typeface="Consolas"/>
                  <a:ea typeface="Consolas"/>
                  <a:cs typeface="Consolas"/>
                </a:rPr>
                <a:t>YZPZCODE / LOCAL-FIRST SECURITY</a:t>
              </a:r>
              <a:endParaRPr lang="en-US" sz="1200" dirty="0"/>
            </a:p>
          </p:txBody>
        </p:sp>
      </p:grpSp>
      <p:sp>
        <p:nvSpPr>
          <p:cNvPr id="9" name="Text 10"/>
          <p:cNvSpPr txBox="1"/>
          <p:nvPr/>
        </p:nvSpPr>
        <p:spPr>
          <a:xfrm>
            <a:off x="609600" y="863600"/>
            <a:ext cx="6527962" cy="1054735"/>
          </a:xfrm>
          <a:prstGeom prst="rect">
            <a:avLst/>
          </a:prstGeom>
          <a:noFill/>
        </p:spPr>
        <p:txBody>
          <a:bodyPr wrap="none" lIns="0" tIns="0" rIns="0" bIns="0" rtlCol="0" anchor="t">
            <a:noAutofit/>
          </a:bodyPr>
          <a:lstStyle/>
          <a:p>
            <a:pPr algn="l">
              <a:lnSpc>
                <a:spcPts val="3900"/>
              </a:lnSpc>
              <a:spcBef>
                <a:spcPts val="0"/>
              </a:spcBef>
              <a:spcAft>
                <a:spcPts val="0"/>
              </a:spcAft>
            </a:pPr>
            <a:r>
              <a:rPr lang="en-US" sz="3300" b="1" dirty="0">
                <a:solidFill>
                  <a:srgbClr val="EDE9E2"/>
                </a:solidFill>
                <a:latin typeface="Bahnschrift"/>
                <a:ea typeface="Bahnschrift"/>
                <a:cs typeface="Bahnschrift"/>
              </a:rPr>
              <a:t>Your code stays on your machine,</a:t>
            </a:r>
            <a:endParaRPr lang="en-US" sz="3300" dirty="0"/>
          </a:p>
          <a:p>
            <a:pPr algn="l">
              <a:lnSpc>
                <a:spcPts val="3900"/>
              </a:lnSpc>
              <a:spcBef>
                <a:spcPts val="0"/>
              </a:spcBef>
              <a:spcAft>
                <a:spcPts val="0"/>
              </a:spcAft>
            </a:pPr>
            <a:r>
              <a:rPr lang="en-US" sz="3300" b="1" dirty="0">
                <a:solidFill>
                  <a:srgbClr val="FF5B1F"/>
                </a:solidFill>
                <a:latin typeface="Bahnschrift"/>
                <a:ea typeface="Bahnschrift"/>
                <a:cs typeface="Bahnschrift"/>
              </a:rPr>
              <a:t>by design.</a:t>
            </a:r>
            <a:endParaRPr lang="en-US" sz="3300" dirty="0"/>
          </a:p>
        </p:txBody>
      </p:sp>
      <p:grpSp>
        <p:nvGrpSpPr>
          <p:cNvPr id="17" name="hero-frame"/>
          <p:cNvGrpSpPr/>
          <p:nvPr/>
        </p:nvGrpSpPr>
        <p:grpSpPr>
          <a:xfrm>
            <a:off x="609600" y="2038350"/>
            <a:ext cx="3810000" cy="1847850"/>
            <a:chOff x="609600" y="2038350"/>
            <a:chExt cx="3810000" cy="1847850"/>
          </a:xfrm>
        </p:grpSpPr>
        <p:sp>
          <p:nvSpPr>
            <p:cNvPr id="10" name="rect 11"/>
            <p:cNvSpPr/>
            <p:nvPr/>
          </p:nvSpPr>
          <p:spPr>
            <a:xfrm>
              <a:off x="609600" y="2038350"/>
              <a:ext cx="3810000" cy="1714500"/>
            </a:xfrm>
            <a:prstGeom prst="roundRect">
              <a:avLst>
                <a:gd name="adj" fmla="val 1111"/>
              </a:avLst>
            </a:prstGeom>
            <a:solidFill>
              <a:srgbClr val="14171B"/>
            </a:solidFill>
            <a:ln>
              <a:noFill/>
            </a:ln>
          </p:spPr>
          <p:txBody>
            <a:bodyPr/>
            <a:lstStyle/>
            <a:p>
              <a:endParaRPr lang="en-US"/>
            </a:p>
          </p:txBody>
        </p:sp>
        <p:sp>
          <p:nvSpPr>
            <p:cNvPr id="11" name="path 12"/>
            <p:cNvSpPr/>
            <p:nvPr/>
          </p:nvSpPr>
          <p:spPr>
            <a:xfrm>
              <a:off x="609600" y="2038350"/>
              <a:ext cx="228600" cy="228600"/>
            </a:xfrm>
            <a:custGeom>
              <a:avLst/>
              <a:gdLst/>
              <a:ahLst/>
              <a:cxnLst/>
              <a:rect l="0" t="0" r="r" b="b"/>
              <a:pathLst>
                <a:path w="228600" h="228600" fill="none">
                  <a:moveTo>
                    <a:pt x="0" y="228600"/>
                  </a:moveTo>
                  <a:lnTo>
                    <a:pt x="0" y="0"/>
                  </a:lnTo>
                  <a:lnTo>
                    <a:pt x="228600" y="0"/>
                  </a:lnTo>
                </a:path>
              </a:pathLst>
            </a:custGeom>
            <a:noFill/>
            <a:ln w="19050" cap="flat">
              <a:solidFill>
                <a:srgbClr val="FF5B1F"/>
              </a:solidFill>
              <a:miter lim="800000"/>
            </a:ln>
          </p:spPr>
          <p:txBody>
            <a:bodyPr/>
            <a:lstStyle/>
            <a:p>
              <a:endParaRPr lang="en-US"/>
            </a:p>
          </p:txBody>
        </p:sp>
        <p:sp>
          <p:nvSpPr>
            <p:cNvPr id="12" name="path 13"/>
            <p:cNvSpPr/>
            <p:nvPr/>
          </p:nvSpPr>
          <p:spPr>
            <a:xfrm>
              <a:off x="4191000" y="2038350"/>
              <a:ext cx="228600" cy="228600"/>
            </a:xfrm>
            <a:custGeom>
              <a:avLst/>
              <a:gdLst/>
              <a:ahLst/>
              <a:cxnLst/>
              <a:rect l="0" t="0" r="r" b="b"/>
              <a:pathLst>
                <a:path w="228600" h="228600" fill="none">
                  <a:moveTo>
                    <a:pt x="0" y="0"/>
                  </a:moveTo>
                  <a:lnTo>
                    <a:pt x="228600" y="0"/>
                  </a:lnTo>
                  <a:lnTo>
                    <a:pt x="228600" y="228600"/>
                  </a:lnTo>
                </a:path>
              </a:pathLst>
            </a:custGeom>
            <a:noFill/>
            <a:ln w="19050" cap="flat">
              <a:solidFill>
                <a:srgbClr val="FF5B1F"/>
              </a:solidFill>
              <a:miter lim="800000"/>
            </a:ln>
          </p:spPr>
          <p:txBody>
            <a:bodyPr/>
            <a:lstStyle/>
            <a:p>
              <a:endParaRPr lang="en-US"/>
            </a:p>
          </p:txBody>
        </p:sp>
        <p:sp>
          <p:nvSpPr>
            <p:cNvPr id="13" name="path 14"/>
            <p:cNvSpPr/>
            <p:nvPr/>
          </p:nvSpPr>
          <p:spPr>
            <a:xfrm>
              <a:off x="609600" y="3524250"/>
              <a:ext cx="228600" cy="228600"/>
            </a:xfrm>
            <a:custGeom>
              <a:avLst/>
              <a:gdLst/>
              <a:ahLst/>
              <a:cxnLst/>
              <a:rect l="0" t="0" r="r" b="b"/>
              <a:pathLst>
                <a:path w="228600" h="228600" fill="none">
                  <a:moveTo>
                    <a:pt x="0" y="0"/>
                  </a:moveTo>
                  <a:lnTo>
                    <a:pt x="0" y="228600"/>
                  </a:lnTo>
                  <a:lnTo>
                    <a:pt x="228600" y="228600"/>
                  </a:lnTo>
                </a:path>
              </a:pathLst>
            </a:custGeom>
            <a:noFill/>
            <a:ln w="19050" cap="flat">
              <a:solidFill>
                <a:srgbClr val="FF5B1F"/>
              </a:solidFill>
              <a:miter lim="800000"/>
            </a:ln>
          </p:spPr>
          <p:txBody>
            <a:bodyPr/>
            <a:lstStyle/>
            <a:p>
              <a:endParaRPr lang="en-US"/>
            </a:p>
          </p:txBody>
        </p:sp>
        <p:sp>
          <p:nvSpPr>
            <p:cNvPr id="14" name="path 15"/>
            <p:cNvSpPr/>
            <p:nvPr/>
          </p:nvSpPr>
          <p:spPr>
            <a:xfrm>
              <a:off x="4191000" y="3524250"/>
              <a:ext cx="228600" cy="228600"/>
            </a:xfrm>
            <a:custGeom>
              <a:avLst/>
              <a:gdLst/>
              <a:ahLst/>
              <a:cxnLst/>
              <a:rect l="0" t="0" r="r" b="b"/>
              <a:pathLst>
                <a:path w="228600" h="228600" fill="none">
                  <a:moveTo>
                    <a:pt x="0" y="228600"/>
                  </a:moveTo>
                  <a:lnTo>
                    <a:pt x="228600" y="228600"/>
                  </a:lnTo>
                  <a:lnTo>
                    <a:pt x="228600" y="0"/>
                  </a:lnTo>
                </a:path>
              </a:pathLst>
            </a:custGeom>
            <a:noFill/>
            <a:ln w="19050" cap="flat">
              <a:solidFill>
                <a:srgbClr val="FF5B1F"/>
              </a:solidFill>
              <a:miter lim="800000"/>
            </a:ln>
          </p:spPr>
          <p:txBody>
            <a:bodyPr/>
            <a:lstStyle/>
            <a:p>
              <a:endParaRPr lang="en-US"/>
            </a:p>
          </p:txBody>
        </p:sp>
        <p:sp>
          <p:nvSpPr>
            <p:cNvPr id="15" name="Text 16"/>
            <p:cNvSpPr txBox="1"/>
            <p:nvPr/>
          </p:nvSpPr>
          <p:spPr>
            <a:xfrm>
              <a:off x="838200" y="2279650"/>
              <a:ext cx="2284131" cy="212090"/>
            </a:xfrm>
            <a:prstGeom prst="rect">
              <a:avLst/>
            </a:prstGeom>
            <a:noFill/>
          </p:spPr>
          <p:txBody>
            <a:bodyPr wrap="none" lIns="0" tIns="0" rIns="0" bIns="0" rtlCol="0" anchor="t">
              <a:noAutofit/>
            </a:bodyPr>
            <a:lstStyle/>
            <a:p>
              <a:pPr algn="l">
                <a:spcBef>
                  <a:spcPts val="0"/>
                </a:spcBef>
                <a:spcAft>
                  <a:spcPts val="0"/>
                </a:spcAft>
              </a:pPr>
              <a:r>
                <a:rPr lang="en-US" sz="1200" b="0" spc="150" dirty="0">
                  <a:solidFill>
                    <a:srgbClr val="9C9A94"/>
                  </a:solidFill>
                  <a:latin typeface="Consolas"/>
                  <a:ea typeface="Consolas"/>
                  <a:cs typeface="Consolas"/>
                </a:rPr>
                <a:t>STAYS ON YOUR MACHINE</a:t>
              </a:r>
              <a:endParaRPr lang="en-US" sz="1200" dirty="0"/>
            </a:p>
          </p:txBody>
        </p:sp>
        <p:sp>
          <p:nvSpPr>
            <p:cNvPr id="16" name="Text 17"/>
            <p:cNvSpPr txBox="1"/>
            <p:nvPr/>
          </p:nvSpPr>
          <p:spPr>
            <a:xfrm>
              <a:off x="838200" y="2374900"/>
              <a:ext cx="2936185" cy="1511300"/>
            </a:xfrm>
            <a:prstGeom prst="rect">
              <a:avLst/>
            </a:prstGeom>
            <a:noFill/>
          </p:spPr>
          <p:txBody>
            <a:bodyPr wrap="none" lIns="0" tIns="0" rIns="0" bIns="0" rtlCol="0" anchor="t">
              <a:noAutofit/>
            </a:bodyPr>
            <a:lstStyle/>
            <a:p>
              <a:pPr algn="l">
                <a:spcBef>
                  <a:spcPts val="0"/>
                </a:spcBef>
                <a:spcAft>
                  <a:spcPts val="0"/>
                </a:spcAft>
              </a:pPr>
              <a:r>
                <a:rPr lang="en-US" sz="9000" b="1" dirty="0">
                  <a:solidFill>
                    <a:srgbClr val="EDE9E2"/>
                  </a:solidFill>
                  <a:latin typeface="Bahnschrift"/>
                  <a:ea typeface="Bahnschrift"/>
                  <a:cs typeface="Bahnschrift"/>
                </a:rPr>
                <a:t>Local</a:t>
              </a:r>
              <a:endParaRPr lang="en-US" sz="9000" dirty="0"/>
            </a:p>
          </p:txBody>
        </p:sp>
      </p:grpSp>
      <p:sp>
        <p:nvSpPr>
          <p:cNvPr id="18" name="line 19"/>
          <p:cNvSpPr/>
          <p:nvPr/>
        </p:nvSpPr>
        <p:spPr>
          <a:xfrm>
            <a:off x="4762500" y="2038350"/>
            <a:ext cx="95" cy="4057650"/>
          </a:xfrm>
          <a:custGeom>
            <a:avLst/>
            <a:gdLst/>
            <a:ahLst/>
            <a:cxnLst/>
            <a:rect l="0" t="0" r="r" b="b"/>
            <a:pathLst>
              <a:path w="95" h="4057650" fill="none">
                <a:moveTo>
                  <a:pt x="0" y="0"/>
                </a:moveTo>
                <a:lnTo>
                  <a:pt x="0" y="4057650"/>
                </a:lnTo>
              </a:path>
            </a:pathLst>
          </a:custGeom>
          <a:noFill/>
          <a:ln w="9525" cap="flat">
            <a:solidFill>
              <a:srgbClr val="2A2E35"/>
            </a:solidFill>
            <a:miter lim="800000"/>
          </a:ln>
        </p:spPr>
        <p:txBody>
          <a:bodyPr/>
          <a:lstStyle/>
          <a:p>
            <a:endParaRPr lang="en-US"/>
          </a:p>
        </p:txBody>
      </p:sp>
      <p:grpSp>
        <p:nvGrpSpPr>
          <p:cNvPr id="25" name="statement-1"/>
          <p:cNvGrpSpPr/>
          <p:nvPr/>
        </p:nvGrpSpPr>
        <p:grpSpPr>
          <a:xfrm>
            <a:off x="5143500" y="2038350"/>
            <a:ext cx="6438900" cy="1323975"/>
            <a:chOff x="5143500" y="2038350"/>
            <a:chExt cx="6438900" cy="1323975"/>
          </a:xfrm>
        </p:grpSpPr>
        <p:sp>
          <p:nvSpPr>
            <p:cNvPr id="19" name="line 20"/>
            <p:cNvSpPr/>
            <p:nvPr/>
          </p:nvSpPr>
          <p:spPr>
            <a:xfrm>
              <a:off x="5143500" y="2038350"/>
              <a:ext cx="6438900" cy="95"/>
            </a:xfrm>
            <a:custGeom>
              <a:avLst/>
              <a:gdLst/>
              <a:ahLst/>
              <a:cxnLst/>
              <a:rect l="0" t="0" r="r" b="b"/>
              <a:pathLst>
                <a:path w="6438900" h="95" fill="none">
                  <a:moveTo>
                    <a:pt x="0" y="0"/>
                  </a:moveTo>
                  <a:lnTo>
                    <a:pt x="6438900" y="0"/>
                  </a:lnTo>
                </a:path>
              </a:pathLst>
            </a:custGeom>
            <a:noFill/>
            <a:ln w="9525" cap="flat">
              <a:solidFill>
                <a:srgbClr val="2A2E35"/>
              </a:solidFill>
              <a:miter lim="800000"/>
            </a:ln>
          </p:spPr>
          <p:txBody>
            <a:bodyPr/>
            <a:lstStyle/>
            <a:p>
              <a:endParaRPr lang="en-US"/>
            </a:p>
          </p:txBody>
        </p:sp>
        <p:sp>
          <p:nvSpPr>
            <p:cNvPr id="20" name="Text 21"/>
            <p:cNvSpPr txBox="1"/>
            <p:nvPr/>
          </p:nvSpPr>
          <p:spPr>
            <a:xfrm>
              <a:off x="5143500" y="2082800"/>
              <a:ext cx="275264" cy="919480"/>
            </a:xfrm>
            <a:prstGeom prst="rect">
              <a:avLst/>
            </a:prstGeom>
            <a:noFill/>
          </p:spPr>
          <p:txBody>
            <a:bodyPr wrap="none" lIns="0" tIns="0" rIns="0" bIns="0" rtlCol="0" anchor="t">
              <a:noAutofit/>
            </a:bodyPr>
            <a:lstStyle/>
            <a:p>
              <a:pPr algn="l">
                <a:spcBef>
                  <a:spcPts val="0"/>
                </a:spcBef>
                <a:spcAft>
                  <a:spcPts val="0"/>
                </a:spcAft>
              </a:pPr>
              <a:r>
                <a:rPr lang="en-US" sz="5400" b="1" dirty="0">
                  <a:solidFill>
                    <a:srgbClr val="EDE9E2">
                      <a:alpha val="50000"/>
                    </a:srgbClr>
                  </a:solidFill>
                  <a:latin typeface="Bahnschrift"/>
                  <a:ea typeface="Bahnschrift"/>
                  <a:cs typeface="Bahnschrift"/>
                </a:rPr>
                <a:t>1</a:t>
              </a:r>
              <a:endParaRPr lang="en-US" sz="5400" dirty="0"/>
            </a:p>
          </p:txBody>
        </p:sp>
        <p:sp>
          <p:nvSpPr>
            <p:cNvPr id="21" name="rect 22"/>
            <p:cNvSpPr/>
            <p:nvPr/>
          </p:nvSpPr>
          <p:spPr>
            <a:xfrm>
              <a:off x="6096000" y="2171700"/>
              <a:ext cx="1524000" cy="247650"/>
            </a:xfrm>
            <a:prstGeom prst="roundRect">
              <a:avLst>
                <a:gd name="adj" fmla="val 7692"/>
              </a:avLst>
            </a:prstGeom>
            <a:noFill/>
            <a:ln w="9525" cap="flat">
              <a:solidFill>
                <a:srgbClr val="3D8BFF">
                  <a:alpha val="70000"/>
                </a:srgbClr>
              </a:solidFill>
              <a:miter lim="800000"/>
            </a:ln>
          </p:spPr>
          <p:txBody>
            <a:bodyPr/>
            <a:lstStyle/>
            <a:p>
              <a:endParaRPr lang="en-US"/>
            </a:p>
          </p:txBody>
        </p:sp>
        <p:sp>
          <p:nvSpPr>
            <p:cNvPr id="22" name="Text 23"/>
            <p:cNvSpPr txBox="1"/>
            <p:nvPr/>
          </p:nvSpPr>
          <p:spPr>
            <a:xfrm>
              <a:off x="6228957" y="2203450"/>
              <a:ext cx="1258086" cy="212090"/>
            </a:xfrm>
            <a:prstGeom prst="rect">
              <a:avLst/>
            </a:prstGeom>
            <a:noFill/>
          </p:spPr>
          <p:txBody>
            <a:bodyPr wrap="none" lIns="0" tIns="0" rIns="0" bIns="0" rtlCol="0" anchor="t">
              <a:noAutofit/>
            </a:bodyPr>
            <a:lstStyle/>
            <a:p>
              <a:pPr algn="ctr">
                <a:spcBef>
                  <a:spcPts val="0"/>
                </a:spcBef>
                <a:spcAft>
                  <a:spcPts val="0"/>
                </a:spcAft>
              </a:pPr>
              <a:r>
                <a:rPr lang="en-US" sz="1200" b="0" dirty="0">
                  <a:solidFill>
                    <a:srgbClr val="3D8BFF"/>
                  </a:solidFill>
                  <a:latin typeface="Consolas"/>
                  <a:ea typeface="Consolas"/>
                  <a:cs typeface="Consolas"/>
                </a:rPr>
                <a:t>SOURCE · LOCAL</a:t>
              </a:r>
              <a:endParaRPr lang="en-US" sz="1200" dirty="0"/>
            </a:p>
          </p:txBody>
        </p:sp>
        <p:sp>
          <p:nvSpPr>
            <p:cNvPr id="23" name="Text 24"/>
            <p:cNvSpPr txBox="1"/>
            <p:nvPr/>
          </p:nvSpPr>
          <p:spPr>
            <a:xfrm>
              <a:off x="6096000" y="2451100"/>
              <a:ext cx="3023056" cy="417830"/>
            </a:xfrm>
            <a:prstGeom prst="rect">
              <a:avLst/>
            </a:prstGeom>
            <a:noFill/>
          </p:spPr>
          <p:txBody>
            <a:bodyPr wrap="none" lIns="0" tIns="0" rIns="0" bIns="0" rtlCol="0" anchor="t">
              <a:noAutofit/>
            </a:bodyPr>
            <a:lstStyle/>
            <a:p>
              <a:pPr algn="l">
                <a:spcBef>
                  <a:spcPts val="0"/>
                </a:spcBef>
                <a:spcAft>
                  <a:spcPts val="0"/>
                </a:spcAft>
              </a:pPr>
              <a:r>
                <a:rPr lang="en-US" sz="2400" b="1" dirty="0">
                  <a:solidFill>
                    <a:srgbClr val="EDE9E2"/>
                  </a:solidFill>
                  <a:latin typeface="Bahnschrift"/>
                  <a:ea typeface="Bahnschrift"/>
                  <a:cs typeface="Bahnschrift"/>
                </a:rPr>
                <a:t>Your code stays local</a:t>
              </a:r>
              <a:endParaRPr lang="en-US" sz="2400" dirty="0"/>
            </a:p>
          </p:txBody>
        </p:sp>
        <p:sp>
          <p:nvSpPr>
            <p:cNvPr id="24" name="Text 25"/>
            <p:cNvSpPr txBox="1"/>
            <p:nvPr/>
          </p:nvSpPr>
          <p:spPr>
            <a:xfrm>
              <a:off x="6096000" y="2838450"/>
              <a:ext cx="4169889" cy="523875"/>
            </a:xfrm>
            <a:prstGeom prst="rect">
              <a:avLst/>
            </a:prstGeom>
            <a:noFill/>
          </p:spPr>
          <p:txBody>
            <a:bodyPr wrap="none" lIns="0" tIns="0" rIns="0" bIns="0" rtlCol="0" anchor="t">
              <a:noAutofit/>
            </a:bodyPr>
            <a:lstStyle/>
            <a:p>
              <a:pPr algn="l">
                <a:lnSpc>
                  <a:spcPts val="2000"/>
                </a:lnSpc>
                <a:spcBef>
                  <a:spcPts val="0"/>
                </a:spcBef>
                <a:spcAft>
                  <a:spcPts val="0"/>
                </a:spcAft>
              </a:pPr>
              <a:r>
                <a:rPr lang="en-US" sz="1500" b="0" dirty="0">
                  <a:solidFill>
                    <a:srgbClr val="CFCBC3"/>
                  </a:solidFill>
                  <a:latin typeface="Segoe UI"/>
                  <a:ea typeface="Segoe UI"/>
                  <a:cs typeface="Segoe UI"/>
                </a:rPr>
                <a:t>No project files or source code are uploaded to</a:t>
              </a:r>
              <a:endParaRPr lang="en-US" sz="1500" dirty="0"/>
            </a:p>
            <a:p>
              <a:pPr algn="l">
                <a:lnSpc>
                  <a:spcPts val="2000"/>
                </a:lnSpc>
                <a:spcBef>
                  <a:spcPts val="0"/>
                </a:spcBef>
                <a:spcAft>
                  <a:spcPts val="0"/>
                </a:spcAft>
              </a:pPr>
              <a:r>
                <a:rPr lang="en-US" sz="1500" b="0" dirty="0">
                  <a:solidFill>
                    <a:srgbClr val="CFCBC3"/>
                  </a:solidFill>
                  <a:latin typeface="Segoe UI"/>
                  <a:ea typeface="Segoe UI"/>
                  <a:cs typeface="Segoe UI"/>
                </a:rPr>
                <a:t>third-party servers by YzPzCode itself.</a:t>
              </a:r>
              <a:endParaRPr lang="en-US" sz="1500" dirty="0"/>
            </a:p>
          </p:txBody>
        </p:sp>
      </p:grpSp>
      <p:grpSp>
        <p:nvGrpSpPr>
          <p:cNvPr id="32" name="statement-2"/>
          <p:cNvGrpSpPr/>
          <p:nvPr/>
        </p:nvGrpSpPr>
        <p:grpSpPr>
          <a:xfrm>
            <a:off x="5143500" y="3390900"/>
            <a:ext cx="6438900" cy="1323975"/>
            <a:chOff x="5143500" y="3390900"/>
            <a:chExt cx="6438900" cy="1323975"/>
          </a:xfrm>
        </p:grpSpPr>
        <p:sp>
          <p:nvSpPr>
            <p:cNvPr id="26" name="line 27"/>
            <p:cNvSpPr/>
            <p:nvPr/>
          </p:nvSpPr>
          <p:spPr>
            <a:xfrm>
              <a:off x="5143500" y="3390900"/>
              <a:ext cx="6438900" cy="95"/>
            </a:xfrm>
            <a:custGeom>
              <a:avLst/>
              <a:gdLst/>
              <a:ahLst/>
              <a:cxnLst/>
              <a:rect l="0" t="0" r="r" b="b"/>
              <a:pathLst>
                <a:path w="6438900" h="95" fill="none">
                  <a:moveTo>
                    <a:pt x="0" y="0"/>
                  </a:moveTo>
                  <a:lnTo>
                    <a:pt x="6438900" y="0"/>
                  </a:lnTo>
                </a:path>
              </a:pathLst>
            </a:custGeom>
            <a:noFill/>
            <a:ln w="9525" cap="flat">
              <a:solidFill>
                <a:srgbClr val="2A2E35"/>
              </a:solidFill>
              <a:miter lim="800000"/>
            </a:ln>
          </p:spPr>
          <p:txBody>
            <a:bodyPr/>
            <a:lstStyle/>
            <a:p>
              <a:endParaRPr lang="en-US"/>
            </a:p>
          </p:txBody>
        </p:sp>
        <p:sp>
          <p:nvSpPr>
            <p:cNvPr id="27" name="Text 28"/>
            <p:cNvSpPr txBox="1"/>
            <p:nvPr/>
          </p:nvSpPr>
          <p:spPr>
            <a:xfrm>
              <a:off x="5143500" y="3435350"/>
              <a:ext cx="406557" cy="919480"/>
            </a:xfrm>
            <a:prstGeom prst="rect">
              <a:avLst/>
            </a:prstGeom>
            <a:noFill/>
          </p:spPr>
          <p:txBody>
            <a:bodyPr wrap="none" lIns="0" tIns="0" rIns="0" bIns="0" rtlCol="0" anchor="t">
              <a:noAutofit/>
            </a:bodyPr>
            <a:lstStyle/>
            <a:p>
              <a:pPr algn="l">
                <a:spcBef>
                  <a:spcPts val="0"/>
                </a:spcBef>
                <a:spcAft>
                  <a:spcPts val="0"/>
                </a:spcAft>
              </a:pPr>
              <a:r>
                <a:rPr lang="en-US" sz="5400" b="1" dirty="0">
                  <a:solidFill>
                    <a:srgbClr val="EDE9E2">
                      <a:alpha val="50000"/>
                    </a:srgbClr>
                  </a:solidFill>
                  <a:latin typeface="Bahnschrift"/>
                  <a:ea typeface="Bahnschrift"/>
                  <a:cs typeface="Bahnschrift"/>
                </a:rPr>
                <a:t>2</a:t>
              </a:r>
              <a:endParaRPr lang="en-US" sz="5400" dirty="0"/>
            </a:p>
          </p:txBody>
        </p:sp>
        <p:sp>
          <p:nvSpPr>
            <p:cNvPr id="28" name="rect 29"/>
            <p:cNvSpPr/>
            <p:nvPr/>
          </p:nvSpPr>
          <p:spPr>
            <a:xfrm>
              <a:off x="6096000" y="3524250"/>
              <a:ext cx="1524000" cy="247650"/>
            </a:xfrm>
            <a:prstGeom prst="roundRect">
              <a:avLst>
                <a:gd name="adj" fmla="val 7692"/>
              </a:avLst>
            </a:prstGeom>
            <a:noFill/>
            <a:ln w="9525" cap="flat">
              <a:solidFill>
                <a:srgbClr val="3D8BFF">
                  <a:alpha val="70000"/>
                </a:srgbClr>
              </a:solidFill>
              <a:miter lim="800000"/>
            </a:ln>
          </p:spPr>
          <p:txBody>
            <a:bodyPr/>
            <a:lstStyle/>
            <a:p>
              <a:endParaRPr lang="en-US"/>
            </a:p>
          </p:txBody>
        </p:sp>
        <p:sp>
          <p:nvSpPr>
            <p:cNvPr id="29" name="Text 30"/>
            <p:cNvSpPr txBox="1"/>
            <p:nvPr/>
          </p:nvSpPr>
          <p:spPr>
            <a:xfrm>
              <a:off x="6316099" y="3556000"/>
              <a:ext cx="1083802" cy="212090"/>
            </a:xfrm>
            <a:prstGeom prst="rect">
              <a:avLst/>
            </a:prstGeom>
            <a:noFill/>
          </p:spPr>
          <p:txBody>
            <a:bodyPr wrap="none" lIns="0" tIns="0" rIns="0" bIns="0" rtlCol="0" anchor="t">
              <a:noAutofit/>
            </a:bodyPr>
            <a:lstStyle/>
            <a:p>
              <a:pPr algn="ctr">
                <a:spcBef>
                  <a:spcPts val="0"/>
                </a:spcBef>
                <a:spcAft>
                  <a:spcPts val="0"/>
                </a:spcAft>
              </a:pPr>
              <a:r>
                <a:rPr lang="en-US" sz="1200" b="0" dirty="0">
                  <a:solidFill>
                    <a:srgbClr val="3D8BFF"/>
                  </a:solidFill>
                  <a:latin typeface="Consolas"/>
                  <a:ea typeface="Consolas"/>
                  <a:cs typeface="Consolas"/>
                </a:rPr>
                <a:t>KEYS · LOCAL</a:t>
              </a:r>
              <a:endParaRPr lang="en-US" sz="1200" dirty="0"/>
            </a:p>
          </p:txBody>
        </p:sp>
        <p:sp>
          <p:nvSpPr>
            <p:cNvPr id="30" name="Text 31"/>
            <p:cNvSpPr txBox="1"/>
            <p:nvPr/>
          </p:nvSpPr>
          <p:spPr>
            <a:xfrm>
              <a:off x="6096000" y="3803650"/>
              <a:ext cx="2569083" cy="417830"/>
            </a:xfrm>
            <a:prstGeom prst="rect">
              <a:avLst/>
            </a:prstGeom>
            <a:noFill/>
          </p:spPr>
          <p:txBody>
            <a:bodyPr wrap="none" lIns="0" tIns="0" rIns="0" bIns="0" rtlCol="0" anchor="t">
              <a:noAutofit/>
            </a:bodyPr>
            <a:lstStyle/>
            <a:p>
              <a:pPr algn="l">
                <a:spcBef>
                  <a:spcPts val="0"/>
                </a:spcBef>
                <a:spcAft>
                  <a:spcPts val="0"/>
                </a:spcAft>
              </a:pPr>
              <a:r>
                <a:rPr lang="en-US" sz="2400" b="1" dirty="0">
                  <a:solidFill>
                    <a:srgbClr val="EDE9E2"/>
                  </a:solidFill>
                  <a:latin typeface="Bahnschrift"/>
                  <a:ea typeface="Bahnschrift"/>
                  <a:cs typeface="Bahnschrift"/>
                </a:rPr>
                <a:t>Secrets stay local</a:t>
              </a:r>
              <a:endParaRPr lang="en-US" sz="2400" dirty="0"/>
            </a:p>
          </p:txBody>
        </p:sp>
        <p:sp>
          <p:nvSpPr>
            <p:cNvPr id="31" name="Text 32"/>
            <p:cNvSpPr txBox="1"/>
            <p:nvPr/>
          </p:nvSpPr>
          <p:spPr>
            <a:xfrm>
              <a:off x="6096000" y="4191000"/>
              <a:ext cx="4392967" cy="523875"/>
            </a:xfrm>
            <a:prstGeom prst="rect">
              <a:avLst/>
            </a:prstGeom>
            <a:noFill/>
          </p:spPr>
          <p:txBody>
            <a:bodyPr wrap="none" lIns="0" tIns="0" rIns="0" bIns="0" rtlCol="0" anchor="t">
              <a:noAutofit/>
            </a:bodyPr>
            <a:lstStyle/>
            <a:p>
              <a:pPr algn="l">
                <a:lnSpc>
                  <a:spcPts val="2000"/>
                </a:lnSpc>
                <a:spcBef>
                  <a:spcPts val="0"/>
                </a:spcBef>
                <a:spcAft>
                  <a:spcPts val="0"/>
                </a:spcAft>
              </a:pPr>
              <a:r>
                <a:rPr lang="en-US" sz="1500" b="0" dirty="0">
                  <a:solidFill>
                    <a:srgbClr val="CFCBC3"/>
                  </a:solidFill>
                  <a:latin typeface="Segoe UI"/>
                  <a:ea typeface="Segoe UI"/>
                  <a:cs typeface="Segoe UI"/>
                </a:rPr>
                <a:t>API keys and tokens, the passwords your AI tools</a:t>
              </a:r>
              <a:endParaRPr lang="en-US" sz="1500" dirty="0"/>
            </a:p>
            <a:p>
              <a:pPr algn="l">
                <a:lnSpc>
                  <a:spcPts val="2000"/>
                </a:lnSpc>
                <a:spcBef>
                  <a:spcPts val="0"/>
                </a:spcBef>
                <a:spcAft>
                  <a:spcPts val="0"/>
                </a:spcAft>
              </a:pPr>
              <a:r>
                <a:rPr lang="en-US" sz="1500" b="0" dirty="0">
                  <a:solidFill>
                    <a:srgbClr val="CFCBC3"/>
                  </a:solidFill>
                  <a:latin typeface="Segoe UI"/>
                  <a:ea typeface="Segoe UI"/>
                  <a:cs typeface="Segoe UI"/>
                </a:rPr>
                <a:t>use, are stored exclusively on your own computer.</a:t>
              </a:r>
              <a:endParaRPr lang="en-US" sz="1500" dirty="0"/>
            </a:p>
          </p:txBody>
        </p:sp>
      </p:grpSp>
      <p:grpSp>
        <p:nvGrpSpPr>
          <p:cNvPr id="40" name="statement-3"/>
          <p:cNvGrpSpPr/>
          <p:nvPr/>
        </p:nvGrpSpPr>
        <p:grpSpPr>
          <a:xfrm>
            <a:off x="5143500" y="4743450"/>
            <a:ext cx="6438900" cy="1352645"/>
            <a:chOff x="5143500" y="4743450"/>
            <a:chExt cx="6438900" cy="1352645"/>
          </a:xfrm>
        </p:grpSpPr>
        <p:sp>
          <p:nvSpPr>
            <p:cNvPr id="33" name="line 34"/>
            <p:cNvSpPr/>
            <p:nvPr/>
          </p:nvSpPr>
          <p:spPr>
            <a:xfrm>
              <a:off x="5143500" y="4743450"/>
              <a:ext cx="6438900" cy="95"/>
            </a:xfrm>
            <a:custGeom>
              <a:avLst/>
              <a:gdLst/>
              <a:ahLst/>
              <a:cxnLst/>
              <a:rect l="0" t="0" r="r" b="b"/>
              <a:pathLst>
                <a:path w="6438900" h="95" fill="none">
                  <a:moveTo>
                    <a:pt x="0" y="0"/>
                  </a:moveTo>
                  <a:lnTo>
                    <a:pt x="6438900" y="0"/>
                  </a:lnTo>
                </a:path>
              </a:pathLst>
            </a:custGeom>
            <a:noFill/>
            <a:ln w="9525" cap="flat">
              <a:solidFill>
                <a:srgbClr val="2A2E35"/>
              </a:solidFill>
              <a:miter lim="800000"/>
            </a:ln>
          </p:spPr>
          <p:txBody>
            <a:bodyPr/>
            <a:lstStyle/>
            <a:p>
              <a:endParaRPr lang="en-US"/>
            </a:p>
          </p:txBody>
        </p:sp>
        <p:sp>
          <p:nvSpPr>
            <p:cNvPr id="34" name="Text 35"/>
            <p:cNvSpPr txBox="1"/>
            <p:nvPr/>
          </p:nvSpPr>
          <p:spPr>
            <a:xfrm>
              <a:off x="5143500" y="4787900"/>
              <a:ext cx="415263" cy="919480"/>
            </a:xfrm>
            <a:prstGeom prst="rect">
              <a:avLst/>
            </a:prstGeom>
            <a:noFill/>
          </p:spPr>
          <p:txBody>
            <a:bodyPr wrap="none" lIns="0" tIns="0" rIns="0" bIns="0" rtlCol="0" anchor="t">
              <a:noAutofit/>
            </a:bodyPr>
            <a:lstStyle/>
            <a:p>
              <a:pPr algn="l">
                <a:spcBef>
                  <a:spcPts val="0"/>
                </a:spcBef>
                <a:spcAft>
                  <a:spcPts val="0"/>
                </a:spcAft>
              </a:pPr>
              <a:r>
                <a:rPr lang="en-US" sz="5400" b="1" dirty="0">
                  <a:solidFill>
                    <a:srgbClr val="EDE9E2">
                      <a:alpha val="50000"/>
                    </a:srgbClr>
                  </a:solidFill>
                  <a:latin typeface="Bahnschrift"/>
                  <a:ea typeface="Bahnschrift"/>
                  <a:cs typeface="Bahnschrift"/>
                </a:rPr>
                <a:t>3</a:t>
              </a:r>
              <a:endParaRPr lang="en-US" sz="5400" dirty="0"/>
            </a:p>
          </p:txBody>
        </p:sp>
        <p:sp>
          <p:nvSpPr>
            <p:cNvPr id="35" name="rect 36"/>
            <p:cNvSpPr/>
            <p:nvPr/>
          </p:nvSpPr>
          <p:spPr>
            <a:xfrm>
              <a:off x="6096000" y="4876800"/>
              <a:ext cx="1524000" cy="247650"/>
            </a:xfrm>
            <a:prstGeom prst="roundRect">
              <a:avLst>
                <a:gd name="adj" fmla="val 7692"/>
              </a:avLst>
            </a:prstGeom>
            <a:noFill/>
            <a:ln w="9525" cap="flat">
              <a:solidFill>
                <a:srgbClr val="3D8BFF">
                  <a:alpha val="70000"/>
                </a:srgbClr>
              </a:solidFill>
              <a:miter lim="800000"/>
            </a:ln>
          </p:spPr>
          <p:txBody>
            <a:bodyPr/>
            <a:lstStyle/>
            <a:p>
              <a:endParaRPr lang="en-US"/>
            </a:p>
          </p:txBody>
        </p:sp>
        <p:sp>
          <p:nvSpPr>
            <p:cNvPr id="36" name="Text 37"/>
            <p:cNvSpPr txBox="1"/>
            <p:nvPr/>
          </p:nvSpPr>
          <p:spPr>
            <a:xfrm>
              <a:off x="6359670" y="4908550"/>
              <a:ext cx="996660" cy="212090"/>
            </a:xfrm>
            <a:prstGeom prst="rect">
              <a:avLst/>
            </a:prstGeom>
            <a:noFill/>
          </p:spPr>
          <p:txBody>
            <a:bodyPr wrap="none" lIns="0" tIns="0" rIns="0" bIns="0" rtlCol="0" anchor="t">
              <a:noAutofit/>
            </a:bodyPr>
            <a:lstStyle/>
            <a:p>
              <a:pPr algn="ctr">
                <a:spcBef>
                  <a:spcPts val="0"/>
                </a:spcBef>
                <a:spcAft>
                  <a:spcPts val="0"/>
                </a:spcAft>
              </a:pPr>
              <a:r>
                <a:rPr lang="en-US" sz="1200" b="0" dirty="0">
                  <a:solidFill>
                    <a:srgbClr val="3D8BFF"/>
                  </a:solidFill>
                  <a:latin typeface="Consolas"/>
                  <a:ea typeface="Consolas"/>
                  <a:cs typeface="Consolas"/>
                </a:rPr>
                <a:t>AI · DIRECT</a:t>
              </a:r>
              <a:endParaRPr lang="en-US" sz="1200" dirty="0"/>
            </a:p>
          </p:txBody>
        </p:sp>
        <p:sp>
          <p:nvSpPr>
            <p:cNvPr id="37" name="Text 38"/>
            <p:cNvSpPr txBox="1"/>
            <p:nvPr/>
          </p:nvSpPr>
          <p:spPr>
            <a:xfrm>
              <a:off x="6096000" y="5156200"/>
              <a:ext cx="3954375" cy="417830"/>
            </a:xfrm>
            <a:prstGeom prst="rect">
              <a:avLst/>
            </a:prstGeom>
            <a:noFill/>
          </p:spPr>
          <p:txBody>
            <a:bodyPr wrap="none" lIns="0" tIns="0" rIns="0" bIns="0" rtlCol="0" anchor="t">
              <a:noAutofit/>
            </a:bodyPr>
            <a:lstStyle/>
            <a:p>
              <a:pPr algn="l">
                <a:spcBef>
                  <a:spcPts val="0"/>
                </a:spcBef>
                <a:spcAft>
                  <a:spcPts val="0"/>
                </a:spcAft>
              </a:pPr>
              <a:r>
                <a:rPr lang="en-US" sz="2400" b="1" dirty="0">
                  <a:solidFill>
                    <a:srgbClr val="EDE9E2"/>
                  </a:solidFill>
                  <a:latin typeface="Bahnschrift"/>
                  <a:ea typeface="Bahnschrift"/>
                  <a:cs typeface="Bahnschrift"/>
                </a:rPr>
                <a:t>Direct provider connections</a:t>
              </a:r>
              <a:endParaRPr lang="en-US" sz="2400" dirty="0"/>
            </a:p>
          </p:txBody>
        </p:sp>
        <p:sp>
          <p:nvSpPr>
            <p:cNvPr id="38" name="Text 39"/>
            <p:cNvSpPr txBox="1"/>
            <p:nvPr/>
          </p:nvSpPr>
          <p:spPr>
            <a:xfrm>
              <a:off x="6096000" y="5543550"/>
              <a:ext cx="4284330" cy="523875"/>
            </a:xfrm>
            <a:prstGeom prst="rect">
              <a:avLst/>
            </a:prstGeom>
            <a:noFill/>
          </p:spPr>
          <p:txBody>
            <a:bodyPr wrap="none" lIns="0" tIns="0" rIns="0" bIns="0" rtlCol="0" anchor="t">
              <a:noAutofit/>
            </a:bodyPr>
            <a:lstStyle/>
            <a:p>
              <a:pPr algn="l">
                <a:lnSpc>
                  <a:spcPts val="2000"/>
                </a:lnSpc>
                <a:spcBef>
                  <a:spcPts val="0"/>
                </a:spcBef>
                <a:spcAft>
                  <a:spcPts val="0"/>
                </a:spcAft>
              </a:pPr>
              <a:r>
                <a:rPr lang="en-US" sz="1500" b="0" dirty="0">
                  <a:solidFill>
                    <a:srgbClr val="CFCBC3"/>
                  </a:solidFill>
                  <a:latin typeface="Segoe UI"/>
                  <a:ea typeface="Segoe UI"/>
                  <a:cs typeface="Segoe UI"/>
                </a:rPr>
                <a:t>Requests to Anthropic, OpenAI or other LLMs go</a:t>
              </a:r>
              <a:endParaRPr lang="en-US" sz="1500" dirty="0"/>
            </a:p>
            <a:p>
              <a:pPr algn="l">
                <a:lnSpc>
                  <a:spcPts val="2000"/>
                </a:lnSpc>
                <a:spcBef>
                  <a:spcPts val="0"/>
                </a:spcBef>
                <a:spcAft>
                  <a:spcPts val="0"/>
                </a:spcAft>
              </a:pPr>
              <a:r>
                <a:rPr lang="en-US" sz="1500" b="0" dirty="0">
                  <a:solidFill>
                    <a:srgbClr val="CFCBC3"/>
                  </a:solidFill>
                  <a:latin typeface="Segoe UI"/>
                  <a:ea typeface="Segoe UI"/>
                  <a:cs typeface="Segoe UI"/>
                </a:rPr>
                <a:t>straight to their official endpoints.</a:t>
              </a:r>
              <a:endParaRPr lang="en-US" sz="1500" dirty="0"/>
            </a:p>
          </p:txBody>
        </p:sp>
        <p:sp>
          <p:nvSpPr>
            <p:cNvPr id="39" name="line 40"/>
            <p:cNvSpPr/>
            <p:nvPr/>
          </p:nvSpPr>
          <p:spPr>
            <a:xfrm>
              <a:off x="5143500" y="6096000"/>
              <a:ext cx="6438900" cy="95"/>
            </a:xfrm>
            <a:custGeom>
              <a:avLst/>
              <a:gdLst/>
              <a:ahLst/>
              <a:cxnLst/>
              <a:rect l="0" t="0" r="r" b="b"/>
              <a:pathLst>
                <a:path w="6438900" h="95" fill="none">
                  <a:moveTo>
                    <a:pt x="0" y="0"/>
                  </a:moveTo>
                  <a:lnTo>
                    <a:pt x="6438900" y="0"/>
                  </a:lnTo>
                </a:path>
              </a:pathLst>
            </a:custGeom>
            <a:noFill/>
            <a:ln w="9525" cap="flat">
              <a:solidFill>
                <a:srgbClr val="2A2E35"/>
              </a:solidFill>
              <a:miter lim="800000"/>
            </a:ln>
          </p:spPr>
          <p:txBody>
            <a:bodyPr/>
            <a:lstStyle/>
            <a:p>
              <a:endParaRPr lang="en-US"/>
            </a:p>
          </p:txBody>
        </p:sp>
      </p:grpSp>
      <p:grpSp>
        <p:nvGrpSpPr>
          <p:cNvPr id="43" name="caption"/>
          <p:cNvGrpSpPr/>
          <p:nvPr/>
        </p:nvGrpSpPr>
        <p:grpSpPr>
          <a:xfrm>
            <a:off x="609600" y="5181600"/>
            <a:ext cx="3810000" cy="1043940"/>
            <a:chOff x="609600" y="5181600"/>
            <a:chExt cx="3810000" cy="1043940"/>
          </a:xfrm>
        </p:grpSpPr>
        <p:sp>
          <p:nvSpPr>
            <p:cNvPr id="41" name="line 42"/>
            <p:cNvSpPr/>
            <p:nvPr/>
          </p:nvSpPr>
          <p:spPr>
            <a:xfrm>
              <a:off x="609600" y="5181600"/>
              <a:ext cx="3810000" cy="95"/>
            </a:xfrm>
            <a:custGeom>
              <a:avLst/>
              <a:gdLst/>
              <a:ahLst/>
              <a:cxnLst/>
              <a:rect l="0" t="0" r="r" b="b"/>
              <a:pathLst>
                <a:path w="3810000" h="95" fill="none">
                  <a:moveTo>
                    <a:pt x="0" y="0"/>
                  </a:moveTo>
                  <a:lnTo>
                    <a:pt x="3810000" y="0"/>
                  </a:lnTo>
                </a:path>
              </a:pathLst>
            </a:custGeom>
            <a:noFill/>
            <a:ln w="9525" cap="flat">
              <a:solidFill>
                <a:srgbClr val="2A2E35"/>
              </a:solidFill>
              <a:miter lim="800000"/>
            </a:ln>
          </p:spPr>
          <p:txBody>
            <a:bodyPr/>
            <a:lstStyle/>
            <a:p>
              <a:endParaRPr lang="en-US"/>
            </a:p>
          </p:txBody>
        </p:sp>
        <p:sp>
          <p:nvSpPr>
            <p:cNvPr id="42" name="Text 43"/>
            <p:cNvSpPr txBox="1"/>
            <p:nvPr/>
          </p:nvSpPr>
          <p:spPr>
            <a:xfrm>
              <a:off x="609600" y="5289550"/>
              <a:ext cx="3097971" cy="935990"/>
            </a:xfrm>
            <a:prstGeom prst="rect">
              <a:avLst/>
            </a:prstGeom>
            <a:noFill/>
          </p:spPr>
          <p:txBody>
            <a:bodyPr wrap="none" lIns="0" tIns="0" rIns="0" bIns="0" rtlCol="0" anchor="t">
              <a:noAutofit/>
            </a:bodyPr>
            <a:lstStyle/>
            <a:p>
              <a:pPr algn="l">
                <a:lnSpc>
                  <a:spcPts val="1800"/>
                </a:lnSpc>
                <a:spcBef>
                  <a:spcPts val="0"/>
                </a:spcBef>
                <a:spcAft>
                  <a:spcPts val="0"/>
                </a:spcAft>
              </a:pPr>
              <a:r>
                <a:rPr lang="en-US" sz="1200" b="0" dirty="0">
                  <a:solidFill>
                    <a:srgbClr val="9C9A94"/>
                  </a:solidFill>
                  <a:latin typeface="Segoe UI"/>
                  <a:ea typeface="Segoe UI"/>
                  <a:cs typeface="Segoe UI"/>
                </a:rPr>
                <a:t>Extensions added to the workspace are</a:t>
              </a:r>
              <a:endParaRPr lang="en-US" sz="1200" dirty="0"/>
            </a:p>
            <a:p>
              <a:pPr algn="l">
                <a:lnSpc>
                  <a:spcPts val="1800"/>
                </a:lnSpc>
                <a:spcBef>
                  <a:spcPts val="0"/>
                </a:spcBef>
                <a:spcAft>
                  <a:spcPts val="0"/>
                </a:spcAft>
              </a:pPr>
              <a:r>
                <a:rPr lang="en-US" sz="1200" b="0" dirty="0">
                  <a:solidFill>
                    <a:srgbClr val="9C9A94"/>
                  </a:solidFill>
                  <a:latin typeface="Segoe UI"/>
                  <a:ea typeface="Segoe UI"/>
                  <a:cs typeface="Segoe UI"/>
                </a:rPr>
                <a:t>sandboxed: they cannot call the host app's</a:t>
              </a:r>
              <a:endParaRPr lang="en-US" sz="1200" dirty="0"/>
            </a:p>
            <a:p>
              <a:pPr algn="l">
                <a:lnSpc>
                  <a:spcPts val="1800"/>
                </a:lnSpc>
                <a:spcBef>
                  <a:spcPts val="0"/>
                </a:spcBef>
                <a:spcAft>
                  <a:spcPts val="0"/>
                </a:spcAft>
              </a:pPr>
              <a:r>
                <a:rPr lang="en-US" sz="1200" b="0" dirty="0">
                  <a:solidFill>
                    <a:srgbClr val="9C9A94"/>
                  </a:solidFill>
                  <a:latin typeface="Segoe UI"/>
                  <a:ea typeface="Segoe UI"/>
                  <a:cs typeface="Segoe UI"/>
                </a:rPr>
                <a:t>commands. Open source under Apache-2.0;</a:t>
              </a:r>
              <a:endParaRPr lang="en-US" sz="1200" dirty="0"/>
            </a:p>
            <a:p>
              <a:pPr algn="l">
                <a:lnSpc>
                  <a:spcPts val="1800"/>
                </a:lnSpc>
                <a:spcBef>
                  <a:spcPts val="0"/>
                </a:spcBef>
                <a:spcAft>
                  <a:spcPts val="0"/>
                </a:spcAft>
              </a:pPr>
              <a:r>
                <a:rPr lang="en-US" sz="1200" b="0" dirty="0">
                  <a:solidFill>
                    <a:srgbClr val="9C9A94"/>
                  </a:solidFill>
                  <a:latin typeface="Segoe UI"/>
                  <a:ea typeface="Segoe UI"/>
                  <a:cs typeface="Segoe UI"/>
                </a:rPr>
                <a:t>under active development.</a:t>
              </a:r>
              <a:endParaRPr lang="en-US" sz="1200" dirty="0"/>
            </a:p>
          </p:txBody>
        </p:sp>
      </p:grpSp>
      <p:grpSp>
        <p:nvGrpSpPr>
          <p:cNvPr id="47" name="progress-rule"/>
          <p:cNvGrpSpPr/>
          <p:nvPr/>
        </p:nvGrpSpPr>
        <p:grpSpPr>
          <a:xfrm>
            <a:off x="609600" y="6318250"/>
            <a:ext cx="10972800" cy="301625"/>
            <a:chOff x="609600" y="6318250"/>
            <a:chExt cx="10972800" cy="301625"/>
          </a:xfrm>
        </p:grpSpPr>
        <p:sp>
          <p:nvSpPr>
            <p:cNvPr id="44" name="line 45"/>
            <p:cNvSpPr/>
            <p:nvPr/>
          </p:nvSpPr>
          <p:spPr>
            <a:xfrm>
              <a:off x="609600" y="6591300"/>
              <a:ext cx="10972800" cy="95"/>
            </a:xfrm>
            <a:custGeom>
              <a:avLst/>
              <a:gdLst/>
              <a:ahLst/>
              <a:cxnLst/>
              <a:rect l="0" t="0" r="r" b="b"/>
              <a:pathLst>
                <a:path w="10972800" h="95" fill="none">
                  <a:moveTo>
                    <a:pt x="0" y="0"/>
                  </a:moveTo>
                  <a:lnTo>
                    <a:pt x="10972800" y="0"/>
                  </a:lnTo>
                </a:path>
              </a:pathLst>
            </a:custGeom>
            <a:noFill/>
            <a:ln w="9525" cap="flat">
              <a:solidFill>
                <a:srgbClr val="2A2E35"/>
              </a:solidFill>
              <a:miter lim="800000"/>
            </a:ln>
          </p:spPr>
          <p:txBody>
            <a:bodyPr/>
            <a:lstStyle/>
            <a:p>
              <a:endParaRPr lang="en-US"/>
            </a:p>
          </p:txBody>
        </p:sp>
        <p:sp>
          <p:nvSpPr>
            <p:cNvPr id="45" name="rect 46"/>
            <p:cNvSpPr/>
            <p:nvPr/>
          </p:nvSpPr>
          <p:spPr>
            <a:xfrm>
              <a:off x="609600" y="6562725"/>
              <a:ext cx="8915400" cy="57150"/>
            </a:xfrm>
            <a:prstGeom prst="roundRect">
              <a:avLst>
                <a:gd name="adj" fmla="val 50000"/>
              </a:avLst>
            </a:prstGeom>
            <a:solidFill>
              <a:srgbClr val="FF5B1F"/>
            </a:solidFill>
            <a:ln>
              <a:noFill/>
            </a:ln>
          </p:spPr>
          <p:txBody>
            <a:bodyPr/>
            <a:lstStyle/>
            <a:p>
              <a:endParaRPr lang="en-US"/>
            </a:p>
          </p:txBody>
        </p:sp>
        <p:sp>
          <p:nvSpPr>
            <p:cNvPr id="46" name="Text 47"/>
            <p:cNvSpPr txBox="1"/>
            <p:nvPr/>
          </p:nvSpPr>
          <p:spPr>
            <a:xfrm>
              <a:off x="10795623" y="6318250"/>
              <a:ext cx="786777" cy="212090"/>
            </a:xfrm>
            <a:prstGeom prst="rect">
              <a:avLst/>
            </a:prstGeom>
            <a:noFill/>
          </p:spPr>
          <p:txBody>
            <a:bodyPr wrap="none" lIns="0" tIns="0" rIns="0" bIns="0" rtlCol="0" anchor="t">
              <a:noAutofit/>
            </a:bodyPr>
            <a:lstStyle/>
            <a:p>
              <a:pPr algn="r">
                <a:spcBef>
                  <a:spcPts val="0"/>
                </a:spcBef>
                <a:spcAft>
                  <a:spcPts val="0"/>
                </a:spcAft>
              </a:pPr>
              <a:r>
                <a:rPr lang="en-US" sz="1200" b="0" spc="150" dirty="0">
                  <a:solidFill>
                    <a:srgbClr val="9C9A94"/>
                  </a:solidFill>
                  <a:latin typeface="Consolas"/>
                  <a:ea typeface="Consolas"/>
                  <a:cs typeface="Consolas"/>
                </a:rPr>
                <a:t>13 / 16</a:t>
              </a:r>
              <a:endParaRPr lang="en-US" sz="120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600" fill="hold"/>
                                        <p:tgtEl>
                                          <p:spTgt spid="9"/>
                                        </p:tgtEl>
                                        <p:attrNameLst>
                                          <p:attrName>ppt_y</p:attrName>
                                        </p:attrNameLst>
                                      </p:cBhvr>
                                      <p:tavLst>
                                        <p:tav tm="0">
                                          <p:val>
                                            <p:strVal val="#ppt_y+.1"/>
                                          </p:val>
                                        </p:tav>
                                        <p:tav tm="100000">
                                          <p:val>
                                            <p:strVal val="#ppt_y"/>
                                          </p:val>
                                        </p:tav>
                                      </p:tavLst>
                                    </p:anim>
                                    <p:animEffect transition="in" filter="fade">
                                      <p:cBhvr>
                                        <p:cTn id="8" dur="600"/>
                                        <p:tgtEl>
                                          <p:spTgt spid="9"/>
                                        </p:tgtEl>
                                      </p:cBhvr>
                                    </p:animEffect>
                                  </p:childTnLst>
                                </p:cTn>
                              </p:par>
                              <p:par>
                                <p:cTn id="9" presetID="10"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600"/>
                                        <p:tgtEl>
                                          <p:spTgt spid="17"/>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nodeType="clickEffect">
                                  <p:stCondLst>
                                    <p:cond delay="0"/>
                                  </p:stCondLst>
                                  <p:childTnLst>
                                    <p:set>
                                      <p:cBhvr>
                                        <p:cTn id="15" dur="1" fill="hold">
                                          <p:stCondLst>
                                            <p:cond delay="0"/>
                                          </p:stCondLst>
                                        </p:cTn>
                                        <p:tgtEl>
                                          <p:spTgt spid="25"/>
                                        </p:tgtEl>
                                        <p:attrNameLst>
                                          <p:attrName>style.visibility</p:attrName>
                                        </p:attrNameLst>
                                      </p:cBhvr>
                                      <p:to>
                                        <p:strVal val="visible"/>
                                      </p:to>
                                    </p:set>
                                    <p:anim calcmode="lin" valueType="num">
                                      <p:cBhvr>
                                        <p:cTn id="16" dur="500" fill="hold"/>
                                        <p:tgtEl>
                                          <p:spTgt spid="25"/>
                                        </p:tgtEl>
                                        <p:attrNameLst>
                                          <p:attrName>ppt_y</p:attrName>
                                        </p:attrNameLst>
                                      </p:cBhvr>
                                      <p:tavLst>
                                        <p:tav tm="0">
                                          <p:val>
                                            <p:strVal val="#ppt_y+.1"/>
                                          </p:val>
                                        </p:tav>
                                        <p:tav tm="100000">
                                          <p:val>
                                            <p:strVal val="#ppt_y"/>
                                          </p:val>
                                        </p:tav>
                                      </p:tavLst>
                                    </p:anim>
                                    <p:animEffect transition="in" filter="fade">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 calcmode="lin" valueType="num">
                                      <p:cBhvr>
                                        <p:cTn id="22" dur="500" fill="hold"/>
                                        <p:tgtEl>
                                          <p:spTgt spid="32"/>
                                        </p:tgtEl>
                                        <p:attrNameLst>
                                          <p:attrName>ppt_y</p:attrName>
                                        </p:attrNameLst>
                                      </p:cBhvr>
                                      <p:tavLst>
                                        <p:tav tm="0">
                                          <p:val>
                                            <p:strVal val="#ppt_y+.1"/>
                                          </p:val>
                                        </p:tav>
                                        <p:tav tm="100000">
                                          <p:val>
                                            <p:strVal val="#ppt_y"/>
                                          </p:val>
                                        </p:tav>
                                      </p:tavLst>
                                    </p:anim>
                                    <p:animEffect transition="in" filter="fade">
                                      <p:cBhvr>
                                        <p:cTn id="23" dur="500"/>
                                        <p:tgtEl>
                                          <p:spTgt spid="32"/>
                                        </p:tgtEl>
                                      </p:cBhvr>
                                    </p:animEffect>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0"/>
                                        </p:tgtEl>
                                        <p:attrNameLst>
                                          <p:attrName>style.visibility</p:attrName>
                                        </p:attrNameLst>
                                      </p:cBhvr>
                                      <p:to>
                                        <p:strVal val="visible"/>
                                      </p:to>
                                    </p:set>
                                    <p:anim calcmode="lin" valueType="num">
                                      <p:cBhvr>
                                        <p:cTn id="28" dur="500" fill="hold"/>
                                        <p:tgtEl>
                                          <p:spTgt spid="40"/>
                                        </p:tgtEl>
                                        <p:attrNameLst>
                                          <p:attrName>ppt_y</p:attrName>
                                        </p:attrNameLst>
                                      </p:cBhvr>
                                      <p:tavLst>
                                        <p:tav tm="0">
                                          <p:val>
                                            <p:strVal val="#ppt_y+.1"/>
                                          </p:val>
                                        </p:tav>
                                        <p:tav tm="100000">
                                          <p:val>
                                            <p:strVal val="#ppt_y"/>
                                          </p:val>
                                        </p:tav>
                                      </p:tavLst>
                                    </p:anim>
                                    <p:animEffect transition="in" filter="fade">
                                      <p:cBhvr>
                                        <p:cTn id="29" dur="500"/>
                                        <p:tgtEl>
                                          <p:spTgt spid="40"/>
                                        </p:tgtEl>
                                      </p:cBhvr>
                                    </p:animEffect>
                                  </p:childTnLst>
                                </p:cTn>
                              </p:par>
                            </p:childTnLst>
                          </p:cTn>
                        </p:par>
                        <p:par>
                          <p:cTn id="30" fill="hold">
                            <p:stCondLst>
                              <p:cond delay="500"/>
                            </p:stCondLst>
                            <p:childTnLst>
                              <p:par>
                                <p:cTn id="31" presetID="10" presetClass="entr" presetSubtype="0" fill="hold" nodeType="afterEffect">
                                  <p:stCondLst>
                                    <p:cond delay="0"/>
                                  </p:stCondLst>
                                  <p:childTnLst>
                                    <p:set>
                                      <p:cBhvr>
                                        <p:cTn id="32" dur="1" fill="hold">
                                          <p:stCondLst>
                                            <p:cond delay="0"/>
                                          </p:stCondLst>
                                        </p:cTn>
                                        <p:tgtEl>
                                          <p:spTgt spid="43"/>
                                        </p:tgtEl>
                                        <p:attrNameLst>
                                          <p:attrName>style.visibility</p:attrName>
                                        </p:attrNameLst>
                                      </p:cBhvr>
                                      <p:to>
                                        <p:strVal val="visible"/>
                                      </p:to>
                                    </p:set>
                                    <p:animEffect transition="in" filter="fade">
                                      <p:cBhvr>
                                        <p:cTn id="33"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B0D"/>
        </a:solidFill>
        <a:effectLst/>
      </p:bgPr>
    </p:bg>
    <p:spTree>
      <p:nvGrpSpPr>
        <p:cNvPr id="1" name=""/>
        <p:cNvGrpSpPr/>
        <p:nvPr/>
      </p:nvGrpSpPr>
      <p:grpSpPr>
        <a:xfrm>
          <a:off x="0" y="0"/>
          <a:ext cx="0" cy="0"/>
          <a:chOff x="0" y="0"/>
          <a:chExt cx="0" cy="0"/>
        </a:xfrm>
      </p:grpSpPr>
      <p:grpSp>
        <p:nvGrpSpPr>
          <p:cNvPr id="4" name="cursor-kicker"/>
          <p:cNvGrpSpPr/>
          <p:nvPr/>
        </p:nvGrpSpPr>
        <p:grpSpPr>
          <a:xfrm>
            <a:off x="609600" y="419100"/>
            <a:ext cx="2284131" cy="415290"/>
            <a:chOff x="609600" y="419100"/>
            <a:chExt cx="2284131" cy="415290"/>
          </a:xfrm>
        </p:grpSpPr>
        <p:sp>
          <p:nvSpPr>
            <p:cNvPr id="2" name="rect 3"/>
            <p:cNvSpPr/>
            <p:nvPr/>
          </p:nvSpPr>
          <p:spPr>
            <a:xfrm>
              <a:off x="609600" y="419100"/>
              <a:ext cx="457200" cy="57150"/>
            </a:xfrm>
            <a:prstGeom prst="roundRect">
              <a:avLst>
                <a:gd name="adj" fmla="val 50000"/>
              </a:avLst>
            </a:prstGeom>
            <a:solidFill>
              <a:srgbClr val="FF5B1F"/>
            </a:solidFill>
            <a:ln>
              <a:noFill/>
            </a:ln>
          </p:spPr>
          <p:txBody>
            <a:bodyPr/>
            <a:lstStyle/>
            <a:p>
              <a:endParaRPr lang="en-US"/>
            </a:p>
          </p:txBody>
        </p:sp>
        <p:sp>
          <p:nvSpPr>
            <p:cNvPr id="3" name="Text 4"/>
            <p:cNvSpPr txBox="1"/>
            <p:nvPr/>
          </p:nvSpPr>
          <p:spPr>
            <a:xfrm>
              <a:off x="609600" y="622300"/>
              <a:ext cx="2284131" cy="212090"/>
            </a:xfrm>
            <a:prstGeom prst="rect">
              <a:avLst/>
            </a:prstGeom>
            <a:noFill/>
          </p:spPr>
          <p:txBody>
            <a:bodyPr wrap="none" lIns="0" tIns="0" rIns="0" bIns="0" rtlCol="0" anchor="t">
              <a:noAutofit/>
            </a:bodyPr>
            <a:lstStyle/>
            <a:p>
              <a:pPr algn="l">
                <a:spcBef>
                  <a:spcPts val="0"/>
                </a:spcBef>
                <a:spcAft>
                  <a:spcPts val="0"/>
                </a:spcAft>
              </a:pPr>
              <a:r>
                <a:rPr lang="en-US" sz="1200" b="0" spc="150" dirty="0">
                  <a:solidFill>
                    <a:srgbClr val="9C9A94"/>
                  </a:solidFill>
                  <a:latin typeface="Consolas"/>
                  <a:ea typeface="Consolas"/>
                  <a:cs typeface="Consolas"/>
                </a:rPr>
                <a:t>YZPZCODE / APPEARANCE</a:t>
              </a:r>
              <a:endParaRPr lang="en-US" sz="1200" dirty="0"/>
            </a:p>
          </p:txBody>
        </p:sp>
      </p:grpSp>
      <p:sp>
        <p:nvSpPr>
          <p:cNvPr id="5" name="Text 6"/>
          <p:cNvSpPr txBox="1"/>
          <p:nvPr/>
        </p:nvSpPr>
        <p:spPr>
          <a:xfrm>
            <a:off x="10795623" y="622300"/>
            <a:ext cx="786777" cy="212090"/>
          </a:xfrm>
          <a:prstGeom prst="rect">
            <a:avLst/>
          </a:prstGeom>
          <a:noFill/>
        </p:spPr>
        <p:txBody>
          <a:bodyPr wrap="none" lIns="0" tIns="0" rIns="0" bIns="0" rtlCol="0" anchor="t">
            <a:noAutofit/>
          </a:bodyPr>
          <a:lstStyle/>
          <a:p>
            <a:pPr algn="r">
              <a:spcBef>
                <a:spcPts val="0"/>
              </a:spcBef>
              <a:spcAft>
                <a:spcPts val="0"/>
              </a:spcAft>
            </a:pPr>
            <a:r>
              <a:rPr lang="en-US" sz="1200" b="0" spc="150" dirty="0">
                <a:solidFill>
                  <a:srgbClr val="9C9A94"/>
                </a:solidFill>
                <a:latin typeface="Consolas"/>
                <a:ea typeface="Consolas"/>
                <a:cs typeface="Consolas"/>
              </a:rPr>
              <a:t>14 / 16</a:t>
            </a:r>
            <a:endParaRPr lang="en-US" sz="1200" dirty="0"/>
          </a:p>
        </p:txBody>
      </p:sp>
      <p:sp>
        <p:nvSpPr>
          <p:cNvPr id="6" name="Text 7"/>
          <p:cNvSpPr txBox="1"/>
          <p:nvPr/>
        </p:nvSpPr>
        <p:spPr>
          <a:xfrm>
            <a:off x="609600" y="977900"/>
            <a:ext cx="5983557" cy="1073785"/>
          </a:xfrm>
          <a:prstGeom prst="rect">
            <a:avLst/>
          </a:prstGeom>
          <a:noFill/>
        </p:spPr>
        <p:txBody>
          <a:bodyPr wrap="none" lIns="0" tIns="0" rIns="0" bIns="0" rtlCol="0" anchor="t">
            <a:noAutofit/>
          </a:bodyPr>
          <a:lstStyle/>
          <a:p>
            <a:pPr algn="l">
              <a:lnSpc>
                <a:spcPts val="4100"/>
              </a:lnSpc>
              <a:spcBef>
                <a:spcPts val="0"/>
              </a:spcBef>
              <a:spcAft>
                <a:spcPts val="0"/>
              </a:spcAft>
            </a:pPr>
            <a:r>
              <a:rPr lang="en-US" sz="3300" b="1" dirty="0">
                <a:solidFill>
                  <a:srgbClr val="EDE9E2"/>
                </a:solidFill>
                <a:latin typeface="Bahnschrift"/>
                <a:ea typeface="Bahnschrift"/>
                <a:cs typeface="Bahnschrift"/>
              </a:rPr>
              <a:t>Make it yours: </a:t>
            </a:r>
            <a:r>
              <a:rPr lang="en-US" sz="3300" b="1" dirty="0">
                <a:solidFill>
                  <a:srgbClr val="FF5B1F"/>
                </a:solidFill>
                <a:latin typeface="Bahnschrift"/>
                <a:ea typeface="Bahnschrift"/>
                <a:cs typeface="Bahnschrift"/>
              </a:rPr>
              <a:t>eight accents,</a:t>
            </a:r>
            <a:endParaRPr lang="en-US" sz="3300" dirty="0"/>
          </a:p>
          <a:p>
            <a:pPr algn="l">
              <a:lnSpc>
                <a:spcPts val="4100"/>
              </a:lnSpc>
              <a:spcBef>
                <a:spcPts val="0"/>
              </a:spcBef>
              <a:spcAft>
                <a:spcPts val="0"/>
              </a:spcAft>
            </a:pPr>
            <a:r>
              <a:rPr lang="en-US" sz="3300" b="1" dirty="0">
                <a:solidFill>
                  <a:srgbClr val="EDE9E2"/>
                </a:solidFill>
                <a:latin typeface="Bahnschrift"/>
                <a:ea typeface="Bahnschrift"/>
                <a:cs typeface="Bahnschrift"/>
              </a:rPr>
              <a:t>a living aurora, three densities</a:t>
            </a:r>
            <a:endParaRPr lang="en-US" sz="3300" dirty="0"/>
          </a:p>
        </p:txBody>
      </p:sp>
      <p:grpSp>
        <p:nvGrpSpPr>
          <p:cNvPr id="11" name="mode-tag"/>
          <p:cNvGrpSpPr/>
          <p:nvPr/>
        </p:nvGrpSpPr>
        <p:grpSpPr>
          <a:xfrm>
            <a:off x="9296400" y="1104900"/>
            <a:ext cx="2286000" cy="571500"/>
            <a:chOff x="9296400" y="1104900"/>
            <a:chExt cx="2286000" cy="571500"/>
          </a:xfrm>
        </p:grpSpPr>
        <p:sp>
          <p:nvSpPr>
            <p:cNvPr id="7" name="rect 8"/>
            <p:cNvSpPr/>
            <p:nvPr/>
          </p:nvSpPr>
          <p:spPr>
            <a:xfrm>
              <a:off x="9296400" y="1104900"/>
              <a:ext cx="2286000" cy="571500"/>
            </a:xfrm>
            <a:prstGeom prst="roundRect">
              <a:avLst>
                <a:gd name="adj" fmla="val 3333"/>
              </a:avLst>
            </a:prstGeom>
            <a:noFill/>
            <a:ln w="9525" cap="flat">
              <a:solidFill>
                <a:srgbClr val="9C9A94">
                  <a:alpha val="50000"/>
                </a:srgbClr>
              </a:solidFill>
              <a:miter lim="800000"/>
            </a:ln>
          </p:spPr>
          <p:txBody>
            <a:bodyPr/>
            <a:lstStyle/>
            <a:p>
              <a:endParaRPr lang="en-US"/>
            </a:p>
          </p:txBody>
        </p:sp>
        <p:sp>
          <p:nvSpPr>
            <p:cNvPr id="8" name="circle 9"/>
            <p:cNvSpPr/>
            <p:nvPr/>
          </p:nvSpPr>
          <p:spPr>
            <a:xfrm>
              <a:off x="9448800" y="1295400"/>
              <a:ext cx="190500" cy="190500"/>
            </a:xfrm>
            <a:prstGeom prst="ellipse">
              <a:avLst/>
            </a:prstGeom>
            <a:noFill/>
            <a:ln w="14288" cap="flat">
              <a:solidFill>
                <a:srgbClr val="9C9A94"/>
              </a:solidFill>
              <a:miter lim="800000"/>
            </a:ln>
          </p:spPr>
          <p:txBody>
            <a:bodyPr/>
            <a:lstStyle/>
            <a:p>
              <a:endParaRPr lang="en-US"/>
            </a:p>
          </p:txBody>
        </p:sp>
        <p:sp>
          <p:nvSpPr>
            <p:cNvPr id="9" name="path 10"/>
            <p:cNvSpPr/>
            <p:nvPr/>
          </p:nvSpPr>
          <p:spPr>
            <a:xfrm>
              <a:off x="9544050" y="1295400"/>
              <a:ext cx="95250" cy="190500"/>
            </a:xfrm>
            <a:custGeom>
              <a:avLst/>
              <a:gdLst/>
              <a:ahLst/>
              <a:cxnLst/>
              <a:rect l="0" t="0" r="r" b="b"/>
              <a:pathLst>
                <a:path w="95250" h="190500">
                  <a:moveTo>
                    <a:pt x="0" y="0"/>
                  </a:moveTo>
                  <a:cubicBezTo>
                    <a:pt x="52605" y="0"/>
                    <a:pt x="95250" y="42645"/>
                    <a:pt x="95250" y="95250"/>
                  </a:cubicBezTo>
                  <a:cubicBezTo>
                    <a:pt x="95250" y="147855"/>
                    <a:pt x="52605" y="190500"/>
                    <a:pt x="0" y="190500"/>
                  </a:cubicBezTo>
                  <a:close/>
                </a:path>
              </a:pathLst>
            </a:custGeom>
            <a:solidFill>
              <a:srgbClr val="EDE9E2"/>
            </a:solidFill>
            <a:ln>
              <a:noFill/>
            </a:ln>
          </p:spPr>
          <p:txBody>
            <a:bodyPr/>
            <a:lstStyle/>
            <a:p>
              <a:endParaRPr lang="en-US"/>
            </a:p>
          </p:txBody>
        </p:sp>
        <p:sp>
          <p:nvSpPr>
            <p:cNvPr id="10" name="Text 11"/>
            <p:cNvSpPr txBox="1"/>
            <p:nvPr/>
          </p:nvSpPr>
          <p:spPr>
            <a:xfrm>
              <a:off x="9753600" y="1203325"/>
              <a:ext cx="1693795" cy="402590"/>
            </a:xfrm>
            <a:prstGeom prst="rect">
              <a:avLst/>
            </a:prstGeom>
            <a:noFill/>
          </p:spPr>
          <p:txBody>
            <a:bodyPr wrap="none" lIns="0" tIns="0" rIns="0" bIns="0" rtlCol="0" anchor="t">
              <a:noAutofit/>
            </a:bodyPr>
            <a:lstStyle/>
            <a:p>
              <a:pPr algn="l">
                <a:lnSpc>
                  <a:spcPts val="1500"/>
                </a:lnSpc>
                <a:spcBef>
                  <a:spcPts val="0"/>
                </a:spcBef>
                <a:spcAft>
                  <a:spcPts val="0"/>
                </a:spcAft>
              </a:pPr>
              <a:r>
                <a:rPr lang="en-US" sz="1200" b="0" dirty="0">
                  <a:solidFill>
                    <a:srgbClr val="EDE9E2"/>
                  </a:solidFill>
                  <a:latin typeface="Consolas"/>
                  <a:ea typeface="Consolas"/>
                  <a:cs typeface="Consolas"/>
                </a:rPr>
                <a:t>Dark / Light modes</a:t>
              </a:r>
              <a:endParaRPr lang="en-US" sz="1200" dirty="0"/>
            </a:p>
            <a:p>
              <a:pPr algn="l">
                <a:lnSpc>
                  <a:spcPts val="1500"/>
                </a:lnSpc>
                <a:spcBef>
                  <a:spcPts val="0"/>
                </a:spcBef>
                <a:spcAft>
                  <a:spcPts val="0"/>
                </a:spcAft>
              </a:pPr>
              <a:r>
                <a:rPr lang="en-US" sz="1200" b="0" dirty="0">
                  <a:solidFill>
                    <a:srgbClr val="EDE9E2"/>
                  </a:solidFill>
                  <a:latin typeface="Consolas"/>
                  <a:ea typeface="Consolas"/>
                  <a:cs typeface="Consolas"/>
                </a:rPr>
                <a:t>across the whole UI</a:t>
              </a:r>
              <a:endParaRPr lang="en-US" sz="1200" dirty="0"/>
            </a:p>
          </p:txBody>
        </p:sp>
      </p:grpSp>
      <p:grpSp>
        <p:nvGrpSpPr>
          <p:cNvPr id="14" name="viewfinder-brackets"/>
          <p:cNvGrpSpPr/>
          <p:nvPr/>
        </p:nvGrpSpPr>
        <p:grpSpPr>
          <a:xfrm>
            <a:off x="609600" y="2152650"/>
            <a:ext cx="10972800" cy="1219200"/>
            <a:chOff x="609600" y="2152650"/>
            <a:chExt cx="10972800" cy="1219200"/>
          </a:xfrm>
        </p:grpSpPr>
        <p:sp>
          <p:nvSpPr>
            <p:cNvPr id="12" name="path 13"/>
            <p:cNvSpPr/>
            <p:nvPr/>
          </p:nvSpPr>
          <p:spPr>
            <a:xfrm>
              <a:off x="609600" y="2152650"/>
              <a:ext cx="228600" cy="228600"/>
            </a:xfrm>
            <a:custGeom>
              <a:avLst/>
              <a:gdLst/>
              <a:ahLst/>
              <a:cxnLst/>
              <a:rect l="0" t="0" r="r" b="b"/>
              <a:pathLst>
                <a:path w="228600" h="228600" fill="none">
                  <a:moveTo>
                    <a:pt x="0" y="228600"/>
                  </a:moveTo>
                  <a:lnTo>
                    <a:pt x="0" y="0"/>
                  </a:lnTo>
                  <a:lnTo>
                    <a:pt x="228600" y="0"/>
                  </a:lnTo>
                </a:path>
              </a:pathLst>
            </a:custGeom>
            <a:noFill/>
            <a:ln w="19050" cap="flat">
              <a:solidFill>
                <a:srgbClr val="3D8BFF"/>
              </a:solidFill>
              <a:miter lim="800000"/>
            </a:ln>
          </p:spPr>
          <p:txBody>
            <a:bodyPr/>
            <a:lstStyle/>
            <a:p>
              <a:endParaRPr lang="en-US"/>
            </a:p>
          </p:txBody>
        </p:sp>
        <p:sp>
          <p:nvSpPr>
            <p:cNvPr id="13" name="path 14"/>
            <p:cNvSpPr/>
            <p:nvPr/>
          </p:nvSpPr>
          <p:spPr>
            <a:xfrm>
              <a:off x="11353800" y="3143250"/>
              <a:ext cx="228600" cy="228600"/>
            </a:xfrm>
            <a:custGeom>
              <a:avLst/>
              <a:gdLst/>
              <a:ahLst/>
              <a:cxnLst/>
              <a:rect l="0" t="0" r="r" b="b"/>
              <a:pathLst>
                <a:path w="228600" h="228600" fill="none">
                  <a:moveTo>
                    <a:pt x="228600" y="0"/>
                  </a:moveTo>
                  <a:lnTo>
                    <a:pt x="228600" y="228600"/>
                  </a:lnTo>
                  <a:lnTo>
                    <a:pt x="0" y="228600"/>
                  </a:lnTo>
                </a:path>
              </a:pathLst>
            </a:custGeom>
            <a:noFill/>
            <a:ln w="19050" cap="flat">
              <a:solidFill>
                <a:srgbClr val="3D8BFF"/>
              </a:solidFill>
              <a:miter lim="800000"/>
            </a:ln>
          </p:spPr>
          <p:txBody>
            <a:bodyPr/>
            <a:lstStyle/>
            <a:p>
              <a:endParaRPr lang="en-US"/>
            </a:p>
          </p:txBody>
        </p:sp>
      </p:grpSp>
      <p:grpSp>
        <p:nvGrpSpPr>
          <p:cNvPr id="33" name="swatch-row"/>
          <p:cNvGrpSpPr/>
          <p:nvPr/>
        </p:nvGrpSpPr>
        <p:grpSpPr>
          <a:xfrm>
            <a:off x="933450" y="2095500"/>
            <a:ext cx="10325100" cy="1215390"/>
            <a:chOff x="933450" y="2095500"/>
            <a:chExt cx="10325100" cy="1215390"/>
          </a:xfrm>
        </p:grpSpPr>
        <p:sp>
          <p:nvSpPr>
            <p:cNvPr id="16" name="circle 17"/>
            <p:cNvSpPr/>
            <p:nvPr/>
          </p:nvSpPr>
          <p:spPr>
            <a:xfrm>
              <a:off x="933450" y="2190750"/>
              <a:ext cx="723900" cy="723900"/>
            </a:xfrm>
            <a:prstGeom prst="ellipse">
              <a:avLst/>
            </a:prstGeom>
            <a:solidFill>
              <a:srgbClr val="EDE9E2"/>
            </a:solidFill>
            <a:ln>
              <a:noFill/>
            </a:ln>
          </p:spPr>
          <p:txBody>
            <a:bodyPr/>
            <a:lstStyle/>
            <a:p>
              <a:endParaRPr lang="en-US"/>
            </a:p>
          </p:txBody>
        </p:sp>
        <p:sp>
          <p:nvSpPr>
            <p:cNvPr id="17" name="circle 18"/>
            <p:cNvSpPr/>
            <p:nvPr/>
          </p:nvSpPr>
          <p:spPr>
            <a:xfrm>
              <a:off x="2305050" y="2190750"/>
              <a:ext cx="723900" cy="723900"/>
            </a:xfrm>
            <a:prstGeom prst="ellipse">
              <a:avLst/>
            </a:prstGeom>
            <a:solidFill>
              <a:srgbClr val="3D8BFF"/>
            </a:solidFill>
            <a:ln>
              <a:noFill/>
            </a:ln>
          </p:spPr>
          <p:txBody>
            <a:bodyPr/>
            <a:lstStyle/>
            <a:p>
              <a:endParaRPr lang="en-US"/>
            </a:p>
          </p:txBody>
        </p:sp>
        <p:sp>
          <p:nvSpPr>
            <p:cNvPr id="18" name="circle 19"/>
            <p:cNvSpPr/>
            <p:nvPr/>
          </p:nvSpPr>
          <p:spPr>
            <a:xfrm>
              <a:off x="3676650" y="2190750"/>
              <a:ext cx="723900" cy="723900"/>
            </a:xfrm>
            <a:prstGeom prst="ellipse">
              <a:avLst/>
            </a:prstGeom>
            <a:solidFill>
              <a:srgbClr val="A28BFF"/>
            </a:solidFill>
            <a:ln>
              <a:noFill/>
            </a:ln>
          </p:spPr>
          <p:txBody>
            <a:bodyPr/>
            <a:lstStyle/>
            <a:p>
              <a:endParaRPr lang="en-US"/>
            </a:p>
          </p:txBody>
        </p:sp>
        <p:sp>
          <p:nvSpPr>
            <p:cNvPr id="19" name="circle 20"/>
            <p:cNvSpPr/>
            <p:nvPr/>
          </p:nvSpPr>
          <p:spPr>
            <a:xfrm>
              <a:off x="5048250" y="2190750"/>
              <a:ext cx="723900" cy="723900"/>
            </a:xfrm>
            <a:prstGeom prst="ellipse">
              <a:avLst/>
            </a:prstGeom>
            <a:solidFill>
              <a:srgbClr val="4CC38A"/>
            </a:solidFill>
            <a:ln>
              <a:noFill/>
            </a:ln>
          </p:spPr>
          <p:txBody>
            <a:bodyPr/>
            <a:lstStyle/>
            <a:p>
              <a:endParaRPr lang="en-US"/>
            </a:p>
          </p:txBody>
        </p:sp>
        <p:sp>
          <p:nvSpPr>
            <p:cNvPr id="20" name="circle 21"/>
            <p:cNvSpPr/>
            <p:nvPr/>
          </p:nvSpPr>
          <p:spPr>
            <a:xfrm>
              <a:off x="6419850" y="2190750"/>
              <a:ext cx="723900" cy="723900"/>
            </a:xfrm>
            <a:prstGeom prst="ellipse">
              <a:avLst/>
            </a:prstGeom>
            <a:solidFill>
              <a:srgbClr val="FF5B1F"/>
            </a:solidFill>
            <a:ln>
              <a:noFill/>
            </a:ln>
          </p:spPr>
          <p:txBody>
            <a:bodyPr/>
            <a:lstStyle/>
            <a:p>
              <a:endParaRPr lang="en-US"/>
            </a:p>
          </p:txBody>
        </p:sp>
        <p:sp>
          <p:nvSpPr>
            <p:cNvPr id="21" name="circle 22"/>
            <p:cNvSpPr/>
            <p:nvPr/>
          </p:nvSpPr>
          <p:spPr>
            <a:xfrm>
              <a:off x="6324600" y="2095500"/>
              <a:ext cx="914400" cy="914400"/>
            </a:xfrm>
            <a:prstGeom prst="ellipse">
              <a:avLst/>
            </a:prstGeom>
            <a:noFill/>
            <a:ln w="19050" cap="flat">
              <a:solidFill>
                <a:srgbClr val="FF5B1F"/>
              </a:solidFill>
              <a:miter lim="800000"/>
            </a:ln>
          </p:spPr>
          <p:txBody>
            <a:bodyPr/>
            <a:lstStyle/>
            <a:p>
              <a:endParaRPr lang="en-US"/>
            </a:p>
          </p:txBody>
        </p:sp>
        <p:sp>
          <p:nvSpPr>
            <p:cNvPr id="22" name="circle 23"/>
            <p:cNvSpPr/>
            <p:nvPr/>
          </p:nvSpPr>
          <p:spPr>
            <a:xfrm>
              <a:off x="7791450" y="2190750"/>
              <a:ext cx="723900" cy="723900"/>
            </a:xfrm>
            <a:prstGeom prst="ellipse">
              <a:avLst/>
            </a:prstGeom>
            <a:solidFill>
              <a:srgbClr val="E5484D"/>
            </a:solidFill>
            <a:ln>
              <a:noFill/>
            </a:ln>
          </p:spPr>
          <p:txBody>
            <a:bodyPr/>
            <a:lstStyle/>
            <a:p>
              <a:endParaRPr lang="en-US"/>
            </a:p>
          </p:txBody>
        </p:sp>
        <p:sp>
          <p:nvSpPr>
            <p:cNvPr id="23" name="circle 24"/>
            <p:cNvSpPr/>
            <p:nvPr/>
          </p:nvSpPr>
          <p:spPr>
            <a:xfrm>
              <a:off x="9163050" y="2190750"/>
              <a:ext cx="723900" cy="723900"/>
            </a:xfrm>
            <a:prstGeom prst="ellipse">
              <a:avLst/>
            </a:prstGeom>
            <a:solidFill>
              <a:srgbClr val="F27FB0"/>
            </a:solidFill>
            <a:ln>
              <a:noFill/>
            </a:ln>
          </p:spPr>
          <p:txBody>
            <a:bodyPr/>
            <a:lstStyle/>
            <a:p>
              <a:endParaRPr lang="en-US"/>
            </a:p>
          </p:txBody>
        </p:sp>
        <p:sp>
          <p:nvSpPr>
            <p:cNvPr id="24" name="circle 25"/>
            <p:cNvSpPr/>
            <p:nvPr/>
          </p:nvSpPr>
          <p:spPr>
            <a:xfrm>
              <a:off x="10534650" y="2190750"/>
              <a:ext cx="723900" cy="723900"/>
            </a:xfrm>
            <a:prstGeom prst="ellipse">
              <a:avLst/>
            </a:prstGeom>
            <a:solidFill>
              <a:srgbClr val="35C4DE"/>
            </a:solidFill>
            <a:ln>
              <a:noFill/>
            </a:ln>
          </p:spPr>
          <p:txBody>
            <a:bodyPr/>
            <a:lstStyle/>
            <a:p>
              <a:endParaRPr lang="en-US"/>
            </a:p>
          </p:txBody>
        </p:sp>
        <p:sp>
          <p:nvSpPr>
            <p:cNvPr id="25" name="Text 26"/>
            <p:cNvSpPr txBox="1"/>
            <p:nvPr/>
          </p:nvSpPr>
          <p:spPr>
            <a:xfrm>
              <a:off x="936683" y="3098800"/>
              <a:ext cx="717435" cy="212090"/>
            </a:xfrm>
            <a:prstGeom prst="rect">
              <a:avLst/>
            </a:prstGeom>
            <a:noFill/>
          </p:spPr>
          <p:txBody>
            <a:bodyPr wrap="none" lIns="0" tIns="0" rIns="0" bIns="0" rtlCol="0" anchor="t">
              <a:noAutofit/>
            </a:bodyPr>
            <a:lstStyle/>
            <a:p>
              <a:pPr algn="ctr">
                <a:spcBef>
                  <a:spcPts val="0"/>
                </a:spcBef>
                <a:spcAft>
                  <a:spcPts val="0"/>
                </a:spcAft>
              </a:pPr>
              <a:r>
                <a:rPr lang="en-US" sz="1200" b="0" spc="75" dirty="0">
                  <a:solidFill>
                    <a:srgbClr val="9C9A94"/>
                  </a:solidFill>
                  <a:latin typeface="Consolas"/>
                  <a:ea typeface="Consolas"/>
                  <a:cs typeface="Consolas"/>
                </a:rPr>
                <a:t>Default</a:t>
              </a:r>
              <a:endParaRPr lang="en-US" sz="1200" dirty="0"/>
            </a:p>
          </p:txBody>
        </p:sp>
        <p:sp>
          <p:nvSpPr>
            <p:cNvPr id="26" name="Text 27"/>
            <p:cNvSpPr txBox="1"/>
            <p:nvPr/>
          </p:nvSpPr>
          <p:spPr>
            <a:xfrm>
              <a:off x="2453854" y="3098800"/>
              <a:ext cx="426291" cy="212090"/>
            </a:xfrm>
            <a:prstGeom prst="rect">
              <a:avLst/>
            </a:prstGeom>
            <a:noFill/>
          </p:spPr>
          <p:txBody>
            <a:bodyPr wrap="none" lIns="0" tIns="0" rIns="0" bIns="0" rtlCol="0" anchor="t">
              <a:noAutofit/>
            </a:bodyPr>
            <a:lstStyle/>
            <a:p>
              <a:pPr algn="ctr">
                <a:spcBef>
                  <a:spcPts val="0"/>
                </a:spcBef>
                <a:spcAft>
                  <a:spcPts val="0"/>
                </a:spcAft>
              </a:pPr>
              <a:r>
                <a:rPr lang="en-US" sz="1200" b="0" spc="75" dirty="0">
                  <a:solidFill>
                    <a:srgbClr val="9C9A94"/>
                  </a:solidFill>
                  <a:latin typeface="Consolas"/>
                  <a:ea typeface="Consolas"/>
                  <a:cs typeface="Consolas"/>
                </a:rPr>
                <a:t>Blue</a:t>
              </a:r>
              <a:endParaRPr lang="en-US" sz="1200" dirty="0"/>
            </a:p>
          </p:txBody>
        </p:sp>
        <p:sp>
          <p:nvSpPr>
            <p:cNvPr id="27" name="Text 28"/>
            <p:cNvSpPr txBox="1"/>
            <p:nvPr/>
          </p:nvSpPr>
          <p:spPr>
            <a:xfrm>
              <a:off x="3728406" y="3098800"/>
              <a:ext cx="620387" cy="212090"/>
            </a:xfrm>
            <a:prstGeom prst="rect">
              <a:avLst/>
            </a:prstGeom>
            <a:noFill/>
          </p:spPr>
          <p:txBody>
            <a:bodyPr wrap="none" lIns="0" tIns="0" rIns="0" bIns="0" rtlCol="0" anchor="t">
              <a:noAutofit/>
            </a:bodyPr>
            <a:lstStyle/>
            <a:p>
              <a:pPr algn="ctr">
                <a:spcBef>
                  <a:spcPts val="0"/>
                </a:spcBef>
                <a:spcAft>
                  <a:spcPts val="0"/>
                </a:spcAft>
              </a:pPr>
              <a:r>
                <a:rPr lang="en-US" sz="1200" b="0" spc="75" dirty="0">
                  <a:solidFill>
                    <a:srgbClr val="9C9A94"/>
                  </a:solidFill>
                  <a:latin typeface="Consolas"/>
                  <a:ea typeface="Consolas"/>
                  <a:cs typeface="Consolas"/>
                </a:rPr>
                <a:t>Purple</a:t>
              </a:r>
              <a:endParaRPr lang="en-US" sz="1200" dirty="0"/>
            </a:p>
          </p:txBody>
        </p:sp>
        <p:sp>
          <p:nvSpPr>
            <p:cNvPr id="28" name="Text 29"/>
            <p:cNvSpPr txBox="1"/>
            <p:nvPr/>
          </p:nvSpPr>
          <p:spPr>
            <a:xfrm>
              <a:off x="5148530" y="3098800"/>
              <a:ext cx="523339" cy="212090"/>
            </a:xfrm>
            <a:prstGeom prst="rect">
              <a:avLst/>
            </a:prstGeom>
            <a:noFill/>
          </p:spPr>
          <p:txBody>
            <a:bodyPr wrap="none" lIns="0" tIns="0" rIns="0" bIns="0" rtlCol="0" anchor="t">
              <a:noAutofit/>
            </a:bodyPr>
            <a:lstStyle/>
            <a:p>
              <a:pPr algn="ctr">
                <a:spcBef>
                  <a:spcPts val="0"/>
                </a:spcBef>
                <a:spcAft>
                  <a:spcPts val="0"/>
                </a:spcAft>
              </a:pPr>
              <a:r>
                <a:rPr lang="en-US" sz="1200" b="0" spc="75" dirty="0">
                  <a:solidFill>
                    <a:srgbClr val="9C9A94"/>
                  </a:solidFill>
                  <a:latin typeface="Consolas"/>
                  <a:ea typeface="Consolas"/>
                  <a:cs typeface="Consolas"/>
                </a:rPr>
                <a:t>Green</a:t>
              </a:r>
              <a:endParaRPr lang="en-US" sz="1200" dirty="0"/>
            </a:p>
          </p:txBody>
        </p:sp>
        <p:sp>
          <p:nvSpPr>
            <p:cNvPr id="29" name="Text 30"/>
            <p:cNvSpPr txBox="1"/>
            <p:nvPr/>
          </p:nvSpPr>
          <p:spPr>
            <a:xfrm>
              <a:off x="6471606" y="3098800"/>
              <a:ext cx="620387" cy="212090"/>
            </a:xfrm>
            <a:prstGeom prst="rect">
              <a:avLst/>
            </a:prstGeom>
            <a:noFill/>
          </p:spPr>
          <p:txBody>
            <a:bodyPr wrap="none" lIns="0" tIns="0" rIns="0" bIns="0" rtlCol="0" anchor="t">
              <a:noAutofit/>
            </a:bodyPr>
            <a:lstStyle/>
            <a:p>
              <a:pPr algn="ctr">
                <a:spcBef>
                  <a:spcPts val="0"/>
                </a:spcBef>
                <a:spcAft>
                  <a:spcPts val="0"/>
                </a:spcAft>
              </a:pPr>
              <a:r>
                <a:rPr lang="en-US" sz="1200" b="0" spc="75" dirty="0">
                  <a:solidFill>
                    <a:srgbClr val="FF5B1F"/>
                  </a:solidFill>
                  <a:latin typeface="Consolas"/>
                  <a:ea typeface="Consolas"/>
                  <a:cs typeface="Consolas"/>
                </a:rPr>
                <a:t>Orange</a:t>
              </a:r>
              <a:endParaRPr lang="en-US" sz="1200" dirty="0"/>
            </a:p>
          </p:txBody>
        </p:sp>
        <p:sp>
          <p:nvSpPr>
            <p:cNvPr id="30" name="Text 31"/>
            <p:cNvSpPr txBox="1"/>
            <p:nvPr/>
          </p:nvSpPr>
          <p:spPr>
            <a:xfrm>
              <a:off x="7988778" y="3098800"/>
              <a:ext cx="329244" cy="212090"/>
            </a:xfrm>
            <a:prstGeom prst="rect">
              <a:avLst/>
            </a:prstGeom>
            <a:noFill/>
          </p:spPr>
          <p:txBody>
            <a:bodyPr wrap="none" lIns="0" tIns="0" rIns="0" bIns="0" rtlCol="0" anchor="t">
              <a:noAutofit/>
            </a:bodyPr>
            <a:lstStyle/>
            <a:p>
              <a:pPr algn="ctr">
                <a:spcBef>
                  <a:spcPts val="0"/>
                </a:spcBef>
                <a:spcAft>
                  <a:spcPts val="0"/>
                </a:spcAft>
              </a:pPr>
              <a:r>
                <a:rPr lang="en-US" sz="1200" b="0" spc="75" dirty="0">
                  <a:solidFill>
                    <a:srgbClr val="9C9A94"/>
                  </a:solidFill>
                  <a:latin typeface="Consolas"/>
                  <a:ea typeface="Consolas"/>
                  <a:cs typeface="Consolas"/>
                </a:rPr>
                <a:t>Red</a:t>
              </a:r>
              <a:endParaRPr lang="en-US" sz="1200" dirty="0"/>
            </a:p>
          </p:txBody>
        </p:sp>
        <p:sp>
          <p:nvSpPr>
            <p:cNvPr id="31" name="Text 32"/>
            <p:cNvSpPr txBox="1"/>
            <p:nvPr/>
          </p:nvSpPr>
          <p:spPr>
            <a:xfrm>
              <a:off x="9311854" y="3098800"/>
              <a:ext cx="426291" cy="212090"/>
            </a:xfrm>
            <a:prstGeom prst="rect">
              <a:avLst/>
            </a:prstGeom>
            <a:noFill/>
          </p:spPr>
          <p:txBody>
            <a:bodyPr wrap="none" lIns="0" tIns="0" rIns="0" bIns="0" rtlCol="0" anchor="t">
              <a:noAutofit/>
            </a:bodyPr>
            <a:lstStyle/>
            <a:p>
              <a:pPr algn="ctr">
                <a:spcBef>
                  <a:spcPts val="0"/>
                </a:spcBef>
                <a:spcAft>
                  <a:spcPts val="0"/>
                </a:spcAft>
              </a:pPr>
              <a:r>
                <a:rPr lang="en-US" sz="1200" b="0" spc="75" dirty="0">
                  <a:solidFill>
                    <a:srgbClr val="9C9A94"/>
                  </a:solidFill>
                  <a:latin typeface="Consolas"/>
                  <a:ea typeface="Consolas"/>
                  <a:cs typeface="Consolas"/>
                </a:rPr>
                <a:t>Pink</a:t>
              </a:r>
              <a:endParaRPr lang="en-US" sz="1200" dirty="0"/>
            </a:p>
          </p:txBody>
        </p:sp>
        <p:sp>
          <p:nvSpPr>
            <p:cNvPr id="32" name="Text 33"/>
            <p:cNvSpPr txBox="1"/>
            <p:nvPr/>
          </p:nvSpPr>
          <p:spPr>
            <a:xfrm>
              <a:off x="10683454" y="3098800"/>
              <a:ext cx="426291" cy="212090"/>
            </a:xfrm>
            <a:prstGeom prst="rect">
              <a:avLst/>
            </a:prstGeom>
            <a:noFill/>
          </p:spPr>
          <p:txBody>
            <a:bodyPr wrap="none" lIns="0" tIns="0" rIns="0" bIns="0" rtlCol="0" anchor="t">
              <a:noAutofit/>
            </a:bodyPr>
            <a:lstStyle/>
            <a:p>
              <a:pPr algn="ctr">
                <a:spcBef>
                  <a:spcPts val="0"/>
                </a:spcBef>
                <a:spcAft>
                  <a:spcPts val="0"/>
                </a:spcAft>
              </a:pPr>
              <a:r>
                <a:rPr lang="en-US" sz="1200" b="0" spc="75" dirty="0">
                  <a:solidFill>
                    <a:srgbClr val="9C9A94"/>
                  </a:solidFill>
                  <a:latin typeface="Consolas"/>
                  <a:ea typeface="Consolas"/>
                  <a:cs typeface="Consolas"/>
                </a:rPr>
                <a:t>Cyan</a:t>
              </a:r>
              <a:endParaRPr lang="en-US" sz="1200" dirty="0"/>
            </a:p>
          </p:txBody>
        </p:sp>
      </p:grpSp>
      <p:grpSp>
        <p:nvGrpSpPr>
          <p:cNvPr id="37" name="column-rules"/>
          <p:cNvGrpSpPr/>
          <p:nvPr/>
        </p:nvGrpSpPr>
        <p:grpSpPr>
          <a:xfrm>
            <a:off x="609600" y="3581400"/>
            <a:ext cx="10972800" cy="2095500"/>
            <a:chOff x="609600" y="3581400"/>
            <a:chExt cx="10972800" cy="2095500"/>
          </a:xfrm>
        </p:grpSpPr>
        <p:sp>
          <p:nvSpPr>
            <p:cNvPr id="34" name="line 35"/>
            <p:cNvSpPr/>
            <p:nvPr/>
          </p:nvSpPr>
          <p:spPr>
            <a:xfrm>
              <a:off x="609600" y="3581400"/>
              <a:ext cx="10972800" cy="95"/>
            </a:xfrm>
            <a:custGeom>
              <a:avLst/>
              <a:gdLst/>
              <a:ahLst/>
              <a:cxnLst/>
              <a:rect l="0" t="0" r="r" b="b"/>
              <a:pathLst>
                <a:path w="10972800" h="95" fill="none">
                  <a:moveTo>
                    <a:pt x="0" y="0"/>
                  </a:moveTo>
                  <a:lnTo>
                    <a:pt x="10972800" y="0"/>
                  </a:lnTo>
                </a:path>
              </a:pathLst>
            </a:custGeom>
            <a:noFill/>
            <a:ln w="9525" cap="flat">
              <a:solidFill>
                <a:srgbClr val="2A2E35"/>
              </a:solidFill>
              <a:miter lim="800000"/>
            </a:ln>
          </p:spPr>
          <p:txBody>
            <a:bodyPr/>
            <a:lstStyle/>
            <a:p>
              <a:endParaRPr lang="en-US"/>
            </a:p>
          </p:txBody>
        </p:sp>
        <p:sp>
          <p:nvSpPr>
            <p:cNvPr id="35" name="line 36"/>
            <p:cNvSpPr/>
            <p:nvPr/>
          </p:nvSpPr>
          <p:spPr>
            <a:xfrm>
              <a:off x="4267200" y="3771900"/>
              <a:ext cx="95" cy="1905000"/>
            </a:xfrm>
            <a:custGeom>
              <a:avLst/>
              <a:gdLst/>
              <a:ahLst/>
              <a:cxnLst/>
              <a:rect l="0" t="0" r="r" b="b"/>
              <a:pathLst>
                <a:path w="95" h="1905000" fill="none">
                  <a:moveTo>
                    <a:pt x="0" y="0"/>
                  </a:moveTo>
                  <a:lnTo>
                    <a:pt x="0" y="1905000"/>
                  </a:lnTo>
                </a:path>
              </a:pathLst>
            </a:custGeom>
            <a:noFill/>
            <a:ln w="9525" cap="flat">
              <a:solidFill>
                <a:srgbClr val="2A2E35"/>
              </a:solidFill>
              <a:miter lim="800000"/>
            </a:ln>
          </p:spPr>
          <p:txBody>
            <a:bodyPr/>
            <a:lstStyle/>
            <a:p>
              <a:endParaRPr lang="en-US"/>
            </a:p>
          </p:txBody>
        </p:sp>
        <p:sp>
          <p:nvSpPr>
            <p:cNvPr id="36" name="line 37"/>
            <p:cNvSpPr/>
            <p:nvPr/>
          </p:nvSpPr>
          <p:spPr>
            <a:xfrm>
              <a:off x="7924800" y="3771900"/>
              <a:ext cx="95" cy="1905000"/>
            </a:xfrm>
            <a:custGeom>
              <a:avLst/>
              <a:gdLst/>
              <a:ahLst/>
              <a:cxnLst/>
              <a:rect l="0" t="0" r="r" b="b"/>
              <a:pathLst>
                <a:path w="95" h="1905000" fill="none">
                  <a:moveTo>
                    <a:pt x="0" y="0"/>
                  </a:moveTo>
                  <a:lnTo>
                    <a:pt x="0" y="1905000"/>
                  </a:lnTo>
                </a:path>
              </a:pathLst>
            </a:custGeom>
            <a:noFill/>
            <a:ln w="9525" cap="flat">
              <a:solidFill>
                <a:srgbClr val="2A2E35"/>
              </a:solidFill>
              <a:miter lim="800000"/>
            </a:ln>
          </p:spPr>
          <p:txBody>
            <a:bodyPr/>
            <a:lstStyle/>
            <a:p>
              <a:endParaRPr lang="en-US"/>
            </a:p>
          </p:txBody>
        </p:sp>
      </p:grpSp>
      <p:grpSp>
        <p:nvGrpSpPr>
          <p:cNvPr id="45" name="col-aurora"/>
          <p:cNvGrpSpPr/>
          <p:nvPr/>
        </p:nvGrpSpPr>
        <p:grpSpPr>
          <a:xfrm>
            <a:off x="609600" y="3841750"/>
            <a:ext cx="3040392" cy="1745615"/>
            <a:chOff x="609600" y="3841750"/>
            <a:chExt cx="3040392" cy="1745615"/>
          </a:xfrm>
        </p:grpSpPr>
        <p:sp>
          <p:nvSpPr>
            <p:cNvPr id="40" name="Text 41"/>
            <p:cNvSpPr txBox="1"/>
            <p:nvPr/>
          </p:nvSpPr>
          <p:spPr>
            <a:xfrm>
              <a:off x="609600" y="3841750"/>
              <a:ext cx="252008" cy="212090"/>
            </a:xfrm>
            <a:prstGeom prst="rect">
              <a:avLst/>
            </a:prstGeom>
            <a:noFill/>
          </p:spPr>
          <p:txBody>
            <a:bodyPr wrap="none" lIns="0" tIns="0" rIns="0" bIns="0" rtlCol="0" anchor="t">
              <a:noAutofit/>
            </a:bodyPr>
            <a:lstStyle/>
            <a:p>
              <a:pPr algn="l">
                <a:spcBef>
                  <a:spcPts val="0"/>
                </a:spcBef>
                <a:spcAft>
                  <a:spcPts val="0"/>
                </a:spcAft>
              </a:pPr>
              <a:r>
                <a:rPr lang="en-US" sz="1200" b="0" spc="150" dirty="0">
                  <a:solidFill>
                    <a:srgbClr val="FF5B1F"/>
                  </a:solidFill>
                  <a:latin typeface="Consolas"/>
                  <a:ea typeface="Consolas"/>
                  <a:cs typeface="Consolas"/>
                </a:rPr>
                <a:t>01</a:t>
              </a:r>
              <a:endParaRPr lang="en-US" sz="1200" dirty="0"/>
            </a:p>
          </p:txBody>
        </p:sp>
        <p:sp>
          <p:nvSpPr>
            <p:cNvPr id="41" name="Text 42"/>
            <p:cNvSpPr txBox="1"/>
            <p:nvPr/>
          </p:nvSpPr>
          <p:spPr>
            <a:xfrm>
              <a:off x="609600" y="4064000"/>
              <a:ext cx="1852426" cy="295593"/>
            </a:xfrm>
            <a:prstGeom prst="rect">
              <a:avLst/>
            </a:prstGeom>
            <a:noFill/>
          </p:spPr>
          <p:txBody>
            <a:bodyPr wrap="none" lIns="0" tIns="0" rIns="0" bIns="0" rtlCol="0" anchor="t">
              <a:noAutofit/>
            </a:bodyPr>
            <a:lstStyle/>
            <a:p>
              <a:pPr algn="l">
                <a:spcBef>
                  <a:spcPts val="0"/>
                </a:spcBef>
                <a:spcAft>
                  <a:spcPts val="0"/>
                </a:spcAft>
              </a:pPr>
              <a:r>
                <a:rPr lang="en-US" sz="1650" b="1" dirty="0">
                  <a:solidFill>
                    <a:srgbClr val="EDE9E2"/>
                  </a:solidFill>
                  <a:latin typeface="Bahnschrift"/>
                  <a:ea typeface="Bahnschrift"/>
                  <a:cs typeface="Bahnschrift"/>
                </a:rPr>
                <a:t>Workspace Aurora</a:t>
              </a:r>
              <a:endParaRPr lang="en-US" sz="1650" dirty="0"/>
            </a:p>
          </p:txBody>
        </p:sp>
        <p:sp>
          <p:nvSpPr>
            <p:cNvPr id="42" name="Text 43"/>
            <p:cNvSpPr txBox="1"/>
            <p:nvPr/>
          </p:nvSpPr>
          <p:spPr>
            <a:xfrm>
              <a:off x="609600" y="4368800"/>
              <a:ext cx="3040392" cy="656590"/>
            </a:xfrm>
            <a:prstGeom prst="rect">
              <a:avLst/>
            </a:prstGeom>
            <a:noFill/>
          </p:spPr>
          <p:txBody>
            <a:bodyPr wrap="none" lIns="0" tIns="0" rIns="0" bIns="0" rtlCol="0" anchor="t">
              <a:noAutofit/>
            </a:bodyPr>
            <a:lstStyle/>
            <a:p>
              <a:pPr algn="l">
                <a:lnSpc>
                  <a:spcPts val="1700"/>
                </a:lnSpc>
                <a:spcBef>
                  <a:spcPts val="0"/>
                </a:spcBef>
                <a:spcAft>
                  <a:spcPts val="0"/>
                </a:spcAft>
              </a:pPr>
              <a:r>
                <a:rPr lang="en-US" sz="1200" b="0" dirty="0">
                  <a:solidFill>
                    <a:srgbClr val="9C9A94"/>
                  </a:solidFill>
                  <a:latin typeface="Segoe UI"/>
                  <a:ea typeface="Segoe UI"/>
                  <a:cs typeface="Segoe UI"/>
                </a:rPr>
                <a:t>A GPU-accelerated glow behind your work.</a:t>
              </a:r>
              <a:endParaRPr lang="en-US" sz="1200" dirty="0"/>
            </a:p>
            <a:p>
              <a:pPr algn="l">
                <a:lnSpc>
                  <a:spcPts val="1700"/>
                </a:lnSpc>
                <a:spcBef>
                  <a:spcPts val="0"/>
                </a:spcBef>
                <a:spcAft>
                  <a:spcPts val="0"/>
                </a:spcAft>
              </a:pPr>
              <a:r>
                <a:rPr lang="en-US" sz="1200" b="0" dirty="0">
                  <a:solidFill>
                    <a:srgbClr val="9C9A94"/>
                  </a:solidFill>
                  <a:latin typeface="Segoe UI"/>
                  <a:ea typeface="Segoe UI"/>
                  <a:cs typeface="Segoe UI"/>
                </a:rPr>
                <a:t>Presets: gemini, sage, accent, custom.</a:t>
              </a:r>
              <a:endParaRPr lang="en-US" sz="1200" dirty="0"/>
            </a:p>
            <a:p>
              <a:pPr algn="l">
                <a:lnSpc>
                  <a:spcPts val="1700"/>
                </a:lnSpc>
                <a:spcBef>
                  <a:spcPts val="0"/>
                </a:spcBef>
                <a:spcAft>
                  <a:spcPts val="0"/>
                </a:spcAft>
              </a:pPr>
              <a:r>
                <a:rPr lang="en-US" sz="1200" b="0" dirty="0">
                  <a:solidFill>
                    <a:srgbClr val="9C9A94"/>
                  </a:solidFill>
                  <a:latin typeface="Segoe UI"/>
                  <a:ea typeface="Segoe UI"/>
                  <a:cs typeface="Segoe UI"/>
                </a:rPr>
                <a:t>Tune intensity, speed, blur and opacity.</a:t>
              </a:r>
              <a:endParaRPr lang="en-US" sz="1200" dirty="0"/>
            </a:p>
          </p:txBody>
        </p:sp>
        <p:sp>
          <p:nvSpPr>
            <p:cNvPr id="43" name="rect 44"/>
            <p:cNvSpPr/>
            <p:nvPr/>
          </p:nvSpPr>
          <p:spPr>
            <a:xfrm>
              <a:off x="609600" y="5086350"/>
              <a:ext cx="2209800" cy="495300"/>
            </a:xfrm>
            <a:prstGeom prst="roundRect">
              <a:avLst>
                <a:gd name="adj" fmla="val 3846"/>
              </a:avLst>
            </a:prstGeom>
            <a:noFill/>
            <a:ln w="9525" cap="flat">
              <a:solidFill>
                <a:srgbClr val="9C9A94">
                  <a:alpha val="50000"/>
                </a:srgbClr>
              </a:solidFill>
              <a:miter lim="800000"/>
            </a:ln>
          </p:spPr>
          <p:txBody>
            <a:bodyPr/>
            <a:lstStyle/>
            <a:p>
              <a:endParaRPr lang="en-US"/>
            </a:p>
          </p:txBody>
        </p:sp>
        <p:sp>
          <p:nvSpPr>
            <p:cNvPr id="44" name="Text 45"/>
            <p:cNvSpPr txBox="1"/>
            <p:nvPr/>
          </p:nvSpPr>
          <p:spPr>
            <a:xfrm>
              <a:off x="762000" y="5140325"/>
              <a:ext cx="2042362" cy="447040"/>
            </a:xfrm>
            <a:prstGeom prst="rect">
              <a:avLst/>
            </a:prstGeom>
            <a:noFill/>
          </p:spPr>
          <p:txBody>
            <a:bodyPr wrap="none" lIns="0" tIns="0" rIns="0" bIns="0" rtlCol="0" anchor="t">
              <a:noAutofit/>
            </a:bodyPr>
            <a:lstStyle/>
            <a:p>
              <a:pPr algn="l">
                <a:lnSpc>
                  <a:spcPts val="1700"/>
                </a:lnSpc>
                <a:spcBef>
                  <a:spcPts val="0"/>
                </a:spcBef>
                <a:spcAft>
                  <a:spcPts val="0"/>
                </a:spcAft>
              </a:pPr>
              <a:r>
                <a:rPr lang="en-US" sz="1200" b="0" dirty="0">
                  <a:solidFill>
                    <a:srgbClr val="EDE9E2"/>
                  </a:solidFill>
                  <a:latin typeface="Consolas"/>
                  <a:ea typeface="Consolas"/>
                  <a:cs typeface="Consolas"/>
                </a:rPr>
                <a:t>Settings → Appearance →</a:t>
              </a:r>
              <a:endParaRPr lang="en-US" sz="1200" dirty="0"/>
            </a:p>
            <a:p>
              <a:pPr algn="l">
                <a:lnSpc>
                  <a:spcPts val="1700"/>
                </a:lnSpc>
                <a:spcBef>
                  <a:spcPts val="0"/>
                </a:spcBef>
                <a:spcAft>
                  <a:spcPts val="0"/>
                </a:spcAft>
              </a:pPr>
              <a:r>
                <a:rPr lang="en-US" sz="1200" b="0" dirty="0">
                  <a:solidFill>
                    <a:srgbClr val="EDE9E2"/>
                  </a:solidFill>
                  <a:latin typeface="Consolas"/>
                  <a:ea typeface="Consolas"/>
                  <a:cs typeface="Consolas"/>
                </a:rPr>
                <a:t>Workspace Aurora</a:t>
              </a:r>
              <a:endParaRPr lang="en-US" sz="1200" dirty="0"/>
            </a:p>
          </p:txBody>
        </p:sp>
      </p:grpSp>
      <p:grpSp>
        <p:nvGrpSpPr>
          <p:cNvPr id="67" name="col-density"/>
          <p:cNvGrpSpPr/>
          <p:nvPr/>
        </p:nvGrpSpPr>
        <p:grpSpPr>
          <a:xfrm>
            <a:off x="4572000" y="3841750"/>
            <a:ext cx="3076379" cy="1926590"/>
            <a:chOff x="4572000" y="3841750"/>
            <a:chExt cx="3076379" cy="1926590"/>
          </a:xfrm>
        </p:grpSpPr>
        <p:sp>
          <p:nvSpPr>
            <p:cNvPr id="46" name="Text 47"/>
            <p:cNvSpPr txBox="1"/>
            <p:nvPr/>
          </p:nvSpPr>
          <p:spPr>
            <a:xfrm>
              <a:off x="4572000" y="3841750"/>
              <a:ext cx="252008" cy="212090"/>
            </a:xfrm>
            <a:prstGeom prst="rect">
              <a:avLst/>
            </a:prstGeom>
            <a:noFill/>
          </p:spPr>
          <p:txBody>
            <a:bodyPr wrap="none" lIns="0" tIns="0" rIns="0" bIns="0" rtlCol="0" anchor="t">
              <a:noAutofit/>
            </a:bodyPr>
            <a:lstStyle/>
            <a:p>
              <a:pPr algn="l">
                <a:spcBef>
                  <a:spcPts val="0"/>
                </a:spcBef>
                <a:spcAft>
                  <a:spcPts val="0"/>
                </a:spcAft>
              </a:pPr>
              <a:r>
                <a:rPr lang="en-US" sz="1200" b="0" spc="150" dirty="0">
                  <a:solidFill>
                    <a:srgbClr val="FF5B1F"/>
                  </a:solidFill>
                  <a:latin typeface="Consolas"/>
                  <a:ea typeface="Consolas"/>
                  <a:cs typeface="Consolas"/>
                </a:rPr>
                <a:t>02</a:t>
              </a:r>
              <a:endParaRPr lang="en-US" sz="1200" dirty="0"/>
            </a:p>
          </p:txBody>
        </p:sp>
        <p:sp>
          <p:nvSpPr>
            <p:cNvPr id="47" name="Text 48"/>
            <p:cNvSpPr txBox="1"/>
            <p:nvPr/>
          </p:nvSpPr>
          <p:spPr>
            <a:xfrm>
              <a:off x="4572000" y="4064000"/>
              <a:ext cx="763724" cy="295593"/>
            </a:xfrm>
            <a:prstGeom prst="rect">
              <a:avLst/>
            </a:prstGeom>
            <a:noFill/>
          </p:spPr>
          <p:txBody>
            <a:bodyPr wrap="none" lIns="0" tIns="0" rIns="0" bIns="0" rtlCol="0" anchor="t">
              <a:noAutofit/>
            </a:bodyPr>
            <a:lstStyle/>
            <a:p>
              <a:pPr algn="l">
                <a:spcBef>
                  <a:spcPts val="0"/>
                </a:spcBef>
                <a:spcAft>
                  <a:spcPts val="0"/>
                </a:spcAft>
              </a:pPr>
              <a:r>
                <a:rPr lang="en-US" sz="1650" b="1" dirty="0">
                  <a:solidFill>
                    <a:srgbClr val="EDE9E2"/>
                  </a:solidFill>
                  <a:latin typeface="Bahnschrift"/>
                  <a:ea typeface="Bahnschrift"/>
                  <a:cs typeface="Bahnschrift"/>
                </a:rPr>
                <a:t>Density</a:t>
              </a:r>
              <a:endParaRPr lang="en-US" sz="1650" dirty="0"/>
            </a:p>
          </p:txBody>
        </p:sp>
        <p:sp>
          <p:nvSpPr>
            <p:cNvPr id="48" name="Text 49"/>
            <p:cNvSpPr txBox="1"/>
            <p:nvPr/>
          </p:nvSpPr>
          <p:spPr>
            <a:xfrm>
              <a:off x="4572000" y="4381500"/>
              <a:ext cx="3076379"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Segoe UI"/>
                  <a:ea typeface="Segoe UI"/>
                  <a:cs typeface="Segoe UI"/>
                </a:rPr>
                <a:t>How tightly everything is packed on screen.</a:t>
              </a:r>
              <a:endParaRPr lang="en-US" sz="1200" dirty="0"/>
            </a:p>
          </p:txBody>
        </p:sp>
        <p:sp>
          <p:nvSpPr>
            <p:cNvPr id="49" name="rect 50"/>
            <p:cNvSpPr/>
            <p:nvPr/>
          </p:nvSpPr>
          <p:spPr>
            <a:xfrm>
              <a:off x="4572000" y="4743450"/>
              <a:ext cx="609600" cy="57150"/>
            </a:xfrm>
            <a:prstGeom prst="roundRect">
              <a:avLst>
                <a:gd name="adj" fmla="val 33333"/>
              </a:avLst>
            </a:prstGeom>
            <a:solidFill>
              <a:srgbClr val="FF5B1F"/>
            </a:solidFill>
            <a:ln>
              <a:noFill/>
            </a:ln>
          </p:spPr>
          <p:txBody>
            <a:bodyPr/>
            <a:lstStyle/>
            <a:p>
              <a:endParaRPr lang="en-US"/>
            </a:p>
          </p:txBody>
        </p:sp>
        <p:sp>
          <p:nvSpPr>
            <p:cNvPr id="50" name="rect 51"/>
            <p:cNvSpPr/>
            <p:nvPr/>
          </p:nvSpPr>
          <p:spPr>
            <a:xfrm>
              <a:off x="4572000" y="4838700"/>
              <a:ext cx="476250" cy="57150"/>
            </a:xfrm>
            <a:prstGeom prst="roundRect">
              <a:avLst>
                <a:gd name="adj" fmla="val 33333"/>
              </a:avLst>
            </a:prstGeom>
            <a:solidFill>
              <a:srgbClr val="9C9A94">
                <a:alpha val="70000"/>
              </a:srgbClr>
            </a:solidFill>
            <a:ln>
              <a:noFill/>
            </a:ln>
          </p:spPr>
          <p:txBody>
            <a:bodyPr/>
            <a:lstStyle/>
            <a:p>
              <a:endParaRPr lang="en-US"/>
            </a:p>
          </p:txBody>
        </p:sp>
        <p:sp>
          <p:nvSpPr>
            <p:cNvPr id="51" name="rect 52"/>
            <p:cNvSpPr/>
            <p:nvPr/>
          </p:nvSpPr>
          <p:spPr>
            <a:xfrm>
              <a:off x="4572000" y="4933950"/>
              <a:ext cx="552450" cy="57150"/>
            </a:xfrm>
            <a:prstGeom prst="roundRect">
              <a:avLst>
                <a:gd name="adj" fmla="val 33333"/>
              </a:avLst>
            </a:prstGeom>
            <a:solidFill>
              <a:srgbClr val="9C9A94">
                <a:alpha val="70000"/>
              </a:srgbClr>
            </a:solidFill>
            <a:ln>
              <a:noFill/>
            </a:ln>
          </p:spPr>
          <p:txBody>
            <a:bodyPr/>
            <a:lstStyle/>
            <a:p>
              <a:endParaRPr lang="en-US"/>
            </a:p>
          </p:txBody>
        </p:sp>
        <p:sp>
          <p:nvSpPr>
            <p:cNvPr id="52" name="rect 53"/>
            <p:cNvSpPr/>
            <p:nvPr/>
          </p:nvSpPr>
          <p:spPr>
            <a:xfrm>
              <a:off x="4572000" y="5029200"/>
              <a:ext cx="400050" cy="57150"/>
            </a:xfrm>
            <a:prstGeom prst="roundRect">
              <a:avLst>
                <a:gd name="adj" fmla="val 33333"/>
              </a:avLst>
            </a:prstGeom>
            <a:solidFill>
              <a:srgbClr val="9C9A94">
                <a:alpha val="70000"/>
              </a:srgbClr>
            </a:solidFill>
            <a:ln>
              <a:noFill/>
            </a:ln>
          </p:spPr>
          <p:txBody>
            <a:bodyPr/>
            <a:lstStyle/>
            <a:p>
              <a:endParaRPr lang="en-US"/>
            </a:p>
          </p:txBody>
        </p:sp>
        <p:sp>
          <p:nvSpPr>
            <p:cNvPr id="53" name="rect 54"/>
            <p:cNvSpPr/>
            <p:nvPr/>
          </p:nvSpPr>
          <p:spPr>
            <a:xfrm>
              <a:off x="4572000" y="5124450"/>
              <a:ext cx="514350" cy="57150"/>
            </a:xfrm>
            <a:prstGeom prst="roundRect">
              <a:avLst>
                <a:gd name="adj" fmla="val 33333"/>
              </a:avLst>
            </a:prstGeom>
            <a:solidFill>
              <a:srgbClr val="9C9A94">
                <a:alpha val="70000"/>
              </a:srgbClr>
            </a:solidFill>
            <a:ln>
              <a:noFill/>
            </a:ln>
          </p:spPr>
          <p:txBody>
            <a:bodyPr/>
            <a:lstStyle/>
            <a:p>
              <a:endParaRPr lang="en-US"/>
            </a:p>
          </p:txBody>
        </p:sp>
        <p:sp>
          <p:nvSpPr>
            <p:cNvPr id="54" name="rect 55"/>
            <p:cNvSpPr/>
            <p:nvPr/>
          </p:nvSpPr>
          <p:spPr>
            <a:xfrm>
              <a:off x="5486400" y="4743450"/>
              <a:ext cx="609600" cy="57150"/>
            </a:xfrm>
            <a:prstGeom prst="roundRect">
              <a:avLst>
                <a:gd name="adj" fmla="val 33333"/>
              </a:avLst>
            </a:prstGeom>
            <a:solidFill>
              <a:srgbClr val="FF5B1F"/>
            </a:solidFill>
            <a:ln>
              <a:noFill/>
            </a:ln>
          </p:spPr>
          <p:txBody>
            <a:bodyPr/>
            <a:lstStyle/>
            <a:p>
              <a:endParaRPr lang="en-US"/>
            </a:p>
          </p:txBody>
        </p:sp>
        <p:sp>
          <p:nvSpPr>
            <p:cNvPr id="55" name="rect 56"/>
            <p:cNvSpPr/>
            <p:nvPr/>
          </p:nvSpPr>
          <p:spPr>
            <a:xfrm>
              <a:off x="5486400" y="4876800"/>
              <a:ext cx="476250" cy="57150"/>
            </a:xfrm>
            <a:prstGeom prst="roundRect">
              <a:avLst>
                <a:gd name="adj" fmla="val 33333"/>
              </a:avLst>
            </a:prstGeom>
            <a:solidFill>
              <a:srgbClr val="9C9A94">
                <a:alpha val="70000"/>
              </a:srgbClr>
            </a:solidFill>
            <a:ln>
              <a:noFill/>
            </a:ln>
          </p:spPr>
          <p:txBody>
            <a:bodyPr/>
            <a:lstStyle/>
            <a:p>
              <a:endParaRPr lang="en-US"/>
            </a:p>
          </p:txBody>
        </p:sp>
        <p:sp>
          <p:nvSpPr>
            <p:cNvPr id="56" name="rect 57"/>
            <p:cNvSpPr/>
            <p:nvPr/>
          </p:nvSpPr>
          <p:spPr>
            <a:xfrm>
              <a:off x="5486400" y="5010150"/>
              <a:ext cx="552450" cy="57150"/>
            </a:xfrm>
            <a:prstGeom prst="roundRect">
              <a:avLst>
                <a:gd name="adj" fmla="val 33333"/>
              </a:avLst>
            </a:prstGeom>
            <a:solidFill>
              <a:srgbClr val="9C9A94">
                <a:alpha val="70000"/>
              </a:srgbClr>
            </a:solidFill>
            <a:ln>
              <a:noFill/>
            </a:ln>
          </p:spPr>
          <p:txBody>
            <a:bodyPr/>
            <a:lstStyle/>
            <a:p>
              <a:endParaRPr lang="en-US"/>
            </a:p>
          </p:txBody>
        </p:sp>
        <p:sp>
          <p:nvSpPr>
            <p:cNvPr id="57" name="rect 58"/>
            <p:cNvSpPr/>
            <p:nvPr/>
          </p:nvSpPr>
          <p:spPr>
            <a:xfrm>
              <a:off x="5486400" y="5143500"/>
              <a:ext cx="400050" cy="57150"/>
            </a:xfrm>
            <a:prstGeom prst="roundRect">
              <a:avLst>
                <a:gd name="adj" fmla="val 33333"/>
              </a:avLst>
            </a:prstGeom>
            <a:solidFill>
              <a:srgbClr val="9C9A94">
                <a:alpha val="70000"/>
              </a:srgbClr>
            </a:solidFill>
            <a:ln>
              <a:noFill/>
            </a:ln>
          </p:spPr>
          <p:txBody>
            <a:bodyPr/>
            <a:lstStyle/>
            <a:p>
              <a:endParaRPr lang="en-US"/>
            </a:p>
          </p:txBody>
        </p:sp>
        <p:sp>
          <p:nvSpPr>
            <p:cNvPr id="58" name="rect 59"/>
            <p:cNvSpPr/>
            <p:nvPr/>
          </p:nvSpPr>
          <p:spPr>
            <a:xfrm>
              <a:off x="5486400" y="5276850"/>
              <a:ext cx="514350" cy="57150"/>
            </a:xfrm>
            <a:prstGeom prst="roundRect">
              <a:avLst>
                <a:gd name="adj" fmla="val 33333"/>
              </a:avLst>
            </a:prstGeom>
            <a:solidFill>
              <a:srgbClr val="9C9A94">
                <a:alpha val="70000"/>
              </a:srgbClr>
            </a:solidFill>
            <a:ln>
              <a:noFill/>
            </a:ln>
          </p:spPr>
          <p:txBody>
            <a:bodyPr/>
            <a:lstStyle/>
            <a:p>
              <a:endParaRPr lang="en-US"/>
            </a:p>
          </p:txBody>
        </p:sp>
        <p:sp>
          <p:nvSpPr>
            <p:cNvPr id="59" name="rect 60"/>
            <p:cNvSpPr/>
            <p:nvPr/>
          </p:nvSpPr>
          <p:spPr>
            <a:xfrm>
              <a:off x="6705600" y="4743450"/>
              <a:ext cx="609600" cy="57150"/>
            </a:xfrm>
            <a:prstGeom prst="roundRect">
              <a:avLst>
                <a:gd name="adj" fmla="val 33333"/>
              </a:avLst>
            </a:prstGeom>
            <a:solidFill>
              <a:srgbClr val="FF5B1F"/>
            </a:solidFill>
            <a:ln>
              <a:noFill/>
            </a:ln>
          </p:spPr>
          <p:txBody>
            <a:bodyPr/>
            <a:lstStyle/>
            <a:p>
              <a:endParaRPr lang="en-US"/>
            </a:p>
          </p:txBody>
        </p:sp>
        <p:sp>
          <p:nvSpPr>
            <p:cNvPr id="60" name="rect 61"/>
            <p:cNvSpPr/>
            <p:nvPr/>
          </p:nvSpPr>
          <p:spPr>
            <a:xfrm>
              <a:off x="6705600" y="4914900"/>
              <a:ext cx="476250" cy="57150"/>
            </a:xfrm>
            <a:prstGeom prst="roundRect">
              <a:avLst>
                <a:gd name="adj" fmla="val 33333"/>
              </a:avLst>
            </a:prstGeom>
            <a:solidFill>
              <a:srgbClr val="9C9A94">
                <a:alpha val="70000"/>
              </a:srgbClr>
            </a:solidFill>
            <a:ln>
              <a:noFill/>
            </a:ln>
          </p:spPr>
          <p:txBody>
            <a:bodyPr/>
            <a:lstStyle/>
            <a:p>
              <a:endParaRPr lang="en-US"/>
            </a:p>
          </p:txBody>
        </p:sp>
        <p:sp>
          <p:nvSpPr>
            <p:cNvPr id="61" name="rect 62"/>
            <p:cNvSpPr/>
            <p:nvPr/>
          </p:nvSpPr>
          <p:spPr>
            <a:xfrm>
              <a:off x="6705600" y="5086350"/>
              <a:ext cx="552450" cy="57150"/>
            </a:xfrm>
            <a:prstGeom prst="roundRect">
              <a:avLst>
                <a:gd name="adj" fmla="val 33333"/>
              </a:avLst>
            </a:prstGeom>
            <a:solidFill>
              <a:srgbClr val="9C9A94">
                <a:alpha val="70000"/>
              </a:srgbClr>
            </a:solidFill>
            <a:ln>
              <a:noFill/>
            </a:ln>
          </p:spPr>
          <p:txBody>
            <a:bodyPr/>
            <a:lstStyle/>
            <a:p>
              <a:endParaRPr lang="en-US"/>
            </a:p>
          </p:txBody>
        </p:sp>
        <p:sp>
          <p:nvSpPr>
            <p:cNvPr id="62" name="rect 63"/>
            <p:cNvSpPr/>
            <p:nvPr/>
          </p:nvSpPr>
          <p:spPr>
            <a:xfrm>
              <a:off x="6705600" y="5257800"/>
              <a:ext cx="400050" cy="57150"/>
            </a:xfrm>
            <a:prstGeom prst="roundRect">
              <a:avLst>
                <a:gd name="adj" fmla="val 33333"/>
              </a:avLst>
            </a:prstGeom>
            <a:solidFill>
              <a:srgbClr val="9C9A94">
                <a:alpha val="70000"/>
              </a:srgbClr>
            </a:solidFill>
            <a:ln>
              <a:noFill/>
            </a:ln>
          </p:spPr>
          <p:txBody>
            <a:bodyPr/>
            <a:lstStyle/>
            <a:p>
              <a:endParaRPr lang="en-US"/>
            </a:p>
          </p:txBody>
        </p:sp>
        <p:sp>
          <p:nvSpPr>
            <p:cNvPr id="63" name="rect 64"/>
            <p:cNvSpPr/>
            <p:nvPr/>
          </p:nvSpPr>
          <p:spPr>
            <a:xfrm>
              <a:off x="6705600" y="5429250"/>
              <a:ext cx="514350" cy="57150"/>
            </a:xfrm>
            <a:prstGeom prst="roundRect">
              <a:avLst>
                <a:gd name="adj" fmla="val 33333"/>
              </a:avLst>
            </a:prstGeom>
            <a:solidFill>
              <a:srgbClr val="9C9A94">
                <a:alpha val="70000"/>
              </a:srgbClr>
            </a:solidFill>
            <a:ln>
              <a:noFill/>
            </a:ln>
          </p:spPr>
          <p:txBody>
            <a:bodyPr/>
            <a:lstStyle/>
            <a:p>
              <a:endParaRPr lang="en-US"/>
            </a:p>
          </p:txBody>
        </p:sp>
        <p:sp>
          <p:nvSpPr>
            <p:cNvPr id="64" name="Text 65"/>
            <p:cNvSpPr txBox="1"/>
            <p:nvPr/>
          </p:nvSpPr>
          <p:spPr>
            <a:xfrm>
              <a:off x="4572000" y="5556250"/>
              <a:ext cx="648093"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Consolas"/>
                  <a:ea typeface="Consolas"/>
                  <a:cs typeface="Consolas"/>
                </a:rPr>
                <a:t>Compact</a:t>
              </a:r>
              <a:endParaRPr lang="en-US" sz="1200" dirty="0"/>
            </a:p>
          </p:txBody>
        </p:sp>
        <p:sp>
          <p:nvSpPr>
            <p:cNvPr id="65" name="Text 66"/>
            <p:cNvSpPr txBox="1"/>
            <p:nvPr/>
          </p:nvSpPr>
          <p:spPr>
            <a:xfrm>
              <a:off x="5486400" y="5556250"/>
              <a:ext cx="996660"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Consolas"/>
                  <a:ea typeface="Consolas"/>
                  <a:cs typeface="Consolas"/>
                </a:rPr>
                <a:t>Comfortable</a:t>
              </a:r>
              <a:endParaRPr lang="en-US" sz="1200" dirty="0"/>
            </a:p>
          </p:txBody>
        </p:sp>
        <p:sp>
          <p:nvSpPr>
            <p:cNvPr id="66" name="Text 67"/>
            <p:cNvSpPr txBox="1"/>
            <p:nvPr/>
          </p:nvSpPr>
          <p:spPr>
            <a:xfrm>
              <a:off x="6705600" y="5556250"/>
              <a:ext cx="735235"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Consolas"/>
                  <a:ea typeface="Consolas"/>
                  <a:cs typeface="Consolas"/>
                </a:rPr>
                <a:t>Spacious</a:t>
              </a:r>
              <a:endParaRPr lang="en-US" sz="1200" dirty="0"/>
            </a:p>
          </p:txBody>
        </p:sp>
      </p:grpSp>
      <p:grpSp>
        <p:nvGrpSpPr>
          <p:cNvPr id="77" name="col-access"/>
          <p:cNvGrpSpPr/>
          <p:nvPr/>
        </p:nvGrpSpPr>
        <p:grpSpPr>
          <a:xfrm>
            <a:off x="8229600" y="3841750"/>
            <a:ext cx="2733151" cy="1812290"/>
            <a:chOff x="8229600" y="3841750"/>
            <a:chExt cx="2733151" cy="1812290"/>
          </a:xfrm>
        </p:grpSpPr>
        <p:sp>
          <p:nvSpPr>
            <p:cNvPr id="68" name="Text 69"/>
            <p:cNvSpPr txBox="1"/>
            <p:nvPr/>
          </p:nvSpPr>
          <p:spPr>
            <a:xfrm>
              <a:off x="8229600" y="3841750"/>
              <a:ext cx="252008" cy="212090"/>
            </a:xfrm>
            <a:prstGeom prst="rect">
              <a:avLst/>
            </a:prstGeom>
            <a:noFill/>
          </p:spPr>
          <p:txBody>
            <a:bodyPr wrap="none" lIns="0" tIns="0" rIns="0" bIns="0" rtlCol="0" anchor="t">
              <a:noAutofit/>
            </a:bodyPr>
            <a:lstStyle/>
            <a:p>
              <a:pPr algn="l">
                <a:spcBef>
                  <a:spcPts val="0"/>
                </a:spcBef>
                <a:spcAft>
                  <a:spcPts val="0"/>
                </a:spcAft>
              </a:pPr>
              <a:r>
                <a:rPr lang="en-US" sz="1200" b="0" spc="150" dirty="0">
                  <a:solidFill>
                    <a:srgbClr val="FF5B1F"/>
                  </a:solidFill>
                  <a:latin typeface="Consolas"/>
                  <a:ea typeface="Consolas"/>
                  <a:cs typeface="Consolas"/>
                </a:rPr>
                <a:t>03</a:t>
              </a:r>
              <a:endParaRPr lang="en-US" sz="1200" dirty="0"/>
            </a:p>
          </p:txBody>
        </p:sp>
        <p:sp>
          <p:nvSpPr>
            <p:cNvPr id="69" name="Text 70"/>
            <p:cNvSpPr txBox="1"/>
            <p:nvPr/>
          </p:nvSpPr>
          <p:spPr>
            <a:xfrm>
              <a:off x="8229600" y="4064000"/>
              <a:ext cx="2365546" cy="295593"/>
            </a:xfrm>
            <a:prstGeom prst="rect">
              <a:avLst/>
            </a:prstGeom>
            <a:noFill/>
          </p:spPr>
          <p:txBody>
            <a:bodyPr wrap="none" lIns="0" tIns="0" rIns="0" bIns="0" rtlCol="0" anchor="t">
              <a:noAutofit/>
            </a:bodyPr>
            <a:lstStyle/>
            <a:p>
              <a:pPr algn="l">
                <a:spcBef>
                  <a:spcPts val="0"/>
                </a:spcBef>
                <a:spcAft>
                  <a:spcPts val="0"/>
                </a:spcAft>
              </a:pPr>
              <a:r>
                <a:rPr lang="en-US" sz="1650" b="1" dirty="0">
                  <a:solidFill>
                    <a:srgbClr val="EDE9E2"/>
                  </a:solidFill>
                  <a:latin typeface="Bahnschrift"/>
                  <a:ea typeface="Bahnschrift"/>
                  <a:cs typeface="Bahnschrift"/>
                </a:rPr>
                <a:t>Terminal &amp; Accessibility</a:t>
              </a:r>
              <a:endParaRPr lang="en-US" sz="1650" dirty="0"/>
            </a:p>
          </p:txBody>
        </p:sp>
        <p:sp>
          <p:nvSpPr>
            <p:cNvPr id="70" name="Text 71"/>
            <p:cNvSpPr txBox="1"/>
            <p:nvPr/>
          </p:nvSpPr>
          <p:spPr>
            <a:xfrm>
              <a:off x="8229600" y="4368800"/>
              <a:ext cx="2733151" cy="656590"/>
            </a:xfrm>
            <a:prstGeom prst="rect">
              <a:avLst/>
            </a:prstGeom>
            <a:noFill/>
          </p:spPr>
          <p:txBody>
            <a:bodyPr wrap="none" lIns="0" tIns="0" rIns="0" bIns="0" rtlCol="0" anchor="t">
              <a:noAutofit/>
            </a:bodyPr>
            <a:lstStyle/>
            <a:p>
              <a:pPr algn="l">
                <a:lnSpc>
                  <a:spcPts val="1700"/>
                </a:lnSpc>
                <a:spcBef>
                  <a:spcPts val="0"/>
                </a:spcBef>
                <a:spcAft>
                  <a:spcPts val="0"/>
                </a:spcAft>
              </a:pPr>
              <a:r>
                <a:rPr lang="en-US" sz="1200" b="0" dirty="0">
                  <a:solidFill>
                    <a:srgbClr val="9C9A94"/>
                  </a:solidFill>
                  <a:latin typeface="Segoe UI"/>
                  <a:ea typeface="Segoe UI"/>
                  <a:cs typeface="Segoe UI"/>
                </a:rPr>
                <a:t>Shape the text window agents work in:</a:t>
              </a:r>
              <a:endParaRPr lang="en-US" sz="1200" dirty="0"/>
            </a:p>
            <a:p>
              <a:pPr algn="l">
                <a:lnSpc>
                  <a:spcPts val="1700"/>
                </a:lnSpc>
                <a:spcBef>
                  <a:spcPts val="0"/>
                </a:spcBef>
                <a:spcAft>
                  <a:spcPts val="0"/>
                </a:spcAft>
              </a:pPr>
              <a:r>
                <a:rPr lang="en-US" sz="1200" b="0" dirty="0">
                  <a:solidFill>
                    <a:srgbClr val="9C9A94"/>
                  </a:solidFill>
                  <a:latin typeface="Segoe UI"/>
                  <a:ea typeface="Segoe UI"/>
                  <a:cs typeface="Segoe UI"/>
                </a:rPr>
                <a:t>fonts, ligatures, cursor styles,</a:t>
              </a:r>
              <a:endParaRPr lang="en-US" sz="1200" dirty="0"/>
            </a:p>
            <a:p>
              <a:pPr algn="l">
                <a:lnSpc>
                  <a:spcPts val="1700"/>
                </a:lnSpc>
                <a:spcBef>
                  <a:spcPts val="0"/>
                </a:spcBef>
                <a:spcAft>
                  <a:spcPts val="0"/>
                </a:spcAft>
              </a:pPr>
              <a:r>
                <a:rPr lang="en-US" sz="1200" b="0" dirty="0">
                  <a:solidFill>
                    <a:srgbClr val="9C9A94"/>
                  </a:solidFill>
                  <a:latin typeface="Segoe UI"/>
                  <a:ea typeface="Segoe UI"/>
                  <a:cs typeface="Segoe UI"/>
                </a:rPr>
                <a:t>mouse tracking modes and opacity.</a:t>
              </a:r>
              <a:endParaRPr lang="en-US" sz="1200" dirty="0"/>
            </a:p>
          </p:txBody>
        </p:sp>
        <p:sp>
          <p:nvSpPr>
            <p:cNvPr id="71" name="rect 72"/>
            <p:cNvSpPr/>
            <p:nvPr/>
          </p:nvSpPr>
          <p:spPr>
            <a:xfrm>
              <a:off x="8229600" y="5143500"/>
              <a:ext cx="342900" cy="171450"/>
            </a:xfrm>
            <a:prstGeom prst="roundRect">
              <a:avLst>
                <a:gd name="adj" fmla="val 11111"/>
              </a:avLst>
            </a:prstGeom>
            <a:noFill/>
            <a:ln w="9525" cap="flat">
              <a:solidFill>
                <a:srgbClr val="9C9A94"/>
              </a:solidFill>
              <a:miter lim="800000"/>
            </a:ln>
          </p:spPr>
          <p:txBody>
            <a:bodyPr/>
            <a:lstStyle/>
            <a:p>
              <a:endParaRPr lang="en-US">
                <a:solidFill>
                  <a:srgbClr val="FF0000"/>
                </a:solidFill>
              </a:endParaRPr>
            </a:p>
          </p:txBody>
        </p:sp>
        <p:sp>
          <p:nvSpPr>
            <p:cNvPr id="72" name="rect 73"/>
            <p:cNvSpPr/>
            <p:nvPr/>
          </p:nvSpPr>
          <p:spPr>
            <a:xfrm>
              <a:off x="8267700" y="5181600"/>
              <a:ext cx="95250" cy="95250"/>
            </a:xfrm>
            <a:prstGeom prst="rect">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a:lstStyle/>
            <a:p>
              <a:endParaRPr lang="en-US" dirty="0">
                <a:solidFill>
                  <a:srgbClr val="FF0000"/>
                </a:solidFill>
              </a:endParaRPr>
            </a:p>
          </p:txBody>
        </p:sp>
        <p:sp>
          <p:nvSpPr>
            <p:cNvPr id="73" name="Text 74"/>
            <p:cNvSpPr txBox="1"/>
            <p:nvPr/>
          </p:nvSpPr>
          <p:spPr>
            <a:xfrm>
              <a:off x="8705850" y="5137150"/>
              <a:ext cx="1606653"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Consolas"/>
                  <a:ea typeface="Consolas"/>
                  <a:cs typeface="Consolas"/>
                </a:rPr>
                <a:t>Disable animations</a:t>
              </a:r>
              <a:endParaRPr lang="en-US" sz="1200" dirty="0"/>
            </a:p>
          </p:txBody>
        </p:sp>
        <p:sp>
          <p:nvSpPr>
            <p:cNvPr id="74" name="rect 75"/>
            <p:cNvSpPr/>
            <p:nvPr/>
          </p:nvSpPr>
          <p:spPr>
            <a:xfrm>
              <a:off x="8229600" y="5448300"/>
              <a:ext cx="342900" cy="171450"/>
            </a:xfrm>
            <a:prstGeom prst="roundRect">
              <a:avLst>
                <a:gd name="adj" fmla="val 11111"/>
              </a:avLst>
            </a:prstGeom>
            <a:noFill/>
            <a:ln w="9525" cap="flat">
              <a:solidFill>
                <a:srgbClr val="9C9A94"/>
              </a:solidFill>
              <a:miter lim="800000"/>
            </a:ln>
          </p:spPr>
          <p:txBody>
            <a:bodyPr/>
            <a:lstStyle/>
            <a:p>
              <a:endParaRPr lang="en-US"/>
            </a:p>
          </p:txBody>
        </p:sp>
        <p:sp>
          <p:nvSpPr>
            <p:cNvPr id="75" name="rect 76"/>
            <p:cNvSpPr/>
            <p:nvPr/>
          </p:nvSpPr>
          <p:spPr>
            <a:xfrm>
              <a:off x="8267700" y="5486400"/>
              <a:ext cx="95250" cy="95250"/>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a:lstStyle/>
            <a:p>
              <a:endParaRPr lang="en-US"/>
            </a:p>
          </p:txBody>
        </p:sp>
        <p:sp>
          <p:nvSpPr>
            <p:cNvPr id="76" name="Text 77"/>
            <p:cNvSpPr txBox="1"/>
            <p:nvPr/>
          </p:nvSpPr>
          <p:spPr>
            <a:xfrm>
              <a:off x="8705850" y="5441950"/>
              <a:ext cx="1170944"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Consolas"/>
                  <a:ea typeface="Consolas"/>
                  <a:cs typeface="Consolas"/>
                </a:rPr>
                <a:t>Custom cursor</a:t>
              </a:r>
              <a:endParaRPr lang="en-US" sz="1200" dirty="0"/>
            </a:p>
          </p:txBody>
        </p:sp>
      </p:grpSp>
      <p:grpSp>
        <p:nvGrpSpPr>
          <p:cNvPr id="85" name="ext-band"/>
          <p:cNvGrpSpPr/>
          <p:nvPr/>
        </p:nvGrpSpPr>
        <p:grpSpPr>
          <a:xfrm>
            <a:off x="609600" y="5829300"/>
            <a:ext cx="10972800" cy="457200"/>
            <a:chOff x="609600" y="5829300"/>
            <a:chExt cx="10972800" cy="457200"/>
          </a:xfrm>
        </p:grpSpPr>
        <p:sp>
          <p:nvSpPr>
            <p:cNvPr id="78" name="line 79"/>
            <p:cNvSpPr/>
            <p:nvPr/>
          </p:nvSpPr>
          <p:spPr>
            <a:xfrm>
              <a:off x="609600" y="5829300"/>
              <a:ext cx="10972800" cy="95"/>
            </a:xfrm>
            <a:custGeom>
              <a:avLst/>
              <a:gdLst/>
              <a:ahLst/>
              <a:cxnLst/>
              <a:rect l="0" t="0" r="r" b="b"/>
              <a:pathLst>
                <a:path w="10972800" h="95" fill="none">
                  <a:moveTo>
                    <a:pt x="0" y="0"/>
                  </a:moveTo>
                  <a:lnTo>
                    <a:pt x="10972800" y="0"/>
                  </a:lnTo>
                </a:path>
              </a:pathLst>
            </a:custGeom>
            <a:noFill/>
            <a:ln w="9525" cap="flat">
              <a:solidFill>
                <a:srgbClr val="2A2E35"/>
              </a:solidFill>
              <a:miter lim="800000"/>
            </a:ln>
          </p:spPr>
          <p:txBody>
            <a:bodyPr/>
            <a:lstStyle/>
            <a:p>
              <a:endParaRPr lang="en-US"/>
            </a:p>
          </p:txBody>
        </p:sp>
        <p:sp>
          <p:nvSpPr>
            <p:cNvPr id="79" name="rect 80"/>
            <p:cNvSpPr/>
            <p:nvPr/>
          </p:nvSpPr>
          <p:spPr>
            <a:xfrm>
              <a:off x="609600" y="5981700"/>
              <a:ext cx="1143000" cy="304800"/>
            </a:xfrm>
            <a:prstGeom prst="roundRect">
              <a:avLst>
                <a:gd name="adj" fmla="val 6250"/>
              </a:avLst>
            </a:prstGeom>
            <a:noFill/>
            <a:ln w="9525" cap="flat">
              <a:solidFill>
                <a:srgbClr val="FF5B1F"/>
              </a:solidFill>
              <a:miter lim="800000"/>
            </a:ln>
          </p:spPr>
          <p:txBody>
            <a:bodyPr/>
            <a:lstStyle/>
            <a:p>
              <a:endParaRPr lang="en-US"/>
            </a:p>
          </p:txBody>
        </p:sp>
        <p:sp>
          <p:nvSpPr>
            <p:cNvPr id="80" name="Text 81"/>
            <p:cNvSpPr txBox="1"/>
            <p:nvPr/>
          </p:nvSpPr>
          <p:spPr>
            <a:xfrm>
              <a:off x="723900" y="6042025"/>
              <a:ext cx="1008578" cy="212090"/>
            </a:xfrm>
            <a:prstGeom prst="rect">
              <a:avLst/>
            </a:prstGeom>
            <a:noFill/>
          </p:spPr>
          <p:txBody>
            <a:bodyPr wrap="none" lIns="0" tIns="0" rIns="0" bIns="0" rtlCol="0" anchor="t">
              <a:noAutofit/>
            </a:bodyPr>
            <a:lstStyle/>
            <a:p>
              <a:pPr algn="l">
                <a:spcBef>
                  <a:spcPts val="0"/>
                </a:spcBef>
                <a:spcAft>
                  <a:spcPts val="0"/>
                </a:spcAft>
              </a:pPr>
              <a:r>
                <a:rPr lang="en-US" sz="1200" b="0" spc="75" dirty="0">
                  <a:solidFill>
                    <a:srgbClr val="FF5B1F"/>
                  </a:solidFill>
                  <a:latin typeface="Consolas"/>
                  <a:ea typeface="Consolas"/>
                  <a:cs typeface="Consolas"/>
                </a:rPr>
                <a:t>EXTENSIONS</a:t>
              </a:r>
              <a:endParaRPr lang="en-US" sz="1200" dirty="0"/>
            </a:p>
          </p:txBody>
        </p:sp>
        <p:sp>
          <p:nvSpPr>
            <p:cNvPr id="81" name="Text 82"/>
            <p:cNvSpPr txBox="1"/>
            <p:nvPr/>
          </p:nvSpPr>
          <p:spPr>
            <a:xfrm>
              <a:off x="1981200" y="6029325"/>
              <a:ext cx="5275898"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Segoe UI"/>
                  <a:ea typeface="Segoe UI"/>
                  <a:cs typeface="Segoe UI"/>
                </a:rPr>
                <a:t>Add new abilities to the coding workspace, like add-ons for a web browser.</a:t>
              </a:r>
              <a:endParaRPr lang="en-US" sz="1200" dirty="0"/>
            </a:p>
          </p:txBody>
        </p:sp>
        <p:sp>
          <p:nvSpPr>
            <p:cNvPr id="82" name="rect 83"/>
            <p:cNvSpPr/>
            <p:nvPr/>
          </p:nvSpPr>
          <p:spPr>
            <a:xfrm>
              <a:off x="11277600" y="5981700"/>
              <a:ext cx="304800" cy="304800"/>
            </a:xfrm>
            <a:prstGeom prst="roundRect">
              <a:avLst>
                <a:gd name="adj" fmla="val 6250"/>
              </a:avLst>
            </a:prstGeom>
            <a:noFill/>
            <a:ln w="14288" cap="flat">
              <a:solidFill>
                <a:srgbClr val="3D8BFF"/>
              </a:solidFill>
              <a:miter lim="800000"/>
            </a:ln>
          </p:spPr>
          <p:txBody>
            <a:bodyPr/>
            <a:lstStyle/>
            <a:p>
              <a:endParaRPr lang="en-US"/>
            </a:p>
          </p:txBody>
        </p:sp>
        <p:sp>
          <p:nvSpPr>
            <p:cNvPr id="83" name="line 84"/>
            <p:cNvSpPr/>
            <p:nvPr/>
          </p:nvSpPr>
          <p:spPr>
            <a:xfrm>
              <a:off x="11353800" y="6134100"/>
              <a:ext cx="152400" cy="95"/>
            </a:xfrm>
            <a:custGeom>
              <a:avLst/>
              <a:gdLst/>
              <a:ahLst/>
              <a:cxnLst/>
              <a:rect l="0" t="0" r="r" b="b"/>
              <a:pathLst>
                <a:path w="152400" h="95" fill="none">
                  <a:moveTo>
                    <a:pt x="0" y="0"/>
                  </a:moveTo>
                  <a:lnTo>
                    <a:pt x="152400" y="0"/>
                  </a:lnTo>
                </a:path>
              </a:pathLst>
            </a:custGeom>
            <a:noFill/>
            <a:ln w="19050" cap="flat">
              <a:solidFill>
                <a:srgbClr val="3D8BFF"/>
              </a:solidFill>
              <a:miter lim="800000"/>
            </a:ln>
          </p:spPr>
          <p:txBody>
            <a:bodyPr/>
            <a:lstStyle/>
            <a:p>
              <a:endParaRPr lang="en-US"/>
            </a:p>
          </p:txBody>
        </p:sp>
        <p:sp>
          <p:nvSpPr>
            <p:cNvPr id="84" name="line 85"/>
            <p:cNvSpPr/>
            <p:nvPr/>
          </p:nvSpPr>
          <p:spPr>
            <a:xfrm>
              <a:off x="11430000" y="6057900"/>
              <a:ext cx="95" cy="152400"/>
            </a:xfrm>
            <a:custGeom>
              <a:avLst/>
              <a:gdLst/>
              <a:ahLst/>
              <a:cxnLst/>
              <a:rect l="0" t="0" r="r" b="b"/>
              <a:pathLst>
                <a:path w="95" h="152400" fill="none">
                  <a:moveTo>
                    <a:pt x="0" y="0"/>
                  </a:moveTo>
                  <a:lnTo>
                    <a:pt x="0" y="152400"/>
                  </a:lnTo>
                </a:path>
              </a:pathLst>
            </a:custGeom>
            <a:noFill/>
            <a:ln w="19050" cap="flat">
              <a:solidFill>
                <a:srgbClr val="3D8BFF"/>
              </a:solidFill>
              <a:miter lim="800000"/>
            </a:ln>
          </p:spPr>
          <p:txBody>
            <a:bodyPr/>
            <a:lstStyle/>
            <a:p>
              <a:endParaRPr lang="en-US"/>
            </a:p>
          </p:txBody>
        </p:sp>
      </p:grpSp>
      <p:grpSp>
        <p:nvGrpSpPr>
          <p:cNvPr id="88" name="progress-rule"/>
          <p:cNvGrpSpPr/>
          <p:nvPr/>
        </p:nvGrpSpPr>
        <p:grpSpPr>
          <a:xfrm>
            <a:off x="609600" y="6553200"/>
            <a:ext cx="10972800" cy="28575"/>
            <a:chOff x="609600" y="6553200"/>
            <a:chExt cx="10972800" cy="28575"/>
          </a:xfrm>
        </p:grpSpPr>
        <p:sp>
          <p:nvSpPr>
            <p:cNvPr id="86" name="line 87"/>
            <p:cNvSpPr/>
            <p:nvPr/>
          </p:nvSpPr>
          <p:spPr>
            <a:xfrm>
              <a:off x="609600" y="6572250"/>
              <a:ext cx="10972800" cy="95"/>
            </a:xfrm>
            <a:custGeom>
              <a:avLst/>
              <a:gdLst/>
              <a:ahLst/>
              <a:cxnLst/>
              <a:rect l="0" t="0" r="r" b="b"/>
              <a:pathLst>
                <a:path w="10972800" h="95" fill="none">
                  <a:moveTo>
                    <a:pt x="0" y="0"/>
                  </a:moveTo>
                  <a:lnTo>
                    <a:pt x="10972800" y="0"/>
                  </a:lnTo>
                </a:path>
              </a:pathLst>
            </a:custGeom>
            <a:noFill/>
            <a:ln w="9525" cap="flat">
              <a:solidFill>
                <a:srgbClr val="2A2E35"/>
              </a:solidFill>
              <a:miter lim="800000"/>
            </a:ln>
          </p:spPr>
          <p:txBody>
            <a:bodyPr/>
            <a:lstStyle/>
            <a:p>
              <a:endParaRPr lang="en-US"/>
            </a:p>
          </p:txBody>
        </p:sp>
        <p:sp>
          <p:nvSpPr>
            <p:cNvPr id="87" name="rect 88"/>
            <p:cNvSpPr/>
            <p:nvPr/>
          </p:nvSpPr>
          <p:spPr>
            <a:xfrm>
              <a:off x="609600" y="6553200"/>
              <a:ext cx="9601200" cy="28575"/>
            </a:xfrm>
            <a:prstGeom prst="rect">
              <a:avLst/>
            </a:prstGeom>
            <a:solidFill>
              <a:srgbClr val="FF5B1F"/>
            </a:solidFill>
            <a:ln>
              <a:noFill/>
            </a:ln>
          </p:spPr>
          <p:txBody>
            <a:bodyPr/>
            <a:lstStyle/>
            <a:p>
              <a:endParaRPr lang="en-US"/>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600" fill="hold"/>
                                        <p:tgtEl>
                                          <p:spTgt spid="6"/>
                                        </p:tgtEl>
                                        <p:attrNameLst>
                                          <p:attrName>ppt_y</p:attrName>
                                        </p:attrNameLst>
                                      </p:cBhvr>
                                      <p:tavLst>
                                        <p:tav tm="0">
                                          <p:val>
                                            <p:strVal val="#ppt_y+.1"/>
                                          </p:val>
                                        </p:tav>
                                        <p:tav tm="100000">
                                          <p:val>
                                            <p:strVal val="#ppt_y"/>
                                          </p:val>
                                        </p:tav>
                                      </p:tavLst>
                                    </p:anim>
                                    <p:animEffect transition="in" filter="fade">
                                      <p:cBhvr>
                                        <p:cTn id="8" dur="600"/>
                                        <p:tgtEl>
                                          <p:spTgt spid="6"/>
                                        </p:tgtEl>
                                      </p:cBhvr>
                                    </p:animEffect>
                                  </p:childTnLst>
                                </p:cTn>
                              </p:par>
                            </p:childTnLst>
                          </p:cTn>
                        </p:par>
                        <p:par>
                          <p:cTn id="9" fill="hold">
                            <p:stCondLst>
                              <p:cond delay="600"/>
                            </p:stCondLst>
                            <p:childTnLst>
                              <p:par>
                                <p:cTn id="10" presetID="10" presetClass="entr" presetSubtype="0" fill="hold" nodeType="after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wipe(left)">
                                      <p:cBhvr>
                                        <p:cTn id="17" dur="700"/>
                                        <p:tgtEl>
                                          <p:spTgt spid="33"/>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45"/>
                                        </p:tgtEl>
                                        <p:attrNameLst>
                                          <p:attrName>style.visibility</p:attrName>
                                        </p:attrNameLst>
                                      </p:cBhvr>
                                      <p:to>
                                        <p:strVal val="visible"/>
                                      </p:to>
                                    </p:set>
                                    <p:anim calcmode="lin" valueType="num">
                                      <p:cBhvr>
                                        <p:cTn id="22" dur="600" fill="hold"/>
                                        <p:tgtEl>
                                          <p:spTgt spid="45"/>
                                        </p:tgtEl>
                                        <p:attrNameLst>
                                          <p:attrName>ppt_y</p:attrName>
                                        </p:attrNameLst>
                                      </p:cBhvr>
                                      <p:tavLst>
                                        <p:tav tm="0">
                                          <p:val>
                                            <p:strVal val="#ppt_y+.1"/>
                                          </p:val>
                                        </p:tav>
                                        <p:tav tm="100000">
                                          <p:val>
                                            <p:strVal val="#ppt_y"/>
                                          </p:val>
                                        </p:tav>
                                      </p:tavLst>
                                    </p:anim>
                                    <p:animEffect transition="in" filter="fade">
                                      <p:cBhvr>
                                        <p:cTn id="23" dur="600"/>
                                        <p:tgtEl>
                                          <p:spTgt spid="45"/>
                                        </p:tgtEl>
                                      </p:cBhvr>
                                    </p:animEffect>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67"/>
                                        </p:tgtEl>
                                        <p:attrNameLst>
                                          <p:attrName>style.visibility</p:attrName>
                                        </p:attrNameLst>
                                      </p:cBhvr>
                                      <p:to>
                                        <p:strVal val="visible"/>
                                      </p:to>
                                    </p:set>
                                    <p:anim calcmode="lin" valueType="num">
                                      <p:cBhvr>
                                        <p:cTn id="28" dur="600" fill="hold"/>
                                        <p:tgtEl>
                                          <p:spTgt spid="67"/>
                                        </p:tgtEl>
                                        <p:attrNameLst>
                                          <p:attrName>ppt_y</p:attrName>
                                        </p:attrNameLst>
                                      </p:cBhvr>
                                      <p:tavLst>
                                        <p:tav tm="0">
                                          <p:val>
                                            <p:strVal val="#ppt_y+.1"/>
                                          </p:val>
                                        </p:tav>
                                        <p:tav tm="100000">
                                          <p:val>
                                            <p:strVal val="#ppt_y"/>
                                          </p:val>
                                        </p:tav>
                                      </p:tavLst>
                                    </p:anim>
                                    <p:animEffect transition="in" filter="fade">
                                      <p:cBhvr>
                                        <p:cTn id="29" dur="600"/>
                                        <p:tgtEl>
                                          <p:spTgt spid="67"/>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77"/>
                                        </p:tgtEl>
                                        <p:attrNameLst>
                                          <p:attrName>style.visibility</p:attrName>
                                        </p:attrNameLst>
                                      </p:cBhvr>
                                      <p:to>
                                        <p:strVal val="visible"/>
                                      </p:to>
                                    </p:set>
                                    <p:anim calcmode="lin" valueType="num">
                                      <p:cBhvr>
                                        <p:cTn id="34" dur="600" fill="hold"/>
                                        <p:tgtEl>
                                          <p:spTgt spid="77"/>
                                        </p:tgtEl>
                                        <p:attrNameLst>
                                          <p:attrName>ppt_y</p:attrName>
                                        </p:attrNameLst>
                                      </p:cBhvr>
                                      <p:tavLst>
                                        <p:tav tm="0">
                                          <p:val>
                                            <p:strVal val="#ppt_y+.1"/>
                                          </p:val>
                                        </p:tav>
                                        <p:tav tm="100000">
                                          <p:val>
                                            <p:strVal val="#ppt_y"/>
                                          </p:val>
                                        </p:tav>
                                      </p:tavLst>
                                    </p:anim>
                                    <p:animEffect transition="in" filter="fade">
                                      <p:cBhvr>
                                        <p:cTn id="35" dur="600"/>
                                        <p:tgtEl>
                                          <p:spTgt spid="77"/>
                                        </p:tgtEl>
                                      </p:cBhvr>
                                    </p:animEffec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85"/>
                                        </p:tgtEl>
                                        <p:attrNameLst>
                                          <p:attrName>style.visibility</p:attrName>
                                        </p:attrNameLst>
                                      </p:cBhvr>
                                      <p:to>
                                        <p:strVal val="visible"/>
                                      </p:to>
                                    </p:set>
                                    <p:anim calcmode="lin" valueType="num">
                                      <p:cBhvr>
                                        <p:cTn id="40" dur="600" fill="hold"/>
                                        <p:tgtEl>
                                          <p:spTgt spid="85"/>
                                        </p:tgtEl>
                                        <p:attrNameLst>
                                          <p:attrName>ppt_y</p:attrName>
                                        </p:attrNameLst>
                                      </p:cBhvr>
                                      <p:tavLst>
                                        <p:tav tm="0">
                                          <p:val>
                                            <p:strVal val="#ppt_y+.1"/>
                                          </p:val>
                                        </p:tav>
                                        <p:tav tm="100000">
                                          <p:val>
                                            <p:strVal val="#ppt_y"/>
                                          </p:val>
                                        </p:tav>
                                      </p:tavLst>
                                    </p:anim>
                                    <p:animEffect transition="in" filter="fade">
                                      <p:cBhvr>
                                        <p:cTn id="41" dur="6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B0D"/>
        </a:solidFill>
        <a:effectLst/>
      </p:bgPr>
    </p:bg>
    <p:spTree>
      <p:nvGrpSpPr>
        <p:cNvPr id="1" name=""/>
        <p:cNvGrpSpPr/>
        <p:nvPr/>
      </p:nvGrpSpPr>
      <p:grpSpPr>
        <a:xfrm>
          <a:off x="0" y="0"/>
          <a:ext cx="0" cy="0"/>
          <a:chOff x="0" y="0"/>
          <a:chExt cx="0" cy="0"/>
        </a:xfrm>
      </p:grpSpPr>
      <p:sp>
        <p:nvSpPr>
          <p:cNvPr id="2" name="rect 3"/>
          <p:cNvSpPr/>
          <p:nvPr/>
        </p:nvSpPr>
        <p:spPr>
          <a:xfrm>
            <a:off x="0" y="0"/>
            <a:ext cx="12192000" cy="2667000"/>
          </a:xfrm>
          <a:prstGeom prst="rect">
            <a:avLst/>
          </a:prstGeom>
          <a:solidFill>
            <a:srgbClr val="05080A"/>
          </a:solidFill>
          <a:ln>
            <a:noFill/>
          </a:ln>
        </p:spPr>
        <p:txBody>
          <a:bodyPr/>
          <a:lstStyle/>
          <a:p>
            <a:endParaRPr lang="en-US"/>
          </a:p>
        </p:txBody>
      </p:sp>
      <p:pic>
        <p:nvPicPr>
          <p:cNvPr id="4" name="hero-banner" descr="hero-banner"/>
          <p:cNvPicPr>
            <a:picLocks noChangeAspect="1"/>
          </p:cNvPicPr>
          <p:nvPr/>
        </p:nvPicPr>
        <p:blipFill>
          <a:blip r:embed="rId3"/>
          <a:stretch>
            <a:fillRect/>
          </a:stretch>
        </p:blipFill>
        <p:spPr>
          <a:xfrm>
            <a:off x="2095500" y="0"/>
            <a:ext cx="8001000" cy="2667000"/>
          </a:xfrm>
          <a:prstGeom prst="rect">
            <a:avLst/>
          </a:prstGeom>
        </p:spPr>
      </p:pic>
      <p:sp>
        <p:nvSpPr>
          <p:cNvPr id="5" name="line 6"/>
          <p:cNvSpPr/>
          <p:nvPr/>
        </p:nvSpPr>
        <p:spPr>
          <a:xfrm>
            <a:off x="0" y="2671763"/>
            <a:ext cx="12192000" cy="95"/>
          </a:xfrm>
          <a:custGeom>
            <a:avLst/>
            <a:gdLst/>
            <a:ahLst/>
            <a:cxnLst/>
            <a:rect l="0" t="0" r="r" b="b"/>
            <a:pathLst>
              <a:path w="12192000" h="95" fill="none">
                <a:moveTo>
                  <a:pt x="0" y="0"/>
                </a:moveTo>
                <a:lnTo>
                  <a:pt x="12192000" y="0"/>
                </a:lnTo>
              </a:path>
            </a:pathLst>
          </a:custGeom>
          <a:noFill/>
          <a:ln w="9525" cap="flat">
            <a:solidFill>
              <a:srgbClr val="2A2E35"/>
            </a:solidFill>
            <a:miter lim="800000"/>
          </a:ln>
        </p:spPr>
        <p:txBody>
          <a:bodyPr/>
          <a:lstStyle/>
          <a:p>
            <a:endParaRPr lang="en-US"/>
          </a:p>
        </p:txBody>
      </p:sp>
      <p:grpSp>
        <p:nvGrpSpPr>
          <p:cNvPr id="8" name="viewfinder-brackets"/>
          <p:cNvGrpSpPr/>
          <p:nvPr/>
        </p:nvGrpSpPr>
        <p:grpSpPr>
          <a:xfrm>
            <a:off x="609600" y="2400300"/>
            <a:ext cx="10972800" cy="190500"/>
            <a:chOff x="609600" y="2400300"/>
            <a:chExt cx="10972800" cy="190500"/>
          </a:xfrm>
        </p:grpSpPr>
        <p:sp>
          <p:nvSpPr>
            <p:cNvPr id="6" name="path 7"/>
            <p:cNvSpPr/>
            <p:nvPr/>
          </p:nvSpPr>
          <p:spPr>
            <a:xfrm>
              <a:off x="609600" y="2400300"/>
              <a:ext cx="228600" cy="190500"/>
            </a:xfrm>
            <a:custGeom>
              <a:avLst/>
              <a:gdLst/>
              <a:ahLst/>
              <a:cxnLst/>
              <a:rect l="0" t="0" r="r" b="b"/>
              <a:pathLst>
                <a:path w="228600" h="190500" fill="none">
                  <a:moveTo>
                    <a:pt x="0" y="0"/>
                  </a:moveTo>
                  <a:lnTo>
                    <a:pt x="0" y="190500"/>
                  </a:lnTo>
                  <a:lnTo>
                    <a:pt x="228600" y="190500"/>
                  </a:lnTo>
                </a:path>
              </a:pathLst>
            </a:custGeom>
            <a:noFill/>
            <a:ln w="19050" cap="flat">
              <a:solidFill>
                <a:srgbClr val="3D8BFF"/>
              </a:solidFill>
              <a:miter lim="800000"/>
            </a:ln>
          </p:spPr>
          <p:txBody>
            <a:bodyPr/>
            <a:lstStyle/>
            <a:p>
              <a:endParaRPr lang="en-US"/>
            </a:p>
          </p:txBody>
        </p:sp>
        <p:sp>
          <p:nvSpPr>
            <p:cNvPr id="7" name="path 8"/>
            <p:cNvSpPr/>
            <p:nvPr/>
          </p:nvSpPr>
          <p:spPr>
            <a:xfrm>
              <a:off x="11353800" y="2400300"/>
              <a:ext cx="228600" cy="190500"/>
            </a:xfrm>
            <a:custGeom>
              <a:avLst/>
              <a:gdLst/>
              <a:ahLst/>
              <a:cxnLst/>
              <a:rect l="0" t="0" r="r" b="b"/>
              <a:pathLst>
                <a:path w="228600" h="190500" fill="none">
                  <a:moveTo>
                    <a:pt x="228600" y="0"/>
                  </a:moveTo>
                  <a:lnTo>
                    <a:pt x="228600" y="190500"/>
                  </a:lnTo>
                  <a:lnTo>
                    <a:pt x="0" y="190500"/>
                  </a:lnTo>
                </a:path>
              </a:pathLst>
            </a:custGeom>
            <a:noFill/>
            <a:ln w="19050" cap="flat">
              <a:solidFill>
                <a:srgbClr val="3D8BFF"/>
              </a:solidFill>
              <a:miter lim="800000"/>
            </a:ln>
          </p:spPr>
          <p:txBody>
            <a:bodyPr/>
            <a:lstStyle/>
            <a:p>
              <a:endParaRPr lang="en-US"/>
            </a:p>
          </p:txBody>
        </p:sp>
      </p:grpSp>
      <p:grpSp>
        <p:nvGrpSpPr>
          <p:cNvPr id="12" name="title-block"/>
          <p:cNvGrpSpPr/>
          <p:nvPr/>
        </p:nvGrpSpPr>
        <p:grpSpPr>
          <a:xfrm>
            <a:off x="609600" y="2774950"/>
            <a:ext cx="6226641" cy="1168400"/>
            <a:chOff x="609600" y="2774950"/>
            <a:chExt cx="6226641" cy="1168400"/>
          </a:xfrm>
        </p:grpSpPr>
        <p:sp>
          <p:nvSpPr>
            <p:cNvPr id="9" name="rect 10"/>
            <p:cNvSpPr/>
            <p:nvPr/>
          </p:nvSpPr>
          <p:spPr>
            <a:xfrm>
              <a:off x="609600" y="2838450"/>
              <a:ext cx="457200" cy="57150"/>
            </a:xfrm>
            <a:prstGeom prst="roundRect">
              <a:avLst>
                <a:gd name="adj" fmla="val 50000"/>
              </a:avLst>
            </a:prstGeom>
            <a:solidFill>
              <a:srgbClr val="FF5B1F"/>
            </a:solidFill>
            <a:ln>
              <a:noFill/>
            </a:ln>
          </p:spPr>
          <p:txBody>
            <a:bodyPr/>
            <a:lstStyle/>
            <a:p>
              <a:endParaRPr lang="en-US"/>
            </a:p>
          </p:txBody>
        </p:sp>
        <p:sp>
          <p:nvSpPr>
            <p:cNvPr id="10" name="Text 11"/>
            <p:cNvSpPr txBox="1"/>
            <p:nvPr/>
          </p:nvSpPr>
          <p:spPr>
            <a:xfrm>
              <a:off x="1219200" y="2774950"/>
              <a:ext cx="3674531" cy="212090"/>
            </a:xfrm>
            <a:prstGeom prst="rect">
              <a:avLst/>
            </a:prstGeom>
            <a:noFill/>
          </p:spPr>
          <p:txBody>
            <a:bodyPr wrap="none" lIns="0" tIns="0" rIns="0" bIns="0" rtlCol="0" anchor="t">
              <a:noAutofit/>
            </a:bodyPr>
            <a:lstStyle/>
            <a:p>
              <a:pPr algn="l">
                <a:spcBef>
                  <a:spcPts val="0"/>
                </a:spcBef>
                <a:spcAft>
                  <a:spcPts val="0"/>
                </a:spcAft>
              </a:pPr>
              <a:r>
                <a:rPr lang="en-US" sz="1200" b="0" spc="150" dirty="0">
                  <a:solidFill>
                    <a:srgbClr val="9C9A94"/>
                  </a:solidFill>
                  <a:latin typeface="Consolas"/>
                  <a:ea typeface="Consolas"/>
                  <a:cs typeface="Consolas"/>
                </a:rPr>
                <a:t>GET YZPZCODE / INSTALLERS + SOURCE</a:t>
              </a:r>
              <a:endParaRPr lang="en-US" sz="1200" dirty="0"/>
            </a:p>
          </p:txBody>
        </p:sp>
        <p:sp>
          <p:nvSpPr>
            <p:cNvPr id="11" name="Text 12"/>
            <p:cNvSpPr txBox="1"/>
            <p:nvPr/>
          </p:nvSpPr>
          <p:spPr>
            <a:xfrm>
              <a:off x="609600" y="3041650"/>
              <a:ext cx="6226641" cy="901700"/>
            </a:xfrm>
            <a:prstGeom prst="rect">
              <a:avLst/>
            </a:prstGeom>
            <a:noFill/>
          </p:spPr>
          <p:txBody>
            <a:bodyPr wrap="none" lIns="0" tIns="0" rIns="0" bIns="0" rtlCol="0" anchor="t">
              <a:noAutofit/>
            </a:bodyPr>
            <a:lstStyle/>
            <a:p>
              <a:pPr algn="l">
                <a:lnSpc>
                  <a:spcPts val="3300"/>
                </a:lnSpc>
                <a:spcBef>
                  <a:spcPts val="0"/>
                </a:spcBef>
                <a:spcAft>
                  <a:spcPts val="0"/>
                </a:spcAft>
              </a:pPr>
              <a:r>
                <a:rPr lang="en-US" sz="3000" b="1" dirty="0">
                  <a:solidFill>
                    <a:srgbClr val="EDE9E2"/>
                  </a:solidFill>
                  <a:latin typeface="Bahnschrift"/>
                  <a:ea typeface="Bahnschrift"/>
                  <a:cs typeface="Bahnschrift"/>
                </a:rPr>
                <a:t>Grab an </a:t>
              </a:r>
              <a:r>
                <a:rPr lang="en-US" sz="3000" b="1" dirty="0">
                  <a:solidFill>
                    <a:srgbClr val="FF5B1F"/>
                  </a:solidFill>
                  <a:latin typeface="Bahnschrift"/>
                  <a:ea typeface="Bahnschrift"/>
                  <a:cs typeface="Bahnschrift"/>
                </a:rPr>
                <a:t>installer</a:t>
              </a:r>
              <a:r>
                <a:rPr lang="en-US" sz="3000" b="1" dirty="0">
                  <a:solidFill>
                    <a:srgbClr val="EDE9E2"/>
                  </a:solidFill>
                  <a:latin typeface="Bahnschrift"/>
                  <a:ea typeface="Bahnschrift"/>
                  <a:cs typeface="Bahnschrift"/>
                </a:rPr>
                <a:t> for your platform,</a:t>
              </a:r>
              <a:endParaRPr lang="en-US" sz="3000" dirty="0"/>
            </a:p>
            <a:p>
              <a:pPr algn="l">
                <a:lnSpc>
                  <a:spcPts val="3300"/>
                </a:lnSpc>
                <a:spcBef>
                  <a:spcPts val="0"/>
                </a:spcBef>
                <a:spcAft>
                  <a:spcPts val="0"/>
                </a:spcAft>
              </a:pPr>
              <a:r>
                <a:rPr lang="en-US" sz="3000" b="1" dirty="0">
                  <a:solidFill>
                    <a:srgbClr val="EDE9E2"/>
                  </a:solidFill>
                  <a:latin typeface="Bahnschrift"/>
                  <a:ea typeface="Bahnschrift"/>
                  <a:cs typeface="Bahnschrift"/>
                </a:rPr>
                <a:t>or build it from source</a:t>
              </a:r>
              <a:endParaRPr lang="en-US" sz="3000" dirty="0"/>
            </a:p>
          </p:txBody>
        </p:sp>
      </p:grpSp>
      <p:grpSp>
        <p:nvGrpSpPr>
          <p:cNvPr id="30" name="platform-table"/>
          <p:cNvGrpSpPr/>
          <p:nvPr/>
        </p:nvGrpSpPr>
        <p:grpSpPr>
          <a:xfrm>
            <a:off x="609600" y="3975100"/>
            <a:ext cx="4953000" cy="2120995"/>
            <a:chOff x="609600" y="3975100"/>
            <a:chExt cx="4953000" cy="2120995"/>
          </a:xfrm>
        </p:grpSpPr>
        <p:sp>
          <p:nvSpPr>
            <p:cNvPr id="13" name="Text 14"/>
            <p:cNvSpPr txBox="1"/>
            <p:nvPr/>
          </p:nvSpPr>
          <p:spPr>
            <a:xfrm>
              <a:off x="609600" y="3975100"/>
              <a:ext cx="3781485" cy="212090"/>
            </a:xfrm>
            <a:prstGeom prst="rect">
              <a:avLst/>
            </a:prstGeom>
            <a:noFill/>
          </p:spPr>
          <p:txBody>
            <a:bodyPr wrap="none" lIns="0" tIns="0" rIns="0" bIns="0" rtlCol="0" anchor="t">
              <a:noAutofit/>
            </a:bodyPr>
            <a:lstStyle/>
            <a:p>
              <a:pPr algn="l">
                <a:spcBef>
                  <a:spcPts val="0"/>
                </a:spcBef>
                <a:spcAft>
                  <a:spcPts val="0"/>
                </a:spcAft>
              </a:pPr>
              <a:r>
                <a:rPr lang="en-US" sz="1200" b="0" spc="150" dirty="0">
                  <a:solidFill>
                    <a:srgbClr val="FF5B1F"/>
                  </a:solidFill>
                  <a:latin typeface="Consolas"/>
                  <a:ea typeface="Consolas"/>
                  <a:cs typeface="Consolas"/>
                </a:rPr>
                <a:t>FOR EVERYONE · DOWNLOAD AND INSTALL</a:t>
              </a:r>
              <a:endParaRPr lang="en-US" sz="1200" dirty="0"/>
            </a:p>
          </p:txBody>
        </p:sp>
        <p:sp>
          <p:nvSpPr>
            <p:cNvPr id="14" name="Text 15"/>
            <p:cNvSpPr txBox="1"/>
            <p:nvPr/>
          </p:nvSpPr>
          <p:spPr>
            <a:xfrm>
              <a:off x="609600" y="4191000"/>
              <a:ext cx="3605266"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Segoe UI"/>
                  <a:ea typeface="Segoe UI"/>
                  <a:cs typeface="Segoe UI"/>
                </a:rPr>
                <a:t>Pick your system, open the file, follow the prompts.</a:t>
              </a:r>
              <a:endParaRPr lang="en-US" sz="1200" dirty="0"/>
            </a:p>
          </p:txBody>
        </p:sp>
        <p:sp>
          <p:nvSpPr>
            <p:cNvPr id="15" name="line 16"/>
            <p:cNvSpPr/>
            <p:nvPr/>
          </p:nvSpPr>
          <p:spPr>
            <a:xfrm>
              <a:off x="609600" y="4495800"/>
              <a:ext cx="4953000" cy="95"/>
            </a:xfrm>
            <a:custGeom>
              <a:avLst/>
              <a:gdLst/>
              <a:ahLst/>
              <a:cxnLst/>
              <a:rect l="0" t="0" r="r" b="b"/>
              <a:pathLst>
                <a:path w="4953000" h="95" fill="none">
                  <a:moveTo>
                    <a:pt x="0" y="0"/>
                  </a:moveTo>
                  <a:lnTo>
                    <a:pt x="4953000" y="0"/>
                  </a:lnTo>
                </a:path>
              </a:pathLst>
            </a:custGeom>
            <a:noFill/>
            <a:ln w="9525" cap="flat">
              <a:solidFill>
                <a:srgbClr val="2A2E35"/>
              </a:solidFill>
              <a:miter lim="800000"/>
            </a:ln>
          </p:spPr>
          <p:txBody>
            <a:bodyPr/>
            <a:lstStyle/>
            <a:p>
              <a:endParaRPr lang="en-US"/>
            </a:p>
          </p:txBody>
        </p:sp>
        <p:sp>
          <p:nvSpPr>
            <p:cNvPr id="16" name="Text 17"/>
            <p:cNvSpPr txBox="1"/>
            <p:nvPr/>
          </p:nvSpPr>
          <p:spPr>
            <a:xfrm>
              <a:off x="609600" y="4559300"/>
              <a:ext cx="912595" cy="295593"/>
            </a:xfrm>
            <a:prstGeom prst="rect">
              <a:avLst/>
            </a:prstGeom>
            <a:noFill/>
          </p:spPr>
          <p:txBody>
            <a:bodyPr wrap="none" lIns="0" tIns="0" rIns="0" bIns="0" rtlCol="0" anchor="t">
              <a:noAutofit/>
            </a:bodyPr>
            <a:lstStyle/>
            <a:p>
              <a:pPr algn="l">
                <a:spcBef>
                  <a:spcPts val="0"/>
                </a:spcBef>
                <a:spcAft>
                  <a:spcPts val="0"/>
                </a:spcAft>
              </a:pPr>
              <a:r>
                <a:rPr lang="en-US" sz="1650" b="1" dirty="0">
                  <a:solidFill>
                    <a:srgbClr val="EDE9E2"/>
                  </a:solidFill>
                  <a:latin typeface="Bahnschrift"/>
                  <a:ea typeface="Bahnschrift"/>
                  <a:cs typeface="Bahnschrift"/>
                </a:rPr>
                <a:t>Windows</a:t>
              </a:r>
              <a:endParaRPr lang="en-US" sz="1650" dirty="0"/>
            </a:p>
          </p:txBody>
        </p:sp>
        <p:sp>
          <p:nvSpPr>
            <p:cNvPr id="17" name="Text 18"/>
            <p:cNvSpPr txBox="1"/>
            <p:nvPr/>
          </p:nvSpPr>
          <p:spPr>
            <a:xfrm>
              <a:off x="1905000" y="4622800"/>
              <a:ext cx="996660"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3D8BFF"/>
                  </a:solidFill>
                  <a:latin typeface="Consolas"/>
                  <a:ea typeface="Consolas"/>
                  <a:cs typeface="Consolas"/>
                </a:rPr>
                <a:t>.msi / .exe</a:t>
              </a:r>
              <a:endParaRPr lang="en-US" sz="1200" dirty="0"/>
            </a:p>
          </p:txBody>
        </p:sp>
        <p:sp>
          <p:nvSpPr>
            <p:cNvPr id="18" name="Text 19"/>
            <p:cNvSpPr txBox="1"/>
            <p:nvPr/>
          </p:nvSpPr>
          <p:spPr>
            <a:xfrm>
              <a:off x="3619500" y="4610100"/>
              <a:ext cx="518386"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Segoe UI"/>
                  <a:ea typeface="Segoe UI"/>
                  <a:cs typeface="Segoe UI"/>
                </a:rPr>
                <a:t>x86_64</a:t>
              </a:r>
              <a:endParaRPr lang="en-US" sz="1200" dirty="0"/>
            </a:p>
          </p:txBody>
        </p:sp>
        <p:sp>
          <p:nvSpPr>
            <p:cNvPr id="19" name="line 20"/>
            <p:cNvSpPr/>
            <p:nvPr/>
          </p:nvSpPr>
          <p:spPr>
            <a:xfrm>
              <a:off x="609600" y="4895850"/>
              <a:ext cx="4953000" cy="95"/>
            </a:xfrm>
            <a:custGeom>
              <a:avLst/>
              <a:gdLst/>
              <a:ahLst/>
              <a:cxnLst/>
              <a:rect l="0" t="0" r="r" b="b"/>
              <a:pathLst>
                <a:path w="4953000" h="95" fill="none">
                  <a:moveTo>
                    <a:pt x="0" y="0"/>
                  </a:moveTo>
                  <a:lnTo>
                    <a:pt x="4953000" y="0"/>
                  </a:lnTo>
                </a:path>
              </a:pathLst>
            </a:custGeom>
            <a:noFill/>
            <a:ln w="9525" cap="flat">
              <a:solidFill>
                <a:srgbClr val="2A2E35"/>
              </a:solidFill>
              <a:miter lim="800000"/>
            </a:ln>
          </p:spPr>
          <p:txBody>
            <a:bodyPr/>
            <a:lstStyle/>
            <a:p>
              <a:endParaRPr lang="en-US"/>
            </a:p>
          </p:txBody>
        </p:sp>
        <p:sp>
          <p:nvSpPr>
            <p:cNvPr id="20" name="Text 21"/>
            <p:cNvSpPr txBox="1"/>
            <p:nvPr/>
          </p:nvSpPr>
          <p:spPr>
            <a:xfrm>
              <a:off x="609600" y="4940300"/>
              <a:ext cx="719882" cy="295593"/>
            </a:xfrm>
            <a:prstGeom prst="rect">
              <a:avLst/>
            </a:prstGeom>
            <a:noFill/>
          </p:spPr>
          <p:txBody>
            <a:bodyPr wrap="none" lIns="0" tIns="0" rIns="0" bIns="0" rtlCol="0" anchor="t">
              <a:noAutofit/>
            </a:bodyPr>
            <a:lstStyle/>
            <a:p>
              <a:pPr algn="l">
                <a:spcBef>
                  <a:spcPts val="0"/>
                </a:spcBef>
                <a:spcAft>
                  <a:spcPts val="0"/>
                </a:spcAft>
              </a:pPr>
              <a:r>
                <a:rPr lang="en-US" sz="1650" b="1" dirty="0">
                  <a:solidFill>
                    <a:srgbClr val="EDE9E2"/>
                  </a:solidFill>
                  <a:latin typeface="Bahnschrift"/>
                  <a:ea typeface="Bahnschrift"/>
                  <a:cs typeface="Bahnschrift"/>
                </a:rPr>
                <a:t>macOS</a:t>
              </a:r>
              <a:endParaRPr lang="en-US" sz="1650" dirty="0"/>
            </a:p>
          </p:txBody>
        </p:sp>
        <p:sp>
          <p:nvSpPr>
            <p:cNvPr id="21" name="Text 22"/>
            <p:cNvSpPr txBox="1"/>
            <p:nvPr/>
          </p:nvSpPr>
          <p:spPr>
            <a:xfrm>
              <a:off x="1905000" y="5003800"/>
              <a:ext cx="386667"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3D8BFF"/>
                  </a:solidFill>
                  <a:latin typeface="Consolas"/>
                  <a:ea typeface="Consolas"/>
                  <a:cs typeface="Consolas"/>
                </a:rPr>
                <a:t>.dmg</a:t>
              </a:r>
              <a:endParaRPr lang="en-US" sz="1200" dirty="0"/>
            </a:p>
          </p:txBody>
        </p:sp>
        <p:sp>
          <p:nvSpPr>
            <p:cNvPr id="22" name="Text 23"/>
            <p:cNvSpPr txBox="1"/>
            <p:nvPr/>
          </p:nvSpPr>
          <p:spPr>
            <a:xfrm>
              <a:off x="3619500" y="4978400"/>
              <a:ext cx="1635752" cy="447040"/>
            </a:xfrm>
            <a:prstGeom prst="rect">
              <a:avLst/>
            </a:prstGeom>
            <a:noFill/>
          </p:spPr>
          <p:txBody>
            <a:bodyPr wrap="none" lIns="0" tIns="0" rIns="0" bIns="0" rtlCol="0" anchor="t">
              <a:noAutofit/>
            </a:bodyPr>
            <a:lstStyle/>
            <a:p>
              <a:pPr algn="l">
                <a:lnSpc>
                  <a:spcPts val="1700"/>
                </a:lnSpc>
                <a:spcBef>
                  <a:spcPts val="0"/>
                </a:spcBef>
                <a:spcAft>
                  <a:spcPts val="0"/>
                </a:spcAft>
              </a:pPr>
              <a:r>
                <a:rPr lang="en-US" sz="1200" b="0" dirty="0">
                  <a:solidFill>
                    <a:srgbClr val="9C9A94"/>
                  </a:solidFill>
                  <a:latin typeface="Segoe UI"/>
                  <a:ea typeface="Segoe UI"/>
                  <a:cs typeface="Segoe UI"/>
                </a:rPr>
                <a:t>Apple Silicon (aarch64)</a:t>
              </a:r>
              <a:endParaRPr lang="en-US" sz="1200" dirty="0"/>
            </a:p>
            <a:p>
              <a:pPr algn="l">
                <a:lnSpc>
                  <a:spcPts val="1700"/>
                </a:lnSpc>
                <a:spcBef>
                  <a:spcPts val="0"/>
                </a:spcBef>
                <a:spcAft>
                  <a:spcPts val="0"/>
                </a:spcAft>
              </a:pPr>
              <a:r>
                <a:rPr lang="en-US" sz="1200" b="0" dirty="0">
                  <a:solidFill>
                    <a:srgbClr val="9C9A94"/>
                  </a:solidFill>
                  <a:latin typeface="Segoe UI"/>
                  <a:ea typeface="Segoe UI"/>
                  <a:cs typeface="Segoe UI"/>
                </a:rPr>
                <a:t>Intel (x86_64)</a:t>
              </a:r>
              <a:endParaRPr lang="en-US" sz="1200" dirty="0"/>
            </a:p>
          </p:txBody>
        </p:sp>
        <p:sp>
          <p:nvSpPr>
            <p:cNvPr id="23" name="Text 24"/>
            <p:cNvSpPr txBox="1"/>
            <p:nvPr/>
          </p:nvSpPr>
          <p:spPr>
            <a:xfrm>
              <a:off x="1905000" y="5461000"/>
              <a:ext cx="329244" cy="212090"/>
            </a:xfrm>
            <a:prstGeom prst="rect">
              <a:avLst/>
            </a:prstGeom>
            <a:noFill/>
          </p:spPr>
          <p:txBody>
            <a:bodyPr wrap="none" lIns="0" tIns="0" rIns="0" bIns="0" rtlCol="0" anchor="t">
              <a:noAutofit/>
            </a:bodyPr>
            <a:lstStyle/>
            <a:p>
              <a:pPr algn="l">
                <a:spcBef>
                  <a:spcPts val="0"/>
                </a:spcBef>
                <a:spcAft>
                  <a:spcPts val="0"/>
                </a:spcAft>
              </a:pPr>
              <a:r>
                <a:rPr lang="en-US" sz="1200" b="0" spc="75" dirty="0">
                  <a:solidFill>
                    <a:srgbClr val="FF5B1F"/>
                  </a:solidFill>
                  <a:latin typeface="Consolas"/>
                  <a:ea typeface="Consolas"/>
                  <a:cs typeface="Consolas"/>
                </a:rPr>
                <a:t>TIP</a:t>
              </a:r>
              <a:endParaRPr lang="en-US" sz="1200" dirty="0"/>
            </a:p>
          </p:txBody>
        </p:sp>
        <p:sp>
          <p:nvSpPr>
            <p:cNvPr id="24" name="Text 25"/>
            <p:cNvSpPr txBox="1"/>
            <p:nvPr/>
          </p:nvSpPr>
          <p:spPr>
            <a:xfrm>
              <a:off x="2324100" y="5448300"/>
              <a:ext cx="2524816"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Segoe UI"/>
                  <a:ea typeface="Segoe UI"/>
                  <a:cs typeface="Segoe UI"/>
                </a:rPr>
                <a:t>Unsigned build: Right Click → Open</a:t>
              </a:r>
              <a:endParaRPr lang="en-US" sz="1200" dirty="0"/>
            </a:p>
          </p:txBody>
        </p:sp>
        <p:sp>
          <p:nvSpPr>
            <p:cNvPr id="25" name="line 26"/>
            <p:cNvSpPr/>
            <p:nvPr/>
          </p:nvSpPr>
          <p:spPr>
            <a:xfrm>
              <a:off x="609600" y="5734050"/>
              <a:ext cx="4953000" cy="95"/>
            </a:xfrm>
            <a:custGeom>
              <a:avLst/>
              <a:gdLst/>
              <a:ahLst/>
              <a:cxnLst/>
              <a:rect l="0" t="0" r="r" b="b"/>
              <a:pathLst>
                <a:path w="4953000" h="95" fill="none">
                  <a:moveTo>
                    <a:pt x="0" y="0"/>
                  </a:moveTo>
                  <a:lnTo>
                    <a:pt x="4953000" y="0"/>
                  </a:lnTo>
                </a:path>
              </a:pathLst>
            </a:custGeom>
            <a:noFill/>
            <a:ln w="9525" cap="flat">
              <a:solidFill>
                <a:srgbClr val="2A2E35"/>
              </a:solidFill>
              <a:miter lim="800000"/>
            </a:ln>
          </p:spPr>
          <p:txBody>
            <a:bodyPr/>
            <a:lstStyle/>
            <a:p>
              <a:endParaRPr lang="en-US"/>
            </a:p>
          </p:txBody>
        </p:sp>
        <p:sp>
          <p:nvSpPr>
            <p:cNvPr id="26" name="Text 27"/>
            <p:cNvSpPr txBox="1"/>
            <p:nvPr/>
          </p:nvSpPr>
          <p:spPr>
            <a:xfrm>
              <a:off x="609600" y="5778500"/>
              <a:ext cx="573353" cy="295593"/>
            </a:xfrm>
            <a:prstGeom prst="rect">
              <a:avLst/>
            </a:prstGeom>
            <a:noFill/>
          </p:spPr>
          <p:txBody>
            <a:bodyPr wrap="none" lIns="0" tIns="0" rIns="0" bIns="0" rtlCol="0" anchor="t">
              <a:noAutofit/>
            </a:bodyPr>
            <a:lstStyle/>
            <a:p>
              <a:pPr algn="l">
                <a:spcBef>
                  <a:spcPts val="0"/>
                </a:spcBef>
                <a:spcAft>
                  <a:spcPts val="0"/>
                </a:spcAft>
              </a:pPr>
              <a:r>
                <a:rPr lang="en-US" sz="1650" b="1" dirty="0">
                  <a:solidFill>
                    <a:srgbClr val="EDE9E2"/>
                  </a:solidFill>
                  <a:latin typeface="Bahnschrift"/>
                  <a:ea typeface="Bahnschrift"/>
                  <a:cs typeface="Bahnschrift"/>
                </a:rPr>
                <a:t>Linux</a:t>
              </a:r>
              <a:endParaRPr lang="en-US" sz="1650" dirty="0"/>
            </a:p>
          </p:txBody>
        </p:sp>
        <p:sp>
          <p:nvSpPr>
            <p:cNvPr id="27" name="Text 28"/>
            <p:cNvSpPr txBox="1"/>
            <p:nvPr/>
          </p:nvSpPr>
          <p:spPr>
            <a:xfrm>
              <a:off x="1905000" y="5842000"/>
              <a:ext cx="1432370"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3D8BFF"/>
                  </a:solidFill>
                  <a:latin typeface="Consolas"/>
                  <a:ea typeface="Consolas"/>
                  <a:cs typeface="Consolas"/>
                </a:rPr>
                <a:t>.deb / .AppImage</a:t>
              </a:r>
              <a:endParaRPr lang="en-US" sz="1200" dirty="0"/>
            </a:p>
          </p:txBody>
        </p:sp>
        <p:sp>
          <p:nvSpPr>
            <p:cNvPr id="28" name="Text 29"/>
            <p:cNvSpPr txBox="1"/>
            <p:nvPr/>
          </p:nvSpPr>
          <p:spPr>
            <a:xfrm>
              <a:off x="3619500" y="5829300"/>
              <a:ext cx="518386"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Segoe UI"/>
                  <a:ea typeface="Segoe UI"/>
                  <a:cs typeface="Segoe UI"/>
                </a:rPr>
                <a:t>x86_64</a:t>
              </a:r>
              <a:endParaRPr lang="en-US" sz="1200" dirty="0"/>
            </a:p>
          </p:txBody>
        </p:sp>
        <p:sp>
          <p:nvSpPr>
            <p:cNvPr id="29" name="line 30"/>
            <p:cNvSpPr/>
            <p:nvPr/>
          </p:nvSpPr>
          <p:spPr>
            <a:xfrm>
              <a:off x="609600" y="6096000"/>
              <a:ext cx="4953000" cy="95"/>
            </a:xfrm>
            <a:custGeom>
              <a:avLst/>
              <a:gdLst/>
              <a:ahLst/>
              <a:cxnLst/>
              <a:rect l="0" t="0" r="r" b="b"/>
              <a:pathLst>
                <a:path w="4953000" h="95" fill="none">
                  <a:moveTo>
                    <a:pt x="0" y="0"/>
                  </a:moveTo>
                  <a:lnTo>
                    <a:pt x="4953000" y="0"/>
                  </a:lnTo>
                </a:path>
              </a:pathLst>
            </a:custGeom>
            <a:noFill/>
            <a:ln w="9525" cap="flat">
              <a:solidFill>
                <a:srgbClr val="2A2E35"/>
              </a:solidFill>
              <a:miter lim="800000"/>
            </a:ln>
          </p:spPr>
          <p:txBody>
            <a:bodyPr/>
            <a:lstStyle/>
            <a:p>
              <a:endParaRPr lang="en-US"/>
            </a:p>
          </p:txBody>
        </p:sp>
      </p:grpSp>
      <p:sp>
        <p:nvSpPr>
          <p:cNvPr id="31" name="line 32"/>
          <p:cNvSpPr/>
          <p:nvPr/>
        </p:nvSpPr>
        <p:spPr>
          <a:xfrm>
            <a:off x="5829300" y="4000500"/>
            <a:ext cx="95" cy="2095500"/>
          </a:xfrm>
          <a:custGeom>
            <a:avLst/>
            <a:gdLst/>
            <a:ahLst/>
            <a:cxnLst/>
            <a:rect l="0" t="0" r="r" b="b"/>
            <a:pathLst>
              <a:path w="95" h="2095500" fill="none">
                <a:moveTo>
                  <a:pt x="0" y="0"/>
                </a:moveTo>
                <a:lnTo>
                  <a:pt x="0" y="2095500"/>
                </a:lnTo>
              </a:path>
            </a:pathLst>
          </a:custGeom>
          <a:noFill/>
          <a:ln w="9525" cap="flat">
            <a:solidFill>
              <a:srgbClr val="2A2E35"/>
            </a:solidFill>
            <a:miter lim="800000"/>
          </a:ln>
        </p:spPr>
        <p:txBody>
          <a:bodyPr/>
          <a:lstStyle/>
          <a:p>
            <a:endParaRPr lang="en-US"/>
          </a:p>
        </p:txBody>
      </p:sp>
      <p:sp>
        <p:nvSpPr>
          <p:cNvPr id="32" name="Text 33"/>
          <p:cNvSpPr txBox="1"/>
          <p:nvPr/>
        </p:nvSpPr>
        <p:spPr>
          <a:xfrm>
            <a:off x="609600" y="6223000"/>
            <a:ext cx="5353752"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Consolas"/>
                <a:ea typeface="Consolas"/>
                <a:cs typeface="Consolas"/>
              </a:rPr>
              <a:t>Latest release: </a:t>
            </a:r>
            <a:r>
              <a:rPr lang="en-US" sz="1200" b="0" dirty="0">
                <a:solidFill>
                  <a:srgbClr val="3D8BFF"/>
                </a:solidFill>
                <a:latin typeface="Consolas"/>
                <a:ea typeface="Consolas"/>
                <a:cs typeface="Consolas"/>
              </a:rPr>
              <a:t>github.com/wolfenazz/YzPzCode/releases/latest</a:t>
            </a:r>
            <a:endParaRPr lang="en-US" sz="1200" dirty="0"/>
          </a:p>
        </p:txBody>
      </p:sp>
      <p:grpSp>
        <p:nvGrpSpPr>
          <p:cNvPr id="40" name="prereq-tags"/>
          <p:cNvGrpSpPr/>
          <p:nvPr/>
        </p:nvGrpSpPr>
        <p:grpSpPr>
          <a:xfrm>
            <a:off x="6096000" y="3571875"/>
            <a:ext cx="5229225" cy="285750"/>
            <a:chOff x="6096000" y="3571875"/>
            <a:chExt cx="5229225" cy="285750"/>
          </a:xfrm>
        </p:grpSpPr>
        <p:sp>
          <p:nvSpPr>
            <p:cNvPr id="33" name="Text 34"/>
            <p:cNvSpPr txBox="1"/>
            <p:nvPr/>
          </p:nvSpPr>
          <p:spPr>
            <a:xfrm>
              <a:off x="6096000" y="3622675"/>
              <a:ext cx="893731" cy="212090"/>
            </a:xfrm>
            <a:prstGeom prst="rect">
              <a:avLst/>
            </a:prstGeom>
            <a:noFill/>
          </p:spPr>
          <p:txBody>
            <a:bodyPr wrap="none" lIns="0" tIns="0" rIns="0" bIns="0" rtlCol="0" anchor="t">
              <a:noAutofit/>
            </a:bodyPr>
            <a:lstStyle/>
            <a:p>
              <a:pPr algn="l">
                <a:spcBef>
                  <a:spcPts val="0"/>
                </a:spcBef>
                <a:spcAft>
                  <a:spcPts val="0"/>
                </a:spcAft>
              </a:pPr>
              <a:r>
                <a:rPr lang="en-US" sz="1200" b="0" spc="150" dirty="0">
                  <a:solidFill>
                    <a:srgbClr val="9C9A94"/>
                  </a:solidFill>
                  <a:latin typeface="Consolas"/>
                  <a:ea typeface="Consolas"/>
                  <a:cs typeface="Consolas"/>
                </a:rPr>
                <a:t>REQUIRES</a:t>
              </a:r>
              <a:endParaRPr lang="en-US" sz="1200" dirty="0"/>
            </a:p>
          </p:txBody>
        </p:sp>
        <p:sp>
          <p:nvSpPr>
            <p:cNvPr id="34" name="rect 35"/>
            <p:cNvSpPr/>
            <p:nvPr/>
          </p:nvSpPr>
          <p:spPr>
            <a:xfrm>
              <a:off x="7067550" y="3571875"/>
              <a:ext cx="1352550" cy="285750"/>
            </a:xfrm>
            <a:prstGeom prst="roundRect">
              <a:avLst>
                <a:gd name="adj" fmla="val 6667"/>
              </a:avLst>
            </a:prstGeom>
            <a:noFill/>
            <a:ln w="9525" cap="flat">
              <a:solidFill>
                <a:srgbClr val="9C9A94">
                  <a:alpha val="50000"/>
                </a:srgbClr>
              </a:solidFill>
              <a:miter lim="800000"/>
            </a:ln>
          </p:spPr>
          <p:txBody>
            <a:bodyPr/>
            <a:lstStyle/>
            <a:p>
              <a:endParaRPr lang="en-US"/>
            </a:p>
          </p:txBody>
        </p:sp>
        <p:sp>
          <p:nvSpPr>
            <p:cNvPr id="35" name="Text 36"/>
            <p:cNvSpPr txBox="1"/>
            <p:nvPr/>
          </p:nvSpPr>
          <p:spPr>
            <a:xfrm>
              <a:off x="7200900" y="3622675"/>
              <a:ext cx="1170944"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Consolas"/>
                  <a:ea typeface="Consolas"/>
                  <a:cs typeface="Consolas"/>
                </a:rPr>
                <a:t>Node.js 22.x+</a:t>
              </a:r>
              <a:endParaRPr lang="en-US" sz="1200" dirty="0"/>
            </a:p>
          </p:txBody>
        </p:sp>
        <p:sp>
          <p:nvSpPr>
            <p:cNvPr id="36" name="rect 37"/>
            <p:cNvSpPr/>
            <p:nvPr/>
          </p:nvSpPr>
          <p:spPr>
            <a:xfrm>
              <a:off x="8515350" y="3571875"/>
              <a:ext cx="1190625" cy="285750"/>
            </a:xfrm>
            <a:prstGeom prst="roundRect">
              <a:avLst>
                <a:gd name="adj" fmla="val 6667"/>
              </a:avLst>
            </a:prstGeom>
            <a:noFill/>
            <a:ln w="9525" cap="flat">
              <a:solidFill>
                <a:srgbClr val="9C9A94">
                  <a:alpha val="50000"/>
                </a:srgbClr>
              </a:solidFill>
              <a:miter lim="800000"/>
            </a:ln>
          </p:spPr>
          <p:txBody>
            <a:bodyPr/>
            <a:lstStyle/>
            <a:p>
              <a:endParaRPr lang="en-US"/>
            </a:p>
          </p:txBody>
        </p:sp>
        <p:sp>
          <p:nvSpPr>
            <p:cNvPr id="37" name="Text 38"/>
            <p:cNvSpPr txBox="1"/>
            <p:nvPr/>
          </p:nvSpPr>
          <p:spPr>
            <a:xfrm>
              <a:off x="8648700" y="3622675"/>
              <a:ext cx="996660"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Consolas"/>
                  <a:ea typeface="Consolas"/>
                  <a:cs typeface="Consolas"/>
                </a:rPr>
                <a:t>Rust stable</a:t>
              </a:r>
              <a:endParaRPr lang="en-US" sz="1200" dirty="0"/>
            </a:p>
          </p:txBody>
        </p:sp>
        <p:sp>
          <p:nvSpPr>
            <p:cNvPr id="38" name="rect 39"/>
            <p:cNvSpPr/>
            <p:nvPr/>
          </p:nvSpPr>
          <p:spPr>
            <a:xfrm>
              <a:off x="9801225" y="3571875"/>
              <a:ext cx="1524000" cy="285750"/>
            </a:xfrm>
            <a:prstGeom prst="roundRect">
              <a:avLst>
                <a:gd name="adj" fmla="val 6667"/>
              </a:avLst>
            </a:prstGeom>
            <a:noFill/>
            <a:ln w="9525" cap="flat">
              <a:solidFill>
                <a:srgbClr val="9C9A94">
                  <a:alpha val="50000"/>
                </a:srgbClr>
              </a:solidFill>
              <a:miter lim="800000"/>
            </a:ln>
          </p:spPr>
          <p:txBody>
            <a:bodyPr/>
            <a:lstStyle/>
            <a:p>
              <a:endParaRPr lang="en-US"/>
            </a:p>
          </p:txBody>
        </p:sp>
        <p:sp>
          <p:nvSpPr>
            <p:cNvPr id="39" name="Text 40"/>
            <p:cNvSpPr txBox="1"/>
            <p:nvPr/>
          </p:nvSpPr>
          <p:spPr>
            <a:xfrm>
              <a:off x="9934575" y="3622675"/>
              <a:ext cx="1345228"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Consolas"/>
                  <a:ea typeface="Consolas"/>
                  <a:cs typeface="Consolas"/>
                </a:rPr>
                <a:t>C++ build tools</a:t>
              </a:r>
              <a:endParaRPr lang="en-US" sz="1200" dirty="0"/>
            </a:p>
          </p:txBody>
        </p:sp>
      </p:grpSp>
      <p:grpSp>
        <p:nvGrpSpPr>
          <p:cNvPr id="61" name="code-window"/>
          <p:cNvGrpSpPr/>
          <p:nvPr/>
        </p:nvGrpSpPr>
        <p:grpSpPr>
          <a:xfrm>
            <a:off x="6096000" y="3981450"/>
            <a:ext cx="5486400" cy="2114550"/>
            <a:chOff x="6096000" y="3981450"/>
            <a:chExt cx="5486400" cy="2114550"/>
          </a:xfrm>
        </p:grpSpPr>
        <p:sp>
          <p:nvSpPr>
            <p:cNvPr id="41" name="rect 42"/>
            <p:cNvSpPr/>
            <p:nvPr/>
          </p:nvSpPr>
          <p:spPr>
            <a:xfrm>
              <a:off x="6096000" y="3981450"/>
              <a:ext cx="5486400" cy="2114550"/>
            </a:xfrm>
            <a:prstGeom prst="roundRect">
              <a:avLst>
                <a:gd name="adj" fmla="val 3604"/>
              </a:avLst>
            </a:prstGeom>
            <a:solidFill>
              <a:srgbClr val="14171B"/>
            </a:solidFill>
            <a:ln w="9525" cap="flat">
              <a:solidFill>
                <a:srgbClr val="2A2E35"/>
              </a:solidFill>
              <a:miter lim="800000"/>
            </a:ln>
          </p:spPr>
          <p:txBody>
            <a:bodyPr/>
            <a:lstStyle/>
            <a:p>
              <a:endParaRPr lang="en-US"/>
            </a:p>
          </p:txBody>
        </p:sp>
        <p:sp>
          <p:nvSpPr>
            <p:cNvPr id="42" name="circle 43"/>
            <p:cNvSpPr/>
            <p:nvPr/>
          </p:nvSpPr>
          <p:spPr>
            <a:xfrm>
              <a:off x="6286500" y="4076700"/>
              <a:ext cx="76200" cy="76200"/>
            </a:xfrm>
            <a:prstGeom prst="ellipse">
              <a:avLst/>
            </a:prstGeom>
            <a:solidFill>
              <a:srgbClr val="FF5B1F"/>
            </a:solidFill>
            <a:ln>
              <a:noFill/>
            </a:ln>
          </p:spPr>
          <p:txBody>
            <a:bodyPr/>
            <a:lstStyle/>
            <a:p>
              <a:endParaRPr lang="en-US"/>
            </a:p>
          </p:txBody>
        </p:sp>
        <p:sp>
          <p:nvSpPr>
            <p:cNvPr id="43" name="circle 44"/>
            <p:cNvSpPr/>
            <p:nvPr/>
          </p:nvSpPr>
          <p:spPr>
            <a:xfrm>
              <a:off x="6419850" y="4076700"/>
              <a:ext cx="76200" cy="76200"/>
            </a:xfrm>
            <a:prstGeom prst="ellipse">
              <a:avLst/>
            </a:prstGeom>
            <a:solidFill>
              <a:srgbClr val="4A5058"/>
            </a:solidFill>
            <a:ln>
              <a:noFill/>
            </a:ln>
          </p:spPr>
          <p:txBody>
            <a:bodyPr/>
            <a:lstStyle/>
            <a:p>
              <a:endParaRPr lang="en-US"/>
            </a:p>
          </p:txBody>
        </p:sp>
        <p:sp>
          <p:nvSpPr>
            <p:cNvPr id="44" name="circle 45"/>
            <p:cNvSpPr/>
            <p:nvPr/>
          </p:nvSpPr>
          <p:spPr>
            <a:xfrm>
              <a:off x="6553200" y="4076700"/>
              <a:ext cx="76200" cy="76200"/>
            </a:xfrm>
            <a:prstGeom prst="ellipse">
              <a:avLst/>
            </a:prstGeom>
            <a:solidFill>
              <a:srgbClr val="4A5058"/>
            </a:solidFill>
            <a:ln>
              <a:noFill/>
            </a:ln>
          </p:spPr>
          <p:txBody>
            <a:bodyPr/>
            <a:lstStyle/>
            <a:p>
              <a:endParaRPr lang="en-US"/>
            </a:p>
          </p:txBody>
        </p:sp>
        <p:sp>
          <p:nvSpPr>
            <p:cNvPr id="45" name="Text 46"/>
            <p:cNvSpPr txBox="1"/>
            <p:nvPr/>
          </p:nvSpPr>
          <p:spPr>
            <a:xfrm>
              <a:off x="6781800" y="4022725"/>
              <a:ext cx="1535454" cy="212090"/>
            </a:xfrm>
            <a:prstGeom prst="rect">
              <a:avLst/>
            </a:prstGeom>
            <a:noFill/>
          </p:spPr>
          <p:txBody>
            <a:bodyPr wrap="none" lIns="0" tIns="0" rIns="0" bIns="0" rtlCol="0" anchor="t">
              <a:noAutofit/>
            </a:bodyPr>
            <a:lstStyle/>
            <a:p>
              <a:pPr algn="l">
                <a:spcBef>
                  <a:spcPts val="0"/>
                </a:spcBef>
                <a:spcAft>
                  <a:spcPts val="0"/>
                </a:spcAft>
              </a:pPr>
              <a:r>
                <a:rPr lang="en-US" sz="1200" b="0" spc="150" dirty="0">
                  <a:solidFill>
                    <a:srgbClr val="3D8BFF"/>
                  </a:solidFill>
                  <a:latin typeface="Consolas"/>
                  <a:ea typeface="Consolas"/>
                  <a:cs typeface="Consolas"/>
                </a:rPr>
                <a:t>FOR DEVELOPERS</a:t>
              </a:r>
              <a:endParaRPr lang="en-US" sz="1200" dirty="0"/>
            </a:p>
          </p:txBody>
        </p:sp>
        <p:sp>
          <p:nvSpPr>
            <p:cNvPr id="46" name="Text 47"/>
            <p:cNvSpPr txBox="1"/>
            <p:nvPr/>
          </p:nvSpPr>
          <p:spPr>
            <a:xfrm>
              <a:off x="10095714" y="4022725"/>
              <a:ext cx="1258086" cy="212090"/>
            </a:xfrm>
            <a:prstGeom prst="rect">
              <a:avLst/>
            </a:prstGeom>
            <a:noFill/>
          </p:spPr>
          <p:txBody>
            <a:bodyPr wrap="none" lIns="0" tIns="0" rIns="0" bIns="0" rtlCol="0" anchor="t">
              <a:noAutofit/>
            </a:bodyPr>
            <a:lstStyle/>
            <a:p>
              <a:pPr algn="r">
                <a:spcBef>
                  <a:spcPts val="0"/>
                </a:spcBef>
                <a:spcAft>
                  <a:spcPts val="0"/>
                </a:spcAft>
              </a:pPr>
              <a:r>
                <a:rPr lang="en-US" sz="1200" b="0" dirty="0">
                  <a:solidFill>
                    <a:srgbClr val="9C9A94"/>
                  </a:solidFill>
                  <a:latin typeface="Consolas"/>
                  <a:ea typeface="Consolas"/>
                  <a:cs typeface="Consolas"/>
                </a:rPr>
                <a:t>~/YzPzCode/app</a:t>
              </a:r>
              <a:endParaRPr lang="en-US" sz="1200" dirty="0"/>
            </a:p>
          </p:txBody>
        </p:sp>
        <p:sp>
          <p:nvSpPr>
            <p:cNvPr id="47" name="line 48"/>
            <p:cNvSpPr/>
            <p:nvPr/>
          </p:nvSpPr>
          <p:spPr>
            <a:xfrm>
              <a:off x="6096000" y="4248150"/>
              <a:ext cx="5486400" cy="95"/>
            </a:xfrm>
            <a:custGeom>
              <a:avLst/>
              <a:gdLst/>
              <a:ahLst/>
              <a:cxnLst/>
              <a:rect l="0" t="0" r="r" b="b"/>
              <a:pathLst>
                <a:path w="5486400" h="95" fill="none">
                  <a:moveTo>
                    <a:pt x="0" y="0"/>
                  </a:moveTo>
                  <a:lnTo>
                    <a:pt x="5486400" y="0"/>
                  </a:lnTo>
                </a:path>
              </a:pathLst>
            </a:custGeom>
            <a:noFill/>
            <a:ln w="9525" cap="flat">
              <a:solidFill>
                <a:srgbClr val="2A2E35"/>
              </a:solidFill>
              <a:miter lim="800000"/>
            </a:ln>
          </p:spPr>
          <p:txBody>
            <a:bodyPr/>
            <a:lstStyle/>
            <a:p>
              <a:endParaRPr lang="en-US"/>
            </a:p>
          </p:txBody>
        </p:sp>
        <p:sp>
          <p:nvSpPr>
            <p:cNvPr id="48" name="Text 49"/>
            <p:cNvSpPr txBox="1"/>
            <p:nvPr/>
          </p:nvSpPr>
          <p:spPr>
            <a:xfrm>
              <a:off x="6324600" y="4413250"/>
              <a:ext cx="212384"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FF5B1F"/>
                  </a:solidFill>
                  <a:latin typeface="Consolas"/>
                  <a:ea typeface="Consolas"/>
                  <a:cs typeface="Consolas"/>
                </a:rPr>
                <a:t>01</a:t>
              </a:r>
              <a:endParaRPr lang="en-US" sz="1200" dirty="0"/>
            </a:p>
          </p:txBody>
        </p:sp>
        <p:sp>
          <p:nvSpPr>
            <p:cNvPr id="49" name="Text 50"/>
            <p:cNvSpPr txBox="1"/>
            <p:nvPr/>
          </p:nvSpPr>
          <p:spPr>
            <a:xfrm>
              <a:off x="6705600" y="4387850"/>
              <a:ext cx="4482334" cy="447040"/>
            </a:xfrm>
            <a:prstGeom prst="rect">
              <a:avLst/>
            </a:prstGeom>
            <a:noFill/>
          </p:spPr>
          <p:txBody>
            <a:bodyPr wrap="none" lIns="0" tIns="0" rIns="0" bIns="0" rtlCol="0" anchor="t">
              <a:noAutofit/>
            </a:bodyPr>
            <a:lstStyle/>
            <a:p>
              <a:pPr algn="l">
                <a:lnSpc>
                  <a:spcPts val="1700"/>
                </a:lnSpc>
                <a:spcBef>
                  <a:spcPts val="0"/>
                </a:spcBef>
                <a:spcAft>
                  <a:spcPts val="0"/>
                </a:spcAft>
              </a:pPr>
              <a:r>
                <a:rPr lang="en-US" sz="1200" b="0" dirty="0">
                  <a:solidFill>
                    <a:srgbClr val="3D8BFF"/>
                  </a:solidFill>
                  <a:latin typeface="Consolas"/>
                  <a:ea typeface="Consolas"/>
                  <a:cs typeface="Consolas"/>
                </a:rPr>
                <a:t>git</a:t>
              </a:r>
              <a:r>
                <a:rPr lang="en-US" sz="1200" b="0" dirty="0">
                  <a:solidFill>
                    <a:srgbClr val="EDE9E2"/>
                  </a:solidFill>
                  <a:latin typeface="Consolas"/>
                  <a:ea typeface="Consolas"/>
                  <a:cs typeface="Consolas"/>
                </a:rPr>
                <a:t> clone https://github.com/wolfenazz/YzPzCode.git</a:t>
              </a:r>
              <a:endParaRPr lang="en-US" sz="1200" dirty="0"/>
            </a:p>
            <a:p>
              <a:pPr algn="l">
                <a:lnSpc>
                  <a:spcPts val="1700"/>
                </a:lnSpc>
                <a:spcBef>
                  <a:spcPts val="0"/>
                </a:spcBef>
                <a:spcAft>
                  <a:spcPts val="0"/>
                </a:spcAft>
              </a:pPr>
              <a:r>
                <a:rPr lang="en-US" sz="1200" b="0" dirty="0">
                  <a:solidFill>
                    <a:srgbClr val="EDE9E2"/>
                  </a:solidFill>
                  <a:latin typeface="Consolas"/>
                  <a:ea typeface="Consolas"/>
                  <a:cs typeface="Consolas"/>
                </a:rPr>
                <a:t>&amp;&amp; cd YzPzCode/app</a:t>
              </a:r>
              <a:endParaRPr lang="en-US" sz="1200" dirty="0"/>
            </a:p>
          </p:txBody>
        </p:sp>
        <p:sp>
          <p:nvSpPr>
            <p:cNvPr id="50" name="Text 51"/>
            <p:cNvSpPr txBox="1"/>
            <p:nvPr/>
          </p:nvSpPr>
          <p:spPr>
            <a:xfrm>
              <a:off x="9964614" y="4610100"/>
              <a:ext cx="1389186" cy="224790"/>
            </a:xfrm>
            <a:prstGeom prst="rect">
              <a:avLst/>
            </a:prstGeom>
            <a:noFill/>
          </p:spPr>
          <p:txBody>
            <a:bodyPr wrap="none" lIns="0" tIns="0" rIns="0" bIns="0" rtlCol="0" anchor="t">
              <a:noAutofit/>
            </a:bodyPr>
            <a:lstStyle/>
            <a:p>
              <a:pPr algn="r">
                <a:spcBef>
                  <a:spcPts val="0"/>
                </a:spcBef>
                <a:spcAft>
                  <a:spcPts val="0"/>
                </a:spcAft>
              </a:pPr>
              <a:r>
                <a:rPr lang="en-US" sz="1200" b="0" dirty="0">
                  <a:solidFill>
                    <a:srgbClr val="9C9A94"/>
                  </a:solidFill>
                  <a:latin typeface="Segoe UI"/>
                  <a:ea typeface="Segoe UI"/>
                  <a:cs typeface="Segoe UI"/>
                </a:rPr>
                <a:t>download the code</a:t>
              </a:r>
              <a:endParaRPr lang="en-US" sz="1200" dirty="0"/>
            </a:p>
          </p:txBody>
        </p:sp>
        <p:sp>
          <p:nvSpPr>
            <p:cNvPr id="51" name="Text 52"/>
            <p:cNvSpPr txBox="1"/>
            <p:nvPr/>
          </p:nvSpPr>
          <p:spPr>
            <a:xfrm>
              <a:off x="6324600" y="4908550"/>
              <a:ext cx="212384"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FF5B1F"/>
                  </a:solidFill>
                  <a:latin typeface="Consolas"/>
                  <a:ea typeface="Consolas"/>
                  <a:cs typeface="Consolas"/>
                </a:rPr>
                <a:t>02</a:t>
              </a:r>
              <a:endParaRPr lang="en-US" sz="1200" dirty="0"/>
            </a:p>
          </p:txBody>
        </p:sp>
        <p:sp>
          <p:nvSpPr>
            <p:cNvPr id="52" name="Text 53"/>
            <p:cNvSpPr txBox="1"/>
            <p:nvPr/>
          </p:nvSpPr>
          <p:spPr>
            <a:xfrm>
              <a:off x="6705600" y="4908550"/>
              <a:ext cx="996660"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3D8BFF"/>
                  </a:solidFill>
                  <a:latin typeface="Consolas"/>
                  <a:ea typeface="Consolas"/>
                  <a:cs typeface="Consolas"/>
                </a:rPr>
                <a:t>npm</a:t>
              </a:r>
              <a:r>
                <a:rPr lang="en-US" sz="1200" b="0" dirty="0">
                  <a:solidFill>
                    <a:srgbClr val="EDE9E2"/>
                  </a:solidFill>
                  <a:latin typeface="Consolas"/>
                  <a:ea typeface="Consolas"/>
                  <a:cs typeface="Consolas"/>
                </a:rPr>
                <a:t> install</a:t>
              </a:r>
              <a:endParaRPr lang="en-US" sz="1200" dirty="0"/>
            </a:p>
          </p:txBody>
        </p:sp>
        <p:sp>
          <p:nvSpPr>
            <p:cNvPr id="53" name="Text 54"/>
            <p:cNvSpPr txBox="1"/>
            <p:nvPr/>
          </p:nvSpPr>
          <p:spPr>
            <a:xfrm>
              <a:off x="9708606" y="4895850"/>
              <a:ext cx="1645194" cy="224790"/>
            </a:xfrm>
            <a:prstGeom prst="rect">
              <a:avLst/>
            </a:prstGeom>
            <a:noFill/>
          </p:spPr>
          <p:txBody>
            <a:bodyPr wrap="none" lIns="0" tIns="0" rIns="0" bIns="0" rtlCol="0" anchor="t">
              <a:noAutofit/>
            </a:bodyPr>
            <a:lstStyle/>
            <a:p>
              <a:pPr algn="r">
                <a:spcBef>
                  <a:spcPts val="0"/>
                </a:spcBef>
                <a:spcAft>
                  <a:spcPts val="0"/>
                </a:spcAft>
              </a:pPr>
              <a:r>
                <a:rPr lang="en-US" sz="1200" b="0" dirty="0">
                  <a:solidFill>
                    <a:srgbClr val="9C9A94"/>
                  </a:solidFill>
                  <a:latin typeface="Segoe UI"/>
                  <a:ea typeface="Segoe UI"/>
                  <a:cs typeface="Segoe UI"/>
                </a:rPr>
                <a:t>fetch the parts it needs</a:t>
              </a:r>
              <a:endParaRPr lang="en-US" sz="1200" dirty="0"/>
            </a:p>
          </p:txBody>
        </p:sp>
        <p:sp>
          <p:nvSpPr>
            <p:cNvPr id="54" name="Text 55"/>
            <p:cNvSpPr txBox="1"/>
            <p:nvPr/>
          </p:nvSpPr>
          <p:spPr>
            <a:xfrm>
              <a:off x="6324600" y="5156200"/>
              <a:ext cx="212384"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FF5B1F"/>
                  </a:solidFill>
                  <a:latin typeface="Consolas"/>
                  <a:ea typeface="Consolas"/>
                  <a:cs typeface="Consolas"/>
                </a:rPr>
                <a:t>03</a:t>
              </a:r>
              <a:endParaRPr lang="en-US" sz="1200" dirty="0"/>
            </a:p>
          </p:txBody>
        </p:sp>
        <p:sp>
          <p:nvSpPr>
            <p:cNvPr id="55" name="Text 56"/>
            <p:cNvSpPr txBox="1"/>
            <p:nvPr/>
          </p:nvSpPr>
          <p:spPr>
            <a:xfrm>
              <a:off x="6705600" y="5156200"/>
              <a:ext cx="1519511"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3D8BFF"/>
                  </a:solidFill>
                  <a:latin typeface="Consolas"/>
                  <a:ea typeface="Consolas"/>
                  <a:cs typeface="Consolas"/>
                </a:rPr>
                <a:t>npm</a:t>
              </a:r>
              <a:r>
                <a:rPr lang="en-US" sz="1200" b="0" dirty="0">
                  <a:solidFill>
                    <a:srgbClr val="EDE9E2"/>
                  </a:solidFill>
                  <a:latin typeface="Consolas"/>
                  <a:ea typeface="Consolas"/>
                  <a:cs typeface="Consolas"/>
                </a:rPr>
                <a:t> run tauri dev</a:t>
              </a:r>
              <a:endParaRPr lang="en-US" sz="1200" dirty="0"/>
            </a:p>
          </p:txBody>
        </p:sp>
        <p:sp>
          <p:nvSpPr>
            <p:cNvPr id="56" name="Text 57"/>
            <p:cNvSpPr txBox="1"/>
            <p:nvPr/>
          </p:nvSpPr>
          <p:spPr>
            <a:xfrm>
              <a:off x="10715690" y="5143500"/>
              <a:ext cx="638110" cy="224790"/>
            </a:xfrm>
            <a:prstGeom prst="rect">
              <a:avLst/>
            </a:prstGeom>
            <a:noFill/>
          </p:spPr>
          <p:txBody>
            <a:bodyPr wrap="none" lIns="0" tIns="0" rIns="0" bIns="0" rtlCol="0" anchor="t">
              <a:noAutofit/>
            </a:bodyPr>
            <a:lstStyle/>
            <a:p>
              <a:pPr algn="r">
                <a:spcBef>
                  <a:spcPts val="0"/>
                </a:spcBef>
                <a:spcAft>
                  <a:spcPts val="0"/>
                </a:spcAft>
              </a:pPr>
              <a:r>
                <a:rPr lang="en-US" sz="1200" b="0" dirty="0">
                  <a:solidFill>
                    <a:srgbClr val="9C9A94"/>
                  </a:solidFill>
                  <a:latin typeface="Segoe UI"/>
                  <a:ea typeface="Segoe UI"/>
                  <a:cs typeface="Segoe UI"/>
                </a:rPr>
                <a:t>try it live</a:t>
              </a:r>
              <a:endParaRPr lang="en-US" sz="1200" dirty="0"/>
            </a:p>
          </p:txBody>
        </p:sp>
        <p:sp>
          <p:nvSpPr>
            <p:cNvPr id="57" name="Text 58"/>
            <p:cNvSpPr txBox="1"/>
            <p:nvPr/>
          </p:nvSpPr>
          <p:spPr>
            <a:xfrm>
              <a:off x="6324600" y="5403850"/>
              <a:ext cx="212384"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FF5B1F"/>
                  </a:solidFill>
                  <a:latin typeface="Consolas"/>
                  <a:ea typeface="Consolas"/>
                  <a:cs typeface="Consolas"/>
                </a:rPr>
                <a:t>04</a:t>
              </a:r>
              <a:endParaRPr lang="en-US" sz="1200" dirty="0"/>
            </a:p>
          </p:txBody>
        </p:sp>
        <p:sp>
          <p:nvSpPr>
            <p:cNvPr id="58" name="Text 59"/>
            <p:cNvSpPr txBox="1"/>
            <p:nvPr/>
          </p:nvSpPr>
          <p:spPr>
            <a:xfrm>
              <a:off x="6705600" y="5403850"/>
              <a:ext cx="1693795"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3D8BFF"/>
                  </a:solidFill>
                  <a:latin typeface="Consolas"/>
                  <a:ea typeface="Consolas"/>
                  <a:cs typeface="Consolas"/>
                </a:rPr>
                <a:t>npm</a:t>
              </a:r>
              <a:r>
                <a:rPr lang="en-US" sz="1200" b="0" dirty="0">
                  <a:solidFill>
                    <a:srgbClr val="EDE9E2"/>
                  </a:solidFill>
                  <a:latin typeface="Consolas"/>
                  <a:ea typeface="Consolas"/>
                  <a:cs typeface="Consolas"/>
                </a:rPr>
                <a:t> run tauri build</a:t>
              </a:r>
              <a:endParaRPr lang="en-US" sz="1200" dirty="0"/>
            </a:p>
          </p:txBody>
        </p:sp>
        <p:sp>
          <p:nvSpPr>
            <p:cNvPr id="59" name="Text 60"/>
            <p:cNvSpPr txBox="1"/>
            <p:nvPr/>
          </p:nvSpPr>
          <p:spPr>
            <a:xfrm>
              <a:off x="10104072" y="5391150"/>
              <a:ext cx="1249728" cy="224790"/>
            </a:xfrm>
            <a:prstGeom prst="rect">
              <a:avLst/>
            </a:prstGeom>
            <a:noFill/>
          </p:spPr>
          <p:txBody>
            <a:bodyPr wrap="none" lIns="0" tIns="0" rIns="0" bIns="0" rtlCol="0" anchor="t">
              <a:noAutofit/>
            </a:bodyPr>
            <a:lstStyle/>
            <a:p>
              <a:pPr algn="r">
                <a:spcBef>
                  <a:spcPts val="0"/>
                </a:spcBef>
                <a:spcAft>
                  <a:spcPts val="0"/>
                </a:spcAft>
              </a:pPr>
              <a:r>
                <a:rPr lang="en-US" sz="1200" b="0" dirty="0">
                  <a:solidFill>
                    <a:srgbClr val="9C9A94"/>
                  </a:solidFill>
                  <a:latin typeface="Segoe UI"/>
                  <a:ea typeface="Segoe UI"/>
                  <a:cs typeface="Segoe UI"/>
                </a:rPr>
                <a:t>make the app file</a:t>
              </a:r>
              <a:endParaRPr lang="en-US" sz="1200" dirty="0"/>
            </a:p>
          </p:txBody>
        </p:sp>
        <p:sp>
          <p:nvSpPr>
            <p:cNvPr id="60" name="Text 61"/>
            <p:cNvSpPr txBox="1"/>
            <p:nvPr/>
          </p:nvSpPr>
          <p:spPr>
            <a:xfrm>
              <a:off x="6705600" y="5708650"/>
              <a:ext cx="4830901"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Consolas"/>
                  <a:ea typeface="Consolas"/>
                  <a:cs typeface="Consolas"/>
                </a:rPr>
                <a:t># binaries land in app/src-tauri/target/release/bundle/</a:t>
              </a:r>
              <a:endParaRPr lang="en-US" sz="1200" dirty="0"/>
            </a:p>
          </p:txBody>
        </p:sp>
      </p:grpSp>
      <p:sp>
        <p:nvSpPr>
          <p:cNvPr id="62" name="Text 63"/>
          <p:cNvSpPr txBox="1"/>
          <p:nvPr/>
        </p:nvSpPr>
        <p:spPr>
          <a:xfrm>
            <a:off x="6096000" y="6210300"/>
            <a:ext cx="3483608" cy="224790"/>
          </a:xfrm>
          <a:prstGeom prst="rect">
            <a:avLst/>
          </a:prstGeom>
          <a:noFill/>
        </p:spPr>
        <p:txBody>
          <a:bodyPr wrap="none" lIns="0" tIns="0" rIns="0" bIns="0" rtlCol="0" anchor="t">
            <a:noAutofit/>
          </a:bodyPr>
          <a:lstStyle/>
          <a:p>
            <a:pPr algn="l">
              <a:spcBef>
                <a:spcPts val="0"/>
              </a:spcBef>
              <a:spcAft>
                <a:spcPts val="0"/>
              </a:spcAft>
            </a:pPr>
            <a:r>
              <a:rPr lang="en-US" sz="1200" b="1" dirty="0">
                <a:solidFill>
                  <a:srgbClr val="EDE9E2"/>
                </a:solidFill>
                <a:latin typeface="Segoe UI"/>
                <a:ea typeface="Segoe UI"/>
                <a:cs typeface="Segoe UI"/>
              </a:rPr>
              <a:t>Not a developer?</a:t>
            </a:r>
            <a:r>
              <a:rPr lang="en-US" sz="1200" b="0" dirty="0">
                <a:solidFill>
                  <a:srgbClr val="9C9A94"/>
                </a:solidFill>
                <a:latin typeface="Segoe UI"/>
                <a:ea typeface="Segoe UI"/>
                <a:cs typeface="Segoe UI"/>
              </a:rPr>
              <a:t> Use the downloads on the left.</a:t>
            </a:r>
            <a:endParaRPr lang="en-US" sz="1200" dirty="0"/>
          </a:p>
        </p:txBody>
      </p:sp>
      <p:grpSp>
        <p:nvGrpSpPr>
          <p:cNvPr id="66" name="footer-progress"/>
          <p:cNvGrpSpPr/>
          <p:nvPr/>
        </p:nvGrpSpPr>
        <p:grpSpPr>
          <a:xfrm>
            <a:off x="609600" y="6223000"/>
            <a:ext cx="10972800" cy="311245"/>
            <a:chOff x="609600" y="6223000"/>
            <a:chExt cx="10972800" cy="311245"/>
          </a:xfrm>
        </p:grpSpPr>
        <p:sp>
          <p:nvSpPr>
            <p:cNvPr id="63" name="Text 64"/>
            <p:cNvSpPr txBox="1"/>
            <p:nvPr/>
          </p:nvSpPr>
          <p:spPr>
            <a:xfrm>
              <a:off x="10795623" y="6223000"/>
              <a:ext cx="786777" cy="212090"/>
            </a:xfrm>
            <a:prstGeom prst="rect">
              <a:avLst/>
            </a:prstGeom>
            <a:noFill/>
          </p:spPr>
          <p:txBody>
            <a:bodyPr wrap="none" lIns="0" tIns="0" rIns="0" bIns="0" rtlCol="0" anchor="t">
              <a:noAutofit/>
            </a:bodyPr>
            <a:lstStyle/>
            <a:p>
              <a:pPr algn="r">
                <a:spcBef>
                  <a:spcPts val="0"/>
                </a:spcBef>
                <a:spcAft>
                  <a:spcPts val="0"/>
                </a:spcAft>
              </a:pPr>
              <a:r>
                <a:rPr lang="en-US" sz="1200" b="0" spc="150" dirty="0">
                  <a:solidFill>
                    <a:srgbClr val="9C9A94"/>
                  </a:solidFill>
                  <a:latin typeface="Consolas"/>
                  <a:ea typeface="Consolas"/>
                  <a:cs typeface="Consolas"/>
                </a:rPr>
                <a:t>15 / 16</a:t>
              </a:r>
              <a:endParaRPr lang="en-US" sz="1200" dirty="0"/>
            </a:p>
          </p:txBody>
        </p:sp>
        <p:sp>
          <p:nvSpPr>
            <p:cNvPr id="64" name="line 65"/>
            <p:cNvSpPr/>
            <p:nvPr/>
          </p:nvSpPr>
          <p:spPr>
            <a:xfrm>
              <a:off x="609600" y="6534150"/>
              <a:ext cx="10972800" cy="95"/>
            </a:xfrm>
            <a:custGeom>
              <a:avLst/>
              <a:gdLst/>
              <a:ahLst/>
              <a:cxnLst/>
              <a:rect l="0" t="0" r="r" b="b"/>
              <a:pathLst>
                <a:path w="10972800" h="95" fill="none">
                  <a:moveTo>
                    <a:pt x="0" y="0"/>
                  </a:moveTo>
                  <a:lnTo>
                    <a:pt x="10972800" y="0"/>
                  </a:lnTo>
                </a:path>
              </a:pathLst>
            </a:custGeom>
            <a:noFill/>
            <a:ln w="9525" cap="flat">
              <a:solidFill>
                <a:srgbClr val="2A2E35"/>
              </a:solidFill>
              <a:miter lim="800000"/>
            </a:ln>
          </p:spPr>
          <p:txBody>
            <a:bodyPr/>
            <a:lstStyle/>
            <a:p>
              <a:endParaRPr lang="en-US"/>
            </a:p>
          </p:txBody>
        </p:sp>
        <p:sp>
          <p:nvSpPr>
            <p:cNvPr id="65" name="line 66"/>
            <p:cNvSpPr/>
            <p:nvPr/>
          </p:nvSpPr>
          <p:spPr>
            <a:xfrm>
              <a:off x="609600" y="6534150"/>
              <a:ext cx="10287000" cy="95"/>
            </a:xfrm>
            <a:custGeom>
              <a:avLst/>
              <a:gdLst/>
              <a:ahLst/>
              <a:cxnLst/>
              <a:rect l="0" t="0" r="r" b="b"/>
              <a:pathLst>
                <a:path w="10287000" h="95" fill="none">
                  <a:moveTo>
                    <a:pt x="0" y="0"/>
                  </a:moveTo>
                  <a:lnTo>
                    <a:pt x="10287000" y="0"/>
                  </a:lnTo>
                </a:path>
              </a:pathLst>
            </a:custGeom>
            <a:noFill/>
            <a:ln w="19050" cap="flat">
              <a:solidFill>
                <a:srgbClr val="FF5B1F"/>
              </a:solidFill>
              <a:miter lim="800000"/>
            </a:ln>
          </p:spPr>
          <p:txBody>
            <a:bodyPr/>
            <a:lstStyle/>
            <a:p>
              <a:endParaRPr lang="en-US"/>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600" fill="hold"/>
                                        <p:tgtEl>
                                          <p:spTgt spid="12"/>
                                        </p:tgtEl>
                                        <p:attrNameLst>
                                          <p:attrName>ppt_y</p:attrName>
                                        </p:attrNameLst>
                                      </p:cBhvr>
                                      <p:tavLst>
                                        <p:tav tm="0">
                                          <p:val>
                                            <p:strVal val="#ppt_y+.1"/>
                                          </p:val>
                                        </p:tav>
                                        <p:tav tm="100000">
                                          <p:val>
                                            <p:strVal val="#ppt_y"/>
                                          </p:val>
                                        </p:tav>
                                      </p:tavLst>
                                    </p:anim>
                                    <p:animEffect transition="in" filter="fade">
                                      <p:cBhvr>
                                        <p:cTn id="8" dur="600"/>
                                        <p:tgtEl>
                                          <p:spTgt spid="12"/>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0"/>
                                        </p:tgtEl>
                                        <p:attrNameLst>
                                          <p:attrName>style.visibility</p:attrName>
                                        </p:attrNameLst>
                                      </p:cBhvr>
                                      <p:to>
                                        <p:strVal val="visible"/>
                                      </p:to>
                                    </p:set>
                                    <p:anim calcmode="lin" valueType="num">
                                      <p:cBhvr additive="base">
                                        <p:cTn id="13" dur="500" fill="hold"/>
                                        <p:tgtEl>
                                          <p:spTgt spid="30"/>
                                        </p:tgtEl>
                                        <p:attrNameLst>
                                          <p:attrName>ppt_x</p:attrName>
                                        </p:attrNameLst>
                                      </p:cBhvr>
                                      <p:tavLst>
                                        <p:tav tm="0">
                                          <p:val>
                                            <p:strVal val="0-#ppt_w/2"/>
                                          </p:val>
                                        </p:tav>
                                        <p:tav tm="100000">
                                          <p:val>
                                            <p:strVal val="#ppt_x"/>
                                          </p:val>
                                        </p:tav>
                                      </p:tavLst>
                                    </p:anim>
                                    <p:anim calcmode="lin" valueType="num">
                                      <p:cBhvr additive="base">
                                        <p:cTn id="14" dur="500" fill="hold"/>
                                        <p:tgtEl>
                                          <p:spTgt spid="30"/>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fade">
                                      <p:cBhvr>
                                        <p:cTn id="18" dur="500"/>
                                        <p:tgtEl>
                                          <p:spTgt spid="32"/>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0"/>
                                  </p:stCondLst>
                                  <p:childTnLst>
                                    <p:set>
                                      <p:cBhvr>
                                        <p:cTn id="22" dur="1" fill="hold">
                                          <p:stCondLst>
                                            <p:cond delay="0"/>
                                          </p:stCondLst>
                                        </p:cTn>
                                        <p:tgtEl>
                                          <p:spTgt spid="61"/>
                                        </p:tgtEl>
                                        <p:attrNameLst>
                                          <p:attrName>style.visibility</p:attrName>
                                        </p:attrNameLst>
                                      </p:cBhvr>
                                      <p:to>
                                        <p:strVal val="visible"/>
                                      </p:to>
                                    </p:set>
                                    <p:anim calcmode="lin" valueType="num">
                                      <p:cBhvr additive="base">
                                        <p:cTn id="23" dur="500" fill="hold"/>
                                        <p:tgtEl>
                                          <p:spTgt spid="61"/>
                                        </p:tgtEl>
                                        <p:attrNameLst>
                                          <p:attrName>ppt_x</p:attrName>
                                        </p:attrNameLst>
                                      </p:cBhvr>
                                      <p:tavLst>
                                        <p:tav tm="0">
                                          <p:val>
                                            <p:strVal val="1+#ppt_w/2"/>
                                          </p:val>
                                        </p:tav>
                                        <p:tav tm="100000">
                                          <p:val>
                                            <p:strVal val="#ppt_x"/>
                                          </p:val>
                                        </p:tav>
                                      </p:tavLst>
                                    </p:anim>
                                    <p:anim calcmode="lin" valueType="num">
                                      <p:cBhvr additive="base">
                                        <p:cTn id="24" dur="500" fill="hold"/>
                                        <p:tgtEl>
                                          <p:spTgt spid="61"/>
                                        </p:tgtEl>
                                        <p:attrNameLst>
                                          <p:attrName>ppt_y</p:attrName>
                                        </p:attrNameLst>
                                      </p:cBhvr>
                                      <p:tavLst>
                                        <p:tav tm="0">
                                          <p:val>
                                            <p:strVal val="#ppt_y"/>
                                          </p:val>
                                        </p:tav>
                                        <p:tav tm="100000">
                                          <p:val>
                                            <p:strVal val="#ppt_y"/>
                                          </p:val>
                                        </p:tav>
                                      </p:tavLst>
                                    </p:anim>
                                  </p:childTnLst>
                                </p:cTn>
                              </p:par>
                            </p:childTnLst>
                          </p:cTn>
                        </p:par>
                        <p:par>
                          <p:cTn id="25" fill="hold">
                            <p:stCondLst>
                              <p:cond delay="500"/>
                            </p:stCondLst>
                            <p:childTnLst>
                              <p:par>
                                <p:cTn id="26" presetID="10" presetClass="entr" presetSubtype="0" fill="hold" nodeType="afterEffect">
                                  <p:stCondLst>
                                    <p:cond delay="0"/>
                                  </p:stCondLst>
                                  <p:childTnLst>
                                    <p:set>
                                      <p:cBhvr>
                                        <p:cTn id="27" dur="1" fill="hold">
                                          <p:stCondLst>
                                            <p:cond delay="0"/>
                                          </p:stCondLst>
                                        </p:cTn>
                                        <p:tgtEl>
                                          <p:spTgt spid="40"/>
                                        </p:tgtEl>
                                        <p:attrNameLst>
                                          <p:attrName>style.visibility</p:attrName>
                                        </p:attrNameLst>
                                      </p:cBhvr>
                                      <p:to>
                                        <p:strVal val="visible"/>
                                      </p:to>
                                    </p:set>
                                    <p:animEffect transition="in" filter="fade">
                                      <p:cBhvr>
                                        <p:cTn id="28" dur="500"/>
                                        <p:tgtEl>
                                          <p:spTgt spid="40"/>
                                        </p:tgtEl>
                                      </p:cBhvr>
                                    </p:animEffect>
                                  </p:childTnLst>
                                </p:cTn>
                              </p:par>
                            </p:childTnLst>
                          </p:cTn>
                        </p:par>
                        <p:par>
                          <p:cTn id="29" fill="hold">
                            <p:stCondLst>
                              <p:cond delay="1000"/>
                            </p:stCondLst>
                            <p:childTnLst>
                              <p:par>
                                <p:cTn id="30" presetID="10" presetClass="entr" presetSubtype="0" fill="hold" grpId="0" nodeType="afterEffect">
                                  <p:stCondLst>
                                    <p:cond delay="0"/>
                                  </p:stCondLst>
                                  <p:childTnLst>
                                    <p:set>
                                      <p:cBhvr>
                                        <p:cTn id="31" dur="1" fill="hold">
                                          <p:stCondLst>
                                            <p:cond delay="0"/>
                                          </p:stCondLst>
                                        </p:cTn>
                                        <p:tgtEl>
                                          <p:spTgt spid="62"/>
                                        </p:tgtEl>
                                        <p:attrNameLst>
                                          <p:attrName>style.visibility</p:attrName>
                                        </p:attrNameLst>
                                      </p:cBhvr>
                                      <p:to>
                                        <p:strVal val="visible"/>
                                      </p:to>
                                    </p:set>
                                    <p:animEffect transition="in" filter="fade">
                                      <p:cBhvr>
                                        <p:cTn id="32"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62" grpId="0"/>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B0D"/>
        </a:solidFill>
        <a:effectLst/>
      </p:bgPr>
    </p:bg>
    <p:spTree>
      <p:nvGrpSpPr>
        <p:cNvPr id="1" name=""/>
        <p:cNvGrpSpPr/>
        <p:nvPr/>
      </p:nvGrpSpPr>
      <p:grpSpPr>
        <a:xfrm>
          <a:off x="0" y="0"/>
          <a:ext cx="0" cy="0"/>
          <a:chOff x="0" y="0"/>
          <a:chExt cx="0" cy="0"/>
        </a:xfrm>
      </p:grpSpPr>
      <p:grpSp>
        <p:nvGrpSpPr>
          <p:cNvPr id="4" name="title-block"/>
          <p:cNvGrpSpPr/>
          <p:nvPr/>
        </p:nvGrpSpPr>
        <p:grpSpPr>
          <a:xfrm>
            <a:off x="609600" y="419100"/>
            <a:ext cx="6759119" cy="1232535"/>
            <a:chOff x="609600" y="419100"/>
            <a:chExt cx="6759119" cy="1232535"/>
          </a:xfrm>
        </p:grpSpPr>
        <p:sp>
          <p:nvSpPr>
            <p:cNvPr id="2" name="rect 3"/>
            <p:cNvSpPr/>
            <p:nvPr/>
          </p:nvSpPr>
          <p:spPr>
            <a:xfrm>
              <a:off x="609600" y="419100"/>
              <a:ext cx="457200" cy="57150"/>
            </a:xfrm>
            <a:prstGeom prst="roundRect">
              <a:avLst>
                <a:gd name="adj" fmla="val 50000"/>
              </a:avLst>
            </a:prstGeom>
            <a:solidFill>
              <a:srgbClr val="FF5B1F"/>
            </a:solidFill>
            <a:ln>
              <a:noFill/>
            </a:ln>
          </p:spPr>
          <p:txBody>
            <a:bodyPr/>
            <a:lstStyle/>
            <a:p>
              <a:endParaRPr lang="en-US"/>
            </a:p>
          </p:txBody>
        </p:sp>
        <p:sp>
          <p:nvSpPr>
            <p:cNvPr id="3" name="Text 4"/>
            <p:cNvSpPr txBox="1"/>
            <p:nvPr/>
          </p:nvSpPr>
          <p:spPr>
            <a:xfrm>
              <a:off x="609600" y="596900"/>
              <a:ext cx="6759119" cy="1054735"/>
            </a:xfrm>
            <a:prstGeom prst="rect">
              <a:avLst/>
            </a:prstGeom>
            <a:noFill/>
          </p:spPr>
          <p:txBody>
            <a:bodyPr wrap="none" lIns="0" tIns="0" rIns="0" bIns="0" rtlCol="0" anchor="t">
              <a:noAutofit/>
            </a:bodyPr>
            <a:lstStyle/>
            <a:p>
              <a:pPr algn="l">
                <a:lnSpc>
                  <a:spcPts val="3900"/>
                </a:lnSpc>
                <a:spcBef>
                  <a:spcPts val="0"/>
                </a:spcBef>
                <a:spcAft>
                  <a:spcPts val="0"/>
                </a:spcAft>
              </a:pPr>
              <a:r>
                <a:rPr lang="en-US" sz="3300" b="1" spc="-13" dirty="0">
                  <a:solidFill>
                    <a:srgbClr val="EDE9E2"/>
                  </a:solidFill>
                  <a:latin typeface="Bahnschrift"/>
                  <a:ea typeface="Bahnschrift"/>
                  <a:cs typeface="Bahnschrift"/>
                </a:rPr>
                <a:t>Hand-drawn slides, exported as</a:t>
              </a:r>
              <a:endParaRPr lang="en-US" sz="3300" dirty="0"/>
            </a:p>
            <a:p>
              <a:pPr algn="l">
                <a:lnSpc>
                  <a:spcPts val="3900"/>
                </a:lnSpc>
                <a:spcBef>
                  <a:spcPts val="0"/>
                </a:spcBef>
                <a:spcAft>
                  <a:spcPts val="0"/>
                </a:spcAft>
              </a:pPr>
              <a:r>
                <a:rPr lang="en-US" sz="3300" b="1" spc="-13" dirty="0">
                  <a:solidFill>
                    <a:srgbClr val="FF5B1F"/>
                  </a:solidFill>
                  <a:latin typeface="Bahnschrift"/>
                  <a:ea typeface="Bahnschrift"/>
                  <a:cs typeface="Bahnschrift"/>
                </a:rPr>
                <a:t>native, editable</a:t>
              </a:r>
              <a:r>
                <a:rPr lang="en-US" sz="3300" b="1" spc="-13" dirty="0">
                  <a:solidFill>
                    <a:srgbClr val="EDE9E2"/>
                  </a:solidFill>
                  <a:latin typeface="Bahnschrift"/>
                  <a:ea typeface="Bahnschrift"/>
                  <a:cs typeface="Bahnschrift"/>
                </a:rPr>
                <a:t> PowerPoint shapes</a:t>
              </a:r>
              <a:endParaRPr lang="en-US" sz="3300" dirty="0"/>
            </a:p>
          </p:txBody>
        </p:sp>
      </p:grpSp>
      <p:grpSp>
        <p:nvGrpSpPr>
          <p:cNvPr id="7" name="cli-tag"/>
          <p:cNvGrpSpPr/>
          <p:nvPr/>
        </p:nvGrpSpPr>
        <p:grpSpPr>
          <a:xfrm>
            <a:off x="10058400" y="533400"/>
            <a:ext cx="1524000" cy="323850"/>
            <a:chOff x="10058400" y="533400"/>
            <a:chExt cx="1524000" cy="323850"/>
          </a:xfrm>
        </p:grpSpPr>
        <p:sp>
          <p:nvSpPr>
            <p:cNvPr id="5" name="rect 6"/>
            <p:cNvSpPr/>
            <p:nvPr/>
          </p:nvSpPr>
          <p:spPr>
            <a:xfrm>
              <a:off x="10058400" y="533400"/>
              <a:ext cx="1524000" cy="323850"/>
            </a:xfrm>
            <a:prstGeom prst="roundRect">
              <a:avLst>
                <a:gd name="adj" fmla="val 5882"/>
              </a:avLst>
            </a:prstGeom>
            <a:noFill/>
            <a:ln w="9525" cap="flat">
              <a:solidFill>
                <a:srgbClr val="2A2E35"/>
              </a:solidFill>
              <a:miter lim="800000"/>
            </a:ln>
          </p:spPr>
          <p:txBody>
            <a:bodyPr/>
            <a:lstStyle/>
            <a:p>
              <a:endParaRPr lang="en-US"/>
            </a:p>
          </p:txBody>
        </p:sp>
        <p:sp>
          <p:nvSpPr>
            <p:cNvPr id="6" name="Text 7"/>
            <p:cNvSpPr txBox="1"/>
            <p:nvPr/>
          </p:nvSpPr>
          <p:spPr>
            <a:xfrm>
              <a:off x="10210800" y="603250"/>
              <a:ext cx="1263532" cy="208756"/>
            </a:xfrm>
            <a:prstGeom prst="rect">
              <a:avLst/>
            </a:prstGeom>
            <a:noFill/>
          </p:spPr>
          <p:txBody>
            <a:bodyPr wrap="none" lIns="0" tIns="0" rIns="0" bIns="0" rtlCol="0" anchor="t">
              <a:noAutofit/>
            </a:bodyPr>
            <a:lstStyle/>
            <a:p>
              <a:pPr algn="l">
                <a:spcBef>
                  <a:spcPts val="0"/>
                </a:spcBef>
                <a:spcAft>
                  <a:spcPts val="0"/>
                </a:spcAft>
              </a:pPr>
              <a:r>
                <a:rPr lang="en-US" sz="1125" b="0" dirty="0">
                  <a:solidFill>
                    <a:srgbClr val="FF5B1F"/>
                  </a:solidFill>
                  <a:latin typeface="Consolas"/>
                  <a:ea typeface="Consolas"/>
                  <a:cs typeface="Consolas"/>
                </a:rPr>
                <a:t>$</a:t>
              </a:r>
              <a:r>
                <a:rPr lang="en-US" sz="1125" b="0" dirty="0">
                  <a:solidFill>
                    <a:srgbClr val="EDE9E2"/>
                  </a:solidFill>
                  <a:latin typeface="Consolas"/>
                  <a:ea typeface="Consolas"/>
                  <a:cs typeface="Consolas"/>
                </a:rPr>
                <a:t> export --pptx</a:t>
              </a:r>
              <a:endParaRPr lang="en-US" sz="1125" dirty="0"/>
            </a:p>
          </p:txBody>
        </p:sp>
      </p:grpSp>
      <p:grpSp>
        <p:nvGrpSpPr>
          <p:cNvPr id="12" name="frame-brackets"/>
          <p:cNvGrpSpPr/>
          <p:nvPr/>
        </p:nvGrpSpPr>
        <p:grpSpPr>
          <a:xfrm>
            <a:off x="609600" y="1695450"/>
            <a:ext cx="10972800" cy="3371850"/>
            <a:chOff x="609600" y="1695450"/>
            <a:chExt cx="10972800" cy="3371850"/>
          </a:xfrm>
        </p:grpSpPr>
        <p:sp>
          <p:nvSpPr>
            <p:cNvPr id="8" name="path 9"/>
            <p:cNvSpPr/>
            <p:nvPr/>
          </p:nvSpPr>
          <p:spPr>
            <a:xfrm>
              <a:off x="609600" y="1695450"/>
              <a:ext cx="228600" cy="228600"/>
            </a:xfrm>
            <a:custGeom>
              <a:avLst/>
              <a:gdLst/>
              <a:ahLst/>
              <a:cxnLst/>
              <a:rect l="0" t="0" r="r" b="b"/>
              <a:pathLst>
                <a:path w="228600" h="228600" fill="none">
                  <a:moveTo>
                    <a:pt x="0" y="228600"/>
                  </a:moveTo>
                  <a:lnTo>
                    <a:pt x="0" y="0"/>
                  </a:lnTo>
                  <a:lnTo>
                    <a:pt x="228600" y="0"/>
                  </a:lnTo>
                </a:path>
              </a:pathLst>
            </a:custGeom>
            <a:noFill/>
            <a:ln w="19050" cap="flat">
              <a:solidFill>
                <a:srgbClr val="FF5B1F"/>
              </a:solidFill>
              <a:miter lim="800000"/>
            </a:ln>
          </p:spPr>
          <p:txBody>
            <a:bodyPr/>
            <a:lstStyle/>
            <a:p>
              <a:endParaRPr lang="en-US"/>
            </a:p>
          </p:txBody>
        </p:sp>
        <p:sp>
          <p:nvSpPr>
            <p:cNvPr id="9" name="path 10"/>
            <p:cNvSpPr/>
            <p:nvPr/>
          </p:nvSpPr>
          <p:spPr>
            <a:xfrm>
              <a:off x="11353800" y="1695450"/>
              <a:ext cx="228600" cy="228600"/>
            </a:xfrm>
            <a:custGeom>
              <a:avLst/>
              <a:gdLst/>
              <a:ahLst/>
              <a:cxnLst/>
              <a:rect l="0" t="0" r="r" b="b"/>
              <a:pathLst>
                <a:path w="228600" h="228600" fill="none">
                  <a:moveTo>
                    <a:pt x="0" y="0"/>
                  </a:moveTo>
                  <a:lnTo>
                    <a:pt x="228600" y="0"/>
                  </a:lnTo>
                  <a:lnTo>
                    <a:pt x="228600" y="228600"/>
                  </a:lnTo>
                </a:path>
              </a:pathLst>
            </a:custGeom>
            <a:noFill/>
            <a:ln w="19050" cap="flat">
              <a:solidFill>
                <a:srgbClr val="3D8BFF"/>
              </a:solidFill>
              <a:miter lim="800000"/>
            </a:ln>
          </p:spPr>
          <p:txBody>
            <a:bodyPr/>
            <a:lstStyle/>
            <a:p>
              <a:endParaRPr lang="en-US"/>
            </a:p>
          </p:txBody>
        </p:sp>
        <p:sp>
          <p:nvSpPr>
            <p:cNvPr id="10" name="path 11"/>
            <p:cNvSpPr/>
            <p:nvPr/>
          </p:nvSpPr>
          <p:spPr>
            <a:xfrm>
              <a:off x="609600" y="4838700"/>
              <a:ext cx="228600" cy="228600"/>
            </a:xfrm>
            <a:custGeom>
              <a:avLst/>
              <a:gdLst/>
              <a:ahLst/>
              <a:cxnLst/>
              <a:rect l="0" t="0" r="r" b="b"/>
              <a:pathLst>
                <a:path w="228600" h="228600" fill="none">
                  <a:moveTo>
                    <a:pt x="0" y="0"/>
                  </a:moveTo>
                  <a:lnTo>
                    <a:pt x="0" y="228600"/>
                  </a:lnTo>
                  <a:lnTo>
                    <a:pt x="228600" y="228600"/>
                  </a:lnTo>
                </a:path>
              </a:pathLst>
            </a:custGeom>
            <a:noFill/>
            <a:ln w="19050" cap="flat">
              <a:solidFill>
                <a:srgbClr val="3D8BFF"/>
              </a:solidFill>
              <a:miter lim="800000"/>
            </a:ln>
          </p:spPr>
          <p:txBody>
            <a:bodyPr/>
            <a:lstStyle/>
            <a:p>
              <a:endParaRPr lang="en-US"/>
            </a:p>
          </p:txBody>
        </p:sp>
        <p:sp>
          <p:nvSpPr>
            <p:cNvPr id="11" name="path 12"/>
            <p:cNvSpPr/>
            <p:nvPr/>
          </p:nvSpPr>
          <p:spPr>
            <a:xfrm>
              <a:off x="11353800" y="4838700"/>
              <a:ext cx="228600" cy="228600"/>
            </a:xfrm>
            <a:custGeom>
              <a:avLst/>
              <a:gdLst/>
              <a:ahLst/>
              <a:cxnLst/>
              <a:rect l="0" t="0" r="r" b="b"/>
              <a:pathLst>
                <a:path w="228600" h="228600" fill="none">
                  <a:moveTo>
                    <a:pt x="228600" y="0"/>
                  </a:moveTo>
                  <a:lnTo>
                    <a:pt x="228600" y="228600"/>
                  </a:lnTo>
                  <a:lnTo>
                    <a:pt x="0" y="228600"/>
                  </a:lnTo>
                </a:path>
              </a:pathLst>
            </a:custGeom>
            <a:noFill/>
            <a:ln w="19050" cap="flat">
              <a:solidFill>
                <a:srgbClr val="FF5B1F"/>
              </a:solidFill>
              <a:miter lim="800000"/>
            </a:ln>
          </p:spPr>
          <p:txBody>
            <a:bodyPr/>
            <a:lstStyle/>
            <a:p>
              <a:endParaRPr lang="en-US"/>
            </a:p>
          </p:txBody>
        </p:sp>
      </p:grpSp>
      <p:grpSp>
        <p:nvGrpSpPr>
          <p:cNvPr id="66" name="studio-window"/>
          <p:cNvGrpSpPr/>
          <p:nvPr/>
        </p:nvGrpSpPr>
        <p:grpSpPr>
          <a:xfrm>
            <a:off x="723900" y="1809750"/>
            <a:ext cx="10744200" cy="3143250"/>
            <a:chOff x="723900" y="1809750"/>
            <a:chExt cx="10744200" cy="3143250"/>
          </a:xfrm>
        </p:grpSpPr>
        <p:sp>
          <p:nvSpPr>
            <p:cNvPr id="13" name="rect 14"/>
            <p:cNvSpPr/>
            <p:nvPr/>
          </p:nvSpPr>
          <p:spPr>
            <a:xfrm>
              <a:off x="723900" y="1809750"/>
              <a:ext cx="10744200" cy="3143250"/>
            </a:xfrm>
            <a:prstGeom prst="roundRect">
              <a:avLst>
                <a:gd name="adj" fmla="val 2424"/>
              </a:avLst>
            </a:prstGeom>
            <a:solidFill>
              <a:srgbClr val="14171B"/>
            </a:solidFill>
            <a:ln w="9525" cap="flat">
              <a:solidFill>
                <a:srgbClr val="2A2E35"/>
              </a:solidFill>
              <a:miter lim="800000"/>
            </a:ln>
          </p:spPr>
          <p:txBody>
            <a:bodyPr/>
            <a:lstStyle/>
            <a:p>
              <a:endParaRPr lang="en-US"/>
            </a:p>
          </p:txBody>
        </p:sp>
        <p:sp>
          <p:nvSpPr>
            <p:cNvPr id="14" name="path 15"/>
            <p:cNvSpPr/>
            <p:nvPr/>
          </p:nvSpPr>
          <p:spPr>
            <a:xfrm>
              <a:off x="723900" y="1809750"/>
              <a:ext cx="10744200" cy="266700"/>
            </a:xfrm>
            <a:custGeom>
              <a:avLst/>
              <a:gdLst/>
              <a:ahLst/>
              <a:cxnLst/>
              <a:rect l="0" t="0" r="r" b="b"/>
              <a:pathLst>
                <a:path w="10744200" h="266700">
                  <a:moveTo>
                    <a:pt x="0" y="266700"/>
                  </a:moveTo>
                  <a:lnTo>
                    <a:pt x="0" y="76200"/>
                  </a:lnTo>
                  <a:cubicBezTo>
                    <a:pt x="0" y="34116"/>
                    <a:pt x="34116" y="0"/>
                    <a:pt x="76200" y="0"/>
                  </a:cubicBezTo>
                  <a:lnTo>
                    <a:pt x="10668000" y="0"/>
                  </a:lnTo>
                  <a:cubicBezTo>
                    <a:pt x="10710084" y="0"/>
                    <a:pt x="10744200" y="34116"/>
                    <a:pt x="10744200" y="76200"/>
                  </a:cubicBezTo>
                  <a:lnTo>
                    <a:pt x="10744200" y="266700"/>
                  </a:lnTo>
                  <a:close/>
                </a:path>
              </a:pathLst>
            </a:custGeom>
            <a:solidFill>
              <a:srgbClr val="0F1114"/>
            </a:solidFill>
            <a:ln>
              <a:noFill/>
            </a:ln>
          </p:spPr>
          <p:txBody>
            <a:bodyPr/>
            <a:lstStyle/>
            <a:p>
              <a:endParaRPr lang="en-US"/>
            </a:p>
          </p:txBody>
        </p:sp>
        <p:sp>
          <p:nvSpPr>
            <p:cNvPr id="15" name="line 16"/>
            <p:cNvSpPr/>
            <p:nvPr/>
          </p:nvSpPr>
          <p:spPr>
            <a:xfrm>
              <a:off x="723900" y="2076450"/>
              <a:ext cx="10744200" cy="95"/>
            </a:xfrm>
            <a:custGeom>
              <a:avLst/>
              <a:gdLst/>
              <a:ahLst/>
              <a:cxnLst/>
              <a:rect l="0" t="0" r="r" b="b"/>
              <a:pathLst>
                <a:path w="10744200" h="95" fill="none">
                  <a:moveTo>
                    <a:pt x="0" y="0"/>
                  </a:moveTo>
                  <a:lnTo>
                    <a:pt x="10744200" y="0"/>
                  </a:lnTo>
                </a:path>
              </a:pathLst>
            </a:custGeom>
            <a:noFill/>
            <a:ln w="9525" cap="flat">
              <a:solidFill>
                <a:srgbClr val="2A2E35"/>
              </a:solidFill>
              <a:miter lim="800000"/>
            </a:ln>
          </p:spPr>
          <p:txBody>
            <a:bodyPr/>
            <a:lstStyle/>
            <a:p>
              <a:endParaRPr lang="en-US"/>
            </a:p>
          </p:txBody>
        </p:sp>
        <p:sp>
          <p:nvSpPr>
            <p:cNvPr id="16" name="circle 17"/>
            <p:cNvSpPr/>
            <p:nvPr/>
          </p:nvSpPr>
          <p:spPr>
            <a:xfrm>
              <a:off x="857250" y="1905000"/>
              <a:ext cx="76200" cy="76200"/>
            </a:xfrm>
            <a:prstGeom prst="ellipse">
              <a:avLst/>
            </a:prstGeom>
            <a:solidFill>
              <a:srgbClr val="4A5058"/>
            </a:solidFill>
            <a:ln>
              <a:noFill/>
            </a:ln>
          </p:spPr>
          <p:txBody>
            <a:bodyPr/>
            <a:lstStyle/>
            <a:p>
              <a:endParaRPr lang="en-US"/>
            </a:p>
          </p:txBody>
        </p:sp>
        <p:sp>
          <p:nvSpPr>
            <p:cNvPr id="17" name="circle 18"/>
            <p:cNvSpPr/>
            <p:nvPr/>
          </p:nvSpPr>
          <p:spPr>
            <a:xfrm>
              <a:off x="1009650" y="1905000"/>
              <a:ext cx="76200" cy="76200"/>
            </a:xfrm>
            <a:prstGeom prst="ellipse">
              <a:avLst/>
            </a:prstGeom>
            <a:solidFill>
              <a:srgbClr val="4A5058"/>
            </a:solidFill>
            <a:ln>
              <a:noFill/>
            </a:ln>
          </p:spPr>
          <p:txBody>
            <a:bodyPr/>
            <a:lstStyle/>
            <a:p>
              <a:endParaRPr lang="en-US"/>
            </a:p>
          </p:txBody>
        </p:sp>
        <p:sp>
          <p:nvSpPr>
            <p:cNvPr id="18" name="circle 19"/>
            <p:cNvSpPr/>
            <p:nvPr/>
          </p:nvSpPr>
          <p:spPr>
            <a:xfrm>
              <a:off x="1162050" y="1905000"/>
              <a:ext cx="76200" cy="76200"/>
            </a:xfrm>
            <a:prstGeom prst="ellipse">
              <a:avLst/>
            </a:prstGeom>
            <a:solidFill>
              <a:srgbClr val="4A5058"/>
            </a:solidFill>
            <a:ln>
              <a:noFill/>
            </a:ln>
          </p:spPr>
          <p:txBody>
            <a:bodyPr/>
            <a:lstStyle/>
            <a:p>
              <a:endParaRPr lang="en-US"/>
            </a:p>
          </p:txBody>
        </p:sp>
        <p:sp>
          <p:nvSpPr>
            <p:cNvPr id="19" name="Text 20"/>
            <p:cNvSpPr txBox="1"/>
            <p:nvPr/>
          </p:nvSpPr>
          <p:spPr>
            <a:xfrm>
              <a:off x="5217106" y="1879600"/>
              <a:ext cx="1757787" cy="157321"/>
            </a:xfrm>
            <a:prstGeom prst="rect">
              <a:avLst/>
            </a:prstGeom>
            <a:noFill/>
          </p:spPr>
          <p:txBody>
            <a:bodyPr wrap="none" lIns="0" tIns="0" rIns="0" bIns="0" rtlCol="0" anchor="t">
              <a:noAutofit/>
            </a:bodyPr>
            <a:lstStyle/>
            <a:p>
              <a:pPr algn="ctr">
                <a:spcBef>
                  <a:spcPts val="0"/>
                </a:spcBef>
                <a:spcAft>
                  <a:spcPts val="0"/>
                </a:spcAft>
              </a:pPr>
              <a:r>
                <a:rPr lang="en-US" sz="825" b="0" spc="113" dirty="0">
                  <a:solidFill>
                    <a:srgbClr val="9C9A94"/>
                  </a:solidFill>
                  <a:latin typeface="Consolas"/>
                  <a:ea typeface="Consolas"/>
                  <a:cs typeface="Consolas"/>
                </a:rPr>
                <a:t>STUDIO — DECK / PAGE 02</a:t>
              </a:r>
              <a:endParaRPr lang="en-US" sz="825" dirty="0"/>
            </a:p>
          </p:txBody>
        </p:sp>
        <p:sp>
          <p:nvSpPr>
            <p:cNvPr id="20" name="line 21"/>
            <p:cNvSpPr/>
            <p:nvPr/>
          </p:nvSpPr>
          <p:spPr>
            <a:xfrm>
              <a:off x="2057400" y="2076450"/>
              <a:ext cx="95" cy="2876550"/>
            </a:xfrm>
            <a:custGeom>
              <a:avLst/>
              <a:gdLst/>
              <a:ahLst/>
              <a:cxnLst/>
              <a:rect l="0" t="0" r="r" b="b"/>
              <a:pathLst>
                <a:path w="95" h="2876550" fill="none">
                  <a:moveTo>
                    <a:pt x="0" y="0"/>
                  </a:moveTo>
                  <a:lnTo>
                    <a:pt x="0" y="2876550"/>
                  </a:lnTo>
                </a:path>
              </a:pathLst>
            </a:custGeom>
            <a:noFill/>
            <a:ln w="9525" cap="flat">
              <a:solidFill>
                <a:srgbClr val="2A2E35"/>
              </a:solidFill>
              <a:miter lim="800000"/>
            </a:ln>
          </p:spPr>
          <p:txBody>
            <a:bodyPr/>
            <a:lstStyle/>
            <a:p>
              <a:endParaRPr lang="en-US"/>
            </a:p>
          </p:txBody>
        </p:sp>
        <p:sp>
          <p:nvSpPr>
            <p:cNvPr id="21" name="line 22"/>
            <p:cNvSpPr/>
            <p:nvPr/>
          </p:nvSpPr>
          <p:spPr>
            <a:xfrm>
              <a:off x="8305800" y="2076450"/>
              <a:ext cx="95" cy="2876550"/>
            </a:xfrm>
            <a:custGeom>
              <a:avLst/>
              <a:gdLst/>
              <a:ahLst/>
              <a:cxnLst/>
              <a:rect l="0" t="0" r="r" b="b"/>
              <a:pathLst>
                <a:path w="95" h="2876550" fill="none">
                  <a:moveTo>
                    <a:pt x="0" y="0"/>
                  </a:moveTo>
                  <a:lnTo>
                    <a:pt x="0" y="2876550"/>
                  </a:lnTo>
                </a:path>
              </a:pathLst>
            </a:custGeom>
            <a:noFill/>
            <a:ln w="9525" cap="flat">
              <a:solidFill>
                <a:srgbClr val="2A2E35"/>
              </a:solidFill>
              <a:miter lim="800000"/>
            </a:ln>
          </p:spPr>
          <p:txBody>
            <a:bodyPr/>
            <a:lstStyle/>
            <a:p>
              <a:endParaRPr lang="en-US"/>
            </a:p>
          </p:txBody>
        </p:sp>
        <p:sp>
          <p:nvSpPr>
            <p:cNvPr id="22" name="ellipse 23"/>
            <p:cNvSpPr/>
            <p:nvPr/>
          </p:nvSpPr>
          <p:spPr>
            <a:xfrm>
              <a:off x="2324100" y="2085975"/>
              <a:ext cx="5715000" cy="2857500"/>
            </a:xfrm>
            <a:prstGeom prst="ellipse">
              <a:avLst/>
            </a:prstGeom>
            <a:gradFill rotWithShape="1">
              <a:gsLst>
                <a:gs pos="0">
                  <a:srgbClr val="3D8BFF">
                    <a:alpha val="28000"/>
                  </a:srgbClr>
                </a:gs>
                <a:gs pos="100000">
                  <a:srgbClr val="3D8BFF">
                    <a:alpha val="0"/>
                  </a:srgbClr>
                </a:gs>
              </a:gsLst>
              <a:path path="circle">
                <a:fillToRect l="50000" t="50000" r="50000" b="50000"/>
              </a:path>
            </a:gradFill>
            <a:ln>
              <a:noFill/>
            </a:ln>
          </p:spPr>
          <p:txBody>
            <a:bodyPr/>
            <a:lstStyle/>
            <a:p>
              <a:endParaRPr lang="en-US"/>
            </a:p>
          </p:txBody>
        </p:sp>
        <p:sp>
          <p:nvSpPr>
            <p:cNvPr id="23" name="Text 24"/>
            <p:cNvSpPr txBox="1"/>
            <p:nvPr/>
          </p:nvSpPr>
          <p:spPr>
            <a:xfrm>
              <a:off x="800100" y="2216150"/>
              <a:ext cx="147027" cy="141288"/>
            </a:xfrm>
            <a:prstGeom prst="rect">
              <a:avLst/>
            </a:prstGeom>
            <a:noFill/>
          </p:spPr>
          <p:txBody>
            <a:bodyPr wrap="none" lIns="0" tIns="0" rIns="0" bIns="0" rtlCol="0" anchor="t">
              <a:noAutofit/>
            </a:bodyPr>
            <a:lstStyle/>
            <a:p>
              <a:pPr algn="l">
                <a:spcBef>
                  <a:spcPts val="0"/>
                </a:spcBef>
                <a:spcAft>
                  <a:spcPts val="0"/>
                </a:spcAft>
              </a:pPr>
              <a:r>
                <a:rPr lang="en-US" sz="750" b="0" dirty="0">
                  <a:solidFill>
                    <a:srgbClr val="9C9A94"/>
                  </a:solidFill>
                  <a:latin typeface="Consolas"/>
                  <a:ea typeface="Consolas"/>
                  <a:cs typeface="Consolas"/>
                </a:rPr>
                <a:t>01</a:t>
              </a:r>
              <a:endParaRPr lang="en-US" sz="750" dirty="0"/>
            </a:p>
          </p:txBody>
        </p:sp>
        <p:sp>
          <p:nvSpPr>
            <p:cNvPr id="24" name="rect 25"/>
            <p:cNvSpPr/>
            <p:nvPr/>
          </p:nvSpPr>
          <p:spPr>
            <a:xfrm>
              <a:off x="952500" y="2209800"/>
              <a:ext cx="838200" cy="476250"/>
            </a:xfrm>
            <a:prstGeom prst="roundRect">
              <a:avLst>
                <a:gd name="adj" fmla="val 4000"/>
              </a:avLst>
            </a:prstGeom>
            <a:solidFill>
              <a:srgbClr val="0A0B0D"/>
            </a:solidFill>
            <a:ln w="9525" cap="flat">
              <a:solidFill>
                <a:srgbClr val="2A2E35"/>
              </a:solidFill>
              <a:miter lim="800000"/>
            </a:ln>
          </p:spPr>
          <p:txBody>
            <a:bodyPr/>
            <a:lstStyle/>
            <a:p>
              <a:endParaRPr lang="en-US"/>
            </a:p>
          </p:txBody>
        </p:sp>
        <p:sp>
          <p:nvSpPr>
            <p:cNvPr id="25" name="rect 26"/>
            <p:cNvSpPr/>
            <p:nvPr/>
          </p:nvSpPr>
          <p:spPr>
            <a:xfrm>
              <a:off x="1066800" y="2343150"/>
              <a:ext cx="114300" cy="28575"/>
            </a:xfrm>
            <a:prstGeom prst="roundRect">
              <a:avLst>
                <a:gd name="adj" fmla="val 50000"/>
              </a:avLst>
            </a:prstGeom>
            <a:solidFill>
              <a:srgbClr val="FF5B1F"/>
            </a:solidFill>
            <a:ln>
              <a:noFill/>
            </a:ln>
          </p:spPr>
          <p:txBody>
            <a:bodyPr/>
            <a:lstStyle/>
            <a:p>
              <a:endParaRPr lang="en-US"/>
            </a:p>
          </p:txBody>
        </p:sp>
        <p:sp>
          <p:nvSpPr>
            <p:cNvPr id="26" name="rect 27"/>
            <p:cNvSpPr/>
            <p:nvPr/>
          </p:nvSpPr>
          <p:spPr>
            <a:xfrm>
              <a:off x="1066800" y="2419350"/>
              <a:ext cx="533400" cy="38100"/>
            </a:xfrm>
            <a:prstGeom prst="rect">
              <a:avLst/>
            </a:prstGeom>
            <a:solidFill>
              <a:srgbClr val="4A5058"/>
            </a:solidFill>
            <a:ln>
              <a:noFill/>
            </a:ln>
          </p:spPr>
          <p:txBody>
            <a:bodyPr/>
            <a:lstStyle/>
            <a:p>
              <a:endParaRPr lang="en-US"/>
            </a:p>
          </p:txBody>
        </p:sp>
        <p:sp>
          <p:nvSpPr>
            <p:cNvPr id="27" name="rect 28"/>
            <p:cNvSpPr/>
            <p:nvPr/>
          </p:nvSpPr>
          <p:spPr>
            <a:xfrm>
              <a:off x="1066800" y="2495550"/>
              <a:ext cx="381000" cy="38100"/>
            </a:xfrm>
            <a:prstGeom prst="rect">
              <a:avLst/>
            </a:prstGeom>
            <a:solidFill>
              <a:srgbClr val="4A5058"/>
            </a:solidFill>
            <a:ln>
              <a:noFill/>
            </a:ln>
          </p:spPr>
          <p:txBody>
            <a:bodyPr/>
            <a:lstStyle/>
            <a:p>
              <a:endParaRPr lang="en-US"/>
            </a:p>
          </p:txBody>
        </p:sp>
        <p:sp>
          <p:nvSpPr>
            <p:cNvPr id="28" name="Text 29"/>
            <p:cNvSpPr txBox="1"/>
            <p:nvPr/>
          </p:nvSpPr>
          <p:spPr>
            <a:xfrm>
              <a:off x="800100" y="2825750"/>
              <a:ext cx="147027" cy="141288"/>
            </a:xfrm>
            <a:prstGeom prst="rect">
              <a:avLst/>
            </a:prstGeom>
            <a:noFill/>
          </p:spPr>
          <p:txBody>
            <a:bodyPr wrap="none" lIns="0" tIns="0" rIns="0" bIns="0" rtlCol="0" anchor="t">
              <a:noAutofit/>
            </a:bodyPr>
            <a:lstStyle/>
            <a:p>
              <a:pPr algn="l">
                <a:spcBef>
                  <a:spcPts val="0"/>
                </a:spcBef>
                <a:spcAft>
                  <a:spcPts val="0"/>
                </a:spcAft>
              </a:pPr>
              <a:r>
                <a:rPr lang="en-US" sz="750" b="0" dirty="0">
                  <a:solidFill>
                    <a:srgbClr val="FF5B1F"/>
                  </a:solidFill>
                  <a:latin typeface="Consolas"/>
                  <a:ea typeface="Consolas"/>
                  <a:cs typeface="Consolas"/>
                </a:rPr>
                <a:t>02</a:t>
              </a:r>
              <a:endParaRPr lang="en-US" sz="750" dirty="0"/>
            </a:p>
          </p:txBody>
        </p:sp>
        <p:sp>
          <p:nvSpPr>
            <p:cNvPr id="29" name="rect 30"/>
            <p:cNvSpPr/>
            <p:nvPr/>
          </p:nvSpPr>
          <p:spPr>
            <a:xfrm>
              <a:off x="952500" y="2819400"/>
              <a:ext cx="838200" cy="476250"/>
            </a:xfrm>
            <a:prstGeom prst="roundRect">
              <a:avLst>
                <a:gd name="adj" fmla="val 4000"/>
              </a:avLst>
            </a:prstGeom>
            <a:solidFill>
              <a:srgbClr val="0A0B0D"/>
            </a:solidFill>
            <a:ln w="14288" cap="flat">
              <a:solidFill>
                <a:srgbClr val="FF5B1F"/>
              </a:solidFill>
              <a:miter lim="800000"/>
            </a:ln>
          </p:spPr>
          <p:txBody>
            <a:bodyPr/>
            <a:lstStyle/>
            <a:p>
              <a:endParaRPr lang="en-US"/>
            </a:p>
          </p:txBody>
        </p:sp>
        <p:sp>
          <p:nvSpPr>
            <p:cNvPr id="30" name="rect 31"/>
            <p:cNvSpPr/>
            <p:nvPr/>
          </p:nvSpPr>
          <p:spPr>
            <a:xfrm>
              <a:off x="1066800" y="2933700"/>
              <a:ext cx="114300" cy="28575"/>
            </a:xfrm>
            <a:prstGeom prst="roundRect">
              <a:avLst>
                <a:gd name="adj" fmla="val 50000"/>
              </a:avLst>
            </a:prstGeom>
            <a:solidFill>
              <a:srgbClr val="FF5B1F"/>
            </a:solidFill>
            <a:ln>
              <a:noFill/>
            </a:ln>
          </p:spPr>
          <p:txBody>
            <a:bodyPr/>
            <a:lstStyle/>
            <a:p>
              <a:endParaRPr lang="en-US"/>
            </a:p>
          </p:txBody>
        </p:sp>
        <p:sp>
          <p:nvSpPr>
            <p:cNvPr id="31" name="rect 32"/>
            <p:cNvSpPr/>
            <p:nvPr/>
          </p:nvSpPr>
          <p:spPr>
            <a:xfrm>
              <a:off x="1066800" y="3009900"/>
              <a:ext cx="476250" cy="38100"/>
            </a:xfrm>
            <a:prstGeom prst="rect">
              <a:avLst/>
            </a:prstGeom>
            <a:solidFill>
              <a:srgbClr val="EDE9E2">
                <a:alpha val="70000"/>
              </a:srgbClr>
            </a:solidFill>
            <a:ln>
              <a:noFill/>
            </a:ln>
          </p:spPr>
          <p:txBody>
            <a:bodyPr/>
            <a:lstStyle/>
            <a:p>
              <a:endParaRPr lang="en-US"/>
            </a:p>
          </p:txBody>
        </p:sp>
        <p:sp>
          <p:nvSpPr>
            <p:cNvPr id="32" name="rect 33"/>
            <p:cNvSpPr/>
            <p:nvPr/>
          </p:nvSpPr>
          <p:spPr>
            <a:xfrm>
              <a:off x="1066800" y="3086100"/>
              <a:ext cx="323850" cy="38100"/>
            </a:xfrm>
            <a:prstGeom prst="rect">
              <a:avLst/>
            </a:prstGeom>
            <a:solidFill>
              <a:srgbClr val="FF5B1F"/>
            </a:solidFill>
            <a:ln>
              <a:noFill/>
            </a:ln>
          </p:spPr>
          <p:txBody>
            <a:bodyPr/>
            <a:lstStyle/>
            <a:p>
              <a:endParaRPr lang="en-US"/>
            </a:p>
          </p:txBody>
        </p:sp>
        <p:sp>
          <p:nvSpPr>
            <p:cNvPr id="33" name="rect 34"/>
            <p:cNvSpPr/>
            <p:nvPr/>
          </p:nvSpPr>
          <p:spPr>
            <a:xfrm>
              <a:off x="1066800" y="3171825"/>
              <a:ext cx="190500" cy="76200"/>
            </a:xfrm>
            <a:prstGeom prst="rect">
              <a:avLst/>
            </a:prstGeom>
            <a:solidFill>
              <a:srgbClr val="14171B"/>
            </a:solidFill>
            <a:ln w="7620" cap="flat">
              <a:solidFill>
                <a:srgbClr val="4A5058"/>
              </a:solidFill>
              <a:miter lim="800000"/>
            </a:ln>
          </p:spPr>
          <p:txBody>
            <a:bodyPr/>
            <a:lstStyle/>
            <a:p>
              <a:endParaRPr lang="en-US"/>
            </a:p>
          </p:txBody>
        </p:sp>
        <p:sp>
          <p:nvSpPr>
            <p:cNvPr id="34" name="rect 35"/>
            <p:cNvSpPr/>
            <p:nvPr/>
          </p:nvSpPr>
          <p:spPr>
            <a:xfrm>
              <a:off x="1295400" y="3171825"/>
              <a:ext cx="190500" cy="76200"/>
            </a:xfrm>
            <a:prstGeom prst="rect">
              <a:avLst/>
            </a:prstGeom>
            <a:solidFill>
              <a:srgbClr val="14171B"/>
            </a:solidFill>
            <a:ln w="7620" cap="flat">
              <a:solidFill>
                <a:srgbClr val="3D8BFF"/>
              </a:solidFill>
              <a:miter lim="800000"/>
            </a:ln>
          </p:spPr>
          <p:txBody>
            <a:bodyPr/>
            <a:lstStyle/>
            <a:p>
              <a:endParaRPr lang="en-US"/>
            </a:p>
          </p:txBody>
        </p:sp>
        <p:sp>
          <p:nvSpPr>
            <p:cNvPr id="35" name="rect 36"/>
            <p:cNvSpPr/>
            <p:nvPr/>
          </p:nvSpPr>
          <p:spPr>
            <a:xfrm>
              <a:off x="1524000" y="3171825"/>
              <a:ext cx="190500" cy="76200"/>
            </a:xfrm>
            <a:prstGeom prst="rect">
              <a:avLst/>
            </a:prstGeom>
            <a:solidFill>
              <a:srgbClr val="14171B"/>
            </a:solidFill>
            <a:ln w="7620" cap="flat">
              <a:solidFill>
                <a:srgbClr val="4A5058"/>
              </a:solidFill>
              <a:miter lim="800000"/>
            </a:ln>
          </p:spPr>
          <p:txBody>
            <a:bodyPr/>
            <a:lstStyle/>
            <a:p>
              <a:endParaRPr lang="en-US"/>
            </a:p>
          </p:txBody>
        </p:sp>
        <p:sp>
          <p:nvSpPr>
            <p:cNvPr id="36" name="Text 37"/>
            <p:cNvSpPr txBox="1"/>
            <p:nvPr/>
          </p:nvSpPr>
          <p:spPr>
            <a:xfrm>
              <a:off x="800100" y="3435350"/>
              <a:ext cx="147027" cy="141288"/>
            </a:xfrm>
            <a:prstGeom prst="rect">
              <a:avLst/>
            </a:prstGeom>
            <a:noFill/>
          </p:spPr>
          <p:txBody>
            <a:bodyPr wrap="none" lIns="0" tIns="0" rIns="0" bIns="0" rtlCol="0" anchor="t">
              <a:noAutofit/>
            </a:bodyPr>
            <a:lstStyle/>
            <a:p>
              <a:pPr algn="l">
                <a:spcBef>
                  <a:spcPts val="0"/>
                </a:spcBef>
                <a:spcAft>
                  <a:spcPts val="0"/>
                </a:spcAft>
              </a:pPr>
              <a:r>
                <a:rPr lang="en-US" sz="750" b="0" dirty="0">
                  <a:solidFill>
                    <a:srgbClr val="9C9A94"/>
                  </a:solidFill>
                  <a:latin typeface="Consolas"/>
                  <a:ea typeface="Consolas"/>
                  <a:cs typeface="Consolas"/>
                </a:rPr>
                <a:t>03</a:t>
              </a:r>
              <a:endParaRPr lang="en-US" sz="750" dirty="0"/>
            </a:p>
          </p:txBody>
        </p:sp>
        <p:sp>
          <p:nvSpPr>
            <p:cNvPr id="37" name="rect 38"/>
            <p:cNvSpPr/>
            <p:nvPr/>
          </p:nvSpPr>
          <p:spPr>
            <a:xfrm>
              <a:off x="952500" y="3429000"/>
              <a:ext cx="838200" cy="476250"/>
            </a:xfrm>
            <a:prstGeom prst="roundRect">
              <a:avLst>
                <a:gd name="adj" fmla="val 4000"/>
              </a:avLst>
            </a:prstGeom>
            <a:solidFill>
              <a:srgbClr val="0A0B0D"/>
            </a:solidFill>
            <a:ln w="9525" cap="flat">
              <a:solidFill>
                <a:srgbClr val="2A2E35"/>
              </a:solidFill>
              <a:miter lim="800000"/>
            </a:ln>
          </p:spPr>
          <p:txBody>
            <a:bodyPr/>
            <a:lstStyle/>
            <a:p>
              <a:endParaRPr lang="en-US"/>
            </a:p>
          </p:txBody>
        </p:sp>
        <p:sp>
          <p:nvSpPr>
            <p:cNvPr id="38" name="rect 39"/>
            <p:cNvSpPr/>
            <p:nvPr/>
          </p:nvSpPr>
          <p:spPr>
            <a:xfrm>
              <a:off x="1085850" y="3695700"/>
              <a:ext cx="95250" cy="114300"/>
            </a:xfrm>
            <a:prstGeom prst="rect">
              <a:avLst/>
            </a:prstGeom>
            <a:solidFill>
              <a:srgbClr val="4A5058"/>
            </a:solidFill>
            <a:ln>
              <a:noFill/>
            </a:ln>
          </p:spPr>
          <p:txBody>
            <a:bodyPr/>
            <a:lstStyle/>
            <a:p>
              <a:endParaRPr lang="en-US"/>
            </a:p>
          </p:txBody>
        </p:sp>
        <p:sp>
          <p:nvSpPr>
            <p:cNvPr id="39" name="rect 40"/>
            <p:cNvSpPr/>
            <p:nvPr/>
          </p:nvSpPr>
          <p:spPr>
            <a:xfrm>
              <a:off x="1238250" y="3619500"/>
              <a:ext cx="95250" cy="190500"/>
            </a:xfrm>
            <a:prstGeom prst="rect">
              <a:avLst/>
            </a:prstGeom>
            <a:solidFill>
              <a:srgbClr val="3D8BFF"/>
            </a:solidFill>
            <a:ln>
              <a:noFill/>
            </a:ln>
          </p:spPr>
          <p:txBody>
            <a:bodyPr/>
            <a:lstStyle/>
            <a:p>
              <a:endParaRPr lang="en-US"/>
            </a:p>
          </p:txBody>
        </p:sp>
        <p:sp>
          <p:nvSpPr>
            <p:cNvPr id="40" name="rect 41"/>
            <p:cNvSpPr/>
            <p:nvPr/>
          </p:nvSpPr>
          <p:spPr>
            <a:xfrm>
              <a:off x="1390650" y="3543300"/>
              <a:ext cx="95250" cy="266700"/>
            </a:xfrm>
            <a:prstGeom prst="rect">
              <a:avLst/>
            </a:prstGeom>
            <a:solidFill>
              <a:srgbClr val="FF5B1F"/>
            </a:solidFill>
            <a:ln>
              <a:noFill/>
            </a:ln>
          </p:spPr>
          <p:txBody>
            <a:bodyPr/>
            <a:lstStyle/>
            <a:p>
              <a:endParaRPr lang="en-US"/>
            </a:p>
          </p:txBody>
        </p:sp>
        <p:sp>
          <p:nvSpPr>
            <p:cNvPr id="41" name="rect 42"/>
            <p:cNvSpPr/>
            <p:nvPr/>
          </p:nvSpPr>
          <p:spPr>
            <a:xfrm>
              <a:off x="1543050" y="3648075"/>
              <a:ext cx="95250" cy="161925"/>
            </a:xfrm>
            <a:prstGeom prst="rect">
              <a:avLst/>
            </a:prstGeom>
            <a:solidFill>
              <a:srgbClr val="A28BFF"/>
            </a:solidFill>
            <a:ln>
              <a:noFill/>
            </a:ln>
          </p:spPr>
          <p:txBody>
            <a:bodyPr/>
            <a:lstStyle/>
            <a:p>
              <a:endParaRPr lang="en-US"/>
            </a:p>
          </p:txBody>
        </p:sp>
        <p:sp>
          <p:nvSpPr>
            <p:cNvPr id="42" name="Text 43"/>
            <p:cNvSpPr txBox="1"/>
            <p:nvPr/>
          </p:nvSpPr>
          <p:spPr>
            <a:xfrm>
              <a:off x="800100" y="4044950"/>
              <a:ext cx="147027" cy="141288"/>
            </a:xfrm>
            <a:prstGeom prst="rect">
              <a:avLst/>
            </a:prstGeom>
            <a:noFill/>
          </p:spPr>
          <p:txBody>
            <a:bodyPr wrap="none" lIns="0" tIns="0" rIns="0" bIns="0" rtlCol="0" anchor="t">
              <a:noAutofit/>
            </a:bodyPr>
            <a:lstStyle/>
            <a:p>
              <a:pPr algn="l">
                <a:spcBef>
                  <a:spcPts val="0"/>
                </a:spcBef>
                <a:spcAft>
                  <a:spcPts val="0"/>
                </a:spcAft>
              </a:pPr>
              <a:r>
                <a:rPr lang="en-US" sz="750" b="0" dirty="0">
                  <a:solidFill>
                    <a:srgbClr val="9C9A94"/>
                  </a:solidFill>
                  <a:latin typeface="Consolas"/>
                  <a:ea typeface="Consolas"/>
                  <a:cs typeface="Consolas"/>
                </a:rPr>
                <a:t>04</a:t>
              </a:r>
              <a:endParaRPr lang="en-US" sz="750" dirty="0"/>
            </a:p>
          </p:txBody>
        </p:sp>
        <p:sp>
          <p:nvSpPr>
            <p:cNvPr id="43" name="rect 44"/>
            <p:cNvSpPr/>
            <p:nvPr/>
          </p:nvSpPr>
          <p:spPr>
            <a:xfrm>
              <a:off x="952500" y="4038600"/>
              <a:ext cx="838200" cy="476250"/>
            </a:xfrm>
            <a:prstGeom prst="roundRect">
              <a:avLst>
                <a:gd name="adj" fmla="val 4000"/>
              </a:avLst>
            </a:prstGeom>
            <a:solidFill>
              <a:srgbClr val="0A0B0D"/>
            </a:solidFill>
            <a:ln w="9525" cap="flat">
              <a:solidFill>
                <a:srgbClr val="2A2E35"/>
              </a:solidFill>
              <a:miter lim="800000"/>
            </a:ln>
          </p:spPr>
          <p:txBody>
            <a:bodyPr/>
            <a:lstStyle/>
            <a:p>
              <a:endParaRPr lang="en-US"/>
            </a:p>
          </p:txBody>
        </p:sp>
        <p:sp>
          <p:nvSpPr>
            <p:cNvPr id="44" name="rect 45"/>
            <p:cNvSpPr/>
            <p:nvPr/>
          </p:nvSpPr>
          <p:spPr>
            <a:xfrm>
              <a:off x="1047750" y="4114800"/>
              <a:ext cx="304800" cy="142875"/>
            </a:xfrm>
            <a:prstGeom prst="rect">
              <a:avLst/>
            </a:prstGeom>
            <a:solidFill>
              <a:srgbClr val="14171B"/>
            </a:solidFill>
            <a:ln w="7620" cap="flat">
              <a:solidFill>
                <a:srgbClr val="4A5058"/>
              </a:solidFill>
              <a:miter lim="800000"/>
            </a:ln>
          </p:spPr>
          <p:txBody>
            <a:bodyPr/>
            <a:lstStyle/>
            <a:p>
              <a:endParaRPr lang="en-US"/>
            </a:p>
          </p:txBody>
        </p:sp>
        <p:sp>
          <p:nvSpPr>
            <p:cNvPr id="45" name="rect 46"/>
            <p:cNvSpPr/>
            <p:nvPr/>
          </p:nvSpPr>
          <p:spPr>
            <a:xfrm>
              <a:off x="1390650" y="4114800"/>
              <a:ext cx="304800" cy="142875"/>
            </a:xfrm>
            <a:prstGeom prst="rect">
              <a:avLst/>
            </a:prstGeom>
            <a:solidFill>
              <a:srgbClr val="14171B"/>
            </a:solidFill>
            <a:ln w="7620" cap="flat">
              <a:solidFill>
                <a:srgbClr val="4A5058"/>
              </a:solidFill>
              <a:miter lim="800000"/>
            </a:ln>
          </p:spPr>
          <p:txBody>
            <a:bodyPr/>
            <a:lstStyle/>
            <a:p>
              <a:endParaRPr lang="en-US"/>
            </a:p>
          </p:txBody>
        </p:sp>
        <p:sp>
          <p:nvSpPr>
            <p:cNvPr id="46" name="rect 47"/>
            <p:cNvSpPr/>
            <p:nvPr/>
          </p:nvSpPr>
          <p:spPr>
            <a:xfrm>
              <a:off x="1047750" y="4295775"/>
              <a:ext cx="304800" cy="142875"/>
            </a:xfrm>
            <a:prstGeom prst="rect">
              <a:avLst/>
            </a:prstGeom>
            <a:solidFill>
              <a:srgbClr val="14171B"/>
            </a:solidFill>
            <a:ln w="7620" cap="flat">
              <a:solidFill>
                <a:srgbClr val="4A5058"/>
              </a:solidFill>
              <a:miter lim="800000"/>
            </a:ln>
          </p:spPr>
          <p:txBody>
            <a:bodyPr/>
            <a:lstStyle/>
            <a:p>
              <a:endParaRPr lang="en-US"/>
            </a:p>
          </p:txBody>
        </p:sp>
        <p:sp>
          <p:nvSpPr>
            <p:cNvPr id="47" name="rect 48"/>
            <p:cNvSpPr/>
            <p:nvPr/>
          </p:nvSpPr>
          <p:spPr>
            <a:xfrm>
              <a:off x="1390650" y="4295775"/>
              <a:ext cx="304800" cy="142875"/>
            </a:xfrm>
            <a:prstGeom prst="rect">
              <a:avLst/>
            </a:prstGeom>
            <a:solidFill>
              <a:srgbClr val="14171B"/>
            </a:solidFill>
            <a:ln w="7620" cap="flat">
              <a:solidFill>
                <a:srgbClr val="3D8BFF"/>
              </a:solidFill>
              <a:miter lim="800000"/>
            </a:ln>
          </p:spPr>
          <p:txBody>
            <a:bodyPr/>
            <a:lstStyle/>
            <a:p>
              <a:endParaRPr lang="en-US"/>
            </a:p>
          </p:txBody>
        </p:sp>
        <p:sp>
          <p:nvSpPr>
            <p:cNvPr id="48" name="circle 49"/>
            <p:cNvSpPr/>
            <p:nvPr/>
          </p:nvSpPr>
          <p:spPr>
            <a:xfrm>
              <a:off x="1838325" y="2181225"/>
              <a:ext cx="209550" cy="209550"/>
            </a:xfrm>
            <a:prstGeom prst="ellipse">
              <a:avLst/>
            </a:prstGeom>
            <a:solidFill>
              <a:srgbClr val="FF5B1F"/>
            </a:solidFill>
            <a:ln>
              <a:noFill/>
            </a:ln>
          </p:spPr>
          <p:txBody>
            <a:bodyPr/>
            <a:lstStyle/>
            <a:p>
              <a:endParaRPr lang="en-US"/>
            </a:p>
          </p:txBody>
        </p:sp>
        <p:sp>
          <p:nvSpPr>
            <p:cNvPr id="49" name="Text 50"/>
            <p:cNvSpPr txBox="1"/>
            <p:nvPr/>
          </p:nvSpPr>
          <p:spPr>
            <a:xfrm>
              <a:off x="1888649" y="2214563"/>
              <a:ext cx="108903" cy="176689"/>
            </a:xfrm>
            <a:prstGeom prst="rect">
              <a:avLst/>
            </a:prstGeom>
            <a:noFill/>
          </p:spPr>
          <p:txBody>
            <a:bodyPr wrap="none" lIns="0" tIns="0" rIns="0" bIns="0" rtlCol="0" anchor="t">
              <a:noAutofit/>
            </a:bodyPr>
            <a:lstStyle/>
            <a:p>
              <a:pPr algn="ctr">
                <a:spcBef>
                  <a:spcPts val="0"/>
                </a:spcBef>
                <a:spcAft>
                  <a:spcPts val="0"/>
                </a:spcAft>
              </a:pPr>
              <a:r>
                <a:rPr lang="en-US" sz="975" b="1" dirty="0">
                  <a:solidFill>
                    <a:srgbClr val="0A0B0D"/>
                  </a:solidFill>
                  <a:latin typeface="Consolas"/>
                  <a:ea typeface="Consolas"/>
                  <a:cs typeface="Consolas"/>
                </a:rPr>
                <a:t>1</a:t>
              </a:r>
              <a:endParaRPr lang="en-US" sz="975" dirty="0"/>
            </a:p>
          </p:txBody>
        </p:sp>
        <p:sp>
          <p:nvSpPr>
            <p:cNvPr id="50" name="Text 51"/>
            <p:cNvSpPr txBox="1"/>
            <p:nvPr/>
          </p:nvSpPr>
          <p:spPr>
            <a:xfrm>
              <a:off x="2209800" y="2241550"/>
              <a:ext cx="637200" cy="157321"/>
            </a:xfrm>
            <a:prstGeom prst="rect">
              <a:avLst/>
            </a:prstGeom>
            <a:noFill/>
          </p:spPr>
          <p:txBody>
            <a:bodyPr wrap="none" lIns="0" tIns="0" rIns="0" bIns="0" rtlCol="0" anchor="t">
              <a:noAutofit/>
            </a:bodyPr>
            <a:lstStyle/>
            <a:p>
              <a:pPr algn="l">
                <a:spcBef>
                  <a:spcPts val="0"/>
                </a:spcBef>
                <a:spcAft>
                  <a:spcPts val="0"/>
                </a:spcAft>
              </a:pPr>
              <a:r>
                <a:rPr lang="en-US" sz="825" b="0" dirty="0">
                  <a:solidFill>
                    <a:srgbClr val="9C9A94"/>
                  </a:solidFill>
                  <a:latin typeface="Consolas"/>
                  <a:ea typeface="Consolas"/>
                  <a:cs typeface="Consolas"/>
                </a:rPr>
                <a:t>1280 × 720</a:t>
              </a:r>
              <a:endParaRPr lang="en-US" sz="825" dirty="0"/>
            </a:p>
          </p:txBody>
        </p:sp>
        <p:sp>
          <p:nvSpPr>
            <p:cNvPr id="51" name="rect 52"/>
            <p:cNvSpPr/>
            <p:nvPr/>
          </p:nvSpPr>
          <p:spPr>
            <a:xfrm>
              <a:off x="2895600" y="2228850"/>
              <a:ext cx="4572000" cy="2571750"/>
            </a:xfrm>
            <a:prstGeom prst="rect">
              <a:avLst/>
            </a:prstGeom>
            <a:solidFill>
              <a:srgbClr val="0A0B0D"/>
            </a:solidFill>
            <a:ln w="9525" cap="flat">
              <a:solidFill>
                <a:srgbClr val="2A2E35"/>
              </a:solidFill>
              <a:miter lim="800000"/>
            </a:ln>
          </p:spPr>
          <p:txBody>
            <a:bodyPr/>
            <a:lstStyle/>
            <a:p>
              <a:endParaRPr lang="en-US"/>
            </a:p>
          </p:txBody>
        </p:sp>
        <p:sp>
          <p:nvSpPr>
            <p:cNvPr id="52" name="rect 53"/>
            <p:cNvSpPr/>
            <p:nvPr/>
          </p:nvSpPr>
          <p:spPr>
            <a:xfrm>
              <a:off x="3124200" y="2438400"/>
              <a:ext cx="266700" cy="38100"/>
            </a:xfrm>
            <a:prstGeom prst="roundRect">
              <a:avLst>
                <a:gd name="adj" fmla="val 50000"/>
              </a:avLst>
            </a:prstGeom>
            <a:solidFill>
              <a:srgbClr val="FF5B1F"/>
            </a:solidFill>
            <a:ln>
              <a:noFill/>
            </a:ln>
          </p:spPr>
          <p:txBody>
            <a:bodyPr/>
            <a:lstStyle/>
            <a:p>
              <a:endParaRPr lang="en-US"/>
            </a:p>
          </p:txBody>
        </p:sp>
        <p:sp>
          <p:nvSpPr>
            <p:cNvPr id="53" name="Text 54"/>
            <p:cNvSpPr txBox="1"/>
            <p:nvPr/>
          </p:nvSpPr>
          <p:spPr>
            <a:xfrm>
              <a:off x="3124200" y="2628900"/>
              <a:ext cx="2329569" cy="620078"/>
            </a:xfrm>
            <a:prstGeom prst="rect">
              <a:avLst/>
            </a:prstGeom>
            <a:noFill/>
          </p:spPr>
          <p:txBody>
            <a:bodyPr wrap="none" lIns="0" tIns="0" rIns="0" bIns="0" rtlCol="0" anchor="t">
              <a:noAutofit/>
            </a:bodyPr>
            <a:lstStyle/>
            <a:p>
              <a:pPr algn="l">
                <a:lnSpc>
                  <a:spcPts val="2300"/>
                </a:lnSpc>
                <a:spcBef>
                  <a:spcPts val="0"/>
                </a:spcBef>
                <a:spcAft>
                  <a:spcPts val="0"/>
                </a:spcAft>
              </a:pPr>
              <a:r>
                <a:rPr lang="en-US" sz="1950" b="1" dirty="0">
                  <a:solidFill>
                    <a:srgbClr val="EDE9E2"/>
                  </a:solidFill>
                  <a:latin typeface="Bahnschrift"/>
                  <a:ea typeface="Bahnschrift"/>
                  <a:cs typeface="Bahnschrift"/>
                </a:rPr>
                <a:t>26 AI coding agents.</a:t>
              </a:r>
              <a:endParaRPr lang="en-US" sz="1950" dirty="0"/>
            </a:p>
            <a:p>
              <a:pPr algn="l">
                <a:lnSpc>
                  <a:spcPts val="2300"/>
                </a:lnSpc>
                <a:spcBef>
                  <a:spcPts val="0"/>
                </a:spcBef>
                <a:spcAft>
                  <a:spcPts val="0"/>
                </a:spcAft>
              </a:pPr>
              <a:r>
                <a:rPr lang="en-US" sz="1950" b="1" dirty="0">
                  <a:solidFill>
                    <a:srgbClr val="FF5B1F"/>
                  </a:solidFill>
                  <a:latin typeface="Bahnschrift"/>
                  <a:ea typeface="Bahnschrift"/>
                  <a:cs typeface="Bahnschrift"/>
                </a:rPr>
                <a:t>One native window.</a:t>
              </a:r>
              <a:endParaRPr lang="en-US" sz="1950" dirty="0"/>
            </a:p>
          </p:txBody>
        </p:sp>
        <p:sp>
          <p:nvSpPr>
            <p:cNvPr id="54" name="rect 55"/>
            <p:cNvSpPr/>
            <p:nvPr/>
          </p:nvSpPr>
          <p:spPr>
            <a:xfrm>
              <a:off x="3124200" y="3486150"/>
              <a:ext cx="1143000" cy="685800"/>
            </a:xfrm>
            <a:prstGeom prst="rect">
              <a:avLst/>
            </a:prstGeom>
            <a:solidFill>
              <a:srgbClr val="14171B"/>
            </a:solidFill>
            <a:ln w="9525" cap="flat">
              <a:solidFill>
                <a:srgbClr val="2A2E35"/>
              </a:solidFill>
              <a:miter lim="800000"/>
            </a:ln>
          </p:spPr>
          <p:txBody>
            <a:bodyPr/>
            <a:lstStyle/>
            <a:p>
              <a:endParaRPr lang="en-US"/>
            </a:p>
          </p:txBody>
        </p:sp>
        <p:sp>
          <p:nvSpPr>
            <p:cNvPr id="55" name="rect 56"/>
            <p:cNvSpPr/>
            <p:nvPr/>
          </p:nvSpPr>
          <p:spPr>
            <a:xfrm>
              <a:off x="4381500" y="3486150"/>
              <a:ext cx="1143000" cy="685800"/>
            </a:xfrm>
            <a:prstGeom prst="rect">
              <a:avLst/>
            </a:prstGeom>
            <a:solidFill>
              <a:srgbClr val="14171B"/>
            </a:solidFill>
            <a:ln w="9525" cap="flat">
              <a:solidFill>
                <a:srgbClr val="2A2E35"/>
              </a:solidFill>
              <a:miter lim="800000"/>
            </a:ln>
          </p:spPr>
          <p:txBody>
            <a:bodyPr/>
            <a:lstStyle/>
            <a:p>
              <a:endParaRPr lang="en-US"/>
            </a:p>
          </p:txBody>
        </p:sp>
        <p:sp>
          <p:nvSpPr>
            <p:cNvPr id="56" name="rect 57"/>
            <p:cNvSpPr/>
            <p:nvPr/>
          </p:nvSpPr>
          <p:spPr>
            <a:xfrm>
              <a:off x="5638800" y="3486150"/>
              <a:ext cx="1143000" cy="685800"/>
            </a:xfrm>
            <a:prstGeom prst="rect">
              <a:avLst/>
            </a:prstGeom>
            <a:solidFill>
              <a:srgbClr val="14171B"/>
            </a:solidFill>
            <a:ln w="9525" cap="flat">
              <a:solidFill>
                <a:srgbClr val="2A2E35"/>
              </a:solidFill>
              <a:miter lim="800000"/>
            </a:ln>
          </p:spPr>
          <p:txBody>
            <a:bodyPr/>
            <a:lstStyle/>
            <a:p>
              <a:endParaRPr lang="en-US"/>
            </a:p>
          </p:txBody>
        </p:sp>
        <p:sp>
          <p:nvSpPr>
            <p:cNvPr id="57" name="Text 58"/>
            <p:cNvSpPr txBox="1"/>
            <p:nvPr/>
          </p:nvSpPr>
          <p:spPr>
            <a:xfrm>
              <a:off x="3238500" y="3575050"/>
              <a:ext cx="157920" cy="157321"/>
            </a:xfrm>
            <a:prstGeom prst="rect">
              <a:avLst/>
            </a:prstGeom>
            <a:noFill/>
          </p:spPr>
          <p:txBody>
            <a:bodyPr wrap="none" lIns="0" tIns="0" rIns="0" bIns="0" rtlCol="0" anchor="t">
              <a:noAutofit/>
            </a:bodyPr>
            <a:lstStyle/>
            <a:p>
              <a:pPr algn="l">
                <a:spcBef>
                  <a:spcPts val="0"/>
                </a:spcBef>
                <a:spcAft>
                  <a:spcPts val="0"/>
                </a:spcAft>
              </a:pPr>
              <a:r>
                <a:rPr lang="en-US" sz="825" b="0" dirty="0">
                  <a:solidFill>
                    <a:srgbClr val="9C9A94"/>
                  </a:solidFill>
                  <a:latin typeface="Consolas"/>
                  <a:ea typeface="Consolas"/>
                  <a:cs typeface="Consolas"/>
                </a:rPr>
                <a:t>01</a:t>
              </a:r>
              <a:endParaRPr lang="en-US" sz="825" dirty="0"/>
            </a:p>
          </p:txBody>
        </p:sp>
        <p:sp>
          <p:nvSpPr>
            <p:cNvPr id="58" name="Text 59"/>
            <p:cNvSpPr txBox="1"/>
            <p:nvPr/>
          </p:nvSpPr>
          <p:spPr>
            <a:xfrm>
              <a:off x="3238500" y="3956050"/>
              <a:ext cx="640199" cy="160655"/>
            </a:xfrm>
            <a:prstGeom prst="rect">
              <a:avLst/>
            </a:prstGeom>
            <a:noFill/>
          </p:spPr>
          <p:txBody>
            <a:bodyPr wrap="none" lIns="0" tIns="0" rIns="0" bIns="0" rtlCol="0" anchor="t">
              <a:noAutofit/>
            </a:bodyPr>
            <a:lstStyle/>
            <a:p>
              <a:pPr algn="l">
                <a:spcBef>
                  <a:spcPts val="0"/>
                </a:spcBef>
                <a:spcAft>
                  <a:spcPts val="0"/>
                </a:spcAft>
              </a:pPr>
              <a:r>
                <a:rPr lang="en-US" sz="900" b="0" spc="75" dirty="0">
                  <a:solidFill>
                    <a:srgbClr val="EDE9E2"/>
                  </a:solidFill>
                  <a:latin typeface="Consolas"/>
                  <a:ea typeface="Consolas"/>
                  <a:cs typeface="Consolas"/>
                </a:rPr>
                <a:t>TERMINAL</a:t>
              </a:r>
              <a:endParaRPr lang="en-US" sz="900" dirty="0"/>
            </a:p>
          </p:txBody>
        </p:sp>
        <p:sp>
          <p:nvSpPr>
            <p:cNvPr id="59" name="Text 60"/>
            <p:cNvSpPr txBox="1"/>
            <p:nvPr/>
          </p:nvSpPr>
          <p:spPr>
            <a:xfrm>
              <a:off x="4495800" y="3575050"/>
              <a:ext cx="157920" cy="157321"/>
            </a:xfrm>
            <a:prstGeom prst="rect">
              <a:avLst/>
            </a:prstGeom>
            <a:noFill/>
          </p:spPr>
          <p:txBody>
            <a:bodyPr wrap="none" lIns="0" tIns="0" rIns="0" bIns="0" rtlCol="0" anchor="t">
              <a:noAutofit/>
            </a:bodyPr>
            <a:lstStyle/>
            <a:p>
              <a:pPr algn="l">
                <a:spcBef>
                  <a:spcPts val="0"/>
                </a:spcBef>
                <a:spcAft>
                  <a:spcPts val="0"/>
                </a:spcAft>
              </a:pPr>
              <a:r>
                <a:rPr lang="en-US" sz="825" b="0" dirty="0">
                  <a:solidFill>
                    <a:srgbClr val="9C9A94"/>
                  </a:solidFill>
                  <a:latin typeface="Consolas"/>
                  <a:ea typeface="Consolas"/>
                  <a:cs typeface="Consolas"/>
                </a:rPr>
                <a:t>02</a:t>
              </a:r>
              <a:endParaRPr lang="en-US" sz="825" dirty="0"/>
            </a:p>
          </p:txBody>
        </p:sp>
        <p:sp>
          <p:nvSpPr>
            <p:cNvPr id="60" name="Text 61"/>
            <p:cNvSpPr txBox="1"/>
            <p:nvPr/>
          </p:nvSpPr>
          <p:spPr>
            <a:xfrm>
              <a:off x="4495800" y="3956050"/>
              <a:ext cx="489674" cy="160655"/>
            </a:xfrm>
            <a:prstGeom prst="rect">
              <a:avLst/>
            </a:prstGeom>
            <a:noFill/>
          </p:spPr>
          <p:txBody>
            <a:bodyPr wrap="none" lIns="0" tIns="0" rIns="0" bIns="0" rtlCol="0" anchor="t">
              <a:noAutofit/>
            </a:bodyPr>
            <a:lstStyle/>
            <a:p>
              <a:pPr algn="l">
                <a:spcBef>
                  <a:spcPts val="0"/>
                </a:spcBef>
                <a:spcAft>
                  <a:spcPts val="0"/>
                </a:spcAft>
              </a:pPr>
              <a:r>
                <a:rPr lang="en-US" sz="900" b="0" spc="75" dirty="0">
                  <a:solidFill>
                    <a:srgbClr val="EDE9E2"/>
                  </a:solidFill>
                  <a:latin typeface="Consolas"/>
                  <a:ea typeface="Consolas"/>
                  <a:cs typeface="Consolas"/>
                </a:rPr>
                <a:t>EDITOR</a:t>
              </a:r>
              <a:endParaRPr lang="en-US" sz="900" dirty="0"/>
            </a:p>
          </p:txBody>
        </p:sp>
        <p:sp>
          <p:nvSpPr>
            <p:cNvPr id="61" name="Text 62"/>
            <p:cNvSpPr txBox="1"/>
            <p:nvPr/>
          </p:nvSpPr>
          <p:spPr>
            <a:xfrm>
              <a:off x="5753100" y="3575050"/>
              <a:ext cx="157920" cy="157321"/>
            </a:xfrm>
            <a:prstGeom prst="rect">
              <a:avLst/>
            </a:prstGeom>
            <a:noFill/>
          </p:spPr>
          <p:txBody>
            <a:bodyPr wrap="none" lIns="0" tIns="0" rIns="0" bIns="0" rtlCol="0" anchor="t">
              <a:noAutofit/>
            </a:bodyPr>
            <a:lstStyle/>
            <a:p>
              <a:pPr algn="l">
                <a:spcBef>
                  <a:spcPts val="0"/>
                </a:spcBef>
                <a:spcAft>
                  <a:spcPts val="0"/>
                </a:spcAft>
              </a:pPr>
              <a:r>
                <a:rPr lang="en-US" sz="825" b="0" dirty="0">
                  <a:solidFill>
                    <a:srgbClr val="9C9A94"/>
                  </a:solidFill>
                  <a:latin typeface="Consolas"/>
                  <a:ea typeface="Consolas"/>
                  <a:cs typeface="Consolas"/>
                </a:rPr>
                <a:t>03</a:t>
              </a:r>
              <a:endParaRPr lang="en-US" sz="825" dirty="0"/>
            </a:p>
          </p:txBody>
        </p:sp>
        <p:sp>
          <p:nvSpPr>
            <p:cNvPr id="62" name="Text 63"/>
            <p:cNvSpPr txBox="1"/>
            <p:nvPr/>
          </p:nvSpPr>
          <p:spPr>
            <a:xfrm>
              <a:off x="5753100" y="3956050"/>
              <a:ext cx="564937" cy="160655"/>
            </a:xfrm>
            <a:prstGeom prst="rect">
              <a:avLst/>
            </a:prstGeom>
            <a:noFill/>
          </p:spPr>
          <p:txBody>
            <a:bodyPr wrap="none" lIns="0" tIns="0" rIns="0" bIns="0" rtlCol="0" anchor="t">
              <a:noAutofit/>
            </a:bodyPr>
            <a:lstStyle/>
            <a:p>
              <a:pPr algn="l">
                <a:spcBef>
                  <a:spcPts val="0"/>
                </a:spcBef>
                <a:spcAft>
                  <a:spcPts val="0"/>
                </a:spcAft>
              </a:pPr>
              <a:r>
                <a:rPr lang="en-US" sz="900" b="0" spc="75" dirty="0">
                  <a:solidFill>
                    <a:srgbClr val="EDE9E2"/>
                  </a:solidFill>
                  <a:latin typeface="Consolas"/>
                  <a:ea typeface="Consolas"/>
                  <a:cs typeface="Consolas"/>
                </a:rPr>
                <a:t>PREVIEW</a:t>
              </a:r>
              <a:endParaRPr lang="en-US" sz="900" dirty="0"/>
            </a:p>
          </p:txBody>
        </p:sp>
        <p:sp>
          <p:nvSpPr>
            <p:cNvPr id="63" name="line 64"/>
            <p:cNvSpPr/>
            <p:nvPr/>
          </p:nvSpPr>
          <p:spPr>
            <a:xfrm>
              <a:off x="3124200" y="4552950"/>
              <a:ext cx="4114800" cy="95"/>
            </a:xfrm>
            <a:custGeom>
              <a:avLst/>
              <a:gdLst/>
              <a:ahLst/>
              <a:cxnLst/>
              <a:rect l="0" t="0" r="r" b="b"/>
              <a:pathLst>
                <a:path w="4114800" h="95" fill="none">
                  <a:moveTo>
                    <a:pt x="0" y="0"/>
                  </a:moveTo>
                  <a:lnTo>
                    <a:pt x="4114800" y="0"/>
                  </a:lnTo>
                </a:path>
              </a:pathLst>
            </a:custGeom>
            <a:noFill/>
            <a:ln w="9525" cap="flat">
              <a:solidFill>
                <a:srgbClr val="2A2E35"/>
              </a:solidFill>
              <a:miter lim="800000"/>
            </a:ln>
          </p:spPr>
          <p:txBody>
            <a:bodyPr/>
            <a:lstStyle/>
            <a:p>
              <a:endParaRPr lang="en-US"/>
            </a:p>
          </p:txBody>
        </p:sp>
        <p:sp>
          <p:nvSpPr>
            <p:cNvPr id="64" name="line 65"/>
            <p:cNvSpPr/>
            <p:nvPr/>
          </p:nvSpPr>
          <p:spPr>
            <a:xfrm>
              <a:off x="3124200" y="4552950"/>
              <a:ext cx="381000" cy="95"/>
            </a:xfrm>
            <a:custGeom>
              <a:avLst/>
              <a:gdLst/>
              <a:ahLst/>
              <a:cxnLst/>
              <a:rect l="0" t="0" r="r" b="b"/>
              <a:pathLst>
                <a:path w="381000" h="95" fill="none">
                  <a:moveTo>
                    <a:pt x="0" y="0"/>
                  </a:moveTo>
                  <a:lnTo>
                    <a:pt x="381000" y="0"/>
                  </a:lnTo>
                </a:path>
              </a:pathLst>
            </a:custGeom>
            <a:noFill/>
            <a:ln w="19050" cap="flat">
              <a:solidFill>
                <a:srgbClr val="FF5B1F"/>
              </a:solidFill>
              <a:miter lim="800000"/>
            </a:ln>
          </p:spPr>
          <p:txBody>
            <a:bodyPr/>
            <a:lstStyle/>
            <a:p>
              <a:endParaRPr lang="en-US"/>
            </a:p>
          </p:txBody>
        </p:sp>
        <p:sp>
          <p:nvSpPr>
            <p:cNvPr id="65" name="Text 66"/>
            <p:cNvSpPr txBox="1"/>
            <p:nvPr/>
          </p:nvSpPr>
          <p:spPr>
            <a:xfrm>
              <a:off x="3124200" y="4616450"/>
              <a:ext cx="419346" cy="141288"/>
            </a:xfrm>
            <a:prstGeom prst="rect">
              <a:avLst/>
            </a:prstGeom>
            <a:noFill/>
          </p:spPr>
          <p:txBody>
            <a:bodyPr wrap="none" lIns="0" tIns="0" rIns="0" bIns="0" rtlCol="0" anchor="t">
              <a:noAutofit/>
            </a:bodyPr>
            <a:lstStyle/>
            <a:p>
              <a:pPr algn="l">
                <a:spcBef>
                  <a:spcPts val="0"/>
                </a:spcBef>
                <a:spcAft>
                  <a:spcPts val="0"/>
                </a:spcAft>
              </a:pPr>
              <a:r>
                <a:rPr lang="en-US" sz="750" b="0" dirty="0">
                  <a:solidFill>
                    <a:srgbClr val="9C9A94"/>
                  </a:solidFill>
                  <a:latin typeface="Consolas"/>
                  <a:ea typeface="Consolas"/>
                  <a:cs typeface="Consolas"/>
                </a:rPr>
                <a:t>02 / 22</a:t>
              </a:r>
              <a:endParaRPr lang="en-US" sz="750" dirty="0"/>
            </a:p>
          </p:txBody>
        </p:sp>
      </p:grpSp>
      <p:grpSp>
        <p:nvGrpSpPr>
          <p:cNvPr id="76" name="selection-layer"/>
          <p:cNvGrpSpPr/>
          <p:nvPr/>
        </p:nvGrpSpPr>
        <p:grpSpPr>
          <a:xfrm>
            <a:off x="4348163" y="3228975"/>
            <a:ext cx="1376363" cy="1209675"/>
            <a:chOff x="4348163" y="3228975"/>
            <a:chExt cx="1376363" cy="1209675"/>
          </a:xfrm>
        </p:grpSpPr>
        <p:sp>
          <p:nvSpPr>
            <p:cNvPr id="67" name="rect 68"/>
            <p:cNvSpPr/>
            <p:nvPr/>
          </p:nvSpPr>
          <p:spPr>
            <a:xfrm>
              <a:off x="4381500" y="3486150"/>
              <a:ext cx="1143000" cy="685800"/>
            </a:xfrm>
            <a:prstGeom prst="rect">
              <a:avLst/>
            </a:prstGeom>
            <a:noFill/>
            <a:ln w="14288" cap="flat">
              <a:solidFill>
                <a:srgbClr val="3D8BFF"/>
              </a:solidFill>
              <a:miter lim="800000"/>
            </a:ln>
          </p:spPr>
          <p:txBody>
            <a:bodyPr/>
            <a:lstStyle/>
            <a:p>
              <a:endParaRPr lang="en-US"/>
            </a:p>
          </p:txBody>
        </p:sp>
        <p:sp>
          <p:nvSpPr>
            <p:cNvPr id="68" name="rect 69"/>
            <p:cNvSpPr/>
            <p:nvPr/>
          </p:nvSpPr>
          <p:spPr>
            <a:xfrm>
              <a:off x="4348163" y="3452813"/>
              <a:ext cx="66675" cy="66675"/>
            </a:xfrm>
            <a:prstGeom prst="rect">
              <a:avLst/>
            </a:prstGeom>
            <a:solidFill>
              <a:srgbClr val="EDE9E2"/>
            </a:solidFill>
            <a:ln w="9525" cap="flat">
              <a:solidFill>
                <a:srgbClr val="3D8BFF"/>
              </a:solidFill>
              <a:miter lim="800000"/>
            </a:ln>
          </p:spPr>
          <p:txBody>
            <a:bodyPr/>
            <a:lstStyle/>
            <a:p>
              <a:endParaRPr lang="en-US"/>
            </a:p>
          </p:txBody>
        </p:sp>
        <p:sp>
          <p:nvSpPr>
            <p:cNvPr id="69" name="rect 70"/>
            <p:cNvSpPr/>
            <p:nvPr/>
          </p:nvSpPr>
          <p:spPr>
            <a:xfrm>
              <a:off x="5491163" y="3452813"/>
              <a:ext cx="66675" cy="66675"/>
            </a:xfrm>
            <a:prstGeom prst="rect">
              <a:avLst/>
            </a:prstGeom>
            <a:solidFill>
              <a:srgbClr val="EDE9E2"/>
            </a:solidFill>
            <a:ln w="9525" cap="flat">
              <a:solidFill>
                <a:srgbClr val="3D8BFF"/>
              </a:solidFill>
              <a:miter lim="800000"/>
            </a:ln>
          </p:spPr>
          <p:txBody>
            <a:bodyPr/>
            <a:lstStyle/>
            <a:p>
              <a:endParaRPr lang="en-US"/>
            </a:p>
          </p:txBody>
        </p:sp>
        <p:sp>
          <p:nvSpPr>
            <p:cNvPr id="70" name="rect 71"/>
            <p:cNvSpPr/>
            <p:nvPr/>
          </p:nvSpPr>
          <p:spPr>
            <a:xfrm>
              <a:off x="4348163" y="4138613"/>
              <a:ext cx="66675" cy="66675"/>
            </a:xfrm>
            <a:prstGeom prst="rect">
              <a:avLst/>
            </a:prstGeom>
            <a:solidFill>
              <a:srgbClr val="EDE9E2"/>
            </a:solidFill>
            <a:ln w="9525" cap="flat">
              <a:solidFill>
                <a:srgbClr val="3D8BFF"/>
              </a:solidFill>
              <a:miter lim="800000"/>
            </a:ln>
          </p:spPr>
          <p:txBody>
            <a:bodyPr/>
            <a:lstStyle/>
            <a:p>
              <a:endParaRPr lang="en-US"/>
            </a:p>
          </p:txBody>
        </p:sp>
        <p:sp>
          <p:nvSpPr>
            <p:cNvPr id="71" name="rect 72"/>
            <p:cNvSpPr/>
            <p:nvPr/>
          </p:nvSpPr>
          <p:spPr>
            <a:xfrm>
              <a:off x="5491163" y="4138613"/>
              <a:ext cx="66675" cy="66675"/>
            </a:xfrm>
            <a:prstGeom prst="rect">
              <a:avLst/>
            </a:prstGeom>
            <a:solidFill>
              <a:srgbClr val="EDE9E2"/>
            </a:solidFill>
            <a:ln w="9525" cap="flat">
              <a:solidFill>
                <a:srgbClr val="3D8BFF"/>
              </a:solidFill>
              <a:miter lim="800000"/>
            </a:ln>
          </p:spPr>
          <p:txBody>
            <a:bodyPr/>
            <a:lstStyle/>
            <a:p>
              <a:endParaRPr lang="en-US"/>
            </a:p>
          </p:txBody>
        </p:sp>
        <p:sp>
          <p:nvSpPr>
            <p:cNvPr id="72" name="Text 73"/>
            <p:cNvSpPr txBox="1"/>
            <p:nvPr/>
          </p:nvSpPr>
          <p:spPr>
            <a:xfrm>
              <a:off x="4381500" y="4241800"/>
              <a:ext cx="936750" cy="157321"/>
            </a:xfrm>
            <a:prstGeom prst="rect">
              <a:avLst/>
            </a:prstGeom>
            <a:noFill/>
          </p:spPr>
          <p:txBody>
            <a:bodyPr wrap="none" lIns="0" tIns="0" rIns="0" bIns="0" rtlCol="0" anchor="t">
              <a:noAutofit/>
            </a:bodyPr>
            <a:lstStyle/>
            <a:p>
              <a:pPr algn="l">
                <a:spcBef>
                  <a:spcPts val="0"/>
                </a:spcBef>
                <a:spcAft>
                  <a:spcPts val="0"/>
                </a:spcAft>
              </a:pPr>
              <a:r>
                <a:rPr lang="en-US" sz="825" b="0" dirty="0">
                  <a:solidFill>
                    <a:srgbClr val="3D8BFF"/>
                  </a:solidFill>
                  <a:latin typeface="Consolas"/>
                  <a:ea typeface="Consolas"/>
                  <a:cs typeface="Consolas"/>
                </a:rPr>
                <a:t>rect · 120 × 72</a:t>
              </a:r>
              <a:endParaRPr lang="en-US" sz="825" dirty="0"/>
            </a:p>
          </p:txBody>
        </p:sp>
        <p:sp>
          <p:nvSpPr>
            <p:cNvPr id="73" name="path 74"/>
            <p:cNvSpPr/>
            <p:nvPr/>
          </p:nvSpPr>
          <p:spPr>
            <a:xfrm>
              <a:off x="5581650" y="4229100"/>
              <a:ext cx="142875" cy="209550"/>
            </a:xfrm>
            <a:custGeom>
              <a:avLst/>
              <a:gdLst/>
              <a:ahLst/>
              <a:cxnLst/>
              <a:rect l="0" t="0" r="r" b="b"/>
              <a:pathLst>
                <a:path w="142875" h="209550">
                  <a:moveTo>
                    <a:pt x="0" y="0"/>
                  </a:moveTo>
                  <a:lnTo>
                    <a:pt x="0" y="171450"/>
                  </a:lnTo>
                  <a:lnTo>
                    <a:pt x="47625" y="123825"/>
                  </a:lnTo>
                  <a:lnTo>
                    <a:pt x="85725" y="209550"/>
                  </a:lnTo>
                  <a:lnTo>
                    <a:pt x="119063" y="195263"/>
                  </a:lnTo>
                  <a:lnTo>
                    <a:pt x="80963" y="109538"/>
                  </a:lnTo>
                  <a:lnTo>
                    <a:pt x="142875" y="109538"/>
                  </a:lnTo>
                  <a:close/>
                </a:path>
              </a:pathLst>
            </a:custGeom>
            <a:solidFill>
              <a:srgbClr val="EDE9E2"/>
            </a:solidFill>
            <a:ln w="9525" cap="flat">
              <a:solidFill>
                <a:srgbClr val="0A0B0D"/>
              </a:solidFill>
              <a:miter lim="800000"/>
            </a:ln>
          </p:spPr>
          <p:txBody>
            <a:bodyPr/>
            <a:lstStyle/>
            <a:p>
              <a:endParaRPr lang="en-US"/>
            </a:p>
          </p:txBody>
        </p:sp>
        <p:sp>
          <p:nvSpPr>
            <p:cNvPr id="74" name="circle 75"/>
            <p:cNvSpPr/>
            <p:nvPr/>
          </p:nvSpPr>
          <p:spPr>
            <a:xfrm>
              <a:off x="4848225" y="3228975"/>
              <a:ext cx="209550" cy="209550"/>
            </a:xfrm>
            <a:prstGeom prst="ellipse">
              <a:avLst/>
            </a:prstGeom>
            <a:solidFill>
              <a:srgbClr val="FF5B1F"/>
            </a:solidFill>
            <a:ln>
              <a:noFill/>
            </a:ln>
          </p:spPr>
          <p:txBody>
            <a:bodyPr/>
            <a:lstStyle/>
            <a:p>
              <a:endParaRPr lang="en-US"/>
            </a:p>
          </p:txBody>
        </p:sp>
        <p:sp>
          <p:nvSpPr>
            <p:cNvPr id="75" name="Text 76"/>
            <p:cNvSpPr txBox="1"/>
            <p:nvPr/>
          </p:nvSpPr>
          <p:spPr>
            <a:xfrm>
              <a:off x="4898549" y="3262313"/>
              <a:ext cx="108903" cy="176689"/>
            </a:xfrm>
            <a:prstGeom prst="rect">
              <a:avLst/>
            </a:prstGeom>
            <a:noFill/>
          </p:spPr>
          <p:txBody>
            <a:bodyPr wrap="none" lIns="0" tIns="0" rIns="0" bIns="0" rtlCol="0" anchor="t">
              <a:noAutofit/>
            </a:bodyPr>
            <a:lstStyle/>
            <a:p>
              <a:pPr algn="ctr">
                <a:spcBef>
                  <a:spcPts val="0"/>
                </a:spcBef>
                <a:spcAft>
                  <a:spcPts val="0"/>
                </a:spcAft>
              </a:pPr>
              <a:r>
                <a:rPr lang="en-US" sz="975" b="1" dirty="0">
                  <a:solidFill>
                    <a:srgbClr val="0A0B0D"/>
                  </a:solidFill>
                  <a:latin typeface="Consolas"/>
                  <a:ea typeface="Consolas"/>
                  <a:cs typeface="Consolas"/>
                </a:rPr>
                <a:t>2</a:t>
              </a:r>
              <a:endParaRPr lang="en-US" sz="975" dirty="0"/>
            </a:p>
          </p:txBody>
        </p:sp>
      </p:grpSp>
      <p:grpSp>
        <p:nvGrpSpPr>
          <p:cNvPr id="110" name="anim-pane"/>
          <p:cNvGrpSpPr/>
          <p:nvPr/>
        </p:nvGrpSpPr>
        <p:grpSpPr>
          <a:xfrm>
            <a:off x="8382000" y="2181225"/>
            <a:ext cx="3009900" cy="2676525"/>
            <a:chOff x="8382000" y="2181225"/>
            <a:chExt cx="3009900" cy="2676525"/>
          </a:xfrm>
        </p:grpSpPr>
        <p:sp>
          <p:nvSpPr>
            <p:cNvPr id="77" name="Text 78"/>
            <p:cNvSpPr txBox="1"/>
            <p:nvPr/>
          </p:nvSpPr>
          <p:spPr>
            <a:xfrm>
              <a:off x="8458200" y="2241550"/>
              <a:ext cx="804615" cy="160655"/>
            </a:xfrm>
            <a:prstGeom prst="rect">
              <a:avLst/>
            </a:prstGeom>
            <a:noFill/>
          </p:spPr>
          <p:txBody>
            <a:bodyPr wrap="none" lIns="0" tIns="0" rIns="0" bIns="0" rtlCol="0" anchor="t">
              <a:noAutofit/>
            </a:bodyPr>
            <a:lstStyle/>
            <a:p>
              <a:pPr algn="l">
                <a:spcBef>
                  <a:spcPts val="0"/>
                </a:spcBef>
                <a:spcAft>
                  <a:spcPts val="0"/>
                </a:spcAft>
              </a:pPr>
              <a:r>
                <a:rPr lang="en-US" sz="900" b="0" spc="150" dirty="0">
                  <a:solidFill>
                    <a:srgbClr val="9C9A94"/>
                  </a:solidFill>
                  <a:latin typeface="Consolas"/>
                  <a:ea typeface="Consolas"/>
                  <a:cs typeface="Consolas"/>
                </a:rPr>
                <a:t>ANIMATION</a:t>
              </a:r>
              <a:endParaRPr lang="en-US" sz="900" dirty="0"/>
            </a:p>
          </p:txBody>
        </p:sp>
        <p:sp>
          <p:nvSpPr>
            <p:cNvPr id="78" name="circle 79"/>
            <p:cNvSpPr/>
            <p:nvPr/>
          </p:nvSpPr>
          <p:spPr>
            <a:xfrm>
              <a:off x="11134725" y="2181225"/>
              <a:ext cx="209550" cy="209550"/>
            </a:xfrm>
            <a:prstGeom prst="ellipse">
              <a:avLst/>
            </a:prstGeom>
            <a:solidFill>
              <a:srgbClr val="FF5B1F"/>
            </a:solidFill>
            <a:ln>
              <a:noFill/>
            </a:ln>
          </p:spPr>
          <p:txBody>
            <a:bodyPr/>
            <a:lstStyle/>
            <a:p>
              <a:endParaRPr lang="en-US"/>
            </a:p>
          </p:txBody>
        </p:sp>
        <p:sp>
          <p:nvSpPr>
            <p:cNvPr id="79" name="Text 80"/>
            <p:cNvSpPr txBox="1"/>
            <p:nvPr/>
          </p:nvSpPr>
          <p:spPr>
            <a:xfrm>
              <a:off x="11185049" y="2214563"/>
              <a:ext cx="108903" cy="176689"/>
            </a:xfrm>
            <a:prstGeom prst="rect">
              <a:avLst/>
            </a:prstGeom>
            <a:noFill/>
          </p:spPr>
          <p:txBody>
            <a:bodyPr wrap="none" lIns="0" tIns="0" rIns="0" bIns="0" rtlCol="0" anchor="t">
              <a:noAutofit/>
            </a:bodyPr>
            <a:lstStyle/>
            <a:p>
              <a:pPr algn="ctr">
                <a:spcBef>
                  <a:spcPts val="0"/>
                </a:spcBef>
                <a:spcAft>
                  <a:spcPts val="0"/>
                </a:spcAft>
              </a:pPr>
              <a:r>
                <a:rPr lang="en-US" sz="975" b="1" dirty="0">
                  <a:solidFill>
                    <a:srgbClr val="0A0B0D"/>
                  </a:solidFill>
                  <a:latin typeface="Consolas"/>
                  <a:ea typeface="Consolas"/>
                  <a:cs typeface="Consolas"/>
                </a:rPr>
                <a:t>3</a:t>
              </a:r>
              <a:endParaRPr lang="en-US" sz="975" dirty="0"/>
            </a:p>
          </p:txBody>
        </p:sp>
        <p:sp>
          <p:nvSpPr>
            <p:cNvPr id="80" name="line 81"/>
            <p:cNvSpPr/>
            <p:nvPr/>
          </p:nvSpPr>
          <p:spPr>
            <a:xfrm>
              <a:off x="8458200" y="2457450"/>
              <a:ext cx="2857500" cy="95"/>
            </a:xfrm>
            <a:custGeom>
              <a:avLst/>
              <a:gdLst/>
              <a:ahLst/>
              <a:cxnLst/>
              <a:rect l="0" t="0" r="r" b="b"/>
              <a:pathLst>
                <a:path w="2857500" h="95" fill="none">
                  <a:moveTo>
                    <a:pt x="0" y="0"/>
                  </a:moveTo>
                  <a:lnTo>
                    <a:pt x="2857500" y="0"/>
                  </a:lnTo>
                </a:path>
              </a:pathLst>
            </a:custGeom>
            <a:noFill/>
            <a:ln w="9525" cap="flat">
              <a:solidFill>
                <a:srgbClr val="2A2E35"/>
              </a:solidFill>
              <a:miter lim="800000"/>
            </a:ln>
          </p:spPr>
          <p:txBody>
            <a:bodyPr/>
            <a:lstStyle/>
            <a:p>
              <a:endParaRPr lang="en-US"/>
            </a:p>
          </p:txBody>
        </p:sp>
        <p:sp>
          <p:nvSpPr>
            <p:cNvPr id="81" name="Text 82"/>
            <p:cNvSpPr txBox="1"/>
            <p:nvPr/>
          </p:nvSpPr>
          <p:spPr>
            <a:xfrm>
              <a:off x="8458200" y="2628900"/>
              <a:ext cx="179705" cy="176689"/>
            </a:xfrm>
            <a:prstGeom prst="rect">
              <a:avLst/>
            </a:prstGeom>
            <a:noFill/>
          </p:spPr>
          <p:txBody>
            <a:bodyPr wrap="none" lIns="0" tIns="0" rIns="0" bIns="0" rtlCol="0" anchor="t">
              <a:noAutofit/>
            </a:bodyPr>
            <a:lstStyle/>
            <a:p>
              <a:pPr algn="l">
                <a:spcBef>
                  <a:spcPts val="0"/>
                </a:spcBef>
                <a:spcAft>
                  <a:spcPts val="0"/>
                </a:spcAft>
              </a:pPr>
              <a:r>
                <a:rPr lang="en-US" sz="975" b="0" dirty="0">
                  <a:solidFill>
                    <a:srgbClr val="FF5B1F"/>
                  </a:solidFill>
                  <a:latin typeface="Consolas"/>
                  <a:ea typeface="Consolas"/>
                  <a:cs typeface="Consolas"/>
                </a:rPr>
                <a:t>01</a:t>
              </a:r>
              <a:endParaRPr lang="en-US" sz="975" dirty="0"/>
            </a:p>
          </p:txBody>
        </p:sp>
        <p:sp>
          <p:nvSpPr>
            <p:cNvPr id="82" name="Text 83"/>
            <p:cNvSpPr txBox="1"/>
            <p:nvPr/>
          </p:nvSpPr>
          <p:spPr>
            <a:xfrm>
              <a:off x="8705850" y="2628900"/>
              <a:ext cx="392114" cy="176689"/>
            </a:xfrm>
            <a:prstGeom prst="rect">
              <a:avLst/>
            </a:prstGeom>
            <a:noFill/>
          </p:spPr>
          <p:txBody>
            <a:bodyPr wrap="none" lIns="0" tIns="0" rIns="0" bIns="0" rtlCol="0" anchor="t">
              <a:noAutofit/>
            </a:bodyPr>
            <a:lstStyle/>
            <a:p>
              <a:pPr algn="l">
                <a:spcBef>
                  <a:spcPts val="0"/>
                </a:spcBef>
                <a:spcAft>
                  <a:spcPts val="0"/>
                </a:spcAft>
              </a:pPr>
              <a:r>
                <a:rPr lang="en-US" sz="975" b="0" dirty="0">
                  <a:solidFill>
                    <a:srgbClr val="EDE9E2"/>
                  </a:solidFill>
                  <a:latin typeface="Consolas"/>
                  <a:ea typeface="Consolas"/>
                  <a:cs typeface="Consolas"/>
                </a:rPr>
                <a:t>title</a:t>
              </a:r>
              <a:endParaRPr lang="en-US" sz="975" dirty="0"/>
            </a:p>
          </p:txBody>
        </p:sp>
        <p:sp>
          <p:nvSpPr>
            <p:cNvPr id="83" name="Text 84"/>
            <p:cNvSpPr txBox="1"/>
            <p:nvPr/>
          </p:nvSpPr>
          <p:spPr>
            <a:xfrm>
              <a:off x="9715500" y="2628900"/>
              <a:ext cx="321311" cy="176689"/>
            </a:xfrm>
            <a:prstGeom prst="rect">
              <a:avLst/>
            </a:prstGeom>
            <a:noFill/>
          </p:spPr>
          <p:txBody>
            <a:bodyPr wrap="none" lIns="0" tIns="0" rIns="0" bIns="0" rtlCol="0" anchor="t">
              <a:noAutofit/>
            </a:bodyPr>
            <a:lstStyle/>
            <a:p>
              <a:pPr algn="l">
                <a:spcBef>
                  <a:spcPts val="0"/>
                </a:spcBef>
                <a:spcAft>
                  <a:spcPts val="0"/>
                </a:spcAft>
              </a:pPr>
              <a:r>
                <a:rPr lang="en-US" sz="975" b="0" dirty="0">
                  <a:solidFill>
                    <a:srgbClr val="EDE9E2"/>
                  </a:solidFill>
                  <a:latin typeface="Consolas"/>
                  <a:ea typeface="Consolas"/>
                  <a:cs typeface="Consolas"/>
                </a:rPr>
                <a:t>fade</a:t>
              </a:r>
              <a:endParaRPr lang="en-US" sz="975" dirty="0"/>
            </a:p>
          </p:txBody>
        </p:sp>
        <p:sp>
          <p:nvSpPr>
            <p:cNvPr id="84" name="Text 85"/>
            <p:cNvSpPr txBox="1"/>
            <p:nvPr/>
          </p:nvSpPr>
          <p:spPr>
            <a:xfrm>
              <a:off x="10923586" y="2628900"/>
              <a:ext cx="392114" cy="176689"/>
            </a:xfrm>
            <a:prstGeom prst="rect">
              <a:avLst/>
            </a:prstGeom>
            <a:noFill/>
          </p:spPr>
          <p:txBody>
            <a:bodyPr wrap="none" lIns="0" tIns="0" rIns="0" bIns="0" rtlCol="0" anchor="t">
              <a:noAutofit/>
            </a:bodyPr>
            <a:lstStyle/>
            <a:p>
              <a:pPr algn="r">
                <a:spcBef>
                  <a:spcPts val="0"/>
                </a:spcBef>
                <a:spcAft>
                  <a:spcPts val="0"/>
                </a:spcAft>
              </a:pPr>
              <a:r>
                <a:rPr lang="en-US" sz="975" b="0" dirty="0">
                  <a:solidFill>
                    <a:srgbClr val="9C9A94"/>
                  </a:solidFill>
                  <a:latin typeface="Consolas"/>
                  <a:ea typeface="Consolas"/>
                  <a:cs typeface="Consolas"/>
                </a:rPr>
                <a:t>after</a:t>
              </a:r>
              <a:endParaRPr lang="en-US" sz="975" dirty="0"/>
            </a:p>
          </p:txBody>
        </p:sp>
        <p:sp>
          <p:nvSpPr>
            <p:cNvPr id="85" name="rect 86"/>
            <p:cNvSpPr/>
            <p:nvPr/>
          </p:nvSpPr>
          <p:spPr>
            <a:xfrm>
              <a:off x="8705850" y="2838450"/>
              <a:ext cx="2609850" cy="38100"/>
            </a:xfrm>
            <a:prstGeom prst="roundRect">
              <a:avLst>
                <a:gd name="adj" fmla="val 50000"/>
              </a:avLst>
            </a:prstGeom>
            <a:solidFill>
              <a:srgbClr val="2A2E35"/>
            </a:solidFill>
            <a:ln>
              <a:noFill/>
            </a:ln>
          </p:spPr>
          <p:txBody>
            <a:bodyPr/>
            <a:lstStyle/>
            <a:p>
              <a:endParaRPr lang="en-US"/>
            </a:p>
          </p:txBody>
        </p:sp>
        <p:sp>
          <p:nvSpPr>
            <p:cNvPr id="86" name="rect 87"/>
            <p:cNvSpPr/>
            <p:nvPr/>
          </p:nvSpPr>
          <p:spPr>
            <a:xfrm>
              <a:off x="8705850" y="2838450"/>
              <a:ext cx="476250" cy="38100"/>
            </a:xfrm>
            <a:prstGeom prst="roundRect">
              <a:avLst>
                <a:gd name="adj" fmla="val 50000"/>
              </a:avLst>
            </a:prstGeom>
            <a:solidFill>
              <a:srgbClr val="FF5B1F"/>
            </a:solidFill>
            <a:ln>
              <a:noFill/>
            </a:ln>
          </p:spPr>
          <p:txBody>
            <a:bodyPr/>
            <a:lstStyle/>
            <a:p>
              <a:endParaRPr lang="en-US"/>
            </a:p>
          </p:txBody>
        </p:sp>
        <p:sp>
          <p:nvSpPr>
            <p:cNvPr id="87" name="rect 88"/>
            <p:cNvSpPr/>
            <p:nvPr/>
          </p:nvSpPr>
          <p:spPr>
            <a:xfrm>
              <a:off x="8382000" y="3048000"/>
              <a:ext cx="3009900" cy="438150"/>
            </a:xfrm>
            <a:prstGeom prst="roundRect">
              <a:avLst>
                <a:gd name="adj" fmla="val 4348"/>
              </a:avLst>
            </a:prstGeom>
            <a:solidFill>
              <a:srgbClr val="FF5B1F">
                <a:alpha val="10000"/>
              </a:srgbClr>
            </a:solidFill>
            <a:ln>
              <a:noFill/>
            </a:ln>
          </p:spPr>
          <p:txBody>
            <a:bodyPr/>
            <a:lstStyle/>
            <a:p>
              <a:endParaRPr lang="en-US"/>
            </a:p>
          </p:txBody>
        </p:sp>
        <p:sp>
          <p:nvSpPr>
            <p:cNvPr id="88" name="Text 89"/>
            <p:cNvSpPr txBox="1"/>
            <p:nvPr/>
          </p:nvSpPr>
          <p:spPr>
            <a:xfrm>
              <a:off x="8458200" y="3124200"/>
              <a:ext cx="179705" cy="176689"/>
            </a:xfrm>
            <a:prstGeom prst="rect">
              <a:avLst/>
            </a:prstGeom>
            <a:noFill/>
          </p:spPr>
          <p:txBody>
            <a:bodyPr wrap="none" lIns="0" tIns="0" rIns="0" bIns="0" rtlCol="0" anchor="t">
              <a:noAutofit/>
            </a:bodyPr>
            <a:lstStyle/>
            <a:p>
              <a:pPr algn="l">
                <a:spcBef>
                  <a:spcPts val="0"/>
                </a:spcBef>
                <a:spcAft>
                  <a:spcPts val="0"/>
                </a:spcAft>
              </a:pPr>
              <a:r>
                <a:rPr lang="en-US" sz="975" b="0" dirty="0">
                  <a:solidFill>
                    <a:srgbClr val="FF5B1F"/>
                  </a:solidFill>
                  <a:latin typeface="Consolas"/>
                  <a:ea typeface="Consolas"/>
                  <a:cs typeface="Consolas"/>
                </a:rPr>
                <a:t>02</a:t>
              </a:r>
              <a:endParaRPr lang="en-US" sz="975" dirty="0"/>
            </a:p>
          </p:txBody>
        </p:sp>
        <p:sp>
          <p:nvSpPr>
            <p:cNvPr id="89" name="Text 90"/>
            <p:cNvSpPr txBox="1"/>
            <p:nvPr/>
          </p:nvSpPr>
          <p:spPr>
            <a:xfrm>
              <a:off x="8705850" y="3124200"/>
              <a:ext cx="392114" cy="176689"/>
            </a:xfrm>
            <a:prstGeom prst="rect">
              <a:avLst/>
            </a:prstGeom>
            <a:noFill/>
          </p:spPr>
          <p:txBody>
            <a:bodyPr wrap="none" lIns="0" tIns="0" rIns="0" bIns="0" rtlCol="0" anchor="t">
              <a:noAutofit/>
            </a:bodyPr>
            <a:lstStyle/>
            <a:p>
              <a:pPr algn="l">
                <a:spcBef>
                  <a:spcPts val="0"/>
                </a:spcBef>
                <a:spcAft>
                  <a:spcPts val="0"/>
                </a:spcAft>
              </a:pPr>
              <a:r>
                <a:rPr lang="en-US" sz="975" b="0" dirty="0">
                  <a:solidFill>
                    <a:srgbClr val="EDE9E2"/>
                  </a:solidFill>
                  <a:latin typeface="Consolas"/>
                  <a:ea typeface="Consolas"/>
                  <a:cs typeface="Consolas"/>
                </a:rPr>
                <a:t>cards</a:t>
              </a:r>
              <a:endParaRPr lang="en-US" sz="975" dirty="0"/>
            </a:p>
          </p:txBody>
        </p:sp>
        <p:sp>
          <p:nvSpPr>
            <p:cNvPr id="90" name="Text 91"/>
            <p:cNvSpPr txBox="1"/>
            <p:nvPr/>
          </p:nvSpPr>
          <p:spPr>
            <a:xfrm>
              <a:off x="9715500" y="3124200"/>
              <a:ext cx="604522" cy="176689"/>
            </a:xfrm>
            <a:prstGeom prst="rect">
              <a:avLst/>
            </a:prstGeom>
            <a:noFill/>
          </p:spPr>
          <p:txBody>
            <a:bodyPr wrap="none" lIns="0" tIns="0" rIns="0" bIns="0" rtlCol="0" anchor="t">
              <a:noAutofit/>
            </a:bodyPr>
            <a:lstStyle/>
            <a:p>
              <a:pPr algn="l">
                <a:spcBef>
                  <a:spcPts val="0"/>
                </a:spcBef>
                <a:spcAft>
                  <a:spcPts val="0"/>
                </a:spcAft>
              </a:pPr>
              <a:r>
                <a:rPr lang="en-US" sz="975" b="0" dirty="0">
                  <a:solidFill>
                    <a:srgbClr val="EDE9E2"/>
                  </a:solidFill>
                  <a:latin typeface="Consolas"/>
                  <a:ea typeface="Consolas"/>
                  <a:cs typeface="Consolas"/>
                </a:rPr>
                <a:t>fly left</a:t>
              </a:r>
              <a:endParaRPr lang="en-US" sz="975" dirty="0"/>
            </a:p>
          </p:txBody>
        </p:sp>
        <p:sp>
          <p:nvSpPr>
            <p:cNvPr id="91" name="Text 92"/>
            <p:cNvSpPr txBox="1"/>
            <p:nvPr/>
          </p:nvSpPr>
          <p:spPr>
            <a:xfrm>
              <a:off x="10923586" y="3124200"/>
              <a:ext cx="392114" cy="176689"/>
            </a:xfrm>
            <a:prstGeom prst="rect">
              <a:avLst/>
            </a:prstGeom>
            <a:noFill/>
          </p:spPr>
          <p:txBody>
            <a:bodyPr wrap="none" lIns="0" tIns="0" rIns="0" bIns="0" rtlCol="0" anchor="t">
              <a:noAutofit/>
            </a:bodyPr>
            <a:lstStyle/>
            <a:p>
              <a:pPr algn="r">
                <a:spcBef>
                  <a:spcPts val="0"/>
                </a:spcBef>
                <a:spcAft>
                  <a:spcPts val="0"/>
                </a:spcAft>
              </a:pPr>
              <a:r>
                <a:rPr lang="en-US" sz="975" b="0" dirty="0">
                  <a:solidFill>
                    <a:srgbClr val="9C9A94"/>
                  </a:solidFill>
                  <a:latin typeface="Consolas"/>
                  <a:ea typeface="Consolas"/>
                  <a:cs typeface="Consolas"/>
                </a:rPr>
                <a:t>click</a:t>
              </a:r>
              <a:endParaRPr lang="en-US" sz="975" dirty="0"/>
            </a:p>
          </p:txBody>
        </p:sp>
        <p:sp>
          <p:nvSpPr>
            <p:cNvPr id="92" name="rect 93"/>
            <p:cNvSpPr/>
            <p:nvPr/>
          </p:nvSpPr>
          <p:spPr>
            <a:xfrm>
              <a:off x="8705850" y="3333750"/>
              <a:ext cx="2609850" cy="38100"/>
            </a:xfrm>
            <a:prstGeom prst="roundRect">
              <a:avLst>
                <a:gd name="adj" fmla="val 50000"/>
              </a:avLst>
            </a:prstGeom>
            <a:solidFill>
              <a:srgbClr val="2A2E35"/>
            </a:solidFill>
            <a:ln>
              <a:noFill/>
            </a:ln>
          </p:spPr>
          <p:txBody>
            <a:bodyPr/>
            <a:lstStyle/>
            <a:p>
              <a:endParaRPr lang="en-US"/>
            </a:p>
          </p:txBody>
        </p:sp>
        <p:sp>
          <p:nvSpPr>
            <p:cNvPr id="93" name="rect 94"/>
            <p:cNvSpPr/>
            <p:nvPr/>
          </p:nvSpPr>
          <p:spPr>
            <a:xfrm>
              <a:off x="9334500" y="3333750"/>
              <a:ext cx="666750" cy="38100"/>
            </a:xfrm>
            <a:prstGeom prst="roundRect">
              <a:avLst>
                <a:gd name="adj" fmla="val 50000"/>
              </a:avLst>
            </a:prstGeom>
            <a:solidFill>
              <a:srgbClr val="3D8BFF"/>
            </a:solidFill>
            <a:ln>
              <a:noFill/>
            </a:ln>
          </p:spPr>
          <p:txBody>
            <a:bodyPr/>
            <a:lstStyle/>
            <a:p>
              <a:endParaRPr lang="en-US"/>
            </a:p>
          </p:txBody>
        </p:sp>
        <p:sp>
          <p:nvSpPr>
            <p:cNvPr id="94" name="Text 95"/>
            <p:cNvSpPr txBox="1"/>
            <p:nvPr/>
          </p:nvSpPr>
          <p:spPr>
            <a:xfrm>
              <a:off x="8458200" y="3619500"/>
              <a:ext cx="179705" cy="176689"/>
            </a:xfrm>
            <a:prstGeom prst="rect">
              <a:avLst/>
            </a:prstGeom>
            <a:noFill/>
          </p:spPr>
          <p:txBody>
            <a:bodyPr wrap="none" lIns="0" tIns="0" rIns="0" bIns="0" rtlCol="0" anchor="t">
              <a:noAutofit/>
            </a:bodyPr>
            <a:lstStyle/>
            <a:p>
              <a:pPr algn="l">
                <a:spcBef>
                  <a:spcPts val="0"/>
                </a:spcBef>
                <a:spcAft>
                  <a:spcPts val="0"/>
                </a:spcAft>
              </a:pPr>
              <a:r>
                <a:rPr lang="en-US" sz="975" b="0" dirty="0">
                  <a:solidFill>
                    <a:srgbClr val="FF5B1F"/>
                  </a:solidFill>
                  <a:latin typeface="Consolas"/>
                  <a:ea typeface="Consolas"/>
                  <a:cs typeface="Consolas"/>
                </a:rPr>
                <a:t>03</a:t>
              </a:r>
              <a:endParaRPr lang="en-US" sz="975" dirty="0"/>
            </a:p>
          </p:txBody>
        </p:sp>
        <p:sp>
          <p:nvSpPr>
            <p:cNvPr id="95" name="Text 96"/>
            <p:cNvSpPr txBox="1"/>
            <p:nvPr/>
          </p:nvSpPr>
          <p:spPr>
            <a:xfrm>
              <a:off x="8705850" y="3619500"/>
              <a:ext cx="392114" cy="176689"/>
            </a:xfrm>
            <a:prstGeom prst="rect">
              <a:avLst/>
            </a:prstGeom>
            <a:noFill/>
          </p:spPr>
          <p:txBody>
            <a:bodyPr wrap="none" lIns="0" tIns="0" rIns="0" bIns="0" rtlCol="0" anchor="t">
              <a:noAutofit/>
            </a:bodyPr>
            <a:lstStyle/>
            <a:p>
              <a:pPr algn="l">
                <a:spcBef>
                  <a:spcPts val="0"/>
                </a:spcBef>
                <a:spcAft>
                  <a:spcPts val="0"/>
                </a:spcAft>
              </a:pPr>
              <a:r>
                <a:rPr lang="en-US" sz="975" b="0" dirty="0">
                  <a:solidFill>
                    <a:srgbClr val="EDE9E2"/>
                  </a:solidFill>
                  <a:latin typeface="Consolas"/>
                  <a:ea typeface="Consolas"/>
                  <a:cs typeface="Consolas"/>
                </a:rPr>
                <a:t>chart</a:t>
              </a:r>
              <a:endParaRPr lang="en-US" sz="975" dirty="0"/>
            </a:p>
          </p:txBody>
        </p:sp>
        <p:sp>
          <p:nvSpPr>
            <p:cNvPr id="96" name="Text 97"/>
            <p:cNvSpPr txBox="1"/>
            <p:nvPr/>
          </p:nvSpPr>
          <p:spPr>
            <a:xfrm>
              <a:off x="9715500" y="3619500"/>
              <a:ext cx="321311" cy="176689"/>
            </a:xfrm>
            <a:prstGeom prst="rect">
              <a:avLst/>
            </a:prstGeom>
            <a:noFill/>
          </p:spPr>
          <p:txBody>
            <a:bodyPr wrap="none" lIns="0" tIns="0" rIns="0" bIns="0" rtlCol="0" anchor="t">
              <a:noAutofit/>
            </a:bodyPr>
            <a:lstStyle/>
            <a:p>
              <a:pPr algn="l">
                <a:spcBef>
                  <a:spcPts val="0"/>
                </a:spcBef>
                <a:spcAft>
                  <a:spcPts val="0"/>
                </a:spcAft>
              </a:pPr>
              <a:r>
                <a:rPr lang="en-US" sz="975" b="0" dirty="0">
                  <a:solidFill>
                    <a:srgbClr val="EDE9E2"/>
                  </a:solidFill>
                  <a:latin typeface="Consolas"/>
                  <a:ea typeface="Consolas"/>
                  <a:cs typeface="Consolas"/>
                </a:rPr>
                <a:t>wipe</a:t>
              </a:r>
              <a:endParaRPr lang="en-US" sz="975" dirty="0"/>
            </a:p>
          </p:txBody>
        </p:sp>
        <p:sp>
          <p:nvSpPr>
            <p:cNvPr id="97" name="Text 98"/>
            <p:cNvSpPr txBox="1"/>
            <p:nvPr/>
          </p:nvSpPr>
          <p:spPr>
            <a:xfrm>
              <a:off x="10923586" y="3619500"/>
              <a:ext cx="392114" cy="176689"/>
            </a:xfrm>
            <a:prstGeom prst="rect">
              <a:avLst/>
            </a:prstGeom>
            <a:noFill/>
          </p:spPr>
          <p:txBody>
            <a:bodyPr wrap="none" lIns="0" tIns="0" rIns="0" bIns="0" rtlCol="0" anchor="t">
              <a:noAutofit/>
            </a:bodyPr>
            <a:lstStyle/>
            <a:p>
              <a:pPr algn="r">
                <a:spcBef>
                  <a:spcPts val="0"/>
                </a:spcBef>
                <a:spcAft>
                  <a:spcPts val="0"/>
                </a:spcAft>
              </a:pPr>
              <a:r>
                <a:rPr lang="en-US" sz="975" b="0" dirty="0">
                  <a:solidFill>
                    <a:srgbClr val="9C9A94"/>
                  </a:solidFill>
                  <a:latin typeface="Consolas"/>
                  <a:ea typeface="Consolas"/>
                  <a:cs typeface="Consolas"/>
                </a:rPr>
                <a:t>click</a:t>
              </a:r>
              <a:endParaRPr lang="en-US" sz="975" dirty="0"/>
            </a:p>
          </p:txBody>
        </p:sp>
        <p:sp>
          <p:nvSpPr>
            <p:cNvPr id="98" name="rect 99"/>
            <p:cNvSpPr/>
            <p:nvPr/>
          </p:nvSpPr>
          <p:spPr>
            <a:xfrm>
              <a:off x="8705850" y="3829050"/>
              <a:ext cx="2609850" cy="38100"/>
            </a:xfrm>
            <a:prstGeom prst="roundRect">
              <a:avLst>
                <a:gd name="adj" fmla="val 50000"/>
              </a:avLst>
            </a:prstGeom>
            <a:solidFill>
              <a:srgbClr val="2A2E35"/>
            </a:solidFill>
            <a:ln>
              <a:noFill/>
            </a:ln>
          </p:spPr>
          <p:txBody>
            <a:bodyPr/>
            <a:lstStyle/>
            <a:p>
              <a:endParaRPr lang="en-US"/>
            </a:p>
          </p:txBody>
        </p:sp>
        <p:sp>
          <p:nvSpPr>
            <p:cNvPr id="99" name="rect 100"/>
            <p:cNvSpPr/>
            <p:nvPr/>
          </p:nvSpPr>
          <p:spPr>
            <a:xfrm>
              <a:off x="10191750" y="3829050"/>
              <a:ext cx="571500" cy="38100"/>
            </a:xfrm>
            <a:prstGeom prst="roundRect">
              <a:avLst>
                <a:gd name="adj" fmla="val 50000"/>
              </a:avLst>
            </a:prstGeom>
            <a:solidFill>
              <a:srgbClr val="3D8BFF"/>
            </a:solidFill>
            <a:ln>
              <a:noFill/>
            </a:ln>
          </p:spPr>
          <p:txBody>
            <a:bodyPr/>
            <a:lstStyle/>
            <a:p>
              <a:endParaRPr lang="en-US"/>
            </a:p>
          </p:txBody>
        </p:sp>
        <p:sp>
          <p:nvSpPr>
            <p:cNvPr id="100" name="Text 101"/>
            <p:cNvSpPr txBox="1"/>
            <p:nvPr/>
          </p:nvSpPr>
          <p:spPr>
            <a:xfrm>
              <a:off x="8458200" y="4114800"/>
              <a:ext cx="179705" cy="176689"/>
            </a:xfrm>
            <a:prstGeom prst="rect">
              <a:avLst/>
            </a:prstGeom>
            <a:noFill/>
          </p:spPr>
          <p:txBody>
            <a:bodyPr wrap="none" lIns="0" tIns="0" rIns="0" bIns="0" rtlCol="0" anchor="t">
              <a:noAutofit/>
            </a:bodyPr>
            <a:lstStyle/>
            <a:p>
              <a:pPr algn="l">
                <a:spcBef>
                  <a:spcPts val="0"/>
                </a:spcBef>
                <a:spcAft>
                  <a:spcPts val="0"/>
                </a:spcAft>
              </a:pPr>
              <a:r>
                <a:rPr lang="en-US" sz="975" b="0" dirty="0">
                  <a:solidFill>
                    <a:srgbClr val="FF5B1F"/>
                  </a:solidFill>
                  <a:latin typeface="Consolas"/>
                  <a:ea typeface="Consolas"/>
                  <a:cs typeface="Consolas"/>
                </a:rPr>
                <a:t>04</a:t>
              </a:r>
              <a:endParaRPr lang="en-US" sz="975" dirty="0"/>
            </a:p>
          </p:txBody>
        </p:sp>
        <p:sp>
          <p:nvSpPr>
            <p:cNvPr id="101" name="Text 102"/>
            <p:cNvSpPr txBox="1"/>
            <p:nvPr/>
          </p:nvSpPr>
          <p:spPr>
            <a:xfrm>
              <a:off x="8705850" y="4114800"/>
              <a:ext cx="746127" cy="176689"/>
            </a:xfrm>
            <a:prstGeom prst="rect">
              <a:avLst/>
            </a:prstGeom>
            <a:noFill/>
          </p:spPr>
          <p:txBody>
            <a:bodyPr wrap="none" lIns="0" tIns="0" rIns="0" bIns="0" rtlCol="0" anchor="t">
              <a:noAutofit/>
            </a:bodyPr>
            <a:lstStyle/>
            <a:p>
              <a:pPr algn="l">
                <a:spcBef>
                  <a:spcPts val="0"/>
                </a:spcBef>
                <a:spcAft>
                  <a:spcPts val="0"/>
                </a:spcAft>
              </a:pPr>
              <a:r>
                <a:rPr lang="en-US" sz="975" b="0" dirty="0">
                  <a:solidFill>
                    <a:srgbClr val="EDE9E2"/>
                  </a:solidFill>
                  <a:latin typeface="Consolas"/>
                  <a:ea typeface="Consolas"/>
                  <a:cs typeface="Consolas"/>
                </a:rPr>
                <a:t>key number</a:t>
              </a:r>
              <a:endParaRPr lang="en-US" sz="975" dirty="0"/>
            </a:p>
          </p:txBody>
        </p:sp>
        <p:sp>
          <p:nvSpPr>
            <p:cNvPr id="102" name="Text 103"/>
            <p:cNvSpPr txBox="1"/>
            <p:nvPr/>
          </p:nvSpPr>
          <p:spPr>
            <a:xfrm>
              <a:off x="9715500" y="4114800"/>
              <a:ext cx="321311" cy="176689"/>
            </a:xfrm>
            <a:prstGeom prst="rect">
              <a:avLst/>
            </a:prstGeom>
            <a:noFill/>
          </p:spPr>
          <p:txBody>
            <a:bodyPr wrap="none" lIns="0" tIns="0" rIns="0" bIns="0" rtlCol="0" anchor="t">
              <a:noAutofit/>
            </a:bodyPr>
            <a:lstStyle/>
            <a:p>
              <a:pPr algn="l">
                <a:spcBef>
                  <a:spcPts val="0"/>
                </a:spcBef>
                <a:spcAft>
                  <a:spcPts val="0"/>
                </a:spcAft>
              </a:pPr>
              <a:r>
                <a:rPr lang="en-US" sz="975" b="0" dirty="0">
                  <a:solidFill>
                    <a:srgbClr val="EDE9E2"/>
                  </a:solidFill>
                  <a:latin typeface="Consolas"/>
                  <a:ea typeface="Consolas"/>
                  <a:cs typeface="Consolas"/>
                </a:rPr>
                <a:t>zoom</a:t>
              </a:r>
              <a:endParaRPr lang="en-US" sz="975" dirty="0"/>
            </a:p>
          </p:txBody>
        </p:sp>
        <p:sp>
          <p:nvSpPr>
            <p:cNvPr id="103" name="Text 104"/>
            <p:cNvSpPr txBox="1"/>
            <p:nvPr/>
          </p:nvSpPr>
          <p:spPr>
            <a:xfrm>
              <a:off x="10923586" y="4114800"/>
              <a:ext cx="392114" cy="176689"/>
            </a:xfrm>
            <a:prstGeom prst="rect">
              <a:avLst/>
            </a:prstGeom>
            <a:noFill/>
          </p:spPr>
          <p:txBody>
            <a:bodyPr wrap="none" lIns="0" tIns="0" rIns="0" bIns="0" rtlCol="0" anchor="t">
              <a:noAutofit/>
            </a:bodyPr>
            <a:lstStyle/>
            <a:p>
              <a:pPr algn="r">
                <a:spcBef>
                  <a:spcPts val="0"/>
                </a:spcBef>
                <a:spcAft>
                  <a:spcPts val="0"/>
                </a:spcAft>
              </a:pPr>
              <a:r>
                <a:rPr lang="en-US" sz="975" b="0" dirty="0">
                  <a:solidFill>
                    <a:srgbClr val="9C9A94"/>
                  </a:solidFill>
                  <a:latin typeface="Consolas"/>
                  <a:ea typeface="Consolas"/>
                  <a:cs typeface="Consolas"/>
                </a:rPr>
                <a:t>click</a:t>
              </a:r>
              <a:endParaRPr lang="en-US" sz="975" dirty="0"/>
            </a:p>
          </p:txBody>
        </p:sp>
        <p:sp>
          <p:nvSpPr>
            <p:cNvPr id="104" name="rect 105"/>
            <p:cNvSpPr/>
            <p:nvPr/>
          </p:nvSpPr>
          <p:spPr>
            <a:xfrm>
              <a:off x="8705850" y="4324350"/>
              <a:ext cx="2609850" cy="38100"/>
            </a:xfrm>
            <a:prstGeom prst="roundRect">
              <a:avLst>
                <a:gd name="adj" fmla="val 50000"/>
              </a:avLst>
            </a:prstGeom>
            <a:solidFill>
              <a:srgbClr val="2A2E35"/>
            </a:solidFill>
            <a:ln>
              <a:noFill/>
            </a:ln>
          </p:spPr>
          <p:txBody>
            <a:bodyPr/>
            <a:lstStyle/>
            <a:p>
              <a:endParaRPr lang="en-US"/>
            </a:p>
          </p:txBody>
        </p:sp>
        <p:sp>
          <p:nvSpPr>
            <p:cNvPr id="105" name="rect 106"/>
            <p:cNvSpPr/>
            <p:nvPr/>
          </p:nvSpPr>
          <p:spPr>
            <a:xfrm>
              <a:off x="10858500" y="4324350"/>
              <a:ext cx="457200" cy="38100"/>
            </a:xfrm>
            <a:prstGeom prst="roundRect">
              <a:avLst>
                <a:gd name="adj" fmla="val 50000"/>
              </a:avLst>
            </a:prstGeom>
            <a:solidFill>
              <a:srgbClr val="3D8BFF"/>
            </a:solidFill>
            <a:ln>
              <a:noFill/>
            </a:ln>
          </p:spPr>
          <p:txBody>
            <a:bodyPr/>
            <a:lstStyle/>
            <a:p>
              <a:endParaRPr lang="en-US"/>
            </a:p>
          </p:txBody>
        </p:sp>
        <p:sp>
          <p:nvSpPr>
            <p:cNvPr id="106" name="rect 107"/>
            <p:cNvSpPr/>
            <p:nvPr/>
          </p:nvSpPr>
          <p:spPr>
            <a:xfrm>
              <a:off x="8458200" y="4610100"/>
              <a:ext cx="876300" cy="247650"/>
            </a:xfrm>
            <a:prstGeom prst="roundRect">
              <a:avLst>
                <a:gd name="adj" fmla="val 7692"/>
              </a:avLst>
            </a:prstGeom>
            <a:noFill/>
            <a:ln w="9525" cap="flat">
              <a:solidFill>
                <a:srgbClr val="FF5B1F"/>
              </a:solidFill>
              <a:miter lim="800000"/>
            </a:ln>
          </p:spPr>
          <p:txBody>
            <a:bodyPr/>
            <a:lstStyle/>
            <a:p>
              <a:endParaRPr lang="en-US"/>
            </a:p>
          </p:txBody>
        </p:sp>
        <p:sp>
          <p:nvSpPr>
            <p:cNvPr id="107" name="polygon 108"/>
            <p:cNvSpPr/>
            <p:nvPr/>
          </p:nvSpPr>
          <p:spPr>
            <a:xfrm>
              <a:off x="8572500" y="4676775"/>
              <a:ext cx="85725" cy="114300"/>
            </a:xfrm>
            <a:custGeom>
              <a:avLst/>
              <a:gdLst/>
              <a:ahLst/>
              <a:cxnLst/>
              <a:rect l="0" t="0" r="r" b="b"/>
              <a:pathLst>
                <a:path w="85725" h="114300">
                  <a:moveTo>
                    <a:pt x="0" y="0"/>
                  </a:moveTo>
                  <a:lnTo>
                    <a:pt x="0" y="114300"/>
                  </a:lnTo>
                  <a:lnTo>
                    <a:pt x="85725" y="57150"/>
                  </a:lnTo>
                  <a:close/>
                </a:path>
              </a:pathLst>
            </a:custGeom>
            <a:solidFill>
              <a:srgbClr val="FF5B1F"/>
            </a:solidFill>
            <a:ln>
              <a:noFill/>
            </a:ln>
          </p:spPr>
          <p:txBody>
            <a:bodyPr/>
            <a:lstStyle/>
            <a:p>
              <a:endParaRPr lang="en-US"/>
            </a:p>
          </p:txBody>
        </p:sp>
        <p:sp>
          <p:nvSpPr>
            <p:cNvPr id="108" name="Text 109"/>
            <p:cNvSpPr txBox="1"/>
            <p:nvPr/>
          </p:nvSpPr>
          <p:spPr>
            <a:xfrm>
              <a:off x="8743950" y="4670425"/>
              <a:ext cx="358962" cy="160655"/>
            </a:xfrm>
            <a:prstGeom prst="rect">
              <a:avLst/>
            </a:prstGeom>
            <a:noFill/>
          </p:spPr>
          <p:txBody>
            <a:bodyPr wrap="none" lIns="0" tIns="0" rIns="0" bIns="0" rtlCol="0" anchor="t">
              <a:noAutofit/>
            </a:bodyPr>
            <a:lstStyle/>
            <a:p>
              <a:pPr algn="l">
                <a:spcBef>
                  <a:spcPts val="0"/>
                </a:spcBef>
                <a:spcAft>
                  <a:spcPts val="0"/>
                </a:spcAft>
              </a:pPr>
              <a:r>
                <a:rPr lang="en-US" sz="900" b="0" spc="113" dirty="0">
                  <a:solidFill>
                    <a:srgbClr val="FF5B1F"/>
                  </a:solidFill>
                  <a:latin typeface="Consolas"/>
                  <a:ea typeface="Consolas"/>
                  <a:cs typeface="Consolas"/>
                </a:rPr>
                <a:t>PLAY</a:t>
              </a:r>
              <a:endParaRPr lang="en-US" sz="900" dirty="0"/>
            </a:p>
          </p:txBody>
        </p:sp>
        <p:sp>
          <p:nvSpPr>
            <p:cNvPr id="109" name="Text 110"/>
            <p:cNvSpPr txBox="1"/>
            <p:nvPr/>
          </p:nvSpPr>
          <p:spPr>
            <a:xfrm>
              <a:off x="10689393" y="4670425"/>
              <a:ext cx="626307" cy="160655"/>
            </a:xfrm>
            <a:prstGeom prst="rect">
              <a:avLst/>
            </a:prstGeom>
            <a:noFill/>
          </p:spPr>
          <p:txBody>
            <a:bodyPr wrap="none" lIns="0" tIns="0" rIns="0" bIns="0" rtlCol="0" anchor="t">
              <a:noAutofit/>
            </a:bodyPr>
            <a:lstStyle/>
            <a:p>
              <a:pPr algn="r">
                <a:spcBef>
                  <a:spcPts val="0"/>
                </a:spcBef>
                <a:spcAft>
                  <a:spcPts val="0"/>
                </a:spcAft>
              </a:pPr>
              <a:r>
                <a:rPr lang="en-US" sz="900" b="0" dirty="0">
                  <a:solidFill>
                    <a:srgbClr val="9C9A94"/>
                  </a:solidFill>
                  <a:latin typeface="Consolas"/>
                  <a:ea typeface="Consolas"/>
                  <a:cs typeface="Consolas"/>
                </a:rPr>
                <a:t>4 entries</a:t>
              </a:r>
              <a:endParaRPr lang="en-US" sz="900" dirty="0"/>
            </a:p>
          </p:txBody>
        </p:sp>
      </p:grpSp>
      <p:grpSp>
        <p:nvGrpSpPr>
          <p:cNvPr id="115" name="callout-1"/>
          <p:cNvGrpSpPr/>
          <p:nvPr/>
        </p:nvGrpSpPr>
        <p:grpSpPr>
          <a:xfrm>
            <a:off x="609600" y="5181600"/>
            <a:ext cx="3238500" cy="815340"/>
            <a:chOff x="609600" y="5181600"/>
            <a:chExt cx="3238500" cy="815340"/>
          </a:xfrm>
        </p:grpSpPr>
        <p:sp>
          <p:nvSpPr>
            <p:cNvPr id="111" name="line 112"/>
            <p:cNvSpPr/>
            <p:nvPr/>
          </p:nvSpPr>
          <p:spPr>
            <a:xfrm>
              <a:off x="609600" y="5181600"/>
              <a:ext cx="3238500" cy="95"/>
            </a:xfrm>
            <a:custGeom>
              <a:avLst/>
              <a:gdLst/>
              <a:ahLst/>
              <a:cxnLst/>
              <a:rect l="0" t="0" r="r" b="b"/>
              <a:pathLst>
                <a:path w="3238500" h="95" fill="none">
                  <a:moveTo>
                    <a:pt x="0" y="0"/>
                  </a:moveTo>
                  <a:lnTo>
                    <a:pt x="3238500" y="0"/>
                  </a:lnTo>
                </a:path>
              </a:pathLst>
            </a:custGeom>
            <a:noFill/>
            <a:ln w="9525" cap="flat">
              <a:solidFill>
                <a:srgbClr val="2A2E35"/>
              </a:solidFill>
              <a:miter lim="800000"/>
            </a:ln>
          </p:spPr>
          <p:txBody>
            <a:bodyPr/>
            <a:lstStyle/>
            <a:p>
              <a:endParaRPr lang="en-US"/>
            </a:p>
          </p:txBody>
        </p:sp>
        <p:sp>
          <p:nvSpPr>
            <p:cNvPr id="112" name="Text 113"/>
            <p:cNvSpPr txBox="1"/>
            <p:nvPr/>
          </p:nvSpPr>
          <p:spPr>
            <a:xfrm>
              <a:off x="609600" y="5321300"/>
              <a:ext cx="190598" cy="192722"/>
            </a:xfrm>
            <a:prstGeom prst="rect">
              <a:avLst/>
            </a:prstGeom>
            <a:noFill/>
          </p:spPr>
          <p:txBody>
            <a:bodyPr wrap="none" lIns="0" tIns="0" rIns="0" bIns="0" rtlCol="0" anchor="t">
              <a:noAutofit/>
            </a:bodyPr>
            <a:lstStyle/>
            <a:p>
              <a:pPr algn="l">
                <a:spcBef>
                  <a:spcPts val="0"/>
                </a:spcBef>
                <a:spcAft>
                  <a:spcPts val="0"/>
                </a:spcAft>
              </a:pPr>
              <a:r>
                <a:rPr lang="en-US" sz="1050" b="1" dirty="0">
                  <a:solidFill>
                    <a:srgbClr val="FF5B1F"/>
                  </a:solidFill>
                  <a:latin typeface="Consolas"/>
                  <a:ea typeface="Consolas"/>
                  <a:cs typeface="Consolas"/>
                </a:rPr>
                <a:t>01</a:t>
              </a:r>
              <a:endParaRPr lang="en-US" sz="1050" dirty="0"/>
            </a:p>
          </p:txBody>
        </p:sp>
        <p:sp>
          <p:nvSpPr>
            <p:cNvPr id="113" name="Text 114"/>
            <p:cNvSpPr txBox="1"/>
            <p:nvPr/>
          </p:nvSpPr>
          <p:spPr>
            <a:xfrm>
              <a:off x="933450" y="5264150"/>
              <a:ext cx="1839976" cy="295593"/>
            </a:xfrm>
            <a:prstGeom prst="rect">
              <a:avLst/>
            </a:prstGeom>
            <a:noFill/>
          </p:spPr>
          <p:txBody>
            <a:bodyPr wrap="none" lIns="0" tIns="0" rIns="0" bIns="0" rtlCol="0" anchor="t">
              <a:noAutofit/>
            </a:bodyPr>
            <a:lstStyle/>
            <a:p>
              <a:pPr algn="l">
                <a:spcBef>
                  <a:spcPts val="0"/>
                </a:spcBef>
                <a:spcAft>
                  <a:spcPts val="0"/>
                </a:spcAft>
              </a:pPr>
              <a:r>
                <a:rPr lang="en-US" sz="1650" b="1" dirty="0">
                  <a:solidFill>
                    <a:srgbClr val="EDE9E2"/>
                  </a:solidFill>
                  <a:latin typeface="Bahnschrift"/>
                  <a:ea typeface="Bahnschrift"/>
                  <a:cs typeface="Bahnschrift"/>
                </a:rPr>
                <a:t>Drawn as one SVG</a:t>
              </a:r>
              <a:endParaRPr lang="en-US" sz="1650" dirty="0"/>
            </a:p>
          </p:txBody>
        </p:sp>
        <p:sp>
          <p:nvSpPr>
            <p:cNvPr id="114" name="Text 115"/>
            <p:cNvSpPr txBox="1"/>
            <p:nvPr/>
          </p:nvSpPr>
          <p:spPr>
            <a:xfrm>
              <a:off x="609600" y="5549900"/>
              <a:ext cx="2528143" cy="447040"/>
            </a:xfrm>
            <a:prstGeom prst="rect">
              <a:avLst/>
            </a:prstGeom>
            <a:noFill/>
          </p:spPr>
          <p:txBody>
            <a:bodyPr wrap="none" lIns="0" tIns="0" rIns="0" bIns="0" rtlCol="0" anchor="t">
              <a:noAutofit/>
            </a:bodyPr>
            <a:lstStyle/>
            <a:p>
              <a:pPr algn="l">
                <a:lnSpc>
                  <a:spcPts val="1700"/>
                </a:lnSpc>
                <a:spcBef>
                  <a:spcPts val="0"/>
                </a:spcBef>
                <a:spcAft>
                  <a:spcPts val="0"/>
                </a:spcAft>
              </a:pPr>
              <a:r>
                <a:rPr lang="en-US" sz="1200" b="0" dirty="0">
                  <a:solidFill>
                    <a:srgbClr val="9C9A94"/>
                  </a:solidFill>
                  <a:latin typeface="Segoe UI"/>
                  <a:ea typeface="Segoe UI"/>
                  <a:cs typeface="Segoe UI"/>
                </a:rPr>
                <a:t>Each page is hand-written: real text,</a:t>
              </a:r>
              <a:endParaRPr lang="en-US" sz="1200" dirty="0"/>
            </a:p>
            <a:p>
              <a:pPr algn="l">
                <a:lnSpc>
                  <a:spcPts val="1700"/>
                </a:lnSpc>
                <a:spcBef>
                  <a:spcPts val="0"/>
                </a:spcBef>
                <a:spcAft>
                  <a:spcPts val="0"/>
                </a:spcAft>
              </a:pPr>
              <a:r>
                <a:rPr lang="en-US" sz="1200" b="0" dirty="0">
                  <a:solidFill>
                    <a:srgbClr val="9C9A94"/>
                  </a:solidFill>
                  <a:latin typeface="Segoe UI"/>
                  <a:ea typeface="Segoe UI"/>
                  <a:cs typeface="Segoe UI"/>
                </a:rPr>
                <a:t>grouped units, one idea per slide.</a:t>
              </a:r>
              <a:endParaRPr lang="en-US" sz="1200" dirty="0"/>
            </a:p>
          </p:txBody>
        </p:sp>
      </p:grpSp>
      <p:grpSp>
        <p:nvGrpSpPr>
          <p:cNvPr id="120" name="callout-2"/>
          <p:cNvGrpSpPr/>
          <p:nvPr/>
        </p:nvGrpSpPr>
        <p:grpSpPr>
          <a:xfrm>
            <a:off x="4381500" y="5181600"/>
            <a:ext cx="3238500" cy="815340"/>
            <a:chOff x="4381500" y="5181600"/>
            <a:chExt cx="3238500" cy="815340"/>
          </a:xfrm>
        </p:grpSpPr>
        <p:sp>
          <p:nvSpPr>
            <p:cNvPr id="116" name="line 117"/>
            <p:cNvSpPr/>
            <p:nvPr/>
          </p:nvSpPr>
          <p:spPr>
            <a:xfrm>
              <a:off x="4381500" y="5181600"/>
              <a:ext cx="3238500" cy="95"/>
            </a:xfrm>
            <a:custGeom>
              <a:avLst/>
              <a:gdLst/>
              <a:ahLst/>
              <a:cxnLst/>
              <a:rect l="0" t="0" r="r" b="b"/>
              <a:pathLst>
                <a:path w="3238500" h="95" fill="none">
                  <a:moveTo>
                    <a:pt x="0" y="0"/>
                  </a:moveTo>
                  <a:lnTo>
                    <a:pt x="3238500" y="0"/>
                  </a:lnTo>
                </a:path>
              </a:pathLst>
            </a:custGeom>
            <a:noFill/>
            <a:ln w="9525" cap="flat">
              <a:solidFill>
                <a:srgbClr val="2A2E35"/>
              </a:solidFill>
              <a:miter lim="800000"/>
            </a:ln>
          </p:spPr>
          <p:txBody>
            <a:bodyPr/>
            <a:lstStyle/>
            <a:p>
              <a:endParaRPr lang="en-US"/>
            </a:p>
          </p:txBody>
        </p:sp>
        <p:sp>
          <p:nvSpPr>
            <p:cNvPr id="117" name="Text 118"/>
            <p:cNvSpPr txBox="1"/>
            <p:nvPr/>
          </p:nvSpPr>
          <p:spPr>
            <a:xfrm>
              <a:off x="4381500" y="5321300"/>
              <a:ext cx="190598" cy="192722"/>
            </a:xfrm>
            <a:prstGeom prst="rect">
              <a:avLst/>
            </a:prstGeom>
            <a:noFill/>
          </p:spPr>
          <p:txBody>
            <a:bodyPr wrap="none" lIns="0" tIns="0" rIns="0" bIns="0" rtlCol="0" anchor="t">
              <a:noAutofit/>
            </a:bodyPr>
            <a:lstStyle/>
            <a:p>
              <a:pPr algn="l">
                <a:spcBef>
                  <a:spcPts val="0"/>
                </a:spcBef>
                <a:spcAft>
                  <a:spcPts val="0"/>
                </a:spcAft>
              </a:pPr>
              <a:r>
                <a:rPr lang="en-US" sz="1050" b="1" dirty="0">
                  <a:solidFill>
                    <a:srgbClr val="3D8BFF"/>
                  </a:solidFill>
                  <a:latin typeface="Consolas"/>
                  <a:ea typeface="Consolas"/>
                  <a:cs typeface="Consolas"/>
                </a:rPr>
                <a:t>02</a:t>
              </a:r>
              <a:endParaRPr lang="en-US" sz="1050" dirty="0"/>
            </a:p>
          </p:txBody>
        </p:sp>
        <p:sp>
          <p:nvSpPr>
            <p:cNvPr id="118" name="Text 119"/>
            <p:cNvSpPr txBox="1"/>
            <p:nvPr/>
          </p:nvSpPr>
          <p:spPr>
            <a:xfrm>
              <a:off x="4705350" y="5264150"/>
              <a:ext cx="2292015" cy="295593"/>
            </a:xfrm>
            <a:prstGeom prst="rect">
              <a:avLst/>
            </a:prstGeom>
            <a:noFill/>
          </p:spPr>
          <p:txBody>
            <a:bodyPr wrap="none" lIns="0" tIns="0" rIns="0" bIns="0" rtlCol="0" anchor="t">
              <a:noAutofit/>
            </a:bodyPr>
            <a:lstStyle/>
            <a:p>
              <a:pPr algn="l">
                <a:spcBef>
                  <a:spcPts val="0"/>
                </a:spcBef>
                <a:spcAft>
                  <a:spcPts val="0"/>
                </a:spcAft>
              </a:pPr>
              <a:r>
                <a:rPr lang="en-US" sz="1650" b="1" dirty="0">
                  <a:solidFill>
                    <a:srgbClr val="EDE9E2"/>
                  </a:solidFill>
                  <a:latin typeface="Bahnschrift"/>
                  <a:ea typeface="Bahnschrift"/>
                  <a:cs typeface="Bahnschrift"/>
                </a:rPr>
                <a:t>Native, editable shapes</a:t>
              </a:r>
              <a:endParaRPr lang="en-US" sz="1650" dirty="0"/>
            </a:p>
          </p:txBody>
        </p:sp>
        <p:sp>
          <p:nvSpPr>
            <p:cNvPr id="119" name="Text 120"/>
            <p:cNvSpPr txBox="1"/>
            <p:nvPr/>
          </p:nvSpPr>
          <p:spPr>
            <a:xfrm>
              <a:off x="4381500" y="5549900"/>
              <a:ext cx="2898535" cy="447040"/>
            </a:xfrm>
            <a:prstGeom prst="rect">
              <a:avLst/>
            </a:prstGeom>
            <a:noFill/>
          </p:spPr>
          <p:txBody>
            <a:bodyPr wrap="none" lIns="0" tIns="0" rIns="0" bIns="0" rtlCol="0" anchor="t">
              <a:noAutofit/>
            </a:bodyPr>
            <a:lstStyle/>
            <a:p>
              <a:pPr algn="l">
                <a:lnSpc>
                  <a:spcPts val="1700"/>
                </a:lnSpc>
                <a:spcBef>
                  <a:spcPts val="0"/>
                </a:spcBef>
                <a:spcAft>
                  <a:spcPts val="0"/>
                </a:spcAft>
              </a:pPr>
              <a:r>
                <a:rPr lang="en-US" sz="1200" b="0" dirty="0">
                  <a:solidFill>
                    <a:srgbClr val="9C9A94"/>
                  </a:solidFill>
                  <a:latin typeface="Segoe UI"/>
                  <a:ea typeface="Segoe UI"/>
                  <a:cs typeface="Segoe UI"/>
                </a:rPr>
                <a:t>PowerPoint receives real shapes and text,</a:t>
              </a:r>
              <a:endParaRPr lang="en-US" sz="1200" dirty="0"/>
            </a:p>
            <a:p>
              <a:pPr algn="l">
                <a:lnSpc>
                  <a:spcPts val="1700"/>
                </a:lnSpc>
                <a:spcBef>
                  <a:spcPts val="0"/>
                </a:spcBef>
                <a:spcAft>
                  <a:spcPts val="0"/>
                </a:spcAft>
              </a:pPr>
              <a:r>
                <a:rPr lang="en-US" sz="1200" b="0" dirty="0">
                  <a:solidFill>
                    <a:srgbClr val="9C9A94"/>
                  </a:solidFill>
                  <a:latin typeface="Segoe UI"/>
                  <a:ea typeface="Segoe UI"/>
                  <a:cs typeface="Segoe UI"/>
                </a:rPr>
                <a:t>not a picture of the slide.</a:t>
              </a:r>
              <a:endParaRPr lang="en-US" sz="1200" dirty="0"/>
            </a:p>
          </p:txBody>
        </p:sp>
      </p:grpSp>
      <p:grpSp>
        <p:nvGrpSpPr>
          <p:cNvPr id="125" name="callout-3"/>
          <p:cNvGrpSpPr/>
          <p:nvPr/>
        </p:nvGrpSpPr>
        <p:grpSpPr>
          <a:xfrm>
            <a:off x="8153400" y="5181600"/>
            <a:ext cx="3238500" cy="815340"/>
            <a:chOff x="8153400" y="5181600"/>
            <a:chExt cx="3238500" cy="815340"/>
          </a:xfrm>
        </p:grpSpPr>
        <p:sp>
          <p:nvSpPr>
            <p:cNvPr id="121" name="line 122"/>
            <p:cNvSpPr/>
            <p:nvPr/>
          </p:nvSpPr>
          <p:spPr>
            <a:xfrm>
              <a:off x="8153400" y="5181600"/>
              <a:ext cx="3238500" cy="95"/>
            </a:xfrm>
            <a:custGeom>
              <a:avLst/>
              <a:gdLst/>
              <a:ahLst/>
              <a:cxnLst/>
              <a:rect l="0" t="0" r="r" b="b"/>
              <a:pathLst>
                <a:path w="3238500" h="95" fill="none">
                  <a:moveTo>
                    <a:pt x="0" y="0"/>
                  </a:moveTo>
                  <a:lnTo>
                    <a:pt x="3238500" y="0"/>
                  </a:lnTo>
                </a:path>
              </a:pathLst>
            </a:custGeom>
            <a:noFill/>
            <a:ln w="9525" cap="flat">
              <a:solidFill>
                <a:srgbClr val="2A2E35"/>
              </a:solidFill>
              <a:miter lim="800000"/>
            </a:ln>
          </p:spPr>
          <p:txBody>
            <a:bodyPr/>
            <a:lstStyle/>
            <a:p>
              <a:endParaRPr lang="en-US"/>
            </a:p>
          </p:txBody>
        </p:sp>
        <p:sp>
          <p:nvSpPr>
            <p:cNvPr id="122" name="Text 123"/>
            <p:cNvSpPr txBox="1"/>
            <p:nvPr/>
          </p:nvSpPr>
          <p:spPr>
            <a:xfrm>
              <a:off x="8153400" y="5321300"/>
              <a:ext cx="190598" cy="192722"/>
            </a:xfrm>
            <a:prstGeom prst="rect">
              <a:avLst/>
            </a:prstGeom>
            <a:noFill/>
          </p:spPr>
          <p:txBody>
            <a:bodyPr wrap="none" lIns="0" tIns="0" rIns="0" bIns="0" rtlCol="0" anchor="t">
              <a:noAutofit/>
            </a:bodyPr>
            <a:lstStyle/>
            <a:p>
              <a:pPr algn="l">
                <a:spcBef>
                  <a:spcPts val="0"/>
                </a:spcBef>
                <a:spcAft>
                  <a:spcPts val="0"/>
                </a:spcAft>
              </a:pPr>
              <a:r>
                <a:rPr lang="en-US" sz="1050" b="1" dirty="0">
                  <a:solidFill>
                    <a:srgbClr val="FF5B1F"/>
                  </a:solidFill>
                  <a:latin typeface="Consolas"/>
                  <a:ea typeface="Consolas"/>
                  <a:cs typeface="Consolas"/>
                </a:rPr>
                <a:t>03</a:t>
              </a:r>
              <a:endParaRPr lang="en-US" sz="1050" dirty="0"/>
            </a:p>
          </p:txBody>
        </p:sp>
        <p:sp>
          <p:nvSpPr>
            <p:cNvPr id="123" name="Text 124"/>
            <p:cNvSpPr txBox="1"/>
            <p:nvPr/>
          </p:nvSpPr>
          <p:spPr>
            <a:xfrm>
              <a:off x="8477250" y="5264150"/>
              <a:ext cx="2386190" cy="295593"/>
            </a:xfrm>
            <a:prstGeom prst="rect">
              <a:avLst/>
            </a:prstGeom>
            <a:noFill/>
          </p:spPr>
          <p:txBody>
            <a:bodyPr wrap="none" lIns="0" tIns="0" rIns="0" bIns="0" rtlCol="0" anchor="t">
              <a:noAutofit/>
            </a:bodyPr>
            <a:lstStyle/>
            <a:p>
              <a:pPr algn="l">
                <a:spcBef>
                  <a:spcPts val="0"/>
                </a:spcBef>
                <a:spcAft>
                  <a:spcPts val="0"/>
                </a:spcAft>
              </a:pPr>
              <a:r>
                <a:rPr lang="en-US" sz="1650" b="1" dirty="0">
                  <a:solidFill>
                    <a:srgbClr val="EDE9E2"/>
                  </a:solidFill>
                  <a:latin typeface="Bahnschrift"/>
                  <a:ea typeface="Bahnschrift"/>
                  <a:cs typeface="Bahnschrift"/>
                </a:rPr>
                <a:t>Motion follows the story</a:t>
              </a:r>
              <a:endParaRPr lang="en-US" sz="1650" dirty="0"/>
            </a:p>
          </p:txBody>
        </p:sp>
        <p:sp>
          <p:nvSpPr>
            <p:cNvPr id="124" name="Text 125"/>
            <p:cNvSpPr txBox="1"/>
            <p:nvPr/>
          </p:nvSpPr>
          <p:spPr>
            <a:xfrm>
              <a:off x="8153400" y="5549900"/>
              <a:ext cx="2444329" cy="447040"/>
            </a:xfrm>
            <a:prstGeom prst="rect">
              <a:avLst/>
            </a:prstGeom>
            <a:noFill/>
          </p:spPr>
          <p:txBody>
            <a:bodyPr wrap="none" lIns="0" tIns="0" rIns="0" bIns="0" rtlCol="0" anchor="t">
              <a:noAutofit/>
            </a:bodyPr>
            <a:lstStyle/>
            <a:p>
              <a:pPr algn="l">
                <a:lnSpc>
                  <a:spcPts val="1700"/>
                </a:lnSpc>
                <a:spcBef>
                  <a:spcPts val="0"/>
                </a:spcBef>
                <a:spcAft>
                  <a:spcPts val="0"/>
                </a:spcAft>
              </a:pPr>
              <a:r>
                <a:rPr lang="en-US" sz="1200" b="0" dirty="0">
                  <a:solidFill>
                    <a:srgbClr val="9C9A94"/>
                  </a:solidFill>
                  <a:latin typeface="Segoe UI"/>
                  <a:ea typeface="Segoe UI"/>
                  <a:cs typeface="Segoe UI"/>
                </a:rPr>
                <a:t>Fade, fly, wipe, zoom: one idea per</a:t>
              </a:r>
              <a:endParaRPr lang="en-US" sz="1200" dirty="0"/>
            </a:p>
            <a:p>
              <a:pPr algn="l">
                <a:lnSpc>
                  <a:spcPts val="1700"/>
                </a:lnSpc>
                <a:spcBef>
                  <a:spcPts val="0"/>
                </a:spcBef>
                <a:spcAft>
                  <a:spcPts val="0"/>
                </a:spcAft>
              </a:pPr>
              <a:r>
                <a:rPr lang="en-US" sz="1200" b="0" dirty="0">
                  <a:solidFill>
                    <a:srgbClr val="9C9A94"/>
                  </a:solidFill>
                  <a:latin typeface="Segoe UI"/>
                  <a:ea typeface="Segoe UI"/>
                  <a:cs typeface="Segoe UI"/>
                </a:rPr>
                <a:t>click, listed in the animation pane.</a:t>
              </a:r>
              <a:endParaRPr lang="en-US" sz="1200" dirty="0"/>
            </a:p>
          </p:txBody>
        </p:sp>
      </p:grpSp>
      <p:grpSp>
        <p:nvGrpSpPr>
          <p:cNvPr id="130" name="footer"/>
          <p:cNvGrpSpPr/>
          <p:nvPr/>
        </p:nvGrpSpPr>
        <p:grpSpPr>
          <a:xfrm>
            <a:off x="609600" y="6172200"/>
            <a:ext cx="10972800" cy="313372"/>
            <a:chOff x="609600" y="6172200"/>
            <a:chExt cx="10972800" cy="313372"/>
          </a:xfrm>
        </p:grpSpPr>
        <p:sp>
          <p:nvSpPr>
            <p:cNvPr id="126" name="line 127"/>
            <p:cNvSpPr/>
            <p:nvPr/>
          </p:nvSpPr>
          <p:spPr>
            <a:xfrm>
              <a:off x="609600" y="6172200"/>
              <a:ext cx="10972800" cy="95"/>
            </a:xfrm>
            <a:custGeom>
              <a:avLst/>
              <a:gdLst/>
              <a:ahLst/>
              <a:cxnLst/>
              <a:rect l="0" t="0" r="r" b="b"/>
              <a:pathLst>
                <a:path w="10972800" h="95" fill="none">
                  <a:moveTo>
                    <a:pt x="0" y="0"/>
                  </a:moveTo>
                  <a:lnTo>
                    <a:pt x="10972800" y="0"/>
                  </a:lnTo>
                </a:path>
              </a:pathLst>
            </a:custGeom>
            <a:noFill/>
            <a:ln w="19050" cap="flat">
              <a:solidFill>
                <a:srgbClr val="2A2E35"/>
              </a:solidFill>
              <a:miter lim="800000"/>
            </a:ln>
          </p:spPr>
          <p:txBody>
            <a:bodyPr/>
            <a:lstStyle/>
            <a:p>
              <a:endParaRPr lang="en-US"/>
            </a:p>
          </p:txBody>
        </p:sp>
        <p:sp>
          <p:nvSpPr>
            <p:cNvPr id="127" name="line 128"/>
            <p:cNvSpPr/>
            <p:nvPr/>
          </p:nvSpPr>
          <p:spPr>
            <a:xfrm>
              <a:off x="609600" y="6172200"/>
              <a:ext cx="7972425" cy="95"/>
            </a:xfrm>
            <a:custGeom>
              <a:avLst/>
              <a:gdLst/>
              <a:ahLst/>
              <a:cxnLst/>
              <a:rect l="0" t="0" r="r" b="b"/>
              <a:pathLst>
                <a:path w="7972425" h="95" fill="none">
                  <a:moveTo>
                    <a:pt x="0" y="0"/>
                  </a:moveTo>
                  <a:lnTo>
                    <a:pt x="7972425" y="0"/>
                  </a:lnTo>
                </a:path>
              </a:pathLst>
            </a:custGeom>
            <a:noFill/>
            <a:ln w="19050" cap="flat">
              <a:solidFill>
                <a:srgbClr val="FF5B1F"/>
              </a:solidFill>
              <a:miter lim="800000"/>
            </a:ln>
          </p:spPr>
          <p:txBody>
            <a:bodyPr/>
            <a:lstStyle/>
            <a:p>
              <a:endParaRPr lang="en-US"/>
            </a:p>
          </p:txBody>
        </p:sp>
        <p:sp>
          <p:nvSpPr>
            <p:cNvPr id="128" name="Text 129"/>
            <p:cNvSpPr txBox="1"/>
            <p:nvPr/>
          </p:nvSpPr>
          <p:spPr>
            <a:xfrm>
              <a:off x="609600" y="6318250"/>
              <a:ext cx="2593151" cy="160655"/>
            </a:xfrm>
            <a:prstGeom prst="rect">
              <a:avLst/>
            </a:prstGeom>
            <a:noFill/>
          </p:spPr>
          <p:txBody>
            <a:bodyPr wrap="none" lIns="0" tIns="0" rIns="0" bIns="0" rtlCol="0" anchor="t">
              <a:noAutofit/>
            </a:bodyPr>
            <a:lstStyle/>
            <a:p>
              <a:pPr algn="l">
                <a:spcBef>
                  <a:spcPts val="0"/>
                </a:spcBef>
                <a:spcAft>
                  <a:spcPts val="0"/>
                </a:spcAft>
              </a:pPr>
              <a:r>
                <a:rPr lang="en-US" sz="900" b="0" spc="150" dirty="0">
                  <a:solidFill>
                    <a:srgbClr val="9C9A94"/>
                  </a:solidFill>
                  <a:latin typeface="Consolas"/>
                  <a:ea typeface="Consolas"/>
                  <a:cs typeface="Consolas"/>
                </a:rPr>
                <a:t>YZPZCODE · PRESENTATION STUDIO</a:t>
              </a:r>
              <a:endParaRPr lang="en-US" sz="900" dirty="0"/>
            </a:p>
          </p:txBody>
        </p:sp>
        <p:sp>
          <p:nvSpPr>
            <p:cNvPr id="129" name="Text 130"/>
            <p:cNvSpPr txBox="1"/>
            <p:nvPr/>
          </p:nvSpPr>
          <p:spPr>
            <a:xfrm>
              <a:off x="11010556" y="6292850"/>
              <a:ext cx="571844" cy="192722"/>
            </a:xfrm>
            <a:prstGeom prst="rect">
              <a:avLst/>
            </a:prstGeom>
            <a:noFill/>
          </p:spPr>
          <p:txBody>
            <a:bodyPr wrap="none" lIns="0" tIns="0" rIns="0" bIns="0" rtlCol="0" anchor="t">
              <a:noAutofit/>
            </a:bodyPr>
            <a:lstStyle/>
            <a:p>
              <a:pPr algn="r">
                <a:spcBef>
                  <a:spcPts val="0"/>
                </a:spcBef>
                <a:spcAft>
                  <a:spcPts val="0"/>
                </a:spcAft>
              </a:pPr>
              <a:r>
                <a:rPr lang="en-US" sz="1050" b="0" dirty="0">
                  <a:solidFill>
                    <a:srgbClr val="9C9A94"/>
                  </a:solidFill>
                  <a:latin typeface="Consolas"/>
                  <a:ea typeface="Consolas"/>
                  <a:cs typeface="Consolas"/>
                </a:rPr>
                <a:t>16 / 22</a:t>
              </a:r>
              <a:endParaRPr lang="en-US" sz="105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600" fill="hold"/>
                                        <p:tgtEl>
                                          <p:spTgt spid="4"/>
                                        </p:tgtEl>
                                        <p:attrNameLst>
                                          <p:attrName>ppt_y</p:attrName>
                                        </p:attrNameLst>
                                      </p:cBhvr>
                                      <p:tavLst>
                                        <p:tav tm="0">
                                          <p:val>
                                            <p:strVal val="#ppt_y+.1"/>
                                          </p:val>
                                        </p:tav>
                                        <p:tav tm="100000">
                                          <p:val>
                                            <p:strVal val="#ppt_y"/>
                                          </p:val>
                                        </p:tav>
                                      </p:tavLst>
                                    </p:anim>
                                    <p:animEffect transition="in" filter="fade">
                                      <p:cBhvr>
                                        <p:cTn id="8" dur="6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66"/>
                                        </p:tgtEl>
                                        <p:attrNameLst>
                                          <p:attrName>style.visibility</p:attrName>
                                        </p:attrNameLst>
                                      </p:cBhvr>
                                      <p:to>
                                        <p:strVal val="visible"/>
                                      </p:to>
                                    </p:set>
                                    <p:animEffect transition="in" filter="fade">
                                      <p:cBhvr>
                                        <p:cTn id="13" dur="600"/>
                                        <p:tgtEl>
                                          <p:spTgt spid="66"/>
                                        </p:tgtEl>
                                      </p:cBhvr>
                                    </p:animEffect>
                                  </p:childTnLst>
                                </p:cTn>
                              </p:par>
                              <p:par>
                                <p:cTn id="14" presetID="42" presetClass="entr" presetSubtype="0" fill="hold" nodeType="withEffect">
                                  <p:stCondLst>
                                    <p:cond delay="0"/>
                                  </p:stCondLst>
                                  <p:childTnLst>
                                    <p:set>
                                      <p:cBhvr>
                                        <p:cTn id="15" dur="1" fill="hold">
                                          <p:stCondLst>
                                            <p:cond delay="0"/>
                                          </p:stCondLst>
                                        </p:cTn>
                                        <p:tgtEl>
                                          <p:spTgt spid="115"/>
                                        </p:tgtEl>
                                        <p:attrNameLst>
                                          <p:attrName>style.visibility</p:attrName>
                                        </p:attrNameLst>
                                      </p:cBhvr>
                                      <p:to>
                                        <p:strVal val="visible"/>
                                      </p:to>
                                    </p:set>
                                    <p:anim calcmode="lin" valueType="num">
                                      <p:cBhvr>
                                        <p:cTn id="16" dur="500" fill="hold"/>
                                        <p:tgtEl>
                                          <p:spTgt spid="115"/>
                                        </p:tgtEl>
                                        <p:attrNameLst>
                                          <p:attrName>ppt_y</p:attrName>
                                        </p:attrNameLst>
                                      </p:cBhvr>
                                      <p:tavLst>
                                        <p:tav tm="0">
                                          <p:val>
                                            <p:strVal val="#ppt_y+.1"/>
                                          </p:val>
                                        </p:tav>
                                        <p:tav tm="100000">
                                          <p:val>
                                            <p:strVal val="#ppt_y"/>
                                          </p:val>
                                        </p:tav>
                                      </p:tavLst>
                                    </p:anim>
                                    <p:animEffect transition="in" filter="fade">
                                      <p:cBhvr>
                                        <p:cTn id="17" dur="500"/>
                                        <p:tgtEl>
                                          <p:spTgt spid="115"/>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nodeType="clickEffect">
                                  <p:stCondLst>
                                    <p:cond delay="0"/>
                                  </p:stCondLst>
                                  <p:childTnLst>
                                    <p:set>
                                      <p:cBhvr>
                                        <p:cTn id="21" dur="1" fill="hold">
                                          <p:stCondLst>
                                            <p:cond delay="0"/>
                                          </p:stCondLst>
                                        </p:cTn>
                                        <p:tgtEl>
                                          <p:spTgt spid="76"/>
                                        </p:tgtEl>
                                        <p:attrNameLst>
                                          <p:attrName>style.visibility</p:attrName>
                                        </p:attrNameLst>
                                      </p:cBhvr>
                                      <p:to>
                                        <p:strVal val="visible"/>
                                      </p:to>
                                    </p:set>
                                    <p:anim calcmode="lin" valueType="num">
                                      <p:cBhvr>
                                        <p:cTn id="22" dur="500" fill="hold"/>
                                        <p:tgtEl>
                                          <p:spTgt spid="76"/>
                                        </p:tgtEl>
                                        <p:attrNameLst>
                                          <p:attrName>ppt_w</p:attrName>
                                        </p:attrNameLst>
                                      </p:cBhvr>
                                      <p:tavLst>
                                        <p:tav tm="0">
                                          <p:val>
                                            <p:fltVal val="0"/>
                                          </p:val>
                                        </p:tav>
                                        <p:tav tm="100000">
                                          <p:val>
                                            <p:strVal val="#ppt_w"/>
                                          </p:val>
                                        </p:tav>
                                      </p:tavLst>
                                    </p:anim>
                                    <p:anim calcmode="lin" valueType="num">
                                      <p:cBhvr>
                                        <p:cTn id="23" dur="500" fill="hold"/>
                                        <p:tgtEl>
                                          <p:spTgt spid="76"/>
                                        </p:tgtEl>
                                        <p:attrNameLst>
                                          <p:attrName>ppt_h</p:attrName>
                                        </p:attrNameLst>
                                      </p:cBhvr>
                                      <p:tavLst>
                                        <p:tav tm="0">
                                          <p:val>
                                            <p:fltVal val="0"/>
                                          </p:val>
                                        </p:tav>
                                        <p:tav tm="100000">
                                          <p:val>
                                            <p:strVal val="#ppt_h"/>
                                          </p:val>
                                        </p:tav>
                                      </p:tavLst>
                                    </p:anim>
                                    <p:animEffect transition="in" filter="fade">
                                      <p:cBhvr>
                                        <p:cTn id="24" dur="500"/>
                                        <p:tgtEl>
                                          <p:spTgt spid="76"/>
                                        </p:tgtEl>
                                      </p:cBhvr>
                                    </p:animEffect>
                                  </p:childTnLst>
                                </p:cTn>
                              </p:par>
                              <p:par>
                                <p:cTn id="25" presetID="42" presetClass="entr" presetSubtype="0" fill="hold" nodeType="withEffect">
                                  <p:stCondLst>
                                    <p:cond delay="0"/>
                                  </p:stCondLst>
                                  <p:childTnLst>
                                    <p:set>
                                      <p:cBhvr>
                                        <p:cTn id="26" dur="1" fill="hold">
                                          <p:stCondLst>
                                            <p:cond delay="0"/>
                                          </p:stCondLst>
                                        </p:cTn>
                                        <p:tgtEl>
                                          <p:spTgt spid="120"/>
                                        </p:tgtEl>
                                        <p:attrNameLst>
                                          <p:attrName>style.visibility</p:attrName>
                                        </p:attrNameLst>
                                      </p:cBhvr>
                                      <p:to>
                                        <p:strVal val="visible"/>
                                      </p:to>
                                    </p:set>
                                    <p:anim calcmode="lin" valueType="num">
                                      <p:cBhvr>
                                        <p:cTn id="27" dur="500" fill="hold"/>
                                        <p:tgtEl>
                                          <p:spTgt spid="120"/>
                                        </p:tgtEl>
                                        <p:attrNameLst>
                                          <p:attrName>ppt_y</p:attrName>
                                        </p:attrNameLst>
                                      </p:cBhvr>
                                      <p:tavLst>
                                        <p:tav tm="0">
                                          <p:val>
                                            <p:strVal val="#ppt_y+.1"/>
                                          </p:val>
                                        </p:tav>
                                        <p:tav tm="100000">
                                          <p:val>
                                            <p:strVal val="#ppt_y"/>
                                          </p:val>
                                        </p:tav>
                                      </p:tavLst>
                                    </p:anim>
                                    <p:animEffect transition="in" filter="fade">
                                      <p:cBhvr>
                                        <p:cTn id="28" dur="500"/>
                                        <p:tgtEl>
                                          <p:spTgt spid="120"/>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nodeType="clickEffect">
                                  <p:stCondLst>
                                    <p:cond delay="0"/>
                                  </p:stCondLst>
                                  <p:childTnLst>
                                    <p:set>
                                      <p:cBhvr>
                                        <p:cTn id="32" dur="1" fill="hold">
                                          <p:stCondLst>
                                            <p:cond delay="0"/>
                                          </p:stCondLst>
                                        </p:cTn>
                                        <p:tgtEl>
                                          <p:spTgt spid="110"/>
                                        </p:tgtEl>
                                        <p:attrNameLst>
                                          <p:attrName>style.visibility</p:attrName>
                                        </p:attrNameLst>
                                      </p:cBhvr>
                                      <p:to>
                                        <p:strVal val="visible"/>
                                      </p:to>
                                    </p:set>
                                    <p:anim calcmode="lin" valueType="num">
                                      <p:cBhvr additive="base">
                                        <p:cTn id="33" dur="600" fill="hold"/>
                                        <p:tgtEl>
                                          <p:spTgt spid="110"/>
                                        </p:tgtEl>
                                        <p:attrNameLst>
                                          <p:attrName>ppt_x</p:attrName>
                                        </p:attrNameLst>
                                      </p:cBhvr>
                                      <p:tavLst>
                                        <p:tav tm="0">
                                          <p:val>
                                            <p:strVal val="1+#ppt_w/2"/>
                                          </p:val>
                                        </p:tav>
                                        <p:tav tm="100000">
                                          <p:val>
                                            <p:strVal val="#ppt_x"/>
                                          </p:val>
                                        </p:tav>
                                      </p:tavLst>
                                    </p:anim>
                                    <p:anim calcmode="lin" valueType="num">
                                      <p:cBhvr additive="base">
                                        <p:cTn id="34" dur="600" fill="hold"/>
                                        <p:tgtEl>
                                          <p:spTgt spid="110"/>
                                        </p:tgtEl>
                                        <p:attrNameLst>
                                          <p:attrName>ppt_y</p:attrName>
                                        </p:attrNameLst>
                                      </p:cBhvr>
                                      <p:tavLst>
                                        <p:tav tm="0">
                                          <p:val>
                                            <p:strVal val="#ppt_y"/>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25"/>
                                        </p:tgtEl>
                                        <p:attrNameLst>
                                          <p:attrName>style.visibility</p:attrName>
                                        </p:attrNameLst>
                                      </p:cBhvr>
                                      <p:to>
                                        <p:strVal val="visible"/>
                                      </p:to>
                                    </p:set>
                                    <p:anim calcmode="lin" valueType="num">
                                      <p:cBhvr>
                                        <p:cTn id="37" dur="500" fill="hold"/>
                                        <p:tgtEl>
                                          <p:spTgt spid="125"/>
                                        </p:tgtEl>
                                        <p:attrNameLst>
                                          <p:attrName>ppt_y</p:attrName>
                                        </p:attrNameLst>
                                      </p:cBhvr>
                                      <p:tavLst>
                                        <p:tav tm="0">
                                          <p:val>
                                            <p:strVal val="#ppt_y+.1"/>
                                          </p:val>
                                        </p:tav>
                                        <p:tav tm="100000">
                                          <p:val>
                                            <p:strVal val="#ppt_y"/>
                                          </p:val>
                                        </p:tav>
                                      </p:tavLst>
                                    </p:anim>
                                    <p:animEffect transition="in" filter="fade">
                                      <p:cBhvr>
                                        <p:cTn id="38" dur="5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B0D"/>
        </a:solidFill>
        <a:effectLst/>
      </p:bgPr>
    </p:bg>
    <p:spTree>
      <p:nvGrpSpPr>
        <p:cNvPr id="1" name=""/>
        <p:cNvGrpSpPr/>
        <p:nvPr/>
      </p:nvGrpSpPr>
      <p:grpSpPr>
        <a:xfrm>
          <a:off x="0" y="0"/>
          <a:ext cx="0" cy="0"/>
          <a:chOff x="0" y="0"/>
          <a:chExt cx="0" cy="0"/>
        </a:xfrm>
      </p:grpSpPr>
      <p:grpSp>
        <p:nvGrpSpPr>
          <p:cNvPr id="6" name="title-block"/>
          <p:cNvGrpSpPr/>
          <p:nvPr/>
        </p:nvGrpSpPr>
        <p:grpSpPr>
          <a:xfrm>
            <a:off x="609600" y="381000"/>
            <a:ext cx="10972800" cy="1203960"/>
            <a:chOff x="609600" y="381000"/>
            <a:chExt cx="10972800" cy="1203960"/>
          </a:xfrm>
        </p:grpSpPr>
        <p:sp>
          <p:nvSpPr>
            <p:cNvPr id="3" name="rect 4"/>
            <p:cNvSpPr/>
            <p:nvPr/>
          </p:nvSpPr>
          <p:spPr>
            <a:xfrm>
              <a:off x="609600" y="381000"/>
              <a:ext cx="457200" cy="57150"/>
            </a:xfrm>
            <a:prstGeom prst="roundRect">
              <a:avLst>
                <a:gd name="adj" fmla="val 50000"/>
              </a:avLst>
            </a:prstGeom>
            <a:solidFill>
              <a:srgbClr val="FF5B1F"/>
            </a:solidFill>
            <a:ln>
              <a:noFill/>
            </a:ln>
          </p:spPr>
          <p:txBody>
            <a:bodyPr/>
            <a:lstStyle/>
            <a:p>
              <a:endParaRPr lang="en-US"/>
            </a:p>
          </p:txBody>
        </p:sp>
        <p:sp>
          <p:nvSpPr>
            <p:cNvPr id="4" name="Text 5"/>
            <p:cNvSpPr txBox="1"/>
            <p:nvPr/>
          </p:nvSpPr>
          <p:spPr>
            <a:xfrm>
              <a:off x="609600" y="533400"/>
              <a:ext cx="7031608" cy="1051560"/>
            </a:xfrm>
            <a:prstGeom prst="rect">
              <a:avLst/>
            </a:prstGeom>
            <a:noFill/>
          </p:spPr>
          <p:txBody>
            <a:bodyPr wrap="none" lIns="0" tIns="0" rIns="0" bIns="0" rtlCol="0" anchor="t">
              <a:noAutofit/>
            </a:bodyPr>
            <a:lstStyle/>
            <a:p>
              <a:pPr algn="l">
                <a:lnSpc>
                  <a:spcPts val="4000"/>
                </a:lnSpc>
                <a:spcBef>
                  <a:spcPts val="0"/>
                </a:spcBef>
                <a:spcAft>
                  <a:spcPts val="0"/>
                </a:spcAft>
              </a:pPr>
              <a:r>
                <a:rPr lang="en-US" sz="3300" b="1" spc="-15" dirty="0">
                  <a:solidFill>
                    <a:srgbClr val="EDE9E2"/>
                  </a:solidFill>
                  <a:latin typeface="Bahnschrift"/>
                  <a:ea typeface="Bahnschrift"/>
                  <a:cs typeface="Bahnschrift"/>
                </a:rPr>
                <a:t>Every SVG page lands in PowerPoint</a:t>
              </a:r>
              <a:endParaRPr lang="en-US" sz="3300" dirty="0"/>
            </a:p>
            <a:p>
              <a:pPr algn="l">
                <a:lnSpc>
                  <a:spcPts val="4000"/>
                </a:lnSpc>
                <a:spcBef>
                  <a:spcPts val="0"/>
                </a:spcBef>
                <a:spcAft>
                  <a:spcPts val="0"/>
                </a:spcAft>
              </a:pPr>
              <a:r>
                <a:rPr lang="en-US" sz="3300" b="1" spc="-15" dirty="0">
                  <a:solidFill>
                    <a:srgbClr val="EDE9E2"/>
                  </a:solidFill>
                  <a:latin typeface="Bahnschrift"/>
                  <a:ea typeface="Bahnschrift"/>
                  <a:cs typeface="Bahnschrift"/>
                </a:rPr>
                <a:t>as </a:t>
              </a:r>
              <a:r>
                <a:rPr lang="en-US" sz="3300" b="1" spc="-15" dirty="0">
                  <a:solidFill>
                    <a:srgbClr val="FF5B1F"/>
                  </a:solidFill>
                  <a:latin typeface="Bahnschrift"/>
                  <a:ea typeface="Bahnschrift"/>
                  <a:cs typeface="Bahnschrift"/>
                </a:rPr>
                <a:t>native, editable</a:t>
              </a:r>
              <a:r>
                <a:rPr lang="en-US" sz="3300" b="1" spc="-15" dirty="0">
                  <a:solidFill>
                    <a:srgbClr val="EDE9E2"/>
                  </a:solidFill>
                  <a:latin typeface="Bahnschrift"/>
                  <a:ea typeface="Bahnschrift"/>
                  <a:cs typeface="Bahnschrift"/>
                </a:rPr>
                <a:t> shapes</a:t>
              </a:r>
              <a:endParaRPr lang="en-US" sz="3300" dirty="0"/>
            </a:p>
          </p:txBody>
        </p:sp>
        <p:sp>
          <p:nvSpPr>
            <p:cNvPr id="5" name="Text 6"/>
            <p:cNvSpPr txBox="1"/>
            <p:nvPr/>
          </p:nvSpPr>
          <p:spPr>
            <a:xfrm>
              <a:off x="9791402" y="393700"/>
              <a:ext cx="1790998" cy="212090"/>
            </a:xfrm>
            <a:prstGeom prst="rect">
              <a:avLst/>
            </a:prstGeom>
            <a:noFill/>
          </p:spPr>
          <p:txBody>
            <a:bodyPr wrap="none" lIns="0" tIns="0" rIns="0" bIns="0" rtlCol="0" anchor="t">
              <a:noAutofit/>
            </a:bodyPr>
            <a:lstStyle/>
            <a:p>
              <a:pPr algn="r">
                <a:spcBef>
                  <a:spcPts val="0"/>
                </a:spcBef>
                <a:spcAft>
                  <a:spcPts val="0"/>
                </a:spcAft>
              </a:pPr>
              <a:r>
                <a:rPr lang="en-US" sz="1200" b="0" spc="225" dirty="0">
                  <a:solidFill>
                    <a:srgbClr val="9C9A94"/>
                  </a:solidFill>
                  <a:latin typeface="Consolas"/>
                  <a:ea typeface="Consolas"/>
                  <a:cs typeface="Consolas"/>
                </a:rPr>
                <a:t>STUDIO · EXPORT</a:t>
              </a:r>
              <a:endParaRPr lang="en-US" sz="1200" dirty="0"/>
            </a:p>
          </p:txBody>
        </p:sp>
      </p:grpSp>
      <p:grpSp>
        <p:nvGrpSpPr>
          <p:cNvPr id="31" name="code-window"/>
          <p:cNvGrpSpPr/>
          <p:nvPr/>
        </p:nvGrpSpPr>
        <p:grpSpPr>
          <a:xfrm>
            <a:off x="495300" y="1657350"/>
            <a:ext cx="4038600" cy="3810000"/>
            <a:chOff x="495300" y="1657350"/>
            <a:chExt cx="4038600" cy="3810000"/>
          </a:xfrm>
        </p:grpSpPr>
        <p:sp>
          <p:nvSpPr>
            <p:cNvPr id="7" name="rect 8"/>
            <p:cNvSpPr/>
            <p:nvPr/>
          </p:nvSpPr>
          <p:spPr>
            <a:xfrm>
              <a:off x="609600" y="1771650"/>
              <a:ext cx="3810000" cy="3581400"/>
            </a:xfrm>
            <a:prstGeom prst="roundRect">
              <a:avLst>
                <a:gd name="adj" fmla="val 2128"/>
              </a:avLst>
            </a:prstGeom>
            <a:solidFill>
              <a:srgbClr val="14171B"/>
            </a:solidFill>
            <a:ln w="9525" cap="flat">
              <a:solidFill>
                <a:srgbClr val="2A2E35"/>
              </a:solidFill>
              <a:miter lim="800000"/>
            </a:ln>
          </p:spPr>
          <p:txBody>
            <a:bodyPr/>
            <a:lstStyle/>
            <a:p>
              <a:endParaRPr lang="en-US"/>
            </a:p>
          </p:txBody>
        </p:sp>
        <p:sp>
          <p:nvSpPr>
            <p:cNvPr id="8" name="circle 9"/>
            <p:cNvSpPr/>
            <p:nvPr/>
          </p:nvSpPr>
          <p:spPr>
            <a:xfrm>
              <a:off x="762000" y="1905000"/>
              <a:ext cx="76200" cy="76200"/>
            </a:xfrm>
            <a:prstGeom prst="ellipse">
              <a:avLst/>
            </a:prstGeom>
            <a:solidFill>
              <a:srgbClr val="4A5058"/>
            </a:solidFill>
            <a:ln>
              <a:noFill/>
            </a:ln>
          </p:spPr>
          <p:txBody>
            <a:bodyPr/>
            <a:lstStyle/>
            <a:p>
              <a:endParaRPr lang="en-US"/>
            </a:p>
          </p:txBody>
        </p:sp>
        <p:sp>
          <p:nvSpPr>
            <p:cNvPr id="9" name="circle 10"/>
            <p:cNvSpPr/>
            <p:nvPr/>
          </p:nvSpPr>
          <p:spPr>
            <a:xfrm>
              <a:off x="914400" y="1905000"/>
              <a:ext cx="76200" cy="76200"/>
            </a:xfrm>
            <a:prstGeom prst="ellipse">
              <a:avLst/>
            </a:prstGeom>
            <a:solidFill>
              <a:srgbClr val="4A5058"/>
            </a:solidFill>
            <a:ln>
              <a:noFill/>
            </a:ln>
          </p:spPr>
          <p:txBody>
            <a:bodyPr/>
            <a:lstStyle/>
            <a:p>
              <a:endParaRPr lang="en-US"/>
            </a:p>
          </p:txBody>
        </p:sp>
        <p:sp>
          <p:nvSpPr>
            <p:cNvPr id="10" name="circle 11"/>
            <p:cNvSpPr/>
            <p:nvPr/>
          </p:nvSpPr>
          <p:spPr>
            <a:xfrm>
              <a:off x="1066800" y="1905000"/>
              <a:ext cx="76200" cy="76200"/>
            </a:xfrm>
            <a:prstGeom prst="ellipse">
              <a:avLst/>
            </a:prstGeom>
            <a:solidFill>
              <a:srgbClr val="4A5058"/>
            </a:solidFill>
            <a:ln>
              <a:noFill/>
            </a:ln>
          </p:spPr>
          <p:txBody>
            <a:bodyPr/>
            <a:lstStyle/>
            <a:p>
              <a:endParaRPr lang="en-US"/>
            </a:p>
          </p:txBody>
        </p:sp>
        <p:sp>
          <p:nvSpPr>
            <p:cNvPr id="11" name="Text 12"/>
            <p:cNvSpPr txBox="1"/>
            <p:nvPr/>
          </p:nvSpPr>
          <p:spPr>
            <a:xfrm>
              <a:off x="1295400" y="1860550"/>
              <a:ext cx="1083802"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Consolas"/>
                  <a:ea typeface="Consolas"/>
                  <a:cs typeface="Consolas"/>
                </a:rPr>
                <a:t>slide-17.svg</a:t>
              </a:r>
              <a:endParaRPr lang="en-US" sz="1200" dirty="0"/>
            </a:p>
          </p:txBody>
        </p:sp>
        <p:sp>
          <p:nvSpPr>
            <p:cNvPr id="12" name="rect 13"/>
            <p:cNvSpPr/>
            <p:nvPr/>
          </p:nvSpPr>
          <p:spPr>
            <a:xfrm>
              <a:off x="609600" y="2114550"/>
              <a:ext cx="3810000" cy="9525"/>
            </a:xfrm>
            <a:prstGeom prst="rect">
              <a:avLst/>
            </a:prstGeom>
            <a:solidFill>
              <a:srgbClr val="2A2E35"/>
            </a:solidFill>
            <a:ln>
              <a:noFill/>
            </a:ln>
          </p:spPr>
          <p:txBody>
            <a:bodyPr/>
            <a:lstStyle/>
            <a:p>
              <a:endParaRPr lang="en-US"/>
            </a:p>
          </p:txBody>
        </p:sp>
        <p:sp>
          <p:nvSpPr>
            <p:cNvPr id="13" name="rect 14"/>
            <p:cNvSpPr/>
            <p:nvPr/>
          </p:nvSpPr>
          <p:spPr>
            <a:xfrm>
              <a:off x="619125" y="2781300"/>
              <a:ext cx="3790950" cy="1333500"/>
            </a:xfrm>
            <a:prstGeom prst="rect">
              <a:avLst/>
            </a:prstGeom>
            <a:solidFill>
              <a:srgbClr val="3D8BFF">
                <a:alpha val="12000"/>
              </a:srgbClr>
            </a:solidFill>
            <a:ln>
              <a:noFill/>
            </a:ln>
          </p:spPr>
          <p:txBody>
            <a:bodyPr/>
            <a:lstStyle/>
            <a:p>
              <a:endParaRPr lang="en-US"/>
            </a:p>
          </p:txBody>
        </p:sp>
        <p:sp>
          <p:nvSpPr>
            <p:cNvPr id="14" name="rect 15"/>
            <p:cNvSpPr/>
            <p:nvPr/>
          </p:nvSpPr>
          <p:spPr>
            <a:xfrm>
              <a:off x="619125" y="2781300"/>
              <a:ext cx="28575" cy="1333500"/>
            </a:xfrm>
            <a:prstGeom prst="rect">
              <a:avLst/>
            </a:prstGeom>
            <a:solidFill>
              <a:srgbClr val="3D8BFF"/>
            </a:solidFill>
            <a:ln>
              <a:noFill/>
            </a:ln>
          </p:spPr>
          <p:txBody>
            <a:bodyPr/>
            <a:lstStyle/>
            <a:p>
              <a:endParaRPr lang="en-US"/>
            </a:p>
          </p:txBody>
        </p:sp>
        <p:sp>
          <p:nvSpPr>
            <p:cNvPr id="15" name="Text 16"/>
            <p:cNvSpPr txBox="1"/>
            <p:nvPr/>
          </p:nvSpPr>
          <p:spPr>
            <a:xfrm>
              <a:off x="800100" y="2298700"/>
              <a:ext cx="2478072"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3D8BFF"/>
                  </a:solidFill>
                  <a:latin typeface="Consolas"/>
                  <a:ea typeface="Consolas"/>
                  <a:cs typeface="Consolas"/>
                </a:rPr>
                <a:t>&lt;svg</a:t>
              </a:r>
              <a:r>
                <a:rPr lang="en-US" sz="1200" b="0" dirty="0">
                  <a:solidFill>
                    <a:srgbClr val="FF5B1F"/>
                  </a:solidFill>
                  <a:latin typeface="Consolas"/>
                  <a:ea typeface="Consolas"/>
                  <a:cs typeface="Consolas"/>
                </a:rPr>
                <a:t> viewBox</a:t>
              </a:r>
              <a:r>
                <a:rPr lang="en-US" sz="1200" b="0" dirty="0">
                  <a:solidFill>
                    <a:srgbClr val="9C9A94"/>
                  </a:solidFill>
                  <a:latin typeface="Consolas"/>
                  <a:ea typeface="Consolas"/>
                  <a:cs typeface="Consolas"/>
                </a:rPr>
                <a:t>=</a:t>
              </a:r>
              <a:r>
                <a:rPr lang="en-US" sz="1200" b="0" dirty="0">
                  <a:solidFill>
                    <a:srgbClr val="EDE9E2"/>
                  </a:solidFill>
                  <a:latin typeface="Consolas"/>
                  <a:ea typeface="Consolas"/>
                  <a:cs typeface="Consolas"/>
                </a:rPr>
                <a:t>"0 0 1280 720"</a:t>
              </a:r>
              <a:r>
                <a:rPr lang="en-US" sz="1200" b="0" dirty="0">
                  <a:solidFill>
                    <a:srgbClr val="3D8BFF"/>
                  </a:solidFill>
                  <a:latin typeface="Consolas"/>
                  <a:ea typeface="Consolas"/>
                  <a:cs typeface="Consolas"/>
                </a:rPr>
                <a:t>&gt;</a:t>
              </a:r>
              <a:endParaRPr lang="en-US" sz="1200" dirty="0"/>
            </a:p>
          </p:txBody>
        </p:sp>
        <p:sp>
          <p:nvSpPr>
            <p:cNvPr id="16" name="Text 17"/>
            <p:cNvSpPr txBox="1"/>
            <p:nvPr/>
          </p:nvSpPr>
          <p:spPr>
            <a:xfrm>
              <a:off x="967740" y="2565400"/>
              <a:ext cx="3088065"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3D8BFF"/>
                  </a:solidFill>
                  <a:latin typeface="Consolas"/>
                  <a:ea typeface="Consolas"/>
                  <a:cs typeface="Consolas"/>
                </a:rPr>
                <a:t>&lt;rect</a:t>
              </a:r>
              <a:r>
                <a:rPr lang="en-US" sz="1200" b="0" dirty="0">
                  <a:solidFill>
                    <a:srgbClr val="FF5B1F"/>
                  </a:solidFill>
                  <a:latin typeface="Consolas"/>
                  <a:ea typeface="Consolas"/>
                  <a:cs typeface="Consolas"/>
                </a:rPr>
                <a:t> width</a:t>
              </a:r>
              <a:r>
                <a:rPr lang="en-US" sz="1200" b="0" dirty="0">
                  <a:solidFill>
                    <a:srgbClr val="9C9A94"/>
                  </a:solidFill>
                  <a:latin typeface="Consolas"/>
                  <a:ea typeface="Consolas"/>
                  <a:cs typeface="Consolas"/>
                </a:rPr>
                <a:t>=</a:t>
              </a:r>
              <a:r>
                <a:rPr lang="en-US" sz="1200" b="0" dirty="0">
                  <a:solidFill>
                    <a:srgbClr val="EDE9E2"/>
                  </a:solidFill>
                  <a:latin typeface="Consolas"/>
                  <a:ea typeface="Consolas"/>
                  <a:cs typeface="Consolas"/>
                </a:rPr>
                <a:t>"1280"</a:t>
              </a:r>
              <a:r>
                <a:rPr lang="en-US" sz="1200" b="0" dirty="0">
                  <a:solidFill>
                    <a:srgbClr val="FF5B1F"/>
                  </a:solidFill>
                  <a:latin typeface="Consolas"/>
                  <a:ea typeface="Consolas"/>
                  <a:cs typeface="Consolas"/>
                </a:rPr>
                <a:t> fill</a:t>
              </a:r>
              <a:r>
                <a:rPr lang="en-US" sz="1200" b="0" dirty="0">
                  <a:solidFill>
                    <a:srgbClr val="9C9A94"/>
                  </a:solidFill>
                  <a:latin typeface="Consolas"/>
                  <a:ea typeface="Consolas"/>
                  <a:cs typeface="Consolas"/>
                </a:rPr>
                <a:t>=</a:t>
              </a:r>
              <a:r>
                <a:rPr lang="en-US" sz="1200" b="0" dirty="0">
                  <a:solidFill>
                    <a:srgbClr val="EDE9E2"/>
                  </a:solidFill>
                  <a:latin typeface="Consolas"/>
                  <a:ea typeface="Consolas"/>
                  <a:cs typeface="Consolas"/>
                </a:rPr>
                <a:t>"#0A0B0D"</a:t>
              </a:r>
              <a:r>
                <a:rPr lang="en-US" sz="1200" b="0" dirty="0">
                  <a:solidFill>
                    <a:srgbClr val="3D8BFF"/>
                  </a:solidFill>
                  <a:latin typeface="Consolas"/>
                  <a:ea typeface="Consolas"/>
                  <a:cs typeface="Consolas"/>
                </a:rPr>
                <a:t>/&gt;</a:t>
              </a:r>
              <a:endParaRPr lang="en-US" sz="1200" dirty="0"/>
            </a:p>
          </p:txBody>
        </p:sp>
        <p:sp>
          <p:nvSpPr>
            <p:cNvPr id="17" name="Text 18"/>
            <p:cNvSpPr txBox="1"/>
            <p:nvPr/>
          </p:nvSpPr>
          <p:spPr>
            <a:xfrm>
              <a:off x="967740" y="2832100"/>
              <a:ext cx="1780937"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3D8BFF"/>
                  </a:solidFill>
                  <a:latin typeface="Consolas"/>
                  <a:ea typeface="Consolas"/>
                  <a:cs typeface="Consolas"/>
                </a:rPr>
                <a:t>&lt;g</a:t>
              </a:r>
              <a:r>
                <a:rPr lang="en-US" sz="1200" b="0" dirty="0">
                  <a:solidFill>
                    <a:srgbClr val="FF5B1F"/>
                  </a:solidFill>
                  <a:latin typeface="Consolas"/>
                  <a:ea typeface="Consolas"/>
                  <a:cs typeface="Consolas"/>
                </a:rPr>
                <a:t> id</a:t>
              </a:r>
              <a:r>
                <a:rPr lang="en-US" sz="1200" b="0" dirty="0">
                  <a:solidFill>
                    <a:srgbClr val="9C9A94"/>
                  </a:solidFill>
                  <a:latin typeface="Consolas"/>
                  <a:ea typeface="Consolas"/>
                  <a:cs typeface="Consolas"/>
                </a:rPr>
                <a:t>=</a:t>
              </a:r>
              <a:r>
                <a:rPr lang="en-US" sz="1200" b="0" dirty="0">
                  <a:solidFill>
                    <a:srgbClr val="EDE9E2"/>
                  </a:solidFill>
                  <a:latin typeface="Consolas"/>
                  <a:ea typeface="Consolas"/>
                  <a:cs typeface="Consolas"/>
                </a:rPr>
                <a:t>"title-block"</a:t>
              </a:r>
              <a:r>
                <a:rPr lang="en-US" sz="1200" b="0" dirty="0">
                  <a:solidFill>
                    <a:srgbClr val="3D8BFF"/>
                  </a:solidFill>
                  <a:latin typeface="Consolas"/>
                  <a:ea typeface="Consolas"/>
                  <a:cs typeface="Consolas"/>
                </a:rPr>
                <a:t>&gt;</a:t>
              </a:r>
              <a:endParaRPr lang="en-US" sz="1200" dirty="0"/>
            </a:p>
          </p:txBody>
        </p:sp>
        <p:sp>
          <p:nvSpPr>
            <p:cNvPr id="18" name="Text 19"/>
            <p:cNvSpPr txBox="1"/>
            <p:nvPr/>
          </p:nvSpPr>
          <p:spPr>
            <a:xfrm>
              <a:off x="1135380" y="3098800"/>
              <a:ext cx="1868079"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3D8BFF"/>
                  </a:solidFill>
                  <a:latin typeface="Consolas"/>
                  <a:ea typeface="Consolas"/>
                  <a:cs typeface="Consolas"/>
                </a:rPr>
                <a:t>&lt;text</a:t>
              </a:r>
              <a:r>
                <a:rPr lang="en-US" sz="1200" b="0" dirty="0">
                  <a:solidFill>
                    <a:srgbClr val="FF5B1F"/>
                  </a:solidFill>
                  <a:latin typeface="Consolas"/>
                  <a:ea typeface="Consolas"/>
                  <a:cs typeface="Consolas"/>
                </a:rPr>
                <a:t> font-size</a:t>
              </a:r>
              <a:r>
                <a:rPr lang="en-US" sz="1200" b="0" dirty="0">
                  <a:solidFill>
                    <a:srgbClr val="9C9A94"/>
                  </a:solidFill>
                  <a:latin typeface="Consolas"/>
                  <a:ea typeface="Consolas"/>
                  <a:cs typeface="Consolas"/>
                </a:rPr>
                <a:t>=</a:t>
              </a:r>
              <a:r>
                <a:rPr lang="en-US" sz="1200" b="0" dirty="0">
                  <a:solidFill>
                    <a:srgbClr val="EDE9E2"/>
                  </a:solidFill>
                  <a:latin typeface="Consolas"/>
                  <a:ea typeface="Consolas"/>
                  <a:cs typeface="Consolas"/>
                </a:rPr>
                <a:t>"44"</a:t>
              </a:r>
              <a:r>
                <a:rPr lang="en-US" sz="1200" b="0" dirty="0">
                  <a:solidFill>
                    <a:srgbClr val="3D8BFF"/>
                  </a:solidFill>
                  <a:latin typeface="Consolas"/>
                  <a:ea typeface="Consolas"/>
                  <a:cs typeface="Consolas"/>
                </a:rPr>
                <a:t>&gt;</a:t>
              </a:r>
              <a:endParaRPr lang="en-US" sz="1200" dirty="0"/>
            </a:p>
          </p:txBody>
        </p:sp>
        <p:sp>
          <p:nvSpPr>
            <p:cNvPr id="19" name="Text 20"/>
            <p:cNvSpPr txBox="1"/>
            <p:nvPr/>
          </p:nvSpPr>
          <p:spPr>
            <a:xfrm>
              <a:off x="1303020" y="3365500"/>
              <a:ext cx="2565213"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EDE9E2"/>
                  </a:solidFill>
                  <a:latin typeface="Consolas"/>
                  <a:ea typeface="Consolas"/>
                  <a:cs typeface="Consolas"/>
                </a:rPr>
                <a:t>26 agents. One native window.</a:t>
              </a:r>
              <a:endParaRPr lang="en-US" sz="1200" dirty="0"/>
            </a:p>
          </p:txBody>
        </p:sp>
        <p:sp>
          <p:nvSpPr>
            <p:cNvPr id="20" name="Text 21"/>
            <p:cNvSpPr txBox="1"/>
            <p:nvPr/>
          </p:nvSpPr>
          <p:spPr>
            <a:xfrm>
              <a:off x="1135380" y="3632200"/>
              <a:ext cx="648093"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3D8BFF"/>
                  </a:solidFill>
                  <a:latin typeface="Consolas"/>
                  <a:ea typeface="Consolas"/>
                  <a:cs typeface="Consolas"/>
                </a:rPr>
                <a:t>&lt;/text&gt;</a:t>
              </a:r>
              <a:endParaRPr lang="en-US" sz="1200" dirty="0"/>
            </a:p>
          </p:txBody>
        </p:sp>
        <p:sp>
          <p:nvSpPr>
            <p:cNvPr id="21" name="Text 22"/>
            <p:cNvSpPr txBox="1"/>
            <p:nvPr/>
          </p:nvSpPr>
          <p:spPr>
            <a:xfrm>
              <a:off x="967740" y="3898900"/>
              <a:ext cx="386667"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3D8BFF"/>
                  </a:solidFill>
                  <a:latin typeface="Consolas"/>
                  <a:ea typeface="Consolas"/>
                  <a:cs typeface="Consolas"/>
                </a:rPr>
                <a:t>&lt;/g&gt;</a:t>
              </a:r>
              <a:endParaRPr lang="en-US" sz="1200" dirty="0"/>
            </a:p>
          </p:txBody>
        </p:sp>
        <p:sp>
          <p:nvSpPr>
            <p:cNvPr id="22" name="Text 23"/>
            <p:cNvSpPr txBox="1"/>
            <p:nvPr/>
          </p:nvSpPr>
          <p:spPr>
            <a:xfrm>
              <a:off x="967740" y="4165600"/>
              <a:ext cx="2478072"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3D8BFF"/>
                  </a:solidFill>
                  <a:latin typeface="Consolas"/>
                  <a:ea typeface="Consolas"/>
                  <a:cs typeface="Consolas"/>
                </a:rPr>
                <a:t>&lt;rect</a:t>
              </a:r>
              <a:r>
                <a:rPr lang="en-US" sz="1200" b="0" dirty="0">
                  <a:solidFill>
                    <a:srgbClr val="FF5B1F"/>
                  </a:solidFill>
                  <a:latin typeface="Consolas"/>
                  <a:ea typeface="Consolas"/>
                  <a:cs typeface="Consolas"/>
                </a:rPr>
                <a:t> x</a:t>
              </a:r>
              <a:r>
                <a:rPr lang="en-US" sz="1200" b="0" dirty="0">
                  <a:solidFill>
                    <a:srgbClr val="9C9A94"/>
                  </a:solidFill>
                  <a:latin typeface="Consolas"/>
                  <a:ea typeface="Consolas"/>
                  <a:cs typeface="Consolas"/>
                </a:rPr>
                <a:t>=</a:t>
              </a:r>
              <a:r>
                <a:rPr lang="en-US" sz="1200" b="0" dirty="0">
                  <a:solidFill>
                    <a:srgbClr val="EDE9E2"/>
                  </a:solidFill>
                  <a:latin typeface="Consolas"/>
                  <a:ea typeface="Consolas"/>
                  <a:cs typeface="Consolas"/>
                </a:rPr>
                <a:t>"668"</a:t>
              </a:r>
              <a:r>
                <a:rPr lang="en-US" sz="1200" b="0" dirty="0">
                  <a:solidFill>
                    <a:srgbClr val="FF5B1F"/>
                  </a:solidFill>
                  <a:latin typeface="Consolas"/>
                  <a:ea typeface="Consolas"/>
                  <a:cs typeface="Consolas"/>
                </a:rPr>
                <a:t> height</a:t>
              </a:r>
              <a:r>
                <a:rPr lang="en-US" sz="1200" b="0" dirty="0">
                  <a:solidFill>
                    <a:srgbClr val="9C9A94"/>
                  </a:solidFill>
                  <a:latin typeface="Consolas"/>
                  <a:ea typeface="Consolas"/>
                  <a:cs typeface="Consolas"/>
                </a:rPr>
                <a:t>=</a:t>
              </a:r>
              <a:r>
                <a:rPr lang="en-US" sz="1200" b="0" dirty="0">
                  <a:solidFill>
                    <a:srgbClr val="EDE9E2"/>
                  </a:solidFill>
                  <a:latin typeface="Consolas"/>
                  <a:ea typeface="Consolas"/>
                  <a:cs typeface="Consolas"/>
                </a:rPr>
                <a:t>"125"</a:t>
              </a:r>
              <a:r>
                <a:rPr lang="en-US" sz="1200" b="0" dirty="0">
                  <a:solidFill>
                    <a:srgbClr val="3D8BFF"/>
                  </a:solidFill>
                  <a:latin typeface="Consolas"/>
                  <a:ea typeface="Consolas"/>
                  <a:cs typeface="Consolas"/>
                </a:rPr>
                <a:t>/&gt;</a:t>
              </a:r>
              <a:endParaRPr lang="en-US" sz="1200" dirty="0"/>
            </a:p>
          </p:txBody>
        </p:sp>
        <p:sp>
          <p:nvSpPr>
            <p:cNvPr id="23" name="Text 24"/>
            <p:cNvSpPr txBox="1"/>
            <p:nvPr/>
          </p:nvSpPr>
          <p:spPr>
            <a:xfrm>
              <a:off x="967740" y="4432300"/>
              <a:ext cx="2303788"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3D8BFF"/>
                  </a:solidFill>
                  <a:latin typeface="Consolas"/>
                  <a:ea typeface="Consolas"/>
                  <a:cs typeface="Consolas"/>
                </a:rPr>
                <a:t>&lt;circle</a:t>
              </a:r>
              <a:r>
                <a:rPr lang="en-US" sz="1200" b="0" dirty="0">
                  <a:solidFill>
                    <a:srgbClr val="FF5B1F"/>
                  </a:solidFill>
                  <a:latin typeface="Consolas"/>
                  <a:ea typeface="Consolas"/>
                  <a:cs typeface="Consolas"/>
                </a:rPr>
                <a:t> cx</a:t>
              </a:r>
              <a:r>
                <a:rPr lang="en-US" sz="1200" b="0" dirty="0">
                  <a:solidFill>
                    <a:srgbClr val="9C9A94"/>
                  </a:solidFill>
                  <a:latin typeface="Consolas"/>
                  <a:ea typeface="Consolas"/>
                  <a:cs typeface="Consolas"/>
                </a:rPr>
                <a:t>=</a:t>
              </a:r>
              <a:r>
                <a:rPr lang="en-US" sz="1200" b="0" dirty="0">
                  <a:solidFill>
                    <a:srgbClr val="EDE9E2"/>
                  </a:solidFill>
                  <a:latin typeface="Consolas"/>
                  <a:ea typeface="Consolas"/>
                  <a:cs typeface="Consolas"/>
                </a:rPr>
                <a:t>"1140"</a:t>
              </a:r>
              <a:r>
                <a:rPr lang="en-US" sz="1200" b="0" dirty="0">
                  <a:solidFill>
                    <a:srgbClr val="FF5B1F"/>
                  </a:solidFill>
                  <a:latin typeface="Consolas"/>
                  <a:ea typeface="Consolas"/>
                  <a:cs typeface="Consolas"/>
                </a:rPr>
                <a:t> r</a:t>
              </a:r>
              <a:r>
                <a:rPr lang="en-US" sz="1200" b="0" dirty="0">
                  <a:solidFill>
                    <a:srgbClr val="9C9A94"/>
                  </a:solidFill>
                  <a:latin typeface="Consolas"/>
                  <a:ea typeface="Consolas"/>
                  <a:cs typeface="Consolas"/>
                </a:rPr>
                <a:t>=</a:t>
              </a:r>
              <a:r>
                <a:rPr lang="en-US" sz="1200" b="0" dirty="0">
                  <a:solidFill>
                    <a:srgbClr val="EDE9E2"/>
                  </a:solidFill>
                  <a:latin typeface="Consolas"/>
                  <a:ea typeface="Consolas"/>
                  <a:cs typeface="Consolas"/>
                </a:rPr>
                <a:t>"36"</a:t>
              </a:r>
              <a:r>
                <a:rPr lang="en-US" sz="1200" b="0" dirty="0">
                  <a:solidFill>
                    <a:srgbClr val="3D8BFF"/>
                  </a:solidFill>
                  <a:latin typeface="Consolas"/>
                  <a:ea typeface="Consolas"/>
                  <a:cs typeface="Consolas"/>
                </a:rPr>
                <a:t>/&gt;</a:t>
              </a:r>
              <a:endParaRPr lang="en-US" sz="1200" dirty="0"/>
            </a:p>
          </p:txBody>
        </p:sp>
        <p:sp>
          <p:nvSpPr>
            <p:cNvPr id="24" name="Text 25"/>
            <p:cNvSpPr txBox="1"/>
            <p:nvPr/>
          </p:nvSpPr>
          <p:spPr>
            <a:xfrm>
              <a:off x="800100" y="4699000"/>
              <a:ext cx="560951"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3D8BFF"/>
                  </a:solidFill>
                  <a:latin typeface="Consolas"/>
                  <a:ea typeface="Consolas"/>
                  <a:cs typeface="Consolas"/>
                </a:rPr>
                <a:t>&lt;/svg&gt;</a:t>
              </a:r>
              <a:endParaRPr lang="en-US" sz="1200" dirty="0"/>
            </a:p>
          </p:txBody>
        </p:sp>
        <p:sp>
          <p:nvSpPr>
            <p:cNvPr id="25" name="rect 26"/>
            <p:cNvSpPr/>
            <p:nvPr/>
          </p:nvSpPr>
          <p:spPr>
            <a:xfrm>
              <a:off x="609600" y="5010150"/>
              <a:ext cx="3810000" cy="9525"/>
            </a:xfrm>
            <a:prstGeom prst="rect">
              <a:avLst/>
            </a:prstGeom>
            <a:solidFill>
              <a:srgbClr val="2A2E35"/>
            </a:solidFill>
            <a:ln>
              <a:noFill/>
            </a:ln>
          </p:spPr>
          <p:txBody>
            <a:bodyPr/>
            <a:lstStyle/>
            <a:p>
              <a:endParaRPr lang="en-US"/>
            </a:p>
          </p:txBody>
        </p:sp>
        <p:sp>
          <p:nvSpPr>
            <p:cNvPr id="26" name="Text 27"/>
            <p:cNvSpPr txBox="1"/>
            <p:nvPr/>
          </p:nvSpPr>
          <p:spPr>
            <a:xfrm>
              <a:off x="800100" y="5099050"/>
              <a:ext cx="2129504"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Consolas"/>
                  <a:ea typeface="Consolas"/>
                  <a:cs typeface="Consolas"/>
                </a:rPr>
                <a:t>UTF-8 · 1280 × 720 · SVG</a:t>
              </a:r>
              <a:endParaRPr lang="en-US" sz="1200" dirty="0"/>
            </a:p>
          </p:txBody>
        </p:sp>
        <p:sp>
          <p:nvSpPr>
            <p:cNvPr id="27" name="path 28"/>
            <p:cNvSpPr/>
            <p:nvPr/>
          </p:nvSpPr>
          <p:spPr>
            <a:xfrm>
              <a:off x="495300" y="1657350"/>
              <a:ext cx="228600" cy="228600"/>
            </a:xfrm>
            <a:custGeom>
              <a:avLst/>
              <a:gdLst/>
              <a:ahLst/>
              <a:cxnLst/>
              <a:rect l="0" t="0" r="r" b="b"/>
              <a:pathLst>
                <a:path w="228600" h="228600" fill="none">
                  <a:moveTo>
                    <a:pt x="0" y="228600"/>
                  </a:moveTo>
                  <a:lnTo>
                    <a:pt x="0" y="0"/>
                  </a:lnTo>
                  <a:lnTo>
                    <a:pt x="228600" y="0"/>
                  </a:lnTo>
                </a:path>
              </a:pathLst>
            </a:custGeom>
            <a:noFill/>
            <a:ln w="19050" cap="flat">
              <a:solidFill>
                <a:srgbClr val="3D8BFF"/>
              </a:solidFill>
              <a:miter lim="800000"/>
            </a:ln>
          </p:spPr>
          <p:txBody>
            <a:bodyPr/>
            <a:lstStyle/>
            <a:p>
              <a:endParaRPr lang="en-US"/>
            </a:p>
          </p:txBody>
        </p:sp>
        <p:sp>
          <p:nvSpPr>
            <p:cNvPr id="28" name="path 29"/>
            <p:cNvSpPr/>
            <p:nvPr/>
          </p:nvSpPr>
          <p:spPr>
            <a:xfrm>
              <a:off x="4305300" y="1657350"/>
              <a:ext cx="228600" cy="228600"/>
            </a:xfrm>
            <a:custGeom>
              <a:avLst/>
              <a:gdLst/>
              <a:ahLst/>
              <a:cxnLst/>
              <a:rect l="0" t="0" r="r" b="b"/>
              <a:pathLst>
                <a:path w="228600" h="228600" fill="none">
                  <a:moveTo>
                    <a:pt x="0" y="0"/>
                  </a:moveTo>
                  <a:lnTo>
                    <a:pt x="228600" y="0"/>
                  </a:lnTo>
                  <a:lnTo>
                    <a:pt x="228600" y="228600"/>
                  </a:lnTo>
                </a:path>
              </a:pathLst>
            </a:custGeom>
            <a:noFill/>
            <a:ln w="19050" cap="flat">
              <a:solidFill>
                <a:srgbClr val="3D8BFF"/>
              </a:solidFill>
              <a:miter lim="800000"/>
            </a:ln>
          </p:spPr>
          <p:txBody>
            <a:bodyPr/>
            <a:lstStyle/>
            <a:p>
              <a:endParaRPr lang="en-US"/>
            </a:p>
          </p:txBody>
        </p:sp>
        <p:sp>
          <p:nvSpPr>
            <p:cNvPr id="29" name="path 30"/>
            <p:cNvSpPr/>
            <p:nvPr/>
          </p:nvSpPr>
          <p:spPr>
            <a:xfrm>
              <a:off x="495300" y="5238750"/>
              <a:ext cx="228600" cy="228600"/>
            </a:xfrm>
            <a:custGeom>
              <a:avLst/>
              <a:gdLst/>
              <a:ahLst/>
              <a:cxnLst/>
              <a:rect l="0" t="0" r="r" b="b"/>
              <a:pathLst>
                <a:path w="228600" h="228600" fill="none">
                  <a:moveTo>
                    <a:pt x="0" y="0"/>
                  </a:moveTo>
                  <a:lnTo>
                    <a:pt x="0" y="228600"/>
                  </a:lnTo>
                  <a:lnTo>
                    <a:pt x="228600" y="228600"/>
                  </a:lnTo>
                </a:path>
              </a:pathLst>
            </a:custGeom>
            <a:noFill/>
            <a:ln w="19050" cap="flat">
              <a:solidFill>
                <a:srgbClr val="3D8BFF"/>
              </a:solidFill>
              <a:miter lim="800000"/>
            </a:ln>
          </p:spPr>
          <p:txBody>
            <a:bodyPr/>
            <a:lstStyle/>
            <a:p>
              <a:endParaRPr lang="en-US"/>
            </a:p>
          </p:txBody>
        </p:sp>
        <p:sp>
          <p:nvSpPr>
            <p:cNvPr id="30" name="path 31"/>
            <p:cNvSpPr/>
            <p:nvPr/>
          </p:nvSpPr>
          <p:spPr>
            <a:xfrm>
              <a:off x="4305300" y="5238750"/>
              <a:ext cx="228600" cy="228600"/>
            </a:xfrm>
            <a:custGeom>
              <a:avLst/>
              <a:gdLst/>
              <a:ahLst/>
              <a:cxnLst/>
              <a:rect l="0" t="0" r="r" b="b"/>
              <a:pathLst>
                <a:path w="228600" h="228600" fill="none">
                  <a:moveTo>
                    <a:pt x="0" y="228600"/>
                  </a:moveTo>
                  <a:lnTo>
                    <a:pt x="228600" y="228600"/>
                  </a:lnTo>
                  <a:lnTo>
                    <a:pt x="228600" y="0"/>
                  </a:lnTo>
                </a:path>
              </a:pathLst>
            </a:custGeom>
            <a:noFill/>
            <a:ln w="19050" cap="flat">
              <a:solidFill>
                <a:srgbClr val="3D8BFF"/>
              </a:solidFill>
              <a:miter lim="800000"/>
            </a:ln>
          </p:spPr>
          <p:txBody>
            <a:bodyPr/>
            <a:lstStyle/>
            <a:p>
              <a:endParaRPr lang="en-US"/>
            </a:p>
          </p:txBody>
        </p:sp>
      </p:grpSp>
      <p:grpSp>
        <p:nvGrpSpPr>
          <p:cNvPr id="36" name="export-arrow"/>
          <p:cNvGrpSpPr/>
          <p:nvPr/>
        </p:nvGrpSpPr>
        <p:grpSpPr>
          <a:xfrm>
            <a:off x="4572000" y="3181350"/>
            <a:ext cx="1123950" cy="777240"/>
            <a:chOff x="4572000" y="3181350"/>
            <a:chExt cx="1123950" cy="777240"/>
          </a:xfrm>
        </p:grpSpPr>
        <p:sp>
          <p:nvSpPr>
            <p:cNvPr id="32" name="rect 33"/>
            <p:cNvSpPr/>
            <p:nvPr/>
          </p:nvSpPr>
          <p:spPr>
            <a:xfrm>
              <a:off x="4629150" y="3181350"/>
              <a:ext cx="952500" cy="266700"/>
            </a:xfrm>
            <a:prstGeom prst="roundRect">
              <a:avLst>
                <a:gd name="adj" fmla="val 7143"/>
              </a:avLst>
            </a:prstGeom>
            <a:solidFill>
              <a:srgbClr val="0A0B0D"/>
            </a:solidFill>
            <a:ln w="9525" cap="flat">
              <a:solidFill>
                <a:srgbClr val="FF5B1F"/>
              </a:solidFill>
              <a:miter lim="800000"/>
            </a:ln>
          </p:spPr>
          <p:txBody>
            <a:bodyPr/>
            <a:lstStyle/>
            <a:p>
              <a:endParaRPr lang="en-US"/>
            </a:p>
          </p:txBody>
        </p:sp>
        <p:sp>
          <p:nvSpPr>
            <p:cNvPr id="33" name="Text 34"/>
            <p:cNvSpPr txBox="1"/>
            <p:nvPr/>
          </p:nvSpPr>
          <p:spPr>
            <a:xfrm>
              <a:off x="4765488" y="3232150"/>
              <a:ext cx="679823" cy="212090"/>
            </a:xfrm>
            <a:prstGeom prst="rect">
              <a:avLst/>
            </a:prstGeom>
            <a:noFill/>
          </p:spPr>
          <p:txBody>
            <a:bodyPr wrap="none" lIns="0" tIns="0" rIns="0" bIns="0" rtlCol="0" anchor="t">
              <a:noAutofit/>
            </a:bodyPr>
            <a:lstStyle/>
            <a:p>
              <a:pPr algn="ctr">
                <a:spcBef>
                  <a:spcPts val="0"/>
                </a:spcBef>
                <a:spcAft>
                  <a:spcPts val="0"/>
                </a:spcAft>
              </a:pPr>
              <a:r>
                <a:rPr lang="en-US" sz="1200" b="0" spc="150" dirty="0">
                  <a:solidFill>
                    <a:srgbClr val="FF5B1F"/>
                  </a:solidFill>
                  <a:latin typeface="Consolas"/>
                  <a:ea typeface="Consolas"/>
                  <a:cs typeface="Consolas"/>
                </a:rPr>
                <a:t>EXPORT</a:t>
              </a:r>
              <a:endParaRPr lang="en-US" sz="1200" dirty="0"/>
            </a:p>
          </p:txBody>
        </p:sp>
        <p:sp>
          <p:nvSpPr>
            <p:cNvPr id="34" name="line 35"/>
            <p:cNvSpPr/>
            <p:nvPr/>
          </p:nvSpPr>
          <p:spPr>
            <a:xfrm>
              <a:off x="4572000" y="3600450"/>
              <a:ext cx="1123950" cy="95"/>
            </a:xfrm>
            <a:custGeom>
              <a:avLst/>
              <a:gdLst/>
              <a:ahLst/>
              <a:cxnLst/>
              <a:rect l="0" t="0" r="r" b="b"/>
              <a:pathLst>
                <a:path w="1123950" h="95" fill="none">
                  <a:moveTo>
                    <a:pt x="0" y="0"/>
                  </a:moveTo>
                  <a:lnTo>
                    <a:pt x="1123950" y="0"/>
                  </a:lnTo>
                </a:path>
              </a:pathLst>
            </a:custGeom>
            <a:noFill/>
            <a:ln w="19050" cap="flat">
              <a:solidFill>
                <a:srgbClr val="FF5B1F"/>
              </a:solidFill>
              <a:miter lim="800000"/>
              <a:tailEnd type="triangle" w="med" len="med"/>
            </a:ln>
          </p:spPr>
          <p:txBody>
            <a:bodyPr/>
            <a:lstStyle/>
            <a:p>
              <a:endParaRPr lang="en-US"/>
            </a:p>
          </p:txBody>
        </p:sp>
        <p:sp>
          <p:nvSpPr>
            <p:cNvPr id="35" name="Text 36"/>
            <p:cNvSpPr txBox="1"/>
            <p:nvPr/>
          </p:nvSpPr>
          <p:spPr>
            <a:xfrm>
              <a:off x="4669691" y="3746500"/>
              <a:ext cx="909518" cy="212090"/>
            </a:xfrm>
            <a:prstGeom prst="rect">
              <a:avLst/>
            </a:prstGeom>
            <a:noFill/>
          </p:spPr>
          <p:txBody>
            <a:bodyPr wrap="none" lIns="0" tIns="0" rIns="0" bIns="0" rtlCol="0" anchor="t">
              <a:noAutofit/>
            </a:bodyPr>
            <a:lstStyle/>
            <a:p>
              <a:pPr algn="ctr">
                <a:spcBef>
                  <a:spcPts val="0"/>
                </a:spcBef>
                <a:spcAft>
                  <a:spcPts val="0"/>
                </a:spcAft>
              </a:pPr>
              <a:r>
                <a:rPr lang="en-US" sz="1200" b="0" dirty="0">
                  <a:solidFill>
                    <a:srgbClr val="9C9A94"/>
                  </a:solidFill>
                  <a:latin typeface="Consolas"/>
                  <a:ea typeface="Consolas"/>
                  <a:cs typeface="Consolas"/>
                </a:rPr>
                <a:t>SVG → PPTX</a:t>
              </a:r>
              <a:endParaRPr lang="en-US" sz="1200" dirty="0"/>
            </a:p>
          </p:txBody>
        </p:sp>
      </p:grpSp>
      <p:grpSp>
        <p:nvGrpSpPr>
          <p:cNvPr id="59" name="ppt-window"/>
          <p:cNvGrpSpPr/>
          <p:nvPr/>
        </p:nvGrpSpPr>
        <p:grpSpPr>
          <a:xfrm>
            <a:off x="5829300" y="1657350"/>
            <a:ext cx="5867400" cy="3810000"/>
            <a:chOff x="5829300" y="1657350"/>
            <a:chExt cx="5867400" cy="3810000"/>
          </a:xfrm>
        </p:grpSpPr>
        <p:sp>
          <p:nvSpPr>
            <p:cNvPr id="37" name="rect 38"/>
            <p:cNvSpPr/>
            <p:nvPr/>
          </p:nvSpPr>
          <p:spPr>
            <a:xfrm>
              <a:off x="5943600" y="1771650"/>
              <a:ext cx="5638800" cy="3581400"/>
            </a:xfrm>
            <a:prstGeom prst="roundRect">
              <a:avLst>
                <a:gd name="adj" fmla="val 2128"/>
              </a:avLst>
            </a:prstGeom>
            <a:solidFill>
              <a:srgbClr val="14171B"/>
            </a:solidFill>
            <a:ln w="9525" cap="flat">
              <a:solidFill>
                <a:srgbClr val="2A2E35"/>
              </a:solidFill>
              <a:miter lim="800000"/>
            </a:ln>
          </p:spPr>
          <p:txBody>
            <a:bodyPr/>
            <a:lstStyle/>
            <a:p>
              <a:endParaRPr lang="en-US"/>
            </a:p>
          </p:txBody>
        </p:sp>
        <p:sp>
          <p:nvSpPr>
            <p:cNvPr id="38" name="circle 39"/>
            <p:cNvSpPr/>
            <p:nvPr/>
          </p:nvSpPr>
          <p:spPr>
            <a:xfrm>
              <a:off x="6096000" y="1905000"/>
              <a:ext cx="76200" cy="76200"/>
            </a:xfrm>
            <a:prstGeom prst="ellipse">
              <a:avLst/>
            </a:prstGeom>
            <a:solidFill>
              <a:srgbClr val="4A5058"/>
            </a:solidFill>
            <a:ln>
              <a:noFill/>
            </a:ln>
          </p:spPr>
          <p:txBody>
            <a:bodyPr/>
            <a:lstStyle/>
            <a:p>
              <a:endParaRPr lang="en-US"/>
            </a:p>
          </p:txBody>
        </p:sp>
        <p:sp>
          <p:nvSpPr>
            <p:cNvPr id="39" name="circle 40"/>
            <p:cNvSpPr/>
            <p:nvPr/>
          </p:nvSpPr>
          <p:spPr>
            <a:xfrm>
              <a:off x="6248400" y="1905000"/>
              <a:ext cx="76200" cy="76200"/>
            </a:xfrm>
            <a:prstGeom prst="ellipse">
              <a:avLst/>
            </a:prstGeom>
            <a:solidFill>
              <a:srgbClr val="4A5058"/>
            </a:solidFill>
            <a:ln>
              <a:noFill/>
            </a:ln>
          </p:spPr>
          <p:txBody>
            <a:bodyPr/>
            <a:lstStyle/>
            <a:p>
              <a:endParaRPr lang="en-US"/>
            </a:p>
          </p:txBody>
        </p:sp>
        <p:sp>
          <p:nvSpPr>
            <p:cNvPr id="40" name="circle 41"/>
            <p:cNvSpPr/>
            <p:nvPr/>
          </p:nvSpPr>
          <p:spPr>
            <a:xfrm>
              <a:off x="6400800" y="1905000"/>
              <a:ext cx="76200" cy="76200"/>
            </a:xfrm>
            <a:prstGeom prst="ellipse">
              <a:avLst/>
            </a:prstGeom>
            <a:solidFill>
              <a:srgbClr val="4A5058"/>
            </a:solidFill>
            <a:ln>
              <a:noFill/>
            </a:ln>
          </p:spPr>
          <p:txBody>
            <a:bodyPr/>
            <a:lstStyle/>
            <a:p>
              <a:endParaRPr lang="en-US"/>
            </a:p>
          </p:txBody>
        </p:sp>
        <p:sp>
          <p:nvSpPr>
            <p:cNvPr id="41" name="Text 42"/>
            <p:cNvSpPr txBox="1"/>
            <p:nvPr/>
          </p:nvSpPr>
          <p:spPr>
            <a:xfrm>
              <a:off x="6629400" y="1860550"/>
              <a:ext cx="2129504"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Consolas"/>
                  <a:ea typeface="Consolas"/>
                  <a:cs typeface="Consolas"/>
                </a:rPr>
                <a:t>slide-17.pptx · editable</a:t>
              </a:r>
              <a:endParaRPr lang="en-US" sz="1200" dirty="0"/>
            </a:p>
          </p:txBody>
        </p:sp>
        <p:sp>
          <p:nvSpPr>
            <p:cNvPr id="42" name="rect 43"/>
            <p:cNvSpPr/>
            <p:nvPr/>
          </p:nvSpPr>
          <p:spPr>
            <a:xfrm>
              <a:off x="5943600" y="2114550"/>
              <a:ext cx="5638800" cy="9525"/>
            </a:xfrm>
            <a:prstGeom prst="rect">
              <a:avLst/>
            </a:prstGeom>
            <a:solidFill>
              <a:srgbClr val="2A2E35"/>
            </a:solidFill>
            <a:ln>
              <a:noFill/>
            </a:ln>
          </p:spPr>
          <p:txBody>
            <a:bodyPr/>
            <a:lstStyle/>
            <a:p>
              <a:endParaRPr lang="en-US"/>
            </a:p>
          </p:txBody>
        </p:sp>
        <p:sp>
          <p:nvSpPr>
            <p:cNvPr id="43" name="rect 44"/>
            <p:cNvSpPr/>
            <p:nvPr/>
          </p:nvSpPr>
          <p:spPr>
            <a:xfrm>
              <a:off x="6096000" y="2209800"/>
              <a:ext cx="5334000" cy="3000375"/>
            </a:xfrm>
            <a:prstGeom prst="rect">
              <a:avLst/>
            </a:prstGeom>
            <a:solidFill>
              <a:srgbClr val="0A0B0D"/>
            </a:solidFill>
            <a:ln w="9525" cap="flat">
              <a:solidFill>
                <a:srgbClr val="2A2E35"/>
              </a:solidFill>
              <a:miter lim="800000"/>
            </a:ln>
          </p:spPr>
          <p:txBody>
            <a:bodyPr/>
            <a:lstStyle/>
            <a:p>
              <a:endParaRPr lang="en-US"/>
            </a:p>
          </p:txBody>
        </p:sp>
        <p:sp>
          <p:nvSpPr>
            <p:cNvPr id="44" name="rect 45"/>
            <p:cNvSpPr/>
            <p:nvPr/>
          </p:nvSpPr>
          <p:spPr>
            <a:xfrm>
              <a:off x="6362700" y="2476500"/>
              <a:ext cx="342900" cy="47625"/>
            </a:xfrm>
            <a:prstGeom prst="roundRect">
              <a:avLst>
                <a:gd name="adj" fmla="val 50000"/>
              </a:avLst>
            </a:prstGeom>
            <a:solidFill>
              <a:srgbClr val="FF5B1F"/>
            </a:solidFill>
            <a:ln>
              <a:noFill/>
            </a:ln>
          </p:spPr>
          <p:txBody>
            <a:bodyPr/>
            <a:lstStyle/>
            <a:p>
              <a:endParaRPr lang="en-US"/>
            </a:p>
          </p:txBody>
        </p:sp>
        <p:sp>
          <p:nvSpPr>
            <p:cNvPr id="45" name="Text 46"/>
            <p:cNvSpPr txBox="1"/>
            <p:nvPr/>
          </p:nvSpPr>
          <p:spPr>
            <a:xfrm>
              <a:off x="6362700" y="2755900"/>
              <a:ext cx="2412522" cy="690245"/>
            </a:xfrm>
            <a:prstGeom prst="rect">
              <a:avLst/>
            </a:prstGeom>
            <a:noFill/>
          </p:spPr>
          <p:txBody>
            <a:bodyPr wrap="none" lIns="0" tIns="0" rIns="0" bIns="0" rtlCol="0" anchor="t">
              <a:noAutofit/>
            </a:bodyPr>
            <a:lstStyle/>
            <a:p>
              <a:pPr algn="l">
                <a:lnSpc>
                  <a:spcPts val="2600"/>
                </a:lnSpc>
                <a:spcBef>
                  <a:spcPts val="0"/>
                </a:spcBef>
                <a:spcAft>
                  <a:spcPts val="0"/>
                </a:spcAft>
              </a:pPr>
              <a:r>
                <a:rPr lang="en-US" sz="2100" b="1" dirty="0">
                  <a:solidFill>
                    <a:srgbClr val="EDE9E2"/>
                  </a:solidFill>
                  <a:latin typeface="Bahnschrift"/>
                  <a:ea typeface="Bahnschrift"/>
                  <a:cs typeface="Bahnschrift"/>
                </a:rPr>
                <a:t>26 agents.</a:t>
              </a:r>
              <a:endParaRPr lang="en-US" sz="2100" dirty="0"/>
            </a:p>
            <a:p>
              <a:pPr algn="l">
                <a:lnSpc>
                  <a:spcPts val="2600"/>
                </a:lnSpc>
                <a:spcBef>
                  <a:spcPts val="0"/>
                </a:spcBef>
                <a:spcAft>
                  <a:spcPts val="0"/>
                </a:spcAft>
              </a:pPr>
              <a:r>
                <a:rPr lang="en-US" sz="2100" b="1" dirty="0">
                  <a:solidFill>
                    <a:srgbClr val="EDE9E2"/>
                  </a:solidFill>
                  <a:latin typeface="Bahnschrift"/>
                  <a:ea typeface="Bahnschrift"/>
                  <a:cs typeface="Bahnschrift"/>
                </a:rPr>
                <a:t>One native window.</a:t>
              </a:r>
              <a:endParaRPr lang="en-US" sz="2100" dirty="0"/>
            </a:p>
          </p:txBody>
        </p:sp>
        <p:sp>
          <p:nvSpPr>
            <p:cNvPr id="46" name="circle 47"/>
            <p:cNvSpPr/>
            <p:nvPr/>
          </p:nvSpPr>
          <p:spPr>
            <a:xfrm>
              <a:off x="10515600" y="2571750"/>
              <a:ext cx="685800" cy="685800"/>
            </a:xfrm>
            <a:prstGeom prst="ellipse">
              <a:avLst/>
            </a:prstGeom>
            <a:solidFill>
              <a:srgbClr val="FF5B1F">
                <a:alpha val="20000"/>
              </a:srgbClr>
            </a:solidFill>
            <a:ln w="19050" cap="flat">
              <a:solidFill>
                <a:srgbClr val="FF5B1F"/>
              </a:solidFill>
              <a:miter lim="800000"/>
            </a:ln>
          </p:spPr>
          <p:txBody>
            <a:bodyPr/>
            <a:lstStyle/>
            <a:p>
              <a:endParaRPr lang="en-US"/>
            </a:p>
          </p:txBody>
        </p:sp>
        <p:sp>
          <p:nvSpPr>
            <p:cNvPr id="47" name="rect 48"/>
            <p:cNvSpPr/>
            <p:nvPr/>
          </p:nvSpPr>
          <p:spPr>
            <a:xfrm>
              <a:off x="6362700" y="4533900"/>
              <a:ext cx="419100" cy="381000"/>
            </a:xfrm>
            <a:prstGeom prst="rect">
              <a:avLst/>
            </a:prstGeom>
            <a:solidFill>
              <a:srgbClr val="4A5058"/>
            </a:solidFill>
            <a:ln>
              <a:noFill/>
            </a:ln>
          </p:spPr>
          <p:txBody>
            <a:bodyPr/>
            <a:lstStyle/>
            <a:p>
              <a:endParaRPr lang="en-US"/>
            </a:p>
          </p:txBody>
        </p:sp>
        <p:sp>
          <p:nvSpPr>
            <p:cNvPr id="48" name="rect 49"/>
            <p:cNvSpPr/>
            <p:nvPr/>
          </p:nvSpPr>
          <p:spPr>
            <a:xfrm>
              <a:off x="6934200" y="4248150"/>
              <a:ext cx="419100" cy="666750"/>
            </a:xfrm>
            <a:prstGeom prst="rect">
              <a:avLst/>
            </a:prstGeom>
            <a:solidFill>
              <a:srgbClr val="3D8BFF"/>
            </a:solidFill>
            <a:ln>
              <a:noFill/>
            </a:ln>
          </p:spPr>
          <p:txBody>
            <a:bodyPr/>
            <a:lstStyle/>
            <a:p>
              <a:endParaRPr lang="en-US"/>
            </a:p>
          </p:txBody>
        </p:sp>
        <p:sp>
          <p:nvSpPr>
            <p:cNvPr id="49" name="rect 50"/>
            <p:cNvSpPr/>
            <p:nvPr/>
          </p:nvSpPr>
          <p:spPr>
            <a:xfrm>
              <a:off x="7505700" y="3962400"/>
              <a:ext cx="419100" cy="952500"/>
            </a:xfrm>
            <a:prstGeom prst="rect">
              <a:avLst/>
            </a:prstGeom>
            <a:solidFill>
              <a:srgbClr val="A28BFF"/>
            </a:solidFill>
            <a:ln>
              <a:noFill/>
            </a:ln>
          </p:spPr>
          <p:txBody>
            <a:bodyPr/>
            <a:lstStyle/>
            <a:p>
              <a:endParaRPr lang="en-US"/>
            </a:p>
          </p:txBody>
        </p:sp>
        <p:sp>
          <p:nvSpPr>
            <p:cNvPr id="50" name="rect 51"/>
            <p:cNvSpPr/>
            <p:nvPr/>
          </p:nvSpPr>
          <p:spPr>
            <a:xfrm>
              <a:off x="8077200" y="3724275"/>
              <a:ext cx="419100" cy="1190625"/>
            </a:xfrm>
            <a:prstGeom prst="rect">
              <a:avLst/>
            </a:prstGeom>
            <a:solidFill>
              <a:srgbClr val="FF5B1F"/>
            </a:solidFill>
            <a:ln>
              <a:noFill/>
            </a:ln>
          </p:spPr>
          <p:txBody>
            <a:bodyPr/>
            <a:lstStyle/>
            <a:p>
              <a:endParaRPr lang="en-US"/>
            </a:p>
          </p:txBody>
        </p:sp>
        <p:sp>
          <p:nvSpPr>
            <p:cNvPr id="51" name="Text 52"/>
            <p:cNvSpPr txBox="1"/>
            <p:nvPr/>
          </p:nvSpPr>
          <p:spPr>
            <a:xfrm>
              <a:off x="6362700" y="4984750"/>
              <a:ext cx="735235"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Consolas"/>
                  <a:ea typeface="Consolas"/>
                  <a:cs typeface="Consolas"/>
                </a:rPr>
                <a:t>rect × 4</a:t>
              </a:r>
              <a:endParaRPr lang="en-US" sz="1200" dirty="0"/>
            </a:p>
          </p:txBody>
        </p:sp>
        <p:sp>
          <p:nvSpPr>
            <p:cNvPr id="52" name="rect 53"/>
            <p:cNvSpPr/>
            <p:nvPr/>
          </p:nvSpPr>
          <p:spPr>
            <a:xfrm>
              <a:off x="8953500" y="3867150"/>
              <a:ext cx="2247900" cy="1047750"/>
            </a:xfrm>
            <a:prstGeom prst="roundRect">
              <a:avLst>
                <a:gd name="adj" fmla="val 1818"/>
              </a:avLst>
            </a:prstGeom>
            <a:solidFill>
              <a:srgbClr val="14171B"/>
            </a:solidFill>
            <a:ln w="9525" cap="flat">
              <a:solidFill>
                <a:srgbClr val="2A2E35"/>
              </a:solidFill>
              <a:miter lim="800000"/>
            </a:ln>
          </p:spPr>
          <p:txBody>
            <a:bodyPr/>
            <a:lstStyle/>
            <a:p>
              <a:endParaRPr lang="en-US"/>
            </a:p>
          </p:txBody>
        </p:sp>
        <p:sp>
          <p:nvSpPr>
            <p:cNvPr id="53" name="Text 54"/>
            <p:cNvSpPr txBox="1"/>
            <p:nvPr/>
          </p:nvSpPr>
          <p:spPr>
            <a:xfrm>
              <a:off x="9144000" y="4032250"/>
              <a:ext cx="893731" cy="212090"/>
            </a:xfrm>
            <a:prstGeom prst="rect">
              <a:avLst/>
            </a:prstGeom>
            <a:noFill/>
          </p:spPr>
          <p:txBody>
            <a:bodyPr wrap="none" lIns="0" tIns="0" rIns="0" bIns="0" rtlCol="0" anchor="t">
              <a:noAutofit/>
            </a:bodyPr>
            <a:lstStyle/>
            <a:p>
              <a:pPr algn="l">
                <a:spcBef>
                  <a:spcPts val="0"/>
                </a:spcBef>
                <a:spcAft>
                  <a:spcPts val="0"/>
                </a:spcAft>
              </a:pPr>
              <a:r>
                <a:rPr lang="en-US" sz="1200" b="0" spc="150" dirty="0">
                  <a:solidFill>
                    <a:srgbClr val="FF5B1F"/>
                  </a:solidFill>
                  <a:latin typeface="Consolas"/>
                  <a:ea typeface="Consolas"/>
                  <a:cs typeface="Consolas"/>
                </a:rPr>
                <a:t>EDITABLE</a:t>
              </a:r>
              <a:endParaRPr lang="en-US" sz="1200" dirty="0"/>
            </a:p>
          </p:txBody>
        </p:sp>
        <p:sp>
          <p:nvSpPr>
            <p:cNvPr id="54" name="Text 55"/>
            <p:cNvSpPr txBox="1"/>
            <p:nvPr/>
          </p:nvSpPr>
          <p:spPr>
            <a:xfrm>
              <a:off x="9144000" y="4298950"/>
              <a:ext cx="1250424" cy="478790"/>
            </a:xfrm>
            <a:prstGeom prst="rect">
              <a:avLst/>
            </a:prstGeom>
            <a:noFill/>
          </p:spPr>
          <p:txBody>
            <a:bodyPr wrap="none" lIns="0" tIns="0" rIns="0" bIns="0" rtlCol="0" anchor="t">
              <a:noAutofit/>
            </a:bodyPr>
            <a:lstStyle/>
            <a:p>
              <a:pPr algn="l">
                <a:lnSpc>
                  <a:spcPts val="1800"/>
                </a:lnSpc>
                <a:spcBef>
                  <a:spcPts val="0"/>
                </a:spcBef>
                <a:spcAft>
                  <a:spcPts val="0"/>
                </a:spcAft>
              </a:pPr>
              <a:r>
                <a:rPr lang="en-US" sz="1200" b="0" dirty="0">
                  <a:solidFill>
                    <a:srgbClr val="EDE9E2"/>
                  </a:solidFill>
                  <a:latin typeface="Segoe UI"/>
                  <a:ea typeface="Segoe UI"/>
                  <a:cs typeface="Segoe UI"/>
                </a:rPr>
                <a:t>Chart = 4 rects.</a:t>
              </a:r>
              <a:endParaRPr lang="en-US" sz="1200" dirty="0"/>
            </a:p>
            <a:p>
              <a:pPr algn="l">
                <a:lnSpc>
                  <a:spcPts val="1800"/>
                </a:lnSpc>
                <a:spcBef>
                  <a:spcPts val="0"/>
                </a:spcBef>
                <a:spcAft>
                  <a:spcPts val="0"/>
                </a:spcAft>
              </a:pPr>
              <a:r>
                <a:rPr lang="en-US" sz="1200" b="0" dirty="0">
                  <a:solidFill>
                    <a:srgbClr val="EDE9E2"/>
                  </a:solidFill>
                  <a:latin typeface="Segoe UI"/>
                  <a:ea typeface="Segoe UI"/>
                  <a:cs typeface="Segoe UI"/>
                </a:rPr>
                <a:t>Recolour any bar.</a:t>
              </a:r>
              <a:endParaRPr lang="en-US" sz="1200" dirty="0"/>
            </a:p>
          </p:txBody>
        </p:sp>
        <p:sp>
          <p:nvSpPr>
            <p:cNvPr id="55" name="path 56"/>
            <p:cNvSpPr/>
            <p:nvPr/>
          </p:nvSpPr>
          <p:spPr>
            <a:xfrm>
              <a:off x="5829300" y="1657350"/>
              <a:ext cx="228600" cy="228600"/>
            </a:xfrm>
            <a:custGeom>
              <a:avLst/>
              <a:gdLst/>
              <a:ahLst/>
              <a:cxnLst/>
              <a:rect l="0" t="0" r="r" b="b"/>
              <a:pathLst>
                <a:path w="228600" h="228600" fill="none">
                  <a:moveTo>
                    <a:pt x="0" y="228600"/>
                  </a:moveTo>
                  <a:lnTo>
                    <a:pt x="0" y="0"/>
                  </a:lnTo>
                  <a:lnTo>
                    <a:pt x="228600" y="0"/>
                  </a:lnTo>
                </a:path>
              </a:pathLst>
            </a:custGeom>
            <a:noFill/>
            <a:ln w="19050" cap="flat">
              <a:solidFill>
                <a:srgbClr val="FF5B1F"/>
              </a:solidFill>
              <a:miter lim="800000"/>
            </a:ln>
          </p:spPr>
          <p:txBody>
            <a:bodyPr/>
            <a:lstStyle/>
            <a:p>
              <a:endParaRPr lang="en-US"/>
            </a:p>
          </p:txBody>
        </p:sp>
        <p:sp>
          <p:nvSpPr>
            <p:cNvPr id="56" name="path 57"/>
            <p:cNvSpPr/>
            <p:nvPr/>
          </p:nvSpPr>
          <p:spPr>
            <a:xfrm>
              <a:off x="11468100" y="1657350"/>
              <a:ext cx="228600" cy="228600"/>
            </a:xfrm>
            <a:custGeom>
              <a:avLst/>
              <a:gdLst/>
              <a:ahLst/>
              <a:cxnLst/>
              <a:rect l="0" t="0" r="r" b="b"/>
              <a:pathLst>
                <a:path w="228600" h="228600" fill="none">
                  <a:moveTo>
                    <a:pt x="0" y="0"/>
                  </a:moveTo>
                  <a:lnTo>
                    <a:pt x="228600" y="0"/>
                  </a:lnTo>
                  <a:lnTo>
                    <a:pt x="228600" y="228600"/>
                  </a:lnTo>
                </a:path>
              </a:pathLst>
            </a:custGeom>
            <a:noFill/>
            <a:ln w="19050" cap="flat">
              <a:solidFill>
                <a:srgbClr val="FF5B1F"/>
              </a:solidFill>
              <a:miter lim="800000"/>
            </a:ln>
          </p:spPr>
          <p:txBody>
            <a:bodyPr/>
            <a:lstStyle/>
            <a:p>
              <a:endParaRPr lang="en-US"/>
            </a:p>
          </p:txBody>
        </p:sp>
        <p:sp>
          <p:nvSpPr>
            <p:cNvPr id="57" name="path 58"/>
            <p:cNvSpPr/>
            <p:nvPr/>
          </p:nvSpPr>
          <p:spPr>
            <a:xfrm>
              <a:off x="5829300" y="5238750"/>
              <a:ext cx="228600" cy="228600"/>
            </a:xfrm>
            <a:custGeom>
              <a:avLst/>
              <a:gdLst/>
              <a:ahLst/>
              <a:cxnLst/>
              <a:rect l="0" t="0" r="r" b="b"/>
              <a:pathLst>
                <a:path w="228600" h="228600" fill="none">
                  <a:moveTo>
                    <a:pt x="0" y="0"/>
                  </a:moveTo>
                  <a:lnTo>
                    <a:pt x="0" y="228600"/>
                  </a:lnTo>
                  <a:lnTo>
                    <a:pt x="228600" y="228600"/>
                  </a:lnTo>
                </a:path>
              </a:pathLst>
            </a:custGeom>
            <a:noFill/>
            <a:ln w="19050" cap="flat">
              <a:solidFill>
                <a:srgbClr val="FF5B1F"/>
              </a:solidFill>
              <a:miter lim="800000"/>
            </a:ln>
          </p:spPr>
          <p:txBody>
            <a:bodyPr/>
            <a:lstStyle/>
            <a:p>
              <a:endParaRPr lang="en-US"/>
            </a:p>
          </p:txBody>
        </p:sp>
        <p:sp>
          <p:nvSpPr>
            <p:cNvPr id="58" name="path 59"/>
            <p:cNvSpPr/>
            <p:nvPr/>
          </p:nvSpPr>
          <p:spPr>
            <a:xfrm>
              <a:off x="11468100" y="5238750"/>
              <a:ext cx="228600" cy="228600"/>
            </a:xfrm>
            <a:custGeom>
              <a:avLst/>
              <a:gdLst/>
              <a:ahLst/>
              <a:cxnLst/>
              <a:rect l="0" t="0" r="r" b="b"/>
              <a:pathLst>
                <a:path w="228600" h="228600" fill="none">
                  <a:moveTo>
                    <a:pt x="0" y="228600"/>
                  </a:moveTo>
                  <a:lnTo>
                    <a:pt x="228600" y="228600"/>
                  </a:lnTo>
                  <a:lnTo>
                    <a:pt x="228600" y="0"/>
                  </a:lnTo>
                </a:path>
              </a:pathLst>
            </a:custGeom>
            <a:noFill/>
            <a:ln w="19050" cap="flat">
              <a:solidFill>
                <a:srgbClr val="FF5B1F"/>
              </a:solidFill>
              <a:miter lim="800000"/>
            </a:ln>
          </p:spPr>
          <p:txBody>
            <a:bodyPr/>
            <a:lstStyle/>
            <a:p>
              <a:endParaRPr lang="en-US"/>
            </a:p>
          </p:txBody>
        </p:sp>
      </p:grpSp>
      <p:grpSp>
        <p:nvGrpSpPr>
          <p:cNvPr id="71" name="selection"/>
          <p:cNvGrpSpPr/>
          <p:nvPr/>
        </p:nvGrpSpPr>
        <p:grpSpPr>
          <a:xfrm>
            <a:off x="6210300" y="2647950"/>
            <a:ext cx="4076700" cy="876300"/>
            <a:chOff x="6210300" y="2647950"/>
            <a:chExt cx="4076700" cy="876300"/>
          </a:xfrm>
        </p:grpSpPr>
        <p:sp>
          <p:nvSpPr>
            <p:cNvPr id="60" name="rect 61"/>
            <p:cNvSpPr/>
            <p:nvPr/>
          </p:nvSpPr>
          <p:spPr>
            <a:xfrm>
              <a:off x="6248400" y="2686050"/>
              <a:ext cx="3105150" cy="800100"/>
            </a:xfrm>
            <a:prstGeom prst="rect">
              <a:avLst/>
            </a:prstGeom>
            <a:noFill/>
            <a:ln w="14288" cap="flat">
              <a:solidFill>
                <a:srgbClr val="3D8BFF"/>
              </a:solidFill>
              <a:miter lim="800000"/>
            </a:ln>
          </p:spPr>
          <p:txBody>
            <a:bodyPr/>
            <a:lstStyle/>
            <a:p>
              <a:endParaRPr lang="en-US"/>
            </a:p>
          </p:txBody>
        </p:sp>
        <p:sp>
          <p:nvSpPr>
            <p:cNvPr id="61" name="rect 62"/>
            <p:cNvSpPr/>
            <p:nvPr/>
          </p:nvSpPr>
          <p:spPr>
            <a:xfrm>
              <a:off x="6210300" y="2647950"/>
              <a:ext cx="76200" cy="76200"/>
            </a:xfrm>
            <a:prstGeom prst="rect">
              <a:avLst/>
            </a:prstGeom>
            <a:solidFill>
              <a:srgbClr val="EDE9E2"/>
            </a:solidFill>
            <a:ln w="9525" cap="flat">
              <a:solidFill>
                <a:srgbClr val="3D8BFF"/>
              </a:solidFill>
              <a:miter lim="800000"/>
            </a:ln>
          </p:spPr>
          <p:txBody>
            <a:bodyPr/>
            <a:lstStyle/>
            <a:p>
              <a:endParaRPr lang="en-US"/>
            </a:p>
          </p:txBody>
        </p:sp>
        <p:sp>
          <p:nvSpPr>
            <p:cNvPr id="62" name="rect 63"/>
            <p:cNvSpPr/>
            <p:nvPr/>
          </p:nvSpPr>
          <p:spPr>
            <a:xfrm>
              <a:off x="7762875" y="2647950"/>
              <a:ext cx="76200" cy="76200"/>
            </a:xfrm>
            <a:prstGeom prst="rect">
              <a:avLst/>
            </a:prstGeom>
            <a:solidFill>
              <a:srgbClr val="EDE9E2"/>
            </a:solidFill>
            <a:ln w="9525" cap="flat">
              <a:solidFill>
                <a:srgbClr val="3D8BFF"/>
              </a:solidFill>
              <a:miter lim="800000"/>
            </a:ln>
          </p:spPr>
          <p:txBody>
            <a:bodyPr/>
            <a:lstStyle/>
            <a:p>
              <a:endParaRPr lang="en-US"/>
            </a:p>
          </p:txBody>
        </p:sp>
        <p:sp>
          <p:nvSpPr>
            <p:cNvPr id="63" name="rect 64"/>
            <p:cNvSpPr/>
            <p:nvPr/>
          </p:nvSpPr>
          <p:spPr>
            <a:xfrm>
              <a:off x="9315450" y="2647950"/>
              <a:ext cx="76200" cy="76200"/>
            </a:xfrm>
            <a:prstGeom prst="rect">
              <a:avLst/>
            </a:prstGeom>
            <a:solidFill>
              <a:srgbClr val="EDE9E2"/>
            </a:solidFill>
            <a:ln w="9525" cap="flat">
              <a:solidFill>
                <a:srgbClr val="3D8BFF"/>
              </a:solidFill>
              <a:miter lim="800000"/>
            </a:ln>
          </p:spPr>
          <p:txBody>
            <a:bodyPr/>
            <a:lstStyle/>
            <a:p>
              <a:endParaRPr lang="en-US"/>
            </a:p>
          </p:txBody>
        </p:sp>
        <p:sp>
          <p:nvSpPr>
            <p:cNvPr id="64" name="rect 65"/>
            <p:cNvSpPr/>
            <p:nvPr/>
          </p:nvSpPr>
          <p:spPr>
            <a:xfrm>
              <a:off x="6210300" y="3048000"/>
              <a:ext cx="76200" cy="76200"/>
            </a:xfrm>
            <a:prstGeom prst="rect">
              <a:avLst/>
            </a:prstGeom>
            <a:solidFill>
              <a:srgbClr val="EDE9E2"/>
            </a:solidFill>
            <a:ln w="9525" cap="flat">
              <a:solidFill>
                <a:srgbClr val="3D8BFF"/>
              </a:solidFill>
              <a:miter lim="800000"/>
            </a:ln>
          </p:spPr>
          <p:txBody>
            <a:bodyPr/>
            <a:lstStyle/>
            <a:p>
              <a:endParaRPr lang="en-US"/>
            </a:p>
          </p:txBody>
        </p:sp>
        <p:sp>
          <p:nvSpPr>
            <p:cNvPr id="65" name="rect 66"/>
            <p:cNvSpPr/>
            <p:nvPr/>
          </p:nvSpPr>
          <p:spPr>
            <a:xfrm>
              <a:off x="9315450" y="3048000"/>
              <a:ext cx="76200" cy="76200"/>
            </a:xfrm>
            <a:prstGeom prst="rect">
              <a:avLst/>
            </a:prstGeom>
            <a:solidFill>
              <a:srgbClr val="EDE9E2"/>
            </a:solidFill>
            <a:ln w="9525" cap="flat">
              <a:solidFill>
                <a:srgbClr val="3D8BFF"/>
              </a:solidFill>
              <a:miter lim="800000"/>
            </a:ln>
          </p:spPr>
          <p:txBody>
            <a:bodyPr/>
            <a:lstStyle/>
            <a:p>
              <a:endParaRPr lang="en-US"/>
            </a:p>
          </p:txBody>
        </p:sp>
        <p:sp>
          <p:nvSpPr>
            <p:cNvPr id="66" name="rect 67"/>
            <p:cNvSpPr/>
            <p:nvPr/>
          </p:nvSpPr>
          <p:spPr>
            <a:xfrm>
              <a:off x="6210300" y="3448050"/>
              <a:ext cx="76200" cy="76200"/>
            </a:xfrm>
            <a:prstGeom prst="rect">
              <a:avLst/>
            </a:prstGeom>
            <a:solidFill>
              <a:srgbClr val="EDE9E2"/>
            </a:solidFill>
            <a:ln w="9525" cap="flat">
              <a:solidFill>
                <a:srgbClr val="3D8BFF"/>
              </a:solidFill>
              <a:miter lim="800000"/>
            </a:ln>
          </p:spPr>
          <p:txBody>
            <a:bodyPr/>
            <a:lstStyle/>
            <a:p>
              <a:endParaRPr lang="en-US"/>
            </a:p>
          </p:txBody>
        </p:sp>
        <p:sp>
          <p:nvSpPr>
            <p:cNvPr id="67" name="rect 68"/>
            <p:cNvSpPr/>
            <p:nvPr/>
          </p:nvSpPr>
          <p:spPr>
            <a:xfrm>
              <a:off x="7762875" y="3448050"/>
              <a:ext cx="76200" cy="76200"/>
            </a:xfrm>
            <a:prstGeom prst="rect">
              <a:avLst/>
            </a:prstGeom>
            <a:solidFill>
              <a:srgbClr val="EDE9E2"/>
            </a:solidFill>
            <a:ln w="9525" cap="flat">
              <a:solidFill>
                <a:srgbClr val="3D8BFF"/>
              </a:solidFill>
              <a:miter lim="800000"/>
            </a:ln>
          </p:spPr>
          <p:txBody>
            <a:bodyPr/>
            <a:lstStyle/>
            <a:p>
              <a:endParaRPr lang="en-US"/>
            </a:p>
          </p:txBody>
        </p:sp>
        <p:sp>
          <p:nvSpPr>
            <p:cNvPr id="68" name="rect 69"/>
            <p:cNvSpPr/>
            <p:nvPr/>
          </p:nvSpPr>
          <p:spPr>
            <a:xfrm>
              <a:off x="9315450" y="3448050"/>
              <a:ext cx="76200" cy="76200"/>
            </a:xfrm>
            <a:prstGeom prst="rect">
              <a:avLst/>
            </a:prstGeom>
            <a:solidFill>
              <a:srgbClr val="EDE9E2"/>
            </a:solidFill>
            <a:ln w="9525" cap="flat">
              <a:solidFill>
                <a:srgbClr val="3D8BFF"/>
              </a:solidFill>
              <a:miter lim="800000"/>
            </a:ln>
          </p:spPr>
          <p:txBody>
            <a:bodyPr/>
            <a:lstStyle/>
            <a:p>
              <a:endParaRPr lang="en-US"/>
            </a:p>
          </p:txBody>
        </p:sp>
        <p:sp>
          <p:nvSpPr>
            <p:cNvPr id="69" name="rect 70"/>
            <p:cNvSpPr/>
            <p:nvPr/>
          </p:nvSpPr>
          <p:spPr>
            <a:xfrm>
              <a:off x="9467850" y="2971800"/>
              <a:ext cx="819150" cy="228600"/>
            </a:xfrm>
            <a:prstGeom prst="roundRect">
              <a:avLst>
                <a:gd name="adj" fmla="val 8333"/>
              </a:avLst>
            </a:prstGeom>
            <a:solidFill>
              <a:srgbClr val="0A0B0D"/>
            </a:solidFill>
            <a:ln w="9525" cap="flat">
              <a:solidFill>
                <a:srgbClr val="3D8BFF"/>
              </a:solidFill>
              <a:miter lim="800000"/>
            </a:ln>
          </p:spPr>
          <p:txBody>
            <a:bodyPr/>
            <a:lstStyle/>
            <a:p>
              <a:endParaRPr lang="en-US"/>
            </a:p>
          </p:txBody>
        </p:sp>
        <p:sp>
          <p:nvSpPr>
            <p:cNvPr id="70" name="Text 71"/>
            <p:cNvSpPr txBox="1"/>
            <p:nvPr/>
          </p:nvSpPr>
          <p:spPr>
            <a:xfrm>
              <a:off x="9509808" y="2994025"/>
              <a:ext cx="735235" cy="212090"/>
            </a:xfrm>
            <a:prstGeom prst="rect">
              <a:avLst/>
            </a:prstGeom>
            <a:noFill/>
          </p:spPr>
          <p:txBody>
            <a:bodyPr wrap="none" lIns="0" tIns="0" rIns="0" bIns="0" rtlCol="0" anchor="t">
              <a:noAutofit/>
            </a:bodyPr>
            <a:lstStyle/>
            <a:p>
              <a:pPr algn="ctr">
                <a:spcBef>
                  <a:spcPts val="0"/>
                </a:spcBef>
                <a:spcAft>
                  <a:spcPts val="0"/>
                </a:spcAft>
              </a:pPr>
              <a:r>
                <a:rPr lang="en-US" sz="1200" b="0" dirty="0">
                  <a:solidFill>
                    <a:srgbClr val="3D8BFF"/>
                  </a:solidFill>
                  <a:latin typeface="Consolas"/>
                  <a:ea typeface="Consolas"/>
                  <a:cs typeface="Consolas"/>
                </a:rPr>
                <a:t>Text box</a:t>
              </a:r>
              <a:endParaRPr lang="en-US" sz="1200" dirty="0"/>
            </a:p>
          </p:txBody>
        </p:sp>
      </p:grpSp>
      <p:grpSp>
        <p:nvGrpSpPr>
          <p:cNvPr id="79" name="format-tags"/>
          <p:cNvGrpSpPr/>
          <p:nvPr/>
        </p:nvGrpSpPr>
        <p:grpSpPr>
          <a:xfrm>
            <a:off x="609600" y="5619750"/>
            <a:ext cx="10572750" cy="266700"/>
            <a:chOff x="609600" y="5619750"/>
            <a:chExt cx="10572750" cy="266700"/>
          </a:xfrm>
        </p:grpSpPr>
        <p:sp>
          <p:nvSpPr>
            <p:cNvPr id="72" name="Text 73"/>
            <p:cNvSpPr txBox="1"/>
            <p:nvPr/>
          </p:nvSpPr>
          <p:spPr>
            <a:xfrm>
              <a:off x="609600" y="5648325"/>
              <a:ext cx="2805511"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Segoe UI"/>
                  <a:ea typeface="Segoe UI"/>
                  <a:cs typeface="Segoe UI"/>
                </a:rPr>
                <a:t>Hand-written SVG in, native shapes out.</a:t>
              </a:r>
              <a:endParaRPr lang="en-US" sz="1200" dirty="0"/>
            </a:p>
          </p:txBody>
        </p:sp>
        <p:sp>
          <p:nvSpPr>
            <p:cNvPr id="73" name="rect 74"/>
            <p:cNvSpPr/>
            <p:nvPr/>
          </p:nvSpPr>
          <p:spPr>
            <a:xfrm>
              <a:off x="5943600" y="5619750"/>
              <a:ext cx="1485900" cy="266700"/>
            </a:xfrm>
            <a:prstGeom prst="roundRect">
              <a:avLst>
                <a:gd name="adj" fmla="val 7143"/>
              </a:avLst>
            </a:prstGeom>
            <a:noFill/>
            <a:ln w="9525" cap="flat">
              <a:solidFill>
                <a:srgbClr val="4A5058"/>
              </a:solidFill>
              <a:miter lim="800000"/>
            </a:ln>
          </p:spPr>
          <p:txBody>
            <a:bodyPr/>
            <a:lstStyle/>
            <a:p>
              <a:endParaRPr lang="en-US"/>
            </a:p>
          </p:txBody>
        </p:sp>
        <p:sp>
          <p:nvSpPr>
            <p:cNvPr id="74" name="Text 75"/>
            <p:cNvSpPr txBox="1"/>
            <p:nvPr/>
          </p:nvSpPr>
          <p:spPr>
            <a:xfrm>
              <a:off x="6057507" y="5661025"/>
              <a:ext cx="1258086" cy="212090"/>
            </a:xfrm>
            <a:prstGeom prst="rect">
              <a:avLst/>
            </a:prstGeom>
            <a:noFill/>
          </p:spPr>
          <p:txBody>
            <a:bodyPr wrap="none" lIns="0" tIns="0" rIns="0" bIns="0" rtlCol="0" anchor="t">
              <a:noAutofit/>
            </a:bodyPr>
            <a:lstStyle/>
            <a:p>
              <a:pPr algn="ctr">
                <a:spcBef>
                  <a:spcPts val="0"/>
                </a:spcBef>
                <a:spcAft>
                  <a:spcPts val="0"/>
                </a:spcAft>
              </a:pPr>
              <a:r>
                <a:rPr lang="en-US" sz="1200" b="0" dirty="0">
                  <a:solidFill>
                    <a:srgbClr val="EDE9E2"/>
                  </a:solidFill>
                  <a:latin typeface="Consolas"/>
                  <a:ea typeface="Consolas"/>
                  <a:cs typeface="Consolas"/>
                </a:rPr>
                <a:t>&lt;rect&gt; → Shape</a:t>
              </a:r>
              <a:endParaRPr lang="en-US" sz="1200" dirty="0"/>
            </a:p>
          </p:txBody>
        </p:sp>
        <p:sp>
          <p:nvSpPr>
            <p:cNvPr id="75" name="rect 76"/>
            <p:cNvSpPr/>
            <p:nvPr/>
          </p:nvSpPr>
          <p:spPr>
            <a:xfrm>
              <a:off x="7581900" y="5619750"/>
              <a:ext cx="1724025" cy="266700"/>
            </a:xfrm>
            <a:prstGeom prst="roundRect">
              <a:avLst>
                <a:gd name="adj" fmla="val 7143"/>
              </a:avLst>
            </a:prstGeom>
            <a:noFill/>
            <a:ln w="9525" cap="flat">
              <a:solidFill>
                <a:srgbClr val="4A5058"/>
              </a:solidFill>
              <a:miter lim="800000"/>
            </a:ln>
          </p:spPr>
          <p:txBody>
            <a:bodyPr/>
            <a:lstStyle/>
            <a:p>
              <a:endParaRPr lang="en-US"/>
            </a:p>
          </p:txBody>
        </p:sp>
        <p:sp>
          <p:nvSpPr>
            <p:cNvPr id="76" name="Text 77"/>
            <p:cNvSpPr txBox="1"/>
            <p:nvPr/>
          </p:nvSpPr>
          <p:spPr>
            <a:xfrm>
              <a:off x="7684157" y="5661025"/>
              <a:ext cx="1519511" cy="212090"/>
            </a:xfrm>
            <a:prstGeom prst="rect">
              <a:avLst/>
            </a:prstGeom>
            <a:noFill/>
          </p:spPr>
          <p:txBody>
            <a:bodyPr wrap="none" lIns="0" tIns="0" rIns="0" bIns="0" rtlCol="0" anchor="t">
              <a:noAutofit/>
            </a:bodyPr>
            <a:lstStyle/>
            <a:p>
              <a:pPr algn="ctr">
                <a:spcBef>
                  <a:spcPts val="0"/>
                </a:spcBef>
                <a:spcAft>
                  <a:spcPts val="0"/>
                </a:spcAft>
              </a:pPr>
              <a:r>
                <a:rPr lang="en-US" sz="1200" b="0" dirty="0">
                  <a:solidFill>
                    <a:srgbClr val="EDE9E2"/>
                  </a:solidFill>
                  <a:latin typeface="Consolas"/>
                  <a:ea typeface="Consolas"/>
                  <a:cs typeface="Consolas"/>
                </a:rPr>
                <a:t>&lt;text&gt; → Text box</a:t>
              </a:r>
              <a:endParaRPr lang="en-US" sz="1200" dirty="0"/>
            </a:p>
          </p:txBody>
        </p:sp>
        <p:sp>
          <p:nvSpPr>
            <p:cNvPr id="77" name="rect 78"/>
            <p:cNvSpPr/>
            <p:nvPr/>
          </p:nvSpPr>
          <p:spPr>
            <a:xfrm>
              <a:off x="9458325" y="5619750"/>
              <a:ext cx="1724025" cy="266700"/>
            </a:xfrm>
            <a:prstGeom prst="roundRect">
              <a:avLst>
                <a:gd name="adj" fmla="val 7143"/>
              </a:avLst>
            </a:prstGeom>
            <a:noFill/>
            <a:ln w="9525" cap="flat">
              <a:solidFill>
                <a:srgbClr val="4A5058"/>
              </a:solidFill>
              <a:miter lim="800000"/>
            </a:ln>
          </p:spPr>
          <p:txBody>
            <a:bodyPr/>
            <a:lstStyle/>
            <a:p>
              <a:endParaRPr lang="en-US"/>
            </a:p>
          </p:txBody>
        </p:sp>
        <p:sp>
          <p:nvSpPr>
            <p:cNvPr id="78" name="Text 79"/>
            <p:cNvSpPr txBox="1"/>
            <p:nvPr/>
          </p:nvSpPr>
          <p:spPr>
            <a:xfrm>
              <a:off x="9560582" y="5661025"/>
              <a:ext cx="1519511" cy="212090"/>
            </a:xfrm>
            <a:prstGeom prst="rect">
              <a:avLst/>
            </a:prstGeom>
            <a:noFill/>
          </p:spPr>
          <p:txBody>
            <a:bodyPr wrap="none" lIns="0" tIns="0" rIns="0" bIns="0" rtlCol="0" anchor="t">
              <a:noAutofit/>
            </a:bodyPr>
            <a:lstStyle/>
            <a:p>
              <a:pPr algn="ctr">
                <a:spcBef>
                  <a:spcPts val="0"/>
                </a:spcBef>
                <a:spcAft>
                  <a:spcPts val="0"/>
                </a:spcAft>
              </a:pPr>
              <a:r>
                <a:rPr lang="en-US" sz="1200" b="0" dirty="0">
                  <a:solidFill>
                    <a:srgbClr val="EDE9E2"/>
                  </a:solidFill>
                  <a:latin typeface="Consolas"/>
                  <a:ea typeface="Consolas"/>
                  <a:cs typeface="Consolas"/>
                </a:rPr>
                <a:t>&lt;path&gt; → Freeform</a:t>
              </a:r>
              <a:endParaRPr lang="en-US" sz="1200" dirty="0"/>
            </a:p>
          </p:txBody>
        </p:sp>
      </p:grpSp>
      <p:grpSp>
        <p:nvGrpSpPr>
          <p:cNvPr id="83" name="footer-progress"/>
          <p:cNvGrpSpPr/>
          <p:nvPr/>
        </p:nvGrpSpPr>
        <p:grpSpPr>
          <a:xfrm>
            <a:off x="609600" y="6080125"/>
            <a:ext cx="10972800" cy="212090"/>
            <a:chOff x="609600" y="6080125"/>
            <a:chExt cx="10972800" cy="212090"/>
          </a:xfrm>
        </p:grpSpPr>
        <p:sp>
          <p:nvSpPr>
            <p:cNvPr id="80" name="rect 81"/>
            <p:cNvSpPr/>
            <p:nvPr/>
          </p:nvSpPr>
          <p:spPr>
            <a:xfrm>
              <a:off x="609600" y="6162675"/>
              <a:ext cx="10344150" cy="9525"/>
            </a:xfrm>
            <a:prstGeom prst="rect">
              <a:avLst/>
            </a:prstGeom>
            <a:solidFill>
              <a:srgbClr val="2A2E35"/>
            </a:solidFill>
            <a:ln>
              <a:noFill/>
            </a:ln>
          </p:spPr>
          <p:txBody>
            <a:bodyPr/>
            <a:lstStyle/>
            <a:p>
              <a:endParaRPr lang="en-US"/>
            </a:p>
          </p:txBody>
        </p:sp>
        <p:sp>
          <p:nvSpPr>
            <p:cNvPr id="81" name="rect 82"/>
            <p:cNvSpPr/>
            <p:nvPr/>
          </p:nvSpPr>
          <p:spPr>
            <a:xfrm>
              <a:off x="609600" y="6153150"/>
              <a:ext cx="7991475" cy="28575"/>
            </a:xfrm>
            <a:prstGeom prst="rect">
              <a:avLst/>
            </a:prstGeom>
            <a:solidFill>
              <a:srgbClr val="FF5B1F"/>
            </a:solidFill>
            <a:ln>
              <a:noFill/>
            </a:ln>
          </p:spPr>
          <p:txBody>
            <a:bodyPr/>
            <a:lstStyle/>
            <a:p>
              <a:endParaRPr lang="en-US"/>
            </a:p>
          </p:txBody>
        </p:sp>
        <p:sp>
          <p:nvSpPr>
            <p:cNvPr id="82" name="Text 83"/>
            <p:cNvSpPr txBox="1"/>
            <p:nvPr/>
          </p:nvSpPr>
          <p:spPr>
            <a:xfrm>
              <a:off x="10934307" y="6080125"/>
              <a:ext cx="648093" cy="212090"/>
            </a:xfrm>
            <a:prstGeom prst="rect">
              <a:avLst/>
            </a:prstGeom>
            <a:noFill/>
          </p:spPr>
          <p:txBody>
            <a:bodyPr wrap="none" lIns="0" tIns="0" rIns="0" bIns="0" rtlCol="0" anchor="t">
              <a:noAutofit/>
            </a:bodyPr>
            <a:lstStyle/>
            <a:p>
              <a:pPr algn="r">
                <a:spcBef>
                  <a:spcPts val="0"/>
                </a:spcBef>
                <a:spcAft>
                  <a:spcPts val="0"/>
                </a:spcAft>
              </a:pPr>
              <a:r>
                <a:rPr lang="en-US" sz="1200" b="0" dirty="0">
                  <a:solidFill>
                    <a:srgbClr val="9C9A94"/>
                  </a:solidFill>
                  <a:latin typeface="Consolas"/>
                  <a:ea typeface="Consolas"/>
                  <a:cs typeface="Consolas"/>
                </a:rPr>
                <a:t>17 / 22</a:t>
              </a:r>
              <a:endParaRPr lang="en-US" sz="120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ppt_y</p:attrName>
                                        </p:attrNameLst>
                                      </p:cBhvr>
                                      <p:tavLst>
                                        <p:tav tm="0">
                                          <p:val>
                                            <p:strVal val="#ppt_y+.1"/>
                                          </p:val>
                                        </p:tav>
                                        <p:tav tm="100000">
                                          <p:val>
                                            <p:strVal val="#ppt_y"/>
                                          </p:val>
                                        </p:tav>
                                      </p:tavLst>
                                    </p:anim>
                                    <p:animEffect transition="in" filter="fade">
                                      <p:cBhvr>
                                        <p:cTn id="8" dur="500"/>
                                        <p:tgtEl>
                                          <p:spTgt spid="6"/>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1"/>
                                        </p:tgtEl>
                                        <p:attrNameLst>
                                          <p:attrName>style.visibility</p:attrName>
                                        </p:attrNameLst>
                                      </p:cBhvr>
                                      <p:to>
                                        <p:strVal val="visible"/>
                                      </p:to>
                                    </p:set>
                                    <p:anim calcmode="lin" valueType="num">
                                      <p:cBhvr additive="base">
                                        <p:cTn id="13" dur="550" fill="hold"/>
                                        <p:tgtEl>
                                          <p:spTgt spid="31"/>
                                        </p:tgtEl>
                                        <p:attrNameLst>
                                          <p:attrName>ppt_x</p:attrName>
                                        </p:attrNameLst>
                                      </p:cBhvr>
                                      <p:tavLst>
                                        <p:tav tm="0">
                                          <p:val>
                                            <p:strVal val="0-#ppt_w/2"/>
                                          </p:val>
                                        </p:tav>
                                        <p:tav tm="100000">
                                          <p:val>
                                            <p:strVal val="#ppt_x"/>
                                          </p:val>
                                        </p:tav>
                                      </p:tavLst>
                                    </p:anim>
                                    <p:anim calcmode="lin" valueType="num">
                                      <p:cBhvr additive="base">
                                        <p:cTn id="14" dur="550" fill="hold"/>
                                        <p:tgtEl>
                                          <p:spTgt spid="31"/>
                                        </p:tgtEl>
                                        <p:attrNameLst>
                                          <p:attrName>ppt_y</p:attrName>
                                        </p:attrNameLst>
                                      </p:cBhvr>
                                      <p:tavLst>
                                        <p:tav tm="0">
                                          <p:val>
                                            <p:strVal val="#ppt_y"/>
                                          </p:val>
                                        </p:tav>
                                        <p:tav tm="100000">
                                          <p:val>
                                            <p:strVal val="#ppt_y"/>
                                          </p:val>
                                        </p:tav>
                                      </p:tavLst>
                                    </p:anim>
                                  </p:childTnLst>
                                </p:cTn>
                              </p:par>
                            </p:childTnLst>
                          </p:cTn>
                        </p:par>
                        <p:par>
                          <p:cTn id="15" fill="hold">
                            <p:stCondLst>
                              <p:cond delay="550"/>
                            </p:stCondLst>
                            <p:childTnLst>
                              <p:par>
                                <p:cTn id="16" presetID="22" presetClass="entr" presetSubtype="8" fill="hold" nodeType="after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wipe(left)">
                                      <p:cBhvr>
                                        <p:cTn id="18" dur="500"/>
                                        <p:tgtEl>
                                          <p:spTgt spid="36"/>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0"/>
                                  </p:stCondLst>
                                  <p:childTnLst>
                                    <p:set>
                                      <p:cBhvr>
                                        <p:cTn id="22" dur="1" fill="hold">
                                          <p:stCondLst>
                                            <p:cond delay="0"/>
                                          </p:stCondLst>
                                        </p:cTn>
                                        <p:tgtEl>
                                          <p:spTgt spid="59"/>
                                        </p:tgtEl>
                                        <p:attrNameLst>
                                          <p:attrName>style.visibility</p:attrName>
                                        </p:attrNameLst>
                                      </p:cBhvr>
                                      <p:to>
                                        <p:strVal val="visible"/>
                                      </p:to>
                                    </p:set>
                                    <p:anim calcmode="lin" valueType="num">
                                      <p:cBhvr additive="base">
                                        <p:cTn id="23" dur="550" fill="hold"/>
                                        <p:tgtEl>
                                          <p:spTgt spid="59"/>
                                        </p:tgtEl>
                                        <p:attrNameLst>
                                          <p:attrName>ppt_x</p:attrName>
                                        </p:attrNameLst>
                                      </p:cBhvr>
                                      <p:tavLst>
                                        <p:tav tm="0">
                                          <p:val>
                                            <p:strVal val="1+#ppt_w/2"/>
                                          </p:val>
                                        </p:tav>
                                        <p:tav tm="100000">
                                          <p:val>
                                            <p:strVal val="#ppt_x"/>
                                          </p:val>
                                        </p:tav>
                                      </p:tavLst>
                                    </p:anim>
                                    <p:anim calcmode="lin" valueType="num">
                                      <p:cBhvr additive="base">
                                        <p:cTn id="24" dur="550" fill="hold"/>
                                        <p:tgtEl>
                                          <p:spTgt spid="59"/>
                                        </p:tgtEl>
                                        <p:attrNameLst>
                                          <p:attrName>ppt_y</p:attrName>
                                        </p:attrNameLst>
                                      </p:cBhvr>
                                      <p:tavLst>
                                        <p:tav tm="0">
                                          <p:val>
                                            <p:strVal val="#ppt_y"/>
                                          </p:val>
                                        </p:tav>
                                        <p:tav tm="100000">
                                          <p:val>
                                            <p:strVal val="#ppt_y"/>
                                          </p:val>
                                        </p:tav>
                                      </p:tavLst>
                                    </p:anim>
                                  </p:childTnLst>
                                </p:cTn>
                              </p:par>
                            </p:childTnLst>
                          </p:cTn>
                        </p:par>
                        <p:par>
                          <p:cTn id="25" fill="hold">
                            <p:stCondLst>
                              <p:cond delay="550"/>
                            </p:stCondLst>
                            <p:childTnLst>
                              <p:par>
                                <p:cTn id="26" presetID="10" presetClass="entr" presetSubtype="0" fill="hold" nodeType="afterEffect">
                                  <p:stCondLst>
                                    <p:cond delay="0"/>
                                  </p:stCondLst>
                                  <p:childTnLst>
                                    <p:set>
                                      <p:cBhvr>
                                        <p:cTn id="27" dur="1" fill="hold">
                                          <p:stCondLst>
                                            <p:cond delay="0"/>
                                          </p:stCondLst>
                                        </p:cTn>
                                        <p:tgtEl>
                                          <p:spTgt spid="71"/>
                                        </p:tgtEl>
                                        <p:attrNameLst>
                                          <p:attrName>style.visibility</p:attrName>
                                        </p:attrNameLst>
                                      </p:cBhvr>
                                      <p:to>
                                        <p:strVal val="visible"/>
                                      </p:to>
                                    </p:set>
                                    <p:animEffect transition="in" filter="fade">
                                      <p:cBhvr>
                                        <p:cTn id="28" dur="450"/>
                                        <p:tgtEl>
                                          <p:spTgt spid="71"/>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79"/>
                                        </p:tgtEl>
                                        <p:attrNameLst>
                                          <p:attrName>style.visibility</p:attrName>
                                        </p:attrNameLst>
                                      </p:cBhvr>
                                      <p:to>
                                        <p:strVal val="visible"/>
                                      </p:to>
                                    </p:set>
                                    <p:anim calcmode="lin" valueType="num">
                                      <p:cBhvr>
                                        <p:cTn id="33" dur="500" fill="hold"/>
                                        <p:tgtEl>
                                          <p:spTgt spid="79"/>
                                        </p:tgtEl>
                                        <p:attrNameLst>
                                          <p:attrName>ppt_y</p:attrName>
                                        </p:attrNameLst>
                                      </p:cBhvr>
                                      <p:tavLst>
                                        <p:tav tm="0">
                                          <p:val>
                                            <p:strVal val="#ppt_y+.1"/>
                                          </p:val>
                                        </p:tav>
                                        <p:tav tm="100000">
                                          <p:val>
                                            <p:strVal val="#ppt_y"/>
                                          </p:val>
                                        </p:tav>
                                      </p:tavLst>
                                    </p:anim>
                                    <p:animEffect transition="in" filter="fade">
                                      <p:cBhvr>
                                        <p:cTn id="34"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B0D"/>
        </a:solidFill>
        <a:effectLst/>
      </p:bgPr>
    </p:bg>
    <p:spTree>
      <p:nvGrpSpPr>
        <p:cNvPr id="1" name=""/>
        <p:cNvGrpSpPr/>
        <p:nvPr/>
      </p:nvGrpSpPr>
      <p:grpSpPr>
        <a:xfrm>
          <a:off x="0" y="0"/>
          <a:ext cx="0" cy="0"/>
          <a:chOff x="0" y="0"/>
          <a:chExt cx="0" cy="0"/>
        </a:xfrm>
      </p:grpSpPr>
      <p:sp>
        <p:nvSpPr>
          <p:cNvPr id="2" name="ellipse 3"/>
          <p:cNvSpPr/>
          <p:nvPr/>
        </p:nvSpPr>
        <p:spPr>
          <a:xfrm>
            <a:off x="2667000" y="1314450"/>
            <a:ext cx="6858000" cy="4953000"/>
          </a:xfrm>
          <a:prstGeom prst="ellipse">
            <a:avLst/>
          </a:prstGeom>
          <a:gradFill rotWithShape="1">
            <a:gsLst>
              <a:gs pos="0">
                <a:srgbClr val="3D8BFF">
                  <a:alpha val="22000"/>
                </a:srgbClr>
              </a:gs>
              <a:gs pos="100000">
                <a:srgbClr val="3D8BFF">
                  <a:alpha val="0"/>
                </a:srgbClr>
              </a:gs>
            </a:gsLst>
            <a:path path="circle">
              <a:fillToRect l="50000" t="50000" r="50000" b="50000"/>
            </a:path>
          </a:gradFill>
          <a:ln>
            <a:noFill/>
          </a:ln>
        </p:spPr>
        <p:txBody>
          <a:bodyPr/>
          <a:lstStyle/>
          <a:p>
            <a:endParaRPr lang="en-US"/>
          </a:p>
        </p:txBody>
      </p:sp>
      <p:grpSp>
        <p:nvGrpSpPr>
          <p:cNvPr id="7" name="title-block"/>
          <p:cNvGrpSpPr/>
          <p:nvPr/>
        </p:nvGrpSpPr>
        <p:grpSpPr>
          <a:xfrm>
            <a:off x="742950" y="495300"/>
            <a:ext cx="10706100" cy="1289685"/>
            <a:chOff x="742950" y="495300"/>
            <a:chExt cx="10706100" cy="1289685"/>
          </a:xfrm>
        </p:grpSpPr>
        <p:sp>
          <p:nvSpPr>
            <p:cNvPr id="3" name="rect 4"/>
            <p:cNvSpPr/>
            <p:nvPr/>
          </p:nvSpPr>
          <p:spPr>
            <a:xfrm>
              <a:off x="742950" y="495300"/>
              <a:ext cx="457200" cy="57150"/>
            </a:xfrm>
            <a:prstGeom prst="roundRect">
              <a:avLst>
                <a:gd name="adj" fmla="val 50000"/>
              </a:avLst>
            </a:prstGeom>
            <a:solidFill>
              <a:srgbClr val="FF5B1F"/>
            </a:solidFill>
            <a:ln>
              <a:noFill/>
            </a:ln>
          </p:spPr>
          <p:txBody>
            <a:bodyPr/>
            <a:lstStyle/>
            <a:p>
              <a:endParaRPr lang="en-US"/>
            </a:p>
          </p:txBody>
        </p:sp>
        <p:sp>
          <p:nvSpPr>
            <p:cNvPr id="4" name="Text 5"/>
            <p:cNvSpPr txBox="1"/>
            <p:nvPr/>
          </p:nvSpPr>
          <p:spPr>
            <a:xfrm>
              <a:off x="742950" y="730250"/>
              <a:ext cx="5965343" cy="1054735"/>
            </a:xfrm>
            <a:prstGeom prst="rect">
              <a:avLst/>
            </a:prstGeom>
            <a:noFill/>
          </p:spPr>
          <p:txBody>
            <a:bodyPr wrap="none" lIns="0" tIns="0" rIns="0" bIns="0" rtlCol="0" anchor="t">
              <a:noAutofit/>
            </a:bodyPr>
            <a:lstStyle/>
            <a:p>
              <a:pPr algn="l">
                <a:lnSpc>
                  <a:spcPts val="3900"/>
                </a:lnSpc>
                <a:spcBef>
                  <a:spcPts val="0"/>
                </a:spcBef>
                <a:spcAft>
                  <a:spcPts val="0"/>
                </a:spcAft>
              </a:pPr>
              <a:r>
                <a:rPr lang="en-US" sz="3300" b="1" spc="-15" dirty="0">
                  <a:solidFill>
                    <a:srgbClr val="EDE9E2"/>
                  </a:solidFill>
                  <a:latin typeface="Bahnschrift"/>
                  <a:ea typeface="Bahnschrift"/>
                  <a:cs typeface="Bahnschrift"/>
                </a:rPr>
                <a:t>Presentation Studio: from brief</a:t>
              </a:r>
              <a:endParaRPr lang="en-US" sz="3300" dirty="0"/>
            </a:p>
            <a:p>
              <a:pPr algn="l">
                <a:lnSpc>
                  <a:spcPts val="3900"/>
                </a:lnSpc>
                <a:spcBef>
                  <a:spcPts val="0"/>
                </a:spcBef>
                <a:spcAft>
                  <a:spcPts val="0"/>
                </a:spcAft>
              </a:pPr>
              <a:r>
                <a:rPr lang="en-US" sz="3300" b="1" spc="-15" dirty="0">
                  <a:solidFill>
                    <a:srgbClr val="EDE9E2"/>
                  </a:solidFill>
                  <a:latin typeface="Bahnschrift"/>
                  <a:ea typeface="Bahnschrift"/>
                  <a:cs typeface="Bahnschrift"/>
                </a:rPr>
                <a:t>to native, animated slides</a:t>
              </a:r>
              <a:endParaRPr lang="en-US" sz="3300" dirty="0"/>
            </a:p>
          </p:txBody>
        </p:sp>
        <p:sp>
          <p:nvSpPr>
            <p:cNvPr id="5" name="rect 6"/>
            <p:cNvSpPr/>
            <p:nvPr/>
          </p:nvSpPr>
          <p:spPr>
            <a:xfrm>
              <a:off x="9067800" y="800100"/>
              <a:ext cx="2381250" cy="304800"/>
            </a:xfrm>
            <a:prstGeom prst="roundRect">
              <a:avLst>
                <a:gd name="adj" fmla="val 6250"/>
              </a:avLst>
            </a:prstGeom>
            <a:noFill/>
            <a:ln w="9525" cap="flat">
              <a:solidFill>
                <a:srgbClr val="2A2E35"/>
              </a:solidFill>
              <a:miter lim="800000"/>
            </a:ln>
          </p:spPr>
          <p:txBody>
            <a:bodyPr/>
            <a:lstStyle/>
            <a:p>
              <a:endParaRPr lang="en-US"/>
            </a:p>
          </p:txBody>
        </p:sp>
        <p:sp>
          <p:nvSpPr>
            <p:cNvPr id="6" name="Text 7"/>
            <p:cNvSpPr txBox="1"/>
            <p:nvPr/>
          </p:nvSpPr>
          <p:spPr>
            <a:xfrm>
              <a:off x="9220200" y="873125"/>
              <a:ext cx="1868079"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9C9A94"/>
                  </a:solidFill>
                  <a:latin typeface="Consolas"/>
                  <a:ea typeface="Consolas"/>
                  <a:cs typeface="Consolas"/>
                </a:rPr>
                <a:t>SVG → native PPTX shapes</a:t>
              </a:r>
              <a:endParaRPr lang="en-US" sz="1050" dirty="0"/>
            </a:p>
          </p:txBody>
        </p:sp>
      </p:grpSp>
      <p:grpSp>
        <p:nvGrpSpPr>
          <p:cNvPr id="35" name="step-brief"/>
          <p:cNvGrpSpPr/>
          <p:nvPr/>
        </p:nvGrpSpPr>
        <p:grpSpPr>
          <a:xfrm>
            <a:off x="647700" y="2025650"/>
            <a:ext cx="3314700" cy="4066540"/>
            <a:chOff x="647700" y="2025650"/>
            <a:chExt cx="3314700" cy="4066540"/>
          </a:xfrm>
        </p:grpSpPr>
        <p:sp>
          <p:nvSpPr>
            <p:cNvPr id="8" name="Text 9"/>
            <p:cNvSpPr txBox="1"/>
            <p:nvPr/>
          </p:nvSpPr>
          <p:spPr>
            <a:xfrm>
              <a:off x="742950" y="2025650"/>
              <a:ext cx="1097771" cy="192722"/>
            </a:xfrm>
            <a:prstGeom prst="rect">
              <a:avLst/>
            </a:prstGeom>
            <a:noFill/>
          </p:spPr>
          <p:txBody>
            <a:bodyPr wrap="none" lIns="0" tIns="0" rIns="0" bIns="0" rtlCol="0" anchor="t">
              <a:noAutofit/>
            </a:bodyPr>
            <a:lstStyle/>
            <a:p>
              <a:pPr algn="l">
                <a:spcBef>
                  <a:spcPts val="0"/>
                </a:spcBef>
                <a:spcAft>
                  <a:spcPts val="0"/>
                </a:spcAft>
              </a:pPr>
              <a:r>
                <a:rPr lang="en-US" sz="1050" b="1" spc="225" dirty="0">
                  <a:solidFill>
                    <a:srgbClr val="FF5B1F"/>
                  </a:solidFill>
                  <a:latin typeface="Consolas"/>
                  <a:ea typeface="Consolas"/>
                  <a:cs typeface="Consolas"/>
                </a:rPr>
                <a:t>01</a:t>
              </a:r>
              <a:r>
                <a:rPr lang="en-US" sz="1050" b="0" spc="225" dirty="0">
                  <a:solidFill>
                    <a:srgbClr val="9C9A94"/>
                  </a:solidFill>
                  <a:latin typeface="Consolas"/>
                  <a:ea typeface="Consolas"/>
                  <a:cs typeface="Consolas"/>
                </a:rPr>
                <a:t> / BRIEF</a:t>
              </a:r>
              <a:endParaRPr lang="en-US" sz="1050" dirty="0"/>
            </a:p>
          </p:txBody>
        </p:sp>
        <p:sp>
          <p:nvSpPr>
            <p:cNvPr id="9" name="rect 10"/>
            <p:cNvSpPr/>
            <p:nvPr/>
          </p:nvSpPr>
          <p:spPr>
            <a:xfrm>
              <a:off x="742950" y="2362200"/>
              <a:ext cx="3124200" cy="2857500"/>
            </a:xfrm>
            <a:prstGeom prst="roundRect">
              <a:avLst>
                <a:gd name="adj" fmla="val 2667"/>
              </a:avLst>
            </a:prstGeom>
            <a:solidFill>
              <a:srgbClr val="14171B"/>
            </a:solidFill>
            <a:ln w="9525" cap="flat">
              <a:solidFill>
                <a:srgbClr val="2A2E35"/>
              </a:solidFill>
              <a:miter lim="800000"/>
            </a:ln>
          </p:spPr>
          <p:txBody>
            <a:bodyPr/>
            <a:lstStyle/>
            <a:p>
              <a:endParaRPr lang="en-US"/>
            </a:p>
          </p:txBody>
        </p:sp>
        <p:sp>
          <p:nvSpPr>
            <p:cNvPr id="10" name="line 11"/>
            <p:cNvSpPr/>
            <p:nvPr/>
          </p:nvSpPr>
          <p:spPr>
            <a:xfrm>
              <a:off x="742950" y="2628900"/>
              <a:ext cx="3124200" cy="95"/>
            </a:xfrm>
            <a:custGeom>
              <a:avLst/>
              <a:gdLst/>
              <a:ahLst/>
              <a:cxnLst/>
              <a:rect l="0" t="0" r="r" b="b"/>
              <a:pathLst>
                <a:path w="3124200" h="95" fill="none">
                  <a:moveTo>
                    <a:pt x="0" y="0"/>
                  </a:moveTo>
                  <a:lnTo>
                    <a:pt x="3124200" y="0"/>
                  </a:lnTo>
                </a:path>
              </a:pathLst>
            </a:custGeom>
            <a:noFill/>
            <a:ln w="9525" cap="flat">
              <a:solidFill>
                <a:srgbClr val="2A2E35"/>
              </a:solidFill>
              <a:miter lim="800000"/>
            </a:ln>
          </p:spPr>
          <p:txBody>
            <a:bodyPr/>
            <a:lstStyle/>
            <a:p>
              <a:endParaRPr lang="en-US"/>
            </a:p>
          </p:txBody>
        </p:sp>
        <p:sp>
          <p:nvSpPr>
            <p:cNvPr id="11" name="circle 12"/>
            <p:cNvSpPr/>
            <p:nvPr/>
          </p:nvSpPr>
          <p:spPr>
            <a:xfrm>
              <a:off x="881063" y="2462213"/>
              <a:ext cx="66675" cy="66675"/>
            </a:xfrm>
            <a:prstGeom prst="ellipse">
              <a:avLst/>
            </a:prstGeom>
            <a:solidFill>
              <a:srgbClr val="4A5058"/>
            </a:solidFill>
            <a:ln>
              <a:noFill/>
            </a:ln>
          </p:spPr>
          <p:txBody>
            <a:bodyPr/>
            <a:lstStyle/>
            <a:p>
              <a:endParaRPr lang="en-US"/>
            </a:p>
          </p:txBody>
        </p:sp>
        <p:sp>
          <p:nvSpPr>
            <p:cNvPr id="12" name="circle 13"/>
            <p:cNvSpPr/>
            <p:nvPr/>
          </p:nvSpPr>
          <p:spPr>
            <a:xfrm>
              <a:off x="1014413" y="2462213"/>
              <a:ext cx="66675" cy="66675"/>
            </a:xfrm>
            <a:prstGeom prst="ellipse">
              <a:avLst/>
            </a:prstGeom>
            <a:solidFill>
              <a:srgbClr val="4A5058"/>
            </a:solidFill>
            <a:ln>
              <a:noFill/>
            </a:ln>
          </p:spPr>
          <p:txBody>
            <a:bodyPr/>
            <a:lstStyle/>
            <a:p>
              <a:endParaRPr lang="en-US"/>
            </a:p>
          </p:txBody>
        </p:sp>
        <p:sp>
          <p:nvSpPr>
            <p:cNvPr id="13" name="circle 14"/>
            <p:cNvSpPr/>
            <p:nvPr/>
          </p:nvSpPr>
          <p:spPr>
            <a:xfrm>
              <a:off x="1147763" y="2462213"/>
              <a:ext cx="66675" cy="66675"/>
            </a:xfrm>
            <a:prstGeom prst="ellipse">
              <a:avLst/>
            </a:prstGeom>
            <a:solidFill>
              <a:srgbClr val="4A5058"/>
            </a:solidFill>
            <a:ln>
              <a:noFill/>
            </a:ln>
          </p:spPr>
          <p:txBody>
            <a:bodyPr/>
            <a:lstStyle/>
            <a:p>
              <a:endParaRPr lang="en-US"/>
            </a:p>
          </p:txBody>
        </p:sp>
        <p:sp>
          <p:nvSpPr>
            <p:cNvPr id="14" name="Text 15"/>
            <p:cNvSpPr txBox="1"/>
            <p:nvPr/>
          </p:nvSpPr>
          <p:spPr>
            <a:xfrm>
              <a:off x="1333500" y="2432050"/>
              <a:ext cx="517380" cy="157321"/>
            </a:xfrm>
            <a:prstGeom prst="rect">
              <a:avLst/>
            </a:prstGeom>
            <a:noFill/>
          </p:spPr>
          <p:txBody>
            <a:bodyPr wrap="none" lIns="0" tIns="0" rIns="0" bIns="0" rtlCol="0" anchor="t">
              <a:noAutofit/>
            </a:bodyPr>
            <a:lstStyle/>
            <a:p>
              <a:pPr algn="l">
                <a:spcBef>
                  <a:spcPts val="0"/>
                </a:spcBef>
                <a:spcAft>
                  <a:spcPts val="0"/>
                </a:spcAft>
              </a:pPr>
              <a:r>
                <a:rPr lang="en-US" sz="825" b="0" dirty="0">
                  <a:solidFill>
                    <a:srgbClr val="9C9A94"/>
                  </a:solidFill>
                  <a:latin typeface="Consolas"/>
                  <a:ea typeface="Consolas"/>
                  <a:cs typeface="Consolas"/>
                </a:rPr>
                <a:t>brief.md</a:t>
              </a:r>
              <a:endParaRPr lang="en-US" sz="825" dirty="0"/>
            </a:p>
          </p:txBody>
        </p:sp>
        <p:sp>
          <p:nvSpPr>
            <p:cNvPr id="15" name="rect 16"/>
            <p:cNvSpPr/>
            <p:nvPr/>
          </p:nvSpPr>
          <p:spPr>
            <a:xfrm>
              <a:off x="895350" y="2781300"/>
              <a:ext cx="2819400" cy="419100"/>
            </a:xfrm>
            <a:prstGeom prst="roundRect">
              <a:avLst>
                <a:gd name="adj" fmla="val 4545"/>
              </a:avLst>
            </a:prstGeom>
            <a:solidFill>
              <a:srgbClr val="0A0B0D"/>
            </a:solidFill>
            <a:ln w="9525" cap="flat">
              <a:solidFill>
                <a:srgbClr val="3D8BFF"/>
              </a:solidFill>
              <a:miter lim="800000"/>
            </a:ln>
          </p:spPr>
          <p:txBody>
            <a:bodyPr/>
            <a:lstStyle/>
            <a:p>
              <a:endParaRPr lang="en-US"/>
            </a:p>
          </p:txBody>
        </p:sp>
        <p:sp>
          <p:nvSpPr>
            <p:cNvPr id="16" name="Text 17"/>
            <p:cNvSpPr txBox="1"/>
            <p:nvPr/>
          </p:nvSpPr>
          <p:spPr>
            <a:xfrm>
              <a:off x="1009650" y="2924175"/>
              <a:ext cx="1808169" cy="176689"/>
            </a:xfrm>
            <a:prstGeom prst="rect">
              <a:avLst/>
            </a:prstGeom>
            <a:noFill/>
          </p:spPr>
          <p:txBody>
            <a:bodyPr wrap="none" lIns="0" tIns="0" rIns="0" bIns="0" rtlCol="0" anchor="t">
              <a:noAutofit/>
            </a:bodyPr>
            <a:lstStyle/>
            <a:p>
              <a:pPr algn="l">
                <a:spcBef>
                  <a:spcPts val="0"/>
                </a:spcBef>
                <a:spcAft>
                  <a:spcPts val="0"/>
                </a:spcAft>
              </a:pPr>
              <a:r>
                <a:rPr lang="en-US" sz="975" b="0" dirty="0">
                  <a:solidFill>
                    <a:srgbClr val="EDE9E2"/>
                  </a:solidFill>
                  <a:latin typeface="Consolas"/>
                  <a:ea typeface="Consolas"/>
                  <a:cs typeface="Consolas"/>
                </a:rPr>
                <a:t>Pitch YzPzCode · 22 pages</a:t>
              </a:r>
              <a:endParaRPr lang="en-US" sz="975" dirty="0"/>
            </a:p>
          </p:txBody>
        </p:sp>
        <p:sp>
          <p:nvSpPr>
            <p:cNvPr id="17" name="rect 18"/>
            <p:cNvSpPr/>
            <p:nvPr/>
          </p:nvSpPr>
          <p:spPr>
            <a:xfrm>
              <a:off x="2781300" y="2933700"/>
              <a:ext cx="76200" cy="152400"/>
            </a:xfrm>
            <a:prstGeom prst="roundRect">
              <a:avLst>
                <a:gd name="adj" fmla="val 12500"/>
              </a:avLst>
            </a:prstGeom>
            <a:solidFill>
              <a:srgbClr val="FF5B1F"/>
            </a:solidFill>
            <a:ln>
              <a:noFill/>
            </a:ln>
          </p:spPr>
          <p:txBody>
            <a:bodyPr/>
            <a:lstStyle/>
            <a:p>
              <a:endParaRPr lang="en-US"/>
            </a:p>
          </p:txBody>
        </p:sp>
        <p:sp>
          <p:nvSpPr>
            <p:cNvPr id="18" name="Text 19"/>
            <p:cNvSpPr txBox="1"/>
            <p:nvPr/>
          </p:nvSpPr>
          <p:spPr>
            <a:xfrm>
              <a:off x="895350" y="3384550"/>
              <a:ext cx="596154" cy="157321"/>
            </a:xfrm>
            <a:prstGeom prst="rect">
              <a:avLst/>
            </a:prstGeom>
            <a:noFill/>
          </p:spPr>
          <p:txBody>
            <a:bodyPr wrap="none" lIns="0" tIns="0" rIns="0" bIns="0" rtlCol="0" anchor="t">
              <a:noAutofit/>
            </a:bodyPr>
            <a:lstStyle/>
            <a:p>
              <a:pPr algn="l">
                <a:spcBef>
                  <a:spcPts val="0"/>
                </a:spcBef>
                <a:spcAft>
                  <a:spcPts val="0"/>
                </a:spcAft>
              </a:pPr>
              <a:r>
                <a:rPr lang="en-US" sz="825" b="0" spc="150" dirty="0">
                  <a:solidFill>
                    <a:srgbClr val="9C9A94"/>
                  </a:solidFill>
                  <a:latin typeface="Consolas"/>
                  <a:ea typeface="Consolas"/>
                  <a:cs typeface="Consolas"/>
                </a:rPr>
                <a:t>OUTLINE</a:t>
              </a:r>
              <a:endParaRPr lang="en-US" sz="825" dirty="0"/>
            </a:p>
          </p:txBody>
        </p:sp>
        <p:sp>
          <p:nvSpPr>
            <p:cNvPr id="19" name="rect 20"/>
            <p:cNvSpPr/>
            <p:nvPr/>
          </p:nvSpPr>
          <p:spPr>
            <a:xfrm>
              <a:off x="895350" y="4191000"/>
              <a:ext cx="2819400" cy="247650"/>
            </a:xfrm>
            <a:prstGeom prst="rect">
              <a:avLst/>
            </a:prstGeom>
            <a:solidFill>
              <a:srgbClr val="3D8BFF">
                <a:alpha val="14000"/>
              </a:srgbClr>
            </a:solidFill>
            <a:ln>
              <a:noFill/>
            </a:ln>
          </p:spPr>
          <p:txBody>
            <a:bodyPr/>
            <a:lstStyle/>
            <a:p>
              <a:endParaRPr lang="en-US"/>
            </a:p>
          </p:txBody>
        </p:sp>
        <p:sp>
          <p:nvSpPr>
            <p:cNvPr id="20" name="rect 21"/>
            <p:cNvSpPr/>
            <p:nvPr/>
          </p:nvSpPr>
          <p:spPr>
            <a:xfrm>
              <a:off x="895350" y="4191000"/>
              <a:ext cx="28575" cy="247650"/>
            </a:xfrm>
            <a:prstGeom prst="rect">
              <a:avLst/>
            </a:prstGeom>
            <a:solidFill>
              <a:srgbClr val="3D8BFF"/>
            </a:solidFill>
            <a:ln>
              <a:noFill/>
            </a:ln>
          </p:spPr>
          <p:txBody>
            <a:bodyPr/>
            <a:lstStyle/>
            <a:p>
              <a:endParaRPr lang="en-US"/>
            </a:p>
          </p:txBody>
        </p:sp>
        <p:sp>
          <p:nvSpPr>
            <p:cNvPr id="21" name="Text 22"/>
            <p:cNvSpPr txBox="1"/>
            <p:nvPr/>
          </p:nvSpPr>
          <p:spPr>
            <a:xfrm>
              <a:off x="1009650" y="3625850"/>
              <a:ext cx="190598"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9C9A94"/>
                  </a:solidFill>
                  <a:latin typeface="Consolas"/>
                  <a:ea typeface="Consolas"/>
                  <a:cs typeface="Consolas"/>
                </a:rPr>
                <a:t>01</a:t>
              </a:r>
              <a:endParaRPr lang="en-US" sz="1050" dirty="0"/>
            </a:p>
          </p:txBody>
        </p:sp>
        <p:sp>
          <p:nvSpPr>
            <p:cNvPr id="22" name="Text 23"/>
            <p:cNvSpPr txBox="1"/>
            <p:nvPr/>
          </p:nvSpPr>
          <p:spPr>
            <a:xfrm>
              <a:off x="1333500" y="3625850"/>
              <a:ext cx="419346"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EDE9E2"/>
                  </a:solidFill>
                  <a:latin typeface="Consolas"/>
                  <a:ea typeface="Consolas"/>
                  <a:cs typeface="Consolas"/>
                </a:rPr>
                <a:t>Cover</a:t>
              </a:r>
              <a:endParaRPr lang="en-US" sz="1050" dirty="0"/>
            </a:p>
          </p:txBody>
        </p:sp>
        <p:sp>
          <p:nvSpPr>
            <p:cNvPr id="23" name="Text 24"/>
            <p:cNvSpPr txBox="1"/>
            <p:nvPr/>
          </p:nvSpPr>
          <p:spPr>
            <a:xfrm>
              <a:off x="1009650" y="3930650"/>
              <a:ext cx="190598"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9C9A94"/>
                  </a:solidFill>
                  <a:latin typeface="Consolas"/>
                  <a:ea typeface="Consolas"/>
                  <a:cs typeface="Consolas"/>
                </a:rPr>
                <a:t>02</a:t>
              </a:r>
              <a:endParaRPr lang="en-US" sz="1050" dirty="0"/>
            </a:p>
          </p:txBody>
        </p:sp>
        <p:sp>
          <p:nvSpPr>
            <p:cNvPr id="24" name="Text 25"/>
            <p:cNvSpPr txBox="1"/>
            <p:nvPr/>
          </p:nvSpPr>
          <p:spPr>
            <a:xfrm>
              <a:off x="1333500" y="3930650"/>
              <a:ext cx="876840"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EDE9E2"/>
                  </a:solidFill>
                  <a:latin typeface="Consolas"/>
                  <a:ea typeface="Consolas"/>
                  <a:cs typeface="Consolas"/>
                </a:rPr>
                <a:t>The problem</a:t>
              </a:r>
              <a:endParaRPr lang="en-US" sz="1050" dirty="0"/>
            </a:p>
          </p:txBody>
        </p:sp>
        <p:sp>
          <p:nvSpPr>
            <p:cNvPr id="25" name="Text 26"/>
            <p:cNvSpPr txBox="1"/>
            <p:nvPr/>
          </p:nvSpPr>
          <p:spPr>
            <a:xfrm>
              <a:off x="1009650" y="4235450"/>
              <a:ext cx="190598"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3D8BFF"/>
                  </a:solidFill>
                  <a:latin typeface="Consolas"/>
                  <a:ea typeface="Consolas"/>
                  <a:cs typeface="Consolas"/>
                </a:rPr>
                <a:t>03</a:t>
              </a:r>
              <a:endParaRPr lang="en-US" sz="1050" dirty="0"/>
            </a:p>
          </p:txBody>
        </p:sp>
        <p:sp>
          <p:nvSpPr>
            <p:cNvPr id="26" name="Text 27"/>
            <p:cNvSpPr txBox="1"/>
            <p:nvPr/>
          </p:nvSpPr>
          <p:spPr>
            <a:xfrm>
              <a:off x="1333500" y="4235450"/>
              <a:ext cx="1410584" cy="192722"/>
            </a:xfrm>
            <a:prstGeom prst="rect">
              <a:avLst/>
            </a:prstGeom>
            <a:noFill/>
          </p:spPr>
          <p:txBody>
            <a:bodyPr wrap="none" lIns="0" tIns="0" rIns="0" bIns="0" rtlCol="0" anchor="t">
              <a:noAutofit/>
            </a:bodyPr>
            <a:lstStyle/>
            <a:p>
              <a:pPr algn="l">
                <a:spcBef>
                  <a:spcPts val="0"/>
                </a:spcBef>
                <a:spcAft>
                  <a:spcPts val="0"/>
                </a:spcAft>
              </a:pPr>
              <a:r>
                <a:rPr lang="en-US" sz="1050" b="1" dirty="0">
                  <a:solidFill>
                    <a:srgbClr val="EDE9E2"/>
                  </a:solidFill>
                  <a:latin typeface="Consolas"/>
                  <a:ea typeface="Consolas"/>
                  <a:cs typeface="Consolas"/>
                </a:rPr>
                <a:t>One command center</a:t>
              </a:r>
              <a:endParaRPr lang="en-US" sz="1050" dirty="0"/>
            </a:p>
          </p:txBody>
        </p:sp>
        <p:sp>
          <p:nvSpPr>
            <p:cNvPr id="27" name="Text 28"/>
            <p:cNvSpPr txBox="1"/>
            <p:nvPr/>
          </p:nvSpPr>
          <p:spPr>
            <a:xfrm>
              <a:off x="3162030" y="4260850"/>
              <a:ext cx="457470" cy="157321"/>
            </a:xfrm>
            <a:prstGeom prst="rect">
              <a:avLst/>
            </a:prstGeom>
            <a:noFill/>
          </p:spPr>
          <p:txBody>
            <a:bodyPr wrap="none" lIns="0" tIns="0" rIns="0" bIns="0" rtlCol="0" anchor="t">
              <a:noAutofit/>
            </a:bodyPr>
            <a:lstStyle/>
            <a:p>
              <a:pPr algn="r">
                <a:spcBef>
                  <a:spcPts val="0"/>
                </a:spcBef>
                <a:spcAft>
                  <a:spcPts val="0"/>
                </a:spcAft>
              </a:pPr>
              <a:r>
                <a:rPr lang="en-US" sz="825" b="0" dirty="0">
                  <a:solidFill>
                    <a:srgbClr val="3D8BFF"/>
                  </a:solidFill>
                  <a:latin typeface="Consolas"/>
                  <a:ea typeface="Consolas"/>
                  <a:cs typeface="Consolas"/>
                </a:rPr>
                <a:t>drawing</a:t>
              </a:r>
              <a:endParaRPr lang="en-US" sz="825" dirty="0"/>
            </a:p>
          </p:txBody>
        </p:sp>
        <p:sp>
          <p:nvSpPr>
            <p:cNvPr id="28" name="Text 29"/>
            <p:cNvSpPr txBox="1"/>
            <p:nvPr/>
          </p:nvSpPr>
          <p:spPr>
            <a:xfrm>
              <a:off x="1009650" y="4540250"/>
              <a:ext cx="190598"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9C9A94"/>
                  </a:solidFill>
                  <a:latin typeface="Consolas"/>
                  <a:ea typeface="Consolas"/>
                  <a:cs typeface="Consolas"/>
                </a:rPr>
                <a:t>04</a:t>
              </a:r>
              <a:endParaRPr lang="en-US" sz="1050" dirty="0"/>
            </a:p>
          </p:txBody>
        </p:sp>
        <p:sp>
          <p:nvSpPr>
            <p:cNvPr id="29" name="Text 30"/>
            <p:cNvSpPr txBox="1"/>
            <p:nvPr/>
          </p:nvSpPr>
          <p:spPr>
            <a:xfrm>
              <a:off x="1333500" y="4540250"/>
              <a:ext cx="1791830"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EDE9E2"/>
                  </a:solidFill>
                  <a:latin typeface="Consolas"/>
                  <a:ea typeface="Consolas"/>
                  <a:cs typeface="Consolas"/>
                </a:rPr>
                <a:t>Proof, screen by screen</a:t>
              </a:r>
              <a:endParaRPr lang="en-US" sz="1050" dirty="0"/>
            </a:p>
          </p:txBody>
        </p:sp>
        <p:sp>
          <p:nvSpPr>
            <p:cNvPr id="30" name="Text 31"/>
            <p:cNvSpPr txBox="1"/>
            <p:nvPr/>
          </p:nvSpPr>
          <p:spPr>
            <a:xfrm>
              <a:off x="1009650" y="4845050"/>
              <a:ext cx="190598"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9C9A94"/>
                  </a:solidFill>
                  <a:latin typeface="Consolas"/>
                  <a:ea typeface="Consolas"/>
                  <a:cs typeface="Consolas"/>
                </a:rPr>
                <a:t>05</a:t>
              </a:r>
              <a:endParaRPr lang="en-US" sz="1050" dirty="0"/>
            </a:p>
          </p:txBody>
        </p:sp>
        <p:sp>
          <p:nvSpPr>
            <p:cNvPr id="31" name="Text 32"/>
            <p:cNvSpPr txBox="1"/>
            <p:nvPr/>
          </p:nvSpPr>
          <p:spPr>
            <a:xfrm>
              <a:off x="1333500" y="4845050"/>
              <a:ext cx="571844"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EDE9E2"/>
                  </a:solidFill>
                  <a:latin typeface="Consolas"/>
                  <a:ea typeface="Consolas"/>
                  <a:cs typeface="Consolas"/>
                </a:rPr>
                <a:t>Install</a:t>
              </a:r>
              <a:endParaRPr lang="en-US" sz="1050" dirty="0"/>
            </a:p>
          </p:txBody>
        </p:sp>
        <p:sp>
          <p:nvSpPr>
            <p:cNvPr id="32" name="path 33"/>
            <p:cNvSpPr/>
            <p:nvPr/>
          </p:nvSpPr>
          <p:spPr>
            <a:xfrm>
              <a:off x="647700" y="2266950"/>
              <a:ext cx="3314700" cy="3048000"/>
            </a:xfrm>
            <a:custGeom>
              <a:avLst/>
              <a:gdLst/>
              <a:ahLst/>
              <a:cxnLst/>
              <a:rect l="0" t="0" r="r" b="b"/>
              <a:pathLst>
                <a:path w="3314700" h="3048000" fill="none">
                  <a:moveTo>
                    <a:pt x="0" y="190500"/>
                  </a:moveTo>
                  <a:lnTo>
                    <a:pt x="0" y="0"/>
                  </a:lnTo>
                  <a:lnTo>
                    <a:pt x="190500" y="0"/>
                  </a:lnTo>
                  <a:moveTo>
                    <a:pt x="3124200" y="0"/>
                  </a:moveTo>
                  <a:lnTo>
                    <a:pt x="3314700" y="0"/>
                  </a:lnTo>
                  <a:lnTo>
                    <a:pt x="3314700" y="190500"/>
                  </a:lnTo>
                  <a:moveTo>
                    <a:pt x="3314700" y="2857500"/>
                  </a:moveTo>
                  <a:lnTo>
                    <a:pt x="3314700" y="3048000"/>
                  </a:lnTo>
                  <a:lnTo>
                    <a:pt x="3124200" y="3048000"/>
                  </a:lnTo>
                  <a:moveTo>
                    <a:pt x="190500" y="3048000"/>
                  </a:moveTo>
                  <a:lnTo>
                    <a:pt x="0" y="3048000"/>
                  </a:lnTo>
                  <a:lnTo>
                    <a:pt x="0" y="2857500"/>
                  </a:lnTo>
                </a:path>
              </a:pathLst>
            </a:custGeom>
            <a:noFill/>
            <a:ln w="19050" cap="flat">
              <a:solidFill>
                <a:srgbClr val="3D8BFF"/>
              </a:solidFill>
              <a:miter lim="800000"/>
            </a:ln>
          </p:spPr>
          <p:txBody>
            <a:bodyPr/>
            <a:lstStyle/>
            <a:p>
              <a:endParaRPr lang="en-US"/>
            </a:p>
          </p:txBody>
        </p:sp>
        <p:sp>
          <p:nvSpPr>
            <p:cNvPr id="33" name="Text 34"/>
            <p:cNvSpPr txBox="1"/>
            <p:nvPr/>
          </p:nvSpPr>
          <p:spPr>
            <a:xfrm>
              <a:off x="742950" y="5384800"/>
              <a:ext cx="1718831" cy="263525"/>
            </a:xfrm>
            <a:prstGeom prst="rect">
              <a:avLst/>
            </a:prstGeom>
            <a:noFill/>
          </p:spPr>
          <p:txBody>
            <a:bodyPr wrap="none" lIns="0" tIns="0" rIns="0" bIns="0" rtlCol="0" anchor="t">
              <a:noAutofit/>
            </a:bodyPr>
            <a:lstStyle/>
            <a:p>
              <a:pPr algn="l">
                <a:spcBef>
                  <a:spcPts val="0"/>
                </a:spcBef>
                <a:spcAft>
                  <a:spcPts val="0"/>
                </a:spcAft>
              </a:pPr>
              <a:r>
                <a:rPr lang="en-US" sz="1500" b="1" dirty="0">
                  <a:solidFill>
                    <a:srgbClr val="EDE9E2"/>
                  </a:solidFill>
                  <a:latin typeface="Bahnschrift"/>
                  <a:ea typeface="Bahnschrift"/>
                  <a:cs typeface="Bahnschrift"/>
                </a:rPr>
                <a:t>Brief in, outline out</a:t>
              </a:r>
              <a:endParaRPr lang="en-US" sz="1500" dirty="0"/>
            </a:p>
          </p:txBody>
        </p:sp>
        <p:sp>
          <p:nvSpPr>
            <p:cNvPr id="34" name="Text 35"/>
            <p:cNvSpPr txBox="1"/>
            <p:nvPr/>
          </p:nvSpPr>
          <p:spPr>
            <a:xfrm>
              <a:off x="742950" y="5645150"/>
              <a:ext cx="2468243" cy="447040"/>
            </a:xfrm>
            <a:prstGeom prst="rect">
              <a:avLst/>
            </a:prstGeom>
            <a:noFill/>
          </p:spPr>
          <p:txBody>
            <a:bodyPr wrap="none" lIns="0" tIns="0" rIns="0" bIns="0" rtlCol="0" anchor="t">
              <a:noAutofit/>
            </a:bodyPr>
            <a:lstStyle/>
            <a:p>
              <a:pPr algn="l">
                <a:lnSpc>
                  <a:spcPts val="1700"/>
                </a:lnSpc>
                <a:spcBef>
                  <a:spcPts val="0"/>
                </a:spcBef>
                <a:spcAft>
                  <a:spcPts val="0"/>
                </a:spcAft>
              </a:pPr>
              <a:r>
                <a:rPr lang="en-US" sz="1200" b="0" dirty="0">
                  <a:solidFill>
                    <a:srgbClr val="9C9A94"/>
                  </a:solidFill>
                  <a:latin typeface="Segoe UI"/>
                  <a:ea typeface="Segoe UI"/>
                  <a:cs typeface="Segoe UI"/>
                </a:rPr>
                <a:t>Describe the pitch once; the studio</a:t>
              </a:r>
              <a:endParaRPr lang="en-US" sz="1200" dirty="0"/>
            </a:p>
            <a:p>
              <a:pPr algn="l">
                <a:lnSpc>
                  <a:spcPts val="1700"/>
                </a:lnSpc>
                <a:spcBef>
                  <a:spcPts val="0"/>
                </a:spcBef>
                <a:spcAft>
                  <a:spcPts val="0"/>
                </a:spcAft>
              </a:pPr>
              <a:r>
                <a:rPr lang="en-US" sz="1200" b="0" dirty="0">
                  <a:solidFill>
                    <a:srgbClr val="9C9A94"/>
                  </a:solidFill>
                  <a:latin typeface="Segoe UI"/>
                  <a:ea typeface="Segoe UI"/>
                  <a:cs typeface="Segoe UI"/>
                </a:rPr>
                <a:t>lays out the story, page by page.</a:t>
              </a:r>
              <a:endParaRPr lang="en-US" sz="1200" dirty="0"/>
            </a:p>
          </p:txBody>
        </p:sp>
      </p:grpSp>
      <p:sp>
        <p:nvSpPr>
          <p:cNvPr id="36" name="line 37"/>
          <p:cNvSpPr/>
          <p:nvPr/>
        </p:nvSpPr>
        <p:spPr>
          <a:xfrm>
            <a:off x="4038600" y="3790950"/>
            <a:ext cx="323850" cy="95"/>
          </a:xfrm>
          <a:custGeom>
            <a:avLst/>
            <a:gdLst/>
            <a:ahLst/>
            <a:cxnLst/>
            <a:rect l="0" t="0" r="r" b="b"/>
            <a:pathLst>
              <a:path w="323850" h="95" fill="none">
                <a:moveTo>
                  <a:pt x="0" y="0"/>
                </a:moveTo>
                <a:lnTo>
                  <a:pt x="323850" y="0"/>
                </a:lnTo>
              </a:path>
            </a:pathLst>
          </a:custGeom>
          <a:noFill/>
          <a:ln w="14288" cap="flat">
            <a:solidFill>
              <a:srgbClr val="9C9A94"/>
            </a:solidFill>
            <a:prstDash val="dash"/>
            <a:miter lim="800000"/>
            <a:tailEnd type="triangle" w="med" len="med"/>
          </a:ln>
        </p:spPr>
        <p:txBody>
          <a:bodyPr/>
          <a:lstStyle/>
          <a:p>
            <a:endParaRPr lang="en-US"/>
          </a:p>
        </p:txBody>
      </p:sp>
      <p:grpSp>
        <p:nvGrpSpPr>
          <p:cNvPr id="88" name="step-design"/>
          <p:cNvGrpSpPr/>
          <p:nvPr/>
        </p:nvGrpSpPr>
        <p:grpSpPr>
          <a:xfrm>
            <a:off x="4438650" y="2025650"/>
            <a:ext cx="3314700" cy="4066540"/>
            <a:chOff x="4438650" y="2025650"/>
            <a:chExt cx="3314700" cy="4066540"/>
          </a:xfrm>
        </p:grpSpPr>
        <p:sp>
          <p:nvSpPr>
            <p:cNvPr id="37" name="Text 38"/>
            <p:cNvSpPr txBox="1"/>
            <p:nvPr/>
          </p:nvSpPr>
          <p:spPr>
            <a:xfrm>
              <a:off x="4533900" y="2025650"/>
              <a:ext cx="1203738" cy="192722"/>
            </a:xfrm>
            <a:prstGeom prst="rect">
              <a:avLst/>
            </a:prstGeom>
            <a:noFill/>
          </p:spPr>
          <p:txBody>
            <a:bodyPr wrap="none" lIns="0" tIns="0" rIns="0" bIns="0" rtlCol="0" anchor="t">
              <a:noAutofit/>
            </a:bodyPr>
            <a:lstStyle/>
            <a:p>
              <a:pPr algn="l">
                <a:spcBef>
                  <a:spcPts val="0"/>
                </a:spcBef>
                <a:spcAft>
                  <a:spcPts val="0"/>
                </a:spcAft>
              </a:pPr>
              <a:r>
                <a:rPr lang="en-US" sz="1050" b="1" spc="225" dirty="0">
                  <a:solidFill>
                    <a:srgbClr val="FF5B1F"/>
                  </a:solidFill>
                  <a:latin typeface="Consolas"/>
                  <a:ea typeface="Consolas"/>
                  <a:cs typeface="Consolas"/>
                </a:rPr>
                <a:t>02</a:t>
              </a:r>
              <a:r>
                <a:rPr lang="en-US" sz="1050" b="0" spc="225" dirty="0">
                  <a:solidFill>
                    <a:srgbClr val="9C9A94"/>
                  </a:solidFill>
                  <a:latin typeface="Consolas"/>
                  <a:ea typeface="Consolas"/>
                  <a:cs typeface="Consolas"/>
                </a:rPr>
                <a:t> / DESIGN</a:t>
              </a:r>
              <a:endParaRPr lang="en-US" sz="1050" dirty="0"/>
            </a:p>
          </p:txBody>
        </p:sp>
        <p:sp>
          <p:nvSpPr>
            <p:cNvPr id="38" name="rect 39"/>
            <p:cNvSpPr/>
            <p:nvPr/>
          </p:nvSpPr>
          <p:spPr>
            <a:xfrm>
              <a:off x="4533900" y="2362200"/>
              <a:ext cx="3124200" cy="2857500"/>
            </a:xfrm>
            <a:prstGeom prst="roundRect">
              <a:avLst>
                <a:gd name="adj" fmla="val 2667"/>
              </a:avLst>
            </a:prstGeom>
            <a:solidFill>
              <a:srgbClr val="14171B"/>
            </a:solidFill>
            <a:ln w="9525" cap="flat">
              <a:solidFill>
                <a:srgbClr val="2A2E35"/>
              </a:solidFill>
              <a:miter lim="800000"/>
            </a:ln>
          </p:spPr>
          <p:txBody>
            <a:bodyPr/>
            <a:lstStyle/>
            <a:p>
              <a:endParaRPr lang="en-US"/>
            </a:p>
          </p:txBody>
        </p:sp>
        <p:sp>
          <p:nvSpPr>
            <p:cNvPr id="39" name="line 40"/>
            <p:cNvSpPr/>
            <p:nvPr/>
          </p:nvSpPr>
          <p:spPr>
            <a:xfrm>
              <a:off x="4533900" y="2628900"/>
              <a:ext cx="3124200" cy="95"/>
            </a:xfrm>
            <a:custGeom>
              <a:avLst/>
              <a:gdLst/>
              <a:ahLst/>
              <a:cxnLst/>
              <a:rect l="0" t="0" r="r" b="b"/>
              <a:pathLst>
                <a:path w="3124200" h="95" fill="none">
                  <a:moveTo>
                    <a:pt x="0" y="0"/>
                  </a:moveTo>
                  <a:lnTo>
                    <a:pt x="3124200" y="0"/>
                  </a:lnTo>
                </a:path>
              </a:pathLst>
            </a:custGeom>
            <a:noFill/>
            <a:ln w="9525" cap="flat">
              <a:solidFill>
                <a:srgbClr val="2A2E35"/>
              </a:solidFill>
              <a:miter lim="800000"/>
            </a:ln>
          </p:spPr>
          <p:txBody>
            <a:bodyPr/>
            <a:lstStyle/>
            <a:p>
              <a:endParaRPr lang="en-US"/>
            </a:p>
          </p:txBody>
        </p:sp>
        <p:sp>
          <p:nvSpPr>
            <p:cNvPr id="40" name="circle 41"/>
            <p:cNvSpPr/>
            <p:nvPr/>
          </p:nvSpPr>
          <p:spPr>
            <a:xfrm>
              <a:off x="4672013" y="2462213"/>
              <a:ext cx="66675" cy="66675"/>
            </a:xfrm>
            <a:prstGeom prst="ellipse">
              <a:avLst/>
            </a:prstGeom>
            <a:solidFill>
              <a:srgbClr val="4A5058"/>
            </a:solidFill>
            <a:ln>
              <a:noFill/>
            </a:ln>
          </p:spPr>
          <p:txBody>
            <a:bodyPr/>
            <a:lstStyle/>
            <a:p>
              <a:endParaRPr lang="en-US"/>
            </a:p>
          </p:txBody>
        </p:sp>
        <p:sp>
          <p:nvSpPr>
            <p:cNvPr id="41" name="circle 42"/>
            <p:cNvSpPr/>
            <p:nvPr/>
          </p:nvSpPr>
          <p:spPr>
            <a:xfrm>
              <a:off x="4805363" y="2462213"/>
              <a:ext cx="66675" cy="66675"/>
            </a:xfrm>
            <a:prstGeom prst="ellipse">
              <a:avLst/>
            </a:prstGeom>
            <a:solidFill>
              <a:srgbClr val="4A5058"/>
            </a:solidFill>
            <a:ln>
              <a:noFill/>
            </a:ln>
          </p:spPr>
          <p:txBody>
            <a:bodyPr/>
            <a:lstStyle/>
            <a:p>
              <a:endParaRPr lang="en-US"/>
            </a:p>
          </p:txBody>
        </p:sp>
        <p:sp>
          <p:nvSpPr>
            <p:cNvPr id="42" name="circle 43"/>
            <p:cNvSpPr/>
            <p:nvPr/>
          </p:nvSpPr>
          <p:spPr>
            <a:xfrm>
              <a:off x="4938713" y="2462213"/>
              <a:ext cx="66675" cy="66675"/>
            </a:xfrm>
            <a:prstGeom prst="ellipse">
              <a:avLst/>
            </a:prstGeom>
            <a:solidFill>
              <a:srgbClr val="4A5058"/>
            </a:solidFill>
            <a:ln>
              <a:noFill/>
            </a:ln>
          </p:spPr>
          <p:txBody>
            <a:bodyPr/>
            <a:lstStyle/>
            <a:p>
              <a:endParaRPr lang="en-US"/>
            </a:p>
          </p:txBody>
        </p:sp>
        <p:sp>
          <p:nvSpPr>
            <p:cNvPr id="43" name="Text 44"/>
            <p:cNvSpPr txBox="1"/>
            <p:nvPr/>
          </p:nvSpPr>
          <p:spPr>
            <a:xfrm>
              <a:off x="5124450" y="2432050"/>
              <a:ext cx="757020" cy="157321"/>
            </a:xfrm>
            <a:prstGeom prst="rect">
              <a:avLst/>
            </a:prstGeom>
            <a:noFill/>
          </p:spPr>
          <p:txBody>
            <a:bodyPr wrap="none" lIns="0" tIns="0" rIns="0" bIns="0" rtlCol="0" anchor="t">
              <a:noAutofit/>
            </a:bodyPr>
            <a:lstStyle/>
            <a:p>
              <a:pPr algn="l">
                <a:spcBef>
                  <a:spcPts val="0"/>
                </a:spcBef>
                <a:spcAft>
                  <a:spcPts val="0"/>
                </a:spcAft>
              </a:pPr>
              <a:r>
                <a:rPr lang="en-US" sz="825" b="0" dirty="0">
                  <a:solidFill>
                    <a:srgbClr val="9C9A94"/>
                  </a:solidFill>
                  <a:latin typeface="Consolas"/>
                  <a:ea typeface="Consolas"/>
                  <a:cs typeface="Consolas"/>
                </a:rPr>
                <a:t>slide-18.svg</a:t>
              </a:r>
              <a:endParaRPr lang="en-US" sz="825" dirty="0"/>
            </a:p>
          </p:txBody>
        </p:sp>
        <p:sp>
          <p:nvSpPr>
            <p:cNvPr id="44" name="rect 45"/>
            <p:cNvSpPr/>
            <p:nvPr/>
          </p:nvSpPr>
          <p:spPr>
            <a:xfrm>
              <a:off x="4648200" y="2781300"/>
              <a:ext cx="381000" cy="219075"/>
            </a:xfrm>
            <a:prstGeom prst="rect">
              <a:avLst/>
            </a:prstGeom>
            <a:solidFill>
              <a:srgbClr val="0A0B0D"/>
            </a:solidFill>
            <a:ln w="9525" cap="flat">
              <a:solidFill>
                <a:srgbClr val="2A2E35"/>
              </a:solidFill>
              <a:miter lim="800000"/>
            </a:ln>
          </p:spPr>
          <p:txBody>
            <a:bodyPr/>
            <a:lstStyle/>
            <a:p>
              <a:endParaRPr lang="en-US"/>
            </a:p>
          </p:txBody>
        </p:sp>
        <p:sp>
          <p:nvSpPr>
            <p:cNvPr id="45" name="rect 46"/>
            <p:cNvSpPr/>
            <p:nvPr/>
          </p:nvSpPr>
          <p:spPr>
            <a:xfrm>
              <a:off x="4695825" y="2828925"/>
              <a:ext cx="95250" cy="19050"/>
            </a:xfrm>
            <a:prstGeom prst="rect">
              <a:avLst/>
            </a:prstGeom>
            <a:solidFill>
              <a:srgbClr val="FF5B1F"/>
            </a:solidFill>
            <a:ln>
              <a:noFill/>
            </a:ln>
          </p:spPr>
          <p:txBody>
            <a:bodyPr/>
            <a:lstStyle/>
            <a:p>
              <a:endParaRPr lang="en-US"/>
            </a:p>
          </p:txBody>
        </p:sp>
        <p:sp>
          <p:nvSpPr>
            <p:cNvPr id="46" name="rect 47"/>
            <p:cNvSpPr/>
            <p:nvPr/>
          </p:nvSpPr>
          <p:spPr>
            <a:xfrm>
              <a:off x="4695825" y="2886075"/>
              <a:ext cx="228600" cy="19050"/>
            </a:xfrm>
            <a:prstGeom prst="rect">
              <a:avLst/>
            </a:prstGeom>
            <a:solidFill>
              <a:srgbClr val="4A5058"/>
            </a:solidFill>
            <a:ln>
              <a:noFill/>
            </a:ln>
          </p:spPr>
          <p:txBody>
            <a:bodyPr/>
            <a:lstStyle/>
            <a:p>
              <a:endParaRPr lang="en-US"/>
            </a:p>
          </p:txBody>
        </p:sp>
        <p:sp>
          <p:nvSpPr>
            <p:cNvPr id="47" name="rect 48"/>
            <p:cNvSpPr/>
            <p:nvPr/>
          </p:nvSpPr>
          <p:spPr>
            <a:xfrm>
              <a:off x="4648200" y="3105150"/>
              <a:ext cx="381000" cy="219075"/>
            </a:xfrm>
            <a:prstGeom prst="rect">
              <a:avLst/>
            </a:prstGeom>
            <a:solidFill>
              <a:srgbClr val="0A0B0D"/>
            </a:solidFill>
            <a:ln w="9525" cap="flat">
              <a:solidFill>
                <a:srgbClr val="2A2E35"/>
              </a:solidFill>
              <a:miter lim="800000"/>
            </a:ln>
          </p:spPr>
          <p:txBody>
            <a:bodyPr/>
            <a:lstStyle/>
            <a:p>
              <a:endParaRPr lang="en-US"/>
            </a:p>
          </p:txBody>
        </p:sp>
        <p:sp>
          <p:nvSpPr>
            <p:cNvPr id="48" name="rect 49"/>
            <p:cNvSpPr/>
            <p:nvPr/>
          </p:nvSpPr>
          <p:spPr>
            <a:xfrm>
              <a:off x="4695825" y="3152775"/>
              <a:ext cx="95250" cy="19050"/>
            </a:xfrm>
            <a:prstGeom prst="rect">
              <a:avLst/>
            </a:prstGeom>
            <a:solidFill>
              <a:srgbClr val="FF5B1F"/>
            </a:solidFill>
            <a:ln>
              <a:noFill/>
            </a:ln>
          </p:spPr>
          <p:txBody>
            <a:bodyPr/>
            <a:lstStyle/>
            <a:p>
              <a:endParaRPr lang="en-US"/>
            </a:p>
          </p:txBody>
        </p:sp>
        <p:sp>
          <p:nvSpPr>
            <p:cNvPr id="49" name="rect 50"/>
            <p:cNvSpPr/>
            <p:nvPr/>
          </p:nvSpPr>
          <p:spPr>
            <a:xfrm>
              <a:off x="4695825" y="3209925"/>
              <a:ext cx="228600" cy="19050"/>
            </a:xfrm>
            <a:prstGeom prst="rect">
              <a:avLst/>
            </a:prstGeom>
            <a:solidFill>
              <a:srgbClr val="4A5058"/>
            </a:solidFill>
            <a:ln>
              <a:noFill/>
            </a:ln>
          </p:spPr>
          <p:txBody>
            <a:bodyPr/>
            <a:lstStyle/>
            <a:p>
              <a:endParaRPr lang="en-US"/>
            </a:p>
          </p:txBody>
        </p:sp>
        <p:sp>
          <p:nvSpPr>
            <p:cNvPr id="50" name="rect 51"/>
            <p:cNvSpPr/>
            <p:nvPr/>
          </p:nvSpPr>
          <p:spPr>
            <a:xfrm>
              <a:off x="4648200" y="3429000"/>
              <a:ext cx="381000" cy="219075"/>
            </a:xfrm>
            <a:prstGeom prst="rect">
              <a:avLst/>
            </a:prstGeom>
            <a:solidFill>
              <a:srgbClr val="0A0B0D"/>
            </a:solidFill>
            <a:ln w="14288" cap="flat">
              <a:solidFill>
                <a:srgbClr val="FF5B1F"/>
              </a:solidFill>
              <a:miter lim="800000"/>
            </a:ln>
          </p:spPr>
          <p:txBody>
            <a:bodyPr/>
            <a:lstStyle/>
            <a:p>
              <a:endParaRPr lang="en-US"/>
            </a:p>
          </p:txBody>
        </p:sp>
        <p:sp>
          <p:nvSpPr>
            <p:cNvPr id="51" name="rect 52"/>
            <p:cNvSpPr/>
            <p:nvPr/>
          </p:nvSpPr>
          <p:spPr>
            <a:xfrm>
              <a:off x="4695825" y="3476625"/>
              <a:ext cx="95250" cy="19050"/>
            </a:xfrm>
            <a:prstGeom prst="rect">
              <a:avLst/>
            </a:prstGeom>
            <a:solidFill>
              <a:srgbClr val="FF5B1F"/>
            </a:solidFill>
            <a:ln>
              <a:noFill/>
            </a:ln>
          </p:spPr>
          <p:txBody>
            <a:bodyPr/>
            <a:lstStyle/>
            <a:p>
              <a:endParaRPr lang="en-US"/>
            </a:p>
          </p:txBody>
        </p:sp>
        <p:sp>
          <p:nvSpPr>
            <p:cNvPr id="52" name="rect 53"/>
            <p:cNvSpPr/>
            <p:nvPr/>
          </p:nvSpPr>
          <p:spPr>
            <a:xfrm>
              <a:off x="4695825" y="3533775"/>
              <a:ext cx="228600" cy="19050"/>
            </a:xfrm>
            <a:prstGeom prst="rect">
              <a:avLst/>
            </a:prstGeom>
            <a:solidFill>
              <a:srgbClr val="4A5058"/>
            </a:solidFill>
            <a:ln>
              <a:noFill/>
            </a:ln>
          </p:spPr>
          <p:txBody>
            <a:bodyPr/>
            <a:lstStyle/>
            <a:p>
              <a:endParaRPr lang="en-US"/>
            </a:p>
          </p:txBody>
        </p:sp>
        <p:sp>
          <p:nvSpPr>
            <p:cNvPr id="53" name="rect 54"/>
            <p:cNvSpPr/>
            <p:nvPr/>
          </p:nvSpPr>
          <p:spPr>
            <a:xfrm>
              <a:off x="4648200" y="3752850"/>
              <a:ext cx="381000" cy="219075"/>
            </a:xfrm>
            <a:prstGeom prst="rect">
              <a:avLst/>
            </a:prstGeom>
            <a:solidFill>
              <a:srgbClr val="0A0B0D"/>
            </a:solidFill>
            <a:ln w="9525" cap="flat">
              <a:solidFill>
                <a:srgbClr val="2A2E35"/>
              </a:solidFill>
              <a:miter lim="800000"/>
            </a:ln>
          </p:spPr>
          <p:txBody>
            <a:bodyPr/>
            <a:lstStyle/>
            <a:p>
              <a:endParaRPr lang="en-US"/>
            </a:p>
          </p:txBody>
        </p:sp>
        <p:sp>
          <p:nvSpPr>
            <p:cNvPr id="54" name="rect 55"/>
            <p:cNvSpPr/>
            <p:nvPr/>
          </p:nvSpPr>
          <p:spPr>
            <a:xfrm>
              <a:off x="4695825" y="3800475"/>
              <a:ext cx="95250" cy="19050"/>
            </a:xfrm>
            <a:prstGeom prst="rect">
              <a:avLst/>
            </a:prstGeom>
            <a:solidFill>
              <a:srgbClr val="FF5B1F"/>
            </a:solidFill>
            <a:ln>
              <a:noFill/>
            </a:ln>
          </p:spPr>
          <p:txBody>
            <a:bodyPr/>
            <a:lstStyle/>
            <a:p>
              <a:endParaRPr lang="en-US"/>
            </a:p>
          </p:txBody>
        </p:sp>
        <p:sp>
          <p:nvSpPr>
            <p:cNvPr id="55" name="rect 56"/>
            <p:cNvSpPr/>
            <p:nvPr/>
          </p:nvSpPr>
          <p:spPr>
            <a:xfrm>
              <a:off x="4695825" y="3857625"/>
              <a:ext cx="228600" cy="19050"/>
            </a:xfrm>
            <a:prstGeom prst="rect">
              <a:avLst/>
            </a:prstGeom>
            <a:solidFill>
              <a:srgbClr val="4A5058"/>
            </a:solidFill>
            <a:ln>
              <a:noFill/>
            </a:ln>
          </p:spPr>
          <p:txBody>
            <a:bodyPr/>
            <a:lstStyle/>
            <a:p>
              <a:endParaRPr lang="en-US"/>
            </a:p>
          </p:txBody>
        </p:sp>
        <p:sp>
          <p:nvSpPr>
            <p:cNvPr id="56" name="rect 57"/>
            <p:cNvSpPr/>
            <p:nvPr/>
          </p:nvSpPr>
          <p:spPr>
            <a:xfrm>
              <a:off x="4648200" y="4076700"/>
              <a:ext cx="381000" cy="219075"/>
            </a:xfrm>
            <a:prstGeom prst="rect">
              <a:avLst/>
            </a:prstGeom>
            <a:solidFill>
              <a:srgbClr val="0A0B0D"/>
            </a:solidFill>
            <a:ln w="9525" cap="flat">
              <a:solidFill>
                <a:srgbClr val="2A2E35"/>
              </a:solidFill>
              <a:miter lim="800000"/>
            </a:ln>
          </p:spPr>
          <p:txBody>
            <a:bodyPr/>
            <a:lstStyle/>
            <a:p>
              <a:endParaRPr lang="en-US"/>
            </a:p>
          </p:txBody>
        </p:sp>
        <p:sp>
          <p:nvSpPr>
            <p:cNvPr id="57" name="rect 58"/>
            <p:cNvSpPr/>
            <p:nvPr/>
          </p:nvSpPr>
          <p:spPr>
            <a:xfrm>
              <a:off x="4695825" y="4124325"/>
              <a:ext cx="95250" cy="19050"/>
            </a:xfrm>
            <a:prstGeom prst="rect">
              <a:avLst/>
            </a:prstGeom>
            <a:solidFill>
              <a:srgbClr val="FF5B1F"/>
            </a:solidFill>
            <a:ln>
              <a:noFill/>
            </a:ln>
          </p:spPr>
          <p:txBody>
            <a:bodyPr/>
            <a:lstStyle/>
            <a:p>
              <a:endParaRPr lang="en-US"/>
            </a:p>
          </p:txBody>
        </p:sp>
        <p:sp>
          <p:nvSpPr>
            <p:cNvPr id="58" name="rect 59"/>
            <p:cNvSpPr/>
            <p:nvPr/>
          </p:nvSpPr>
          <p:spPr>
            <a:xfrm>
              <a:off x="4695825" y="4181475"/>
              <a:ext cx="228600" cy="19050"/>
            </a:xfrm>
            <a:prstGeom prst="rect">
              <a:avLst/>
            </a:prstGeom>
            <a:solidFill>
              <a:srgbClr val="4A5058"/>
            </a:solidFill>
            <a:ln>
              <a:noFill/>
            </a:ln>
          </p:spPr>
          <p:txBody>
            <a:bodyPr/>
            <a:lstStyle/>
            <a:p>
              <a:endParaRPr lang="en-US"/>
            </a:p>
          </p:txBody>
        </p:sp>
        <p:sp>
          <p:nvSpPr>
            <p:cNvPr id="59" name="rect 60"/>
            <p:cNvSpPr/>
            <p:nvPr/>
          </p:nvSpPr>
          <p:spPr>
            <a:xfrm>
              <a:off x="5124450" y="2781300"/>
              <a:ext cx="2438400" cy="1371600"/>
            </a:xfrm>
            <a:prstGeom prst="rect">
              <a:avLst/>
            </a:prstGeom>
            <a:solidFill>
              <a:srgbClr val="0A0B0D"/>
            </a:solidFill>
            <a:ln w="9525" cap="flat">
              <a:solidFill>
                <a:srgbClr val="2A2E35"/>
              </a:solidFill>
              <a:miter lim="800000"/>
            </a:ln>
          </p:spPr>
          <p:txBody>
            <a:bodyPr/>
            <a:lstStyle/>
            <a:p>
              <a:endParaRPr lang="en-US"/>
            </a:p>
          </p:txBody>
        </p:sp>
        <p:sp>
          <p:nvSpPr>
            <p:cNvPr id="60" name="rect 61"/>
            <p:cNvSpPr/>
            <p:nvPr/>
          </p:nvSpPr>
          <p:spPr>
            <a:xfrm>
              <a:off x="5257800" y="2895600"/>
              <a:ext cx="190500" cy="28575"/>
            </a:xfrm>
            <a:prstGeom prst="roundRect">
              <a:avLst>
                <a:gd name="adj" fmla="val 50000"/>
              </a:avLst>
            </a:prstGeom>
            <a:solidFill>
              <a:srgbClr val="FF5B1F"/>
            </a:solidFill>
            <a:ln>
              <a:noFill/>
            </a:ln>
          </p:spPr>
          <p:txBody>
            <a:bodyPr/>
            <a:lstStyle/>
            <a:p>
              <a:endParaRPr lang="en-US"/>
            </a:p>
          </p:txBody>
        </p:sp>
        <p:sp>
          <p:nvSpPr>
            <p:cNvPr id="61" name="Text 62"/>
            <p:cNvSpPr txBox="1"/>
            <p:nvPr/>
          </p:nvSpPr>
          <p:spPr>
            <a:xfrm>
              <a:off x="5295900" y="3063875"/>
              <a:ext cx="1361828" cy="192722"/>
            </a:xfrm>
            <a:prstGeom prst="rect">
              <a:avLst/>
            </a:prstGeom>
            <a:noFill/>
          </p:spPr>
          <p:txBody>
            <a:bodyPr wrap="none" lIns="0" tIns="0" rIns="0" bIns="0" rtlCol="0" anchor="t">
              <a:noAutofit/>
            </a:bodyPr>
            <a:lstStyle/>
            <a:p>
              <a:pPr algn="l">
                <a:spcBef>
                  <a:spcPts val="0"/>
                </a:spcBef>
                <a:spcAft>
                  <a:spcPts val="0"/>
                </a:spcAft>
              </a:pPr>
              <a:r>
                <a:rPr lang="en-US" sz="1050" b="1" dirty="0">
                  <a:solidFill>
                    <a:srgbClr val="EDE9E2"/>
                  </a:solidFill>
                  <a:latin typeface="Bahnschrift"/>
                  <a:ea typeface="Bahnschrift"/>
                  <a:cs typeface="Bahnschrift"/>
                </a:rPr>
                <a:t>One command center</a:t>
              </a:r>
              <a:endParaRPr lang="en-US" sz="1050" dirty="0"/>
            </a:p>
          </p:txBody>
        </p:sp>
        <p:sp>
          <p:nvSpPr>
            <p:cNvPr id="62" name="rect 63"/>
            <p:cNvSpPr/>
            <p:nvPr/>
          </p:nvSpPr>
          <p:spPr>
            <a:xfrm>
              <a:off x="5219700" y="3009900"/>
              <a:ext cx="1619250" cy="247650"/>
            </a:xfrm>
            <a:prstGeom prst="rect">
              <a:avLst/>
            </a:prstGeom>
            <a:noFill/>
            <a:ln w="9525" cap="flat">
              <a:solidFill>
                <a:srgbClr val="3D8BFF"/>
              </a:solidFill>
              <a:miter lim="800000"/>
            </a:ln>
          </p:spPr>
          <p:txBody>
            <a:bodyPr/>
            <a:lstStyle/>
            <a:p>
              <a:endParaRPr lang="en-US"/>
            </a:p>
          </p:txBody>
        </p:sp>
        <p:sp>
          <p:nvSpPr>
            <p:cNvPr id="63" name="rect 64"/>
            <p:cNvSpPr/>
            <p:nvPr/>
          </p:nvSpPr>
          <p:spPr>
            <a:xfrm>
              <a:off x="5195888" y="2986088"/>
              <a:ext cx="47625" cy="47625"/>
            </a:xfrm>
            <a:prstGeom prst="rect">
              <a:avLst/>
            </a:prstGeom>
            <a:solidFill>
              <a:srgbClr val="3D8BFF"/>
            </a:solidFill>
            <a:ln>
              <a:noFill/>
            </a:ln>
          </p:spPr>
          <p:txBody>
            <a:bodyPr/>
            <a:lstStyle/>
            <a:p>
              <a:endParaRPr lang="en-US"/>
            </a:p>
          </p:txBody>
        </p:sp>
        <p:sp>
          <p:nvSpPr>
            <p:cNvPr id="64" name="rect 65"/>
            <p:cNvSpPr/>
            <p:nvPr/>
          </p:nvSpPr>
          <p:spPr>
            <a:xfrm>
              <a:off x="6815138" y="2986088"/>
              <a:ext cx="47625" cy="47625"/>
            </a:xfrm>
            <a:prstGeom prst="rect">
              <a:avLst/>
            </a:prstGeom>
            <a:solidFill>
              <a:srgbClr val="3D8BFF"/>
            </a:solidFill>
            <a:ln>
              <a:noFill/>
            </a:ln>
          </p:spPr>
          <p:txBody>
            <a:bodyPr/>
            <a:lstStyle/>
            <a:p>
              <a:endParaRPr lang="en-US"/>
            </a:p>
          </p:txBody>
        </p:sp>
        <p:sp>
          <p:nvSpPr>
            <p:cNvPr id="65" name="rect 66"/>
            <p:cNvSpPr/>
            <p:nvPr/>
          </p:nvSpPr>
          <p:spPr>
            <a:xfrm>
              <a:off x="5195888" y="3233738"/>
              <a:ext cx="47625" cy="47625"/>
            </a:xfrm>
            <a:prstGeom prst="rect">
              <a:avLst/>
            </a:prstGeom>
            <a:solidFill>
              <a:srgbClr val="3D8BFF"/>
            </a:solidFill>
            <a:ln>
              <a:noFill/>
            </a:ln>
          </p:spPr>
          <p:txBody>
            <a:bodyPr/>
            <a:lstStyle/>
            <a:p>
              <a:endParaRPr lang="en-US"/>
            </a:p>
          </p:txBody>
        </p:sp>
        <p:sp>
          <p:nvSpPr>
            <p:cNvPr id="66" name="rect 67"/>
            <p:cNvSpPr/>
            <p:nvPr/>
          </p:nvSpPr>
          <p:spPr>
            <a:xfrm>
              <a:off x="6815138" y="3233738"/>
              <a:ext cx="47625" cy="47625"/>
            </a:xfrm>
            <a:prstGeom prst="rect">
              <a:avLst/>
            </a:prstGeom>
            <a:solidFill>
              <a:srgbClr val="3D8BFF"/>
            </a:solidFill>
            <a:ln>
              <a:noFill/>
            </a:ln>
          </p:spPr>
          <p:txBody>
            <a:bodyPr/>
            <a:lstStyle/>
            <a:p>
              <a:endParaRPr lang="en-US"/>
            </a:p>
          </p:txBody>
        </p:sp>
        <p:sp>
          <p:nvSpPr>
            <p:cNvPr id="67" name="rect 68"/>
            <p:cNvSpPr/>
            <p:nvPr/>
          </p:nvSpPr>
          <p:spPr>
            <a:xfrm>
              <a:off x="5257800" y="3371850"/>
              <a:ext cx="1428750" cy="38100"/>
            </a:xfrm>
            <a:prstGeom prst="rect">
              <a:avLst/>
            </a:prstGeom>
            <a:solidFill>
              <a:srgbClr val="4A5058"/>
            </a:solidFill>
            <a:ln>
              <a:noFill/>
            </a:ln>
          </p:spPr>
          <p:txBody>
            <a:bodyPr/>
            <a:lstStyle/>
            <a:p>
              <a:endParaRPr lang="en-US"/>
            </a:p>
          </p:txBody>
        </p:sp>
        <p:sp>
          <p:nvSpPr>
            <p:cNvPr id="68" name="rect 69"/>
            <p:cNvSpPr/>
            <p:nvPr/>
          </p:nvSpPr>
          <p:spPr>
            <a:xfrm>
              <a:off x="5257800" y="3467100"/>
              <a:ext cx="1047750" cy="38100"/>
            </a:xfrm>
            <a:prstGeom prst="rect">
              <a:avLst/>
            </a:prstGeom>
            <a:solidFill>
              <a:srgbClr val="4A5058">
                <a:alpha val="60000"/>
              </a:srgbClr>
            </a:solidFill>
            <a:ln>
              <a:noFill/>
            </a:ln>
          </p:spPr>
          <p:txBody>
            <a:bodyPr/>
            <a:lstStyle/>
            <a:p>
              <a:endParaRPr lang="en-US"/>
            </a:p>
          </p:txBody>
        </p:sp>
        <p:sp>
          <p:nvSpPr>
            <p:cNvPr id="69" name="rect 70"/>
            <p:cNvSpPr/>
            <p:nvPr/>
          </p:nvSpPr>
          <p:spPr>
            <a:xfrm>
              <a:off x="5257800" y="3600450"/>
              <a:ext cx="2171700" cy="457200"/>
            </a:xfrm>
            <a:prstGeom prst="roundRect">
              <a:avLst>
                <a:gd name="adj" fmla="val 4167"/>
              </a:avLst>
            </a:prstGeom>
            <a:solidFill>
              <a:srgbClr val="14171B"/>
            </a:solidFill>
            <a:ln w="9525" cap="flat">
              <a:solidFill>
                <a:srgbClr val="2A2E35"/>
              </a:solidFill>
              <a:miter lim="800000"/>
            </a:ln>
          </p:spPr>
          <p:txBody>
            <a:bodyPr/>
            <a:lstStyle/>
            <a:p>
              <a:endParaRPr lang="en-US"/>
            </a:p>
          </p:txBody>
        </p:sp>
        <p:sp>
          <p:nvSpPr>
            <p:cNvPr id="70" name="rect 71"/>
            <p:cNvSpPr/>
            <p:nvPr/>
          </p:nvSpPr>
          <p:spPr>
            <a:xfrm>
              <a:off x="5314950" y="3657600"/>
              <a:ext cx="666750" cy="342900"/>
            </a:xfrm>
            <a:prstGeom prst="rect">
              <a:avLst/>
            </a:prstGeom>
            <a:solidFill>
              <a:srgbClr val="0A0B0D"/>
            </a:solidFill>
            <a:ln w="9525" cap="flat">
              <a:solidFill>
                <a:srgbClr val="2A2E35"/>
              </a:solidFill>
              <a:miter lim="800000"/>
            </a:ln>
          </p:spPr>
          <p:txBody>
            <a:bodyPr/>
            <a:lstStyle/>
            <a:p>
              <a:endParaRPr lang="en-US"/>
            </a:p>
          </p:txBody>
        </p:sp>
        <p:sp>
          <p:nvSpPr>
            <p:cNvPr id="71" name="rect 72"/>
            <p:cNvSpPr/>
            <p:nvPr/>
          </p:nvSpPr>
          <p:spPr>
            <a:xfrm>
              <a:off x="5314950" y="3657600"/>
              <a:ext cx="666750" cy="19050"/>
            </a:xfrm>
            <a:prstGeom prst="rect">
              <a:avLst/>
            </a:prstGeom>
            <a:solidFill>
              <a:srgbClr val="FF5B1F"/>
            </a:solidFill>
            <a:ln>
              <a:noFill/>
            </a:ln>
          </p:spPr>
          <p:txBody>
            <a:bodyPr/>
            <a:lstStyle/>
            <a:p>
              <a:endParaRPr lang="en-US"/>
            </a:p>
          </p:txBody>
        </p:sp>
        <p:sp>
          <p:nvSpPr>
            <p:cNvPr id="72" name="rect 73"/>
            <p:cNvSpPr/>
            <p:nvPr/>
          </p:nvSpPr>
          <p:spPr>
            <a:xfrm>
              <a:off x="5372100" y="3752850"/>
              <a:ext cx="381000" cy="19050"/>
            </a:xfrm>
            <a:prstGeom prst="rect">
              <a:avLst/>
            </a:prstGeom>
            <a:solidFill>
              <a:srgbClr val="4A5058"/>
            </a:solidFill>
            <a:ln>
              <a:noFill/>
            </a:ln>
          </p:spPr>
          <p:txBody>
            <a:bodyPr/>
            <a:lstStyle/>
            <a:p>
              <a:endParaRPr lang="en-US"/>
            </a:p>
          </p:txBody>
        </p:sp>
        <p:sp>
          <p:nvSpPr>
            <p:cNvPr id="73" name="rect 74"/>
            <p:cNvSpPr/>
            <p:nvPr/>
          </p:nvSpPr>
          <p:spPr>
            <a:xfrm>
              <a:off x="6019800" y="3657600"/>
              <a:ext cx="666750" cy="342900"/>
            </a:xfrm>
            <a:prstGeom prst="rect">
              <a:avLst/>
            </a:prstGeom>
            <a:solidFill>
              <a:srgbClr val="0A0B0D"/>
            </a:solidFill>
            <a:ln w="9525" cap="flat">
              <a:solidFill>
                <a:srgbClr val="2A2E35"/>
              </a:solidFill>
              <a:miter lim="800000"/>
            </a:ln>
          </p:spPr>
          <p:txBody>
            <a:bodyPr/>
            <a:lstStyle/>
            <a:p>
              <a:endParaRPr lang="en-US"/>
            </a:p>
          </p:txBody>
        </p:sp>
        <p:sp>
          <p:nvSpPr>
            <p:cNvPr id="74" name="rect 75"/>
            <p:cNvSpPr/>
            <p:nvPr/>
          </p:nvSpPr>
          <p:spPr>
            <a:xfrm>
              <a:off x="6019800" y="3657600"/>
              <a:ext cx="666750" cy="19050"/>
            </a:xfrm>
            <a:prstGeom prst="rect">
              <a:avLst/>
            </a:prstGeom>
            <a:solidFill>
              <a:srgbClr val="3D8BFF"/>
            </a:solidFill>
            <a:ln>
              <a:noFill/>
            </a:ln>
          </p:spPr>
          <p:txBody>
            <a:bodyPr/>
            <a:lstStyle/>
            <a:p>
              <a:endParaRPr lang="en-US"/>
            </a:p>
          </p:txBody>
        </p:sp>
        <p:sp>
          <p:nvSpPr>
            <p:cNvPr id="75" name="rect 76"/>
            <p:cNvSpPr/>
            <p:nvPr/>
          </p:nvSpPr>
          <p:spPr>
            <a:xfrm>
              <a:off x="6076950" y="3752850"/>
              <a:ext cx="381000" cy="19050"/>
            </a:xfrm>
            <a:prstGeom prst="rect">
              <a:avLst/>
            </a:prstGeom>
            <a:solidFill>
              <a:srgbClr val="4A5058"/>
            </a:solidFill>
            <a:ln>
              <a:noFill/>
            </a:ln>
          </p:spPr>
          <p:txBody>
            <a:bodyPr/>
            <a:lstStyle/>
            <a:p>
              <a:endParaRPr lang="en-US"/>
            </a:p>
          </p:txBody>
        </p:sp>
        <p:sp>
          <p:nvSpPr>
            <p:cNvPr id="76" name="rect 77"/>
            <p:cNvSpPr/>
            <p:nvPr/>
          </p:nvSpPr>
          <p:spPr>
            <a:xfrm>
              <a:off x="6724650" y="3657600"/>
              <a:ext cx="666750" cy="342900"/>
            </a:xfrm>
            <a:prstGeom prst="rect">
              <a:avLst/>
            </a:prstGeom>
            <a:solidFill>
              <a:srgbClr val="0A0B0D"/>
            </a:solidFill>
            <a:ln w="9525" cap="flat">
              <a:solidFill>
                <a:srgbClr val="2A2E35"/>
              </a:solidFill>
              <a:miter lim="800000"/>
            </a:ln>
          </p:spPr>
          <p:txBody>
            <a:bodyPr/>
            <a:lstStyle/>
            <a:p>
              <a:endParaRPr lang="en-US"/>
            </a:p>
          </p:txBody>
        </p:sp>
        <p:sp>
          <p:nvSpPr>
            <p:cNvPr id="77" name="rect 78"/>
            <p:cNvSpPr/>
            <p:nvPr/>
          </p:nvSpPr>
          <p:spPr>
            <a:xfrm>
              <a:off x="6724650" y="3657600"/>
              <a:ext cx="666750" cy="19050"/>
            </a:xfrm>
            <a:prstGeom prst="rect">
              <a:avLst/>
            </a:prstGeom>
            <a:solidFill>
              <a:srgbClr val="A28BFF"/>
            </a:solidFill>
            <a:ln>
              <a:noFill/>
            </a:ln>
          </p:spPr>
          <p:txBody>
            <a:bodyPr/>
            <a:lstStyle/>
            <a:p>
              <a:endParaRPr lang="en-US"/>
            </a:p>
          </p:txBody>
        </p:sp>
        <p:sp>
          <p:nvSpPr>
            <p:cNvPr id="78" name="rect 79"/>
            <p:cNvSpPr/>
            <p:nvPr/>
          </p:nvSpPr>
          <p:spPr>
            <a:xfrm>
              <a:off x="6781800" y="3752850"/>
              <a:ext cx="381000" cy="19050"/>
            </a:xfrm>
            <a:prstGeom prst="rect">
              <a:avLst/>
            </a:prstGeom>
            <a:solidFill>
              <a:srgbClr val="4A5058"/>
            </a:solidFill>
            <a:ln>
              <a:noFill/>
            </a:ln>
          </p:spPr>
          <p:txBody>
            <a:bodyPr/>
            <a:lstStyle/>
            <a:p>
              <a:endParaRPr lang="en-US"/>
            </a:p>
          </p:txBody>
        </p:sp>
        <p:sp>
          <p:nvSpPr>
            <p:cNvPr id="79" name="line 80"/>
            <p:cNvSpPr/>
            <p:nvPr/>
          </p:nvSpPr>
          <p:spPr>
            <a:xfrm>
              <a:off x="4667250" y="4286250"/>
              <a:ext cx="2876550" cy="95"/>
            </a:xfrm>
            <a:custGeom>
              <a:avLst/>
              <a:gdLst/>
              <a:ahLst/>
              <a:cxnLst/>
              <a:rect l="0" t="0" r="r" b="b"/>
              <a:pathLst>
                <a:path w="2876550" h="95" fill="none">
                  <a:moveTo>
                    <a:pt x="0" y="0"/>
                  </a:moveTo>
                  <a:lnTo>
                    <a:pt x="2876550" y="0"/>
                  </a:lnTo>
                </a:path>
              </a:pathLst>
            </a:custGeom>
            <a:noFill/>
            <a:ln w="9525" cap="flat">
              <a:solidFill>
                <a:srgbClr val="2A2E35"/>
              </a:solidFill>
              <a:miter lim="800000"/>
            </a:ln>
          </p:spPr>
          <p:txBody>
            <a:bodyPr/>
            <a:lstStyle/>
            <a:p>
              <a:endParaRPr lang="en-US"/>
            </a:p>
          </p:txBody>
        </p:sp>
        <p:sp>
          <p:nvSpPr>
            <p:cNvPr id="80" name="Text 81"/>
            <p:cNvSpPr txBox="1"/>
            <p:nvPr/>
          </p:nvSpPr>
          <p:spPr>
            <a:xfrm>
              <a:off x="4667250" y="4356100"/>
              <a:ext cx="1410584" cy="160655"/>
            </a:xfrm>
            <a:prstGeom prst="rect">
              <a:avLst/>
            </a:prstGeom>
            <a:noFill/>
          </p:spPr>
          <p:txBody>
            <a:bodyPr wrap="none" lIns="0" tIns="0" rIns="0" bIns="0" rtlCol="0" anchor="t">
              <a:noAutofit/>
            </a:bodyPr>
            <a:lstStyle/>
            <a:p>
              <a:pPr algn="l">
                <a:spcBef>
                  <a:spcPts val="0"/>
                </a:spcBef>
                <a:spcAft>
                  <a:spcPts val="0"/>
                </a:spcAft>
              </a:pPr>
              <a:r>
                <a:rPr lang="en-US" sz="900" b="0" dirty="0">
                  <a:solidFill>
                    <a:srgbClr val="3D8BFF"/>
                  </a:solidFill>
                  <a:latin typeface="Consolas"/>
                  <a:ea typeface="Consolas"/>
                  <a:cs typeface="Consolas"/>
                </a:rPr>
                <a:t>SELECTED text · title</a:t>
              </a:r>
              <a:endParaRPr lang="en-US" sz="900" dirty="0"/>
            </a:p>
          </p:txBody>
        </p:sp>
        <p:sp>
          <p:nvSpPr>
            <p:cNvPr id="81" name="Text 82"/>
            <p:cNvSpPr txBox="1"/>
            <p:nvPr/>
          </p:nvSpPr>
          <p:spPr>
            <a:xfrm>
              <a:off x="4667250" y="4537075"/>
              <a:ext cx="1606653" cy="160655"/>
            </a:xfrm>
            <a:prstGeom prst="rect">
              <a:avLst/>
            </a:prstGeom>
            <a:noFill/>
          </p:spPr>
          <p:txBody>
            <a:bodyPr wrap="none" lIns="0" tIns="0" rIns="0" bIns="0" rtlCol="0" anchor="t">
              <a:noAutofit/>
            </a:bodyPr>
            <a:lstStyle/>
            <a:p>
              <a:pPr algn="l">
                <a:spcBef>
                  <a:spcPts val="0"/>
                </a:spcBef>
                <a:spcAft>
                  <a:spcPts val="0"/>
                </a:spcAft>
              </a:pPr>
              <a:r>
                <a:rPr lang="en-US" sz="900" b="0" dirty="0">
                  <a:solidFill>
                    <a:srgbClr val="9C9A94"/>
                  </a:solidFill>
                  <a:latin typeface="Consolas"/>
                  <a:ea typeface="Consolas"/>
                  <a:cs typeface="Consolas"/>
                </a:rPr>
                <a:t>font Bahnschrift 44 bold</a:t>
              </a:r>
              <a:endParaRPr lang="en-US" sz="900" dirty="0"/>
            </a:p>
          </p:txBody>
        </p:sp>
        <p:sp>
          <p:nvSpPr>
            <p:cNvPr id="82" name="Text 83"/>
            <p:cNvSpPr txBox="1"/>
            <p:nvPr/>
          </p:nvSpPr>
          <p:spPr>
            <a:xfrm>
              <a:off x="4667250" y="4708525"/>
              <a:ext cx="1410584" cy="160655"/>
            </a:xfrm>
            <a:prstGeom prst="rect">
              <a:avLst/>
            </a:prstGeom>
            <a:noFill/>
          </p:spPr>
          <p:txBody>
            <a:bodyPr wrap="none" lIns="0" tIns="0" rIns="0" bIns="0" rtlCol="0" anchor="t">
              <a:noAutofit/>
            </a:bodyPr>
            <a:lstStyle/>
            <a:p>
              <a:pPr algn="l">
                <a:spcBef>
                  <a:spcPts val="0"/>
                </a:spcBef>
                <a:spcAft>
                  <a:spcPts val="0"/>
                </a:spcAft>
              </a:pPr>
              <a:r>
                <a:rPr lang="en-US" sz="900" b="0" dirty="0">
                  <a:solidFill>
                    <a:srgbClr val="9C9A94"/>
                  </a:solidFill>
                  <a:latin typeface="Consolas"/>
                  <a:ea typeface="Consolas"/>
                  <a:cs typeface="Consolas"/>
                </a:rPr>
                <a:t>position x 78 · y 118</a:t>
              </a:r>
              <a:endParaRPr lang="en-US" sz="900" dirty="0"/>
            </a:p>
          </p:txBody>
        </p:sp>
        <p:sp>
          <p:nvSpPr>
            <p:cNvPr id="83" name="rect 84"/>
            <p:cNvSpPr/>
            <p:nvPr/>
          </p:nvSpPr>
          <p:spPr>
            <a:xfrm>
              <a:off x="4667250" y="4895850"/>
              <a:ext cx="1524000" cy="209550"/>
            </a:xfrm>
            <a:prstGeom prst="roundRect">
              <a:avLst>
                <a:gd name="adj" fmla="val 9091"/>
              </a:avLst>
            </a:prstGeom>
            <a:noFill/>
            <a:ln w="9525" cap="flat">
              <a:solidFill>
                <a:srgbClr val="FF5B1F"/>
              </a:solidFill>
              <a:miter lim="800000"/>
            </a:ln>
          </p:spPr>
          <p:txBody>
            <a:bodyPr/>
            <a:lstStyle/>
            <a:p>
              <a:endParaRPr lang="en-US"/>
            </a:p>
          </p:txBody>
        </p:sp>
        <p:sp>
          <p:nvSpPr>
            <p:cNvPr id="84" name="Text 85"/>
            <p:cNvSpPr txBox="1"/>
            <p:nvPr/>
          </p:nvSpPr>
          <p:spPr>
            <a:xfrm>
              <a:off x="4781550" y="4937125"/>
              <a:ext cx="1149159" cy="160655"/>
            </a:xfrm>
            <a:prstGeom prst="rect">
              <a:avLst/>
            </a:prstGeom>
            <a:noFill/>
          </p:spPr>
          <p:txBody>
            <a:bodyPr wrap="none" lIns="0" tIns="0" rIns="0" bIns="0" rtlCol="0" anchor="t">
              <a:noAutofit/>
            </a:bodyPr>
            <a:lstStyle/>
            <a:p>
              <a:pPr algn="l">
                <a:spcBef>
                  <a:spcPts val="0"/>
                </a:spcBef>
                <a:spcAft>
                  <a:spcPts val="0"/>
                </a:spcAft>
              </a:pPr>
              <a:r>
                <a:rPr lang="en-US" sz="900" b="0" dirty="0">
                  <a:solidFill>
                    <a:srgbClr val="FF5B1F"/>
                  </a:solidFill>
                  <a:latin typeface="Consolas"/>
                  <a:ea typeface="Consolas"/>
                  <a:cs typeface="Consolas"/>
                </a:rPr>
                <a:t>native · editable</a:t>
              </a:r>
              <a:endParaRPr lang="en-US" sz="900" dirty="0"/>
            </a:p>
          </p:txBody>
        </p:sp>
        <p:sp>
          <p:nvSpPr>
            <p:cNvPr id="85" name="path 86"/>
            <p:cNvSpPr/>
            <p:nvPr/>
          </p:nvSpPr>
          <p:spPr>
            <a:xfrm>
              <a:off x="4438650" y="2266950"/>
              <a:ext cx="3314700" cy="3048000"/>
            </a:xfrm>
            <a:custGeom>
              <a:avLst/>
              <a:gdLst/>
              <a:ahLst/>
              <a:cxnLst/>
              <a:rect l="0" t="0" r="r" b="b"/>
              <a:pathLst>
                <a:path w="3314700" h="3048000" fill="none">
                  <a:moveTo>
                    <a:pt x="0" y="190500"/>
                  </a:moveTo>
                  <a:lnTo>
                    <a:pt x="0" y="0"/>
                  </a:lnTo>
                  <a:lnTo>
                    <a:pt x="190500" y="0"/>
                  </a:lnTo>
                  <a:moveTo>
                    <a:pt x="3124200" y="0"/>
                  </a:moveTo>
                  <a:lnTo>
                    <a:pt x="3314700" y="0"/>
                  </a:lnTo>
                  <a:lnTo>
                    <a:pt x="3314700" y="190500"/>
                  </a:lnTo>
                  <a:moveTo>
                    <a:pt x="3314700" y="2857500"/>
                  </a:moveTo>
                  <a:lnTo>
                    <a:pt x="3314700" y="3048000"/>
                  </a:lnTo>
                  <a:lnTo>
                    <a:pt x="3124200" y="3048000"/>
                  </a:lnTo>
                  <a:moveTo>
                    <a:pt x="190500" y="3048000"/>
                  </a:moveTo>
                  <a:lnTo>
                    <a:pt x="0" y="3048000"/>
                  </a:lnTo>
                  <a:lnTo>
                    <a:pt x="0" y="2857500"/>
                  </a:lnTo>
                </a:path>
              </a:pathLst>
            </a:custGeom>
            <a:noFill/>
            <a:ln w="19050" cap="flat">
              <a:solidFill>
                <a:srgbClr val="FF5B1F"/>
              </a:solidFill>
              <a:miter lim="800000"/>
            </a:ln>
          </p:spPr>
          <p:txBody>
            <a:bodyPr/>
            <a:lstStyle/>
            <a:p>
              <a:endParaRPr lang="en-US"/>
            </a:p>
          </p:txBody>
        </p:sp>
        <p:sp>
          <p:nvSpPr>
            <p:cNvPr id="86" name="Text 87"/>
            <p:cNvSpPr txBox="1"/>
            <p:nvPr/>
          </p:nvSpPr>
          <p:spPr>
            <a:xfrm>
              <a:off x="4533900" y="5384800"/>
              <a:ext cx="1631670" cy="263525"/>
            </a:xfrm>
            <a:prstGeom prst="rect">
              <a:avLst/>
            </a:prstGeom>
            <a:noFill/>
          </p:spPr>
          <p:txBody>
            <a:bodyPr wrap="none" lIns="0" tIns="0" rIns="0" bIns="0" rtlCol="0" anchor="t">
              <a:noAutofit/>
            </a:bodyPr>
            <a:lstStyle/>
            <a:p>
              <a:pPr algn="l">
                <a:spcBef>
                  <a:spcPts val="0"/>
                </a:spcBef>
                <a:spcAft>
                  <a:spcPts val="0"/>
                </a:spcAft>
              </a:pPr>
              <a:r>
                <a:rPr lang="en-US" sz="1500" b="1" dirty="0">
                  <a:solidFill>
                    <a:srgbClr val="EDE9E2"/>
                  </a:solidFill>
                  <a:latin typeface="Bahnschrift"/>
                  <a:ea typeface="Bahnschrift"/>
                  <a:cs typeface="Bahnschrift"/>
                </a:rPr>
                <a:t>One SVG per page</a:t>
              </a:r>
              <a:endParaRPr lang="en-US" sz="1500" dirty="0"/>
            </a:p>
          </p:txBody>
        </p:sp>
        <p:sp>
          <p:nvSpPr>
            <p:cNvPr id="87" name="Text 88"/>
            <p:cNvSpPr txBox="1"/>
            <p:nvPr/>
          </p:nvSpPr>
          <p:spPr>
            <a:xfrm>
              <a:off x="4533900" y="5645150"/>
              <a:ext cx="2520636" cy="447040"/>
            </a:xfrm>
            <a:prstGeom prst="rect">
              <a:avLst/>
            </a:prstGeom>
            <a:noFill/>
          </p:spPr>
          <p:txBody>
            <a:bodyPr wrap="none" lIns="0" tIns="0" rIns="0" bIns="0" rtlCol="0" anchor="t">
              <a:noAutofit/>
            </a:bodyPr>
            <a:lstStyle/>
            <a:p>
              <a:pPr algn="l">
                <a:lnSpc>
                  <a:spcPts val="1700"/>
                </a:lnSpc>
                <a:spcBef>
                  <a:spcPts val="0"/>
                </a:spcBef>
                <a:spcAft>
                  <a:spcPts val="0"/>
                </a:spcAft>
              </a:pPr>
              <a:r>
                <a:rPr lang="en-US" sz="1200" b="0" dirty="0">
                  <a:solidFill>
                    <a:srgbClr val="9C9A94"/>
                  </a:solidFill>
                  <a:latin typeface="Segoe UI"/>
                  <a:ea typeface="Segoe UI"/>
                  <a:cs typeface="Segoe UI"/>
                </a:rPr>
                <a:t>Each slide is a hand-built vector,</a:t>
              </a:r>
              <a:endParaRPr lang="en-US" sz="1200" dirty="0"/>
            </a:p>
            <a:p>
              <a:pPr algn="l">
                <a:lnSpc>
                  <a:spcPts val="1700"/>
                </a:lnSpc>
                <a:spcBef>
                  <a:spcPts val="0"/>
                </a:spcBef>
                <a:spcAft>
                  <a:spcPts val="0"/>
                </a:spcAft>
              </a:pPr>
              <a:r>
                <a:rPr lang="en-US" sz="1200" b="0" dirty="0">
                  <a:solidFill>
                    <a:srgbClr val="9C9A94"/>
                  </a:solidFill>
                  <a:latin typeface="Segoe UI"/>
                  <a:ea typeface="Segoe UI"/>
                  <a:cs typeface="Segoe UI"/>
                </a:rPr>
                <a:t>exported as native, editable shapes.</a:t>
              </a:r>
              <a:endParaRPr lang="en-US" sz="1200" dirty="0"/>
            </a:p>
          </p:txBody>
        </p:sp>
      </p:grpSp>
      <p:sp>
        <p:nvSpPr>
          <p:cNvPr id="89" name="line 90"/>
          <p:cNvSpPr/>
          <p:nvPr/>
        </p:nvSpPr>
        <p:spPr>
          <a:xfrm>
            <a:off x="7829550" y="3790950"/>
            <a:ext cx="323850" cy="95"/>
          </a:xfrm>
          <a:custGeom>
            <a:avLst/>
            <a:gdLst/>
            <a:ahLst/>
            <a:cxnLst/>
            <a:rect l="0" t="0" r="r" b="b"/>
            <a:pathLst>
              <a:path w="323850" h="95" fill="none">
                <a:moveTo>
                  <a:pt x="0" y="0"/>
                </a:moveTo>
                <a:lnTo>
                  <a:pt x="323850" y="0"/>
                </a:lnTo>
              </a:path>
            </a:pathLst>
          </a:custGeom>
          <a:noFill/>
          <a:ln w="14288" cap="flat">
            <a:solidFill>
              <a:srgbClr val="9C9A94"/>
            </a:solidFill>
            <a:prstDash val="dash"/>
            <a:miter lim="800000"/>
            <a:tailEnd type="triangle" w="med" len="med"/>
          </a:ln>
        </p:spPr>
        <p:txBody>
          <a:bodyPr/>
          <a:lstStyle/>
          <a:p>
            <a:endParaRPr lang="en-US"/>
          </a:p>
        </p:txBody>
      </p:sp>
      <p:grpSp>
        <p:nvGrpSpPr>
          <p:cNvPr id="124" name="step-animate"/>
          <p:cNvGrpSpPr/>
          <p:nvPr/>
        </p:nvGrpSpPr>
        <p:grpSpPr>
          <a:xfrm>
            <a:off x="8229600" y="2025650"/>
            <a:ext cx="3314700" cy="4066540"/>
            <a:chOff x="8229600" y="2025650"/>
            <a:chExt cx="3314700" cy="4066540"/>
          </a:xfrm>
        </p:grpSpPr>
        <p:sp>
          <p:nvSpPr>
            <p:cNvPr id="90" name="Text 91"/>
            <p:cNvSpPr txBox="1"/>
            <p:nvPr/>
          </p:nvSpPr>
          <p:spPr>
            <a:xfrm>
              <a:off x="8324850" y="2025650"/>
              <a:ext cx="1309705" cy="192722"/>
            </a:xfrm>
            <a:prstGeom prst="rect">
              <a:avLst/>
            </a:prstGeom>
            <a:noFill/>
          </p:spPr>
          <p:txBody>
            <a:bodyPr wrap="none" lIns="0" tIns="0" rIns="0" bIns="0" rtlCol="0" anchor="t">
              <a:noAutofit/>
            </a:bodyPr>
            <a:lstStyle/>
            <a:p>
              <a:pPr algn="l">
                <a:spcBef>
                  <a:spcPts val="0"/>
                </a:spcBef>
                <a:spcAft>
                  <a:spcPts val="0"/>
                </a:spcAft>
              </a:pPr>
              <a:r>
                <a:rPr lang="en-US" sz="1050" b="1" spc="225" dirty="0">
                  <a:solidFill>
                    <a:srgbClr val="FF5B1F"/>
                  </a:solidFill>
                  <a:latin typeface="Consolas"/>
                  <a:ea typeface="Consolas"/>
                  <a:cs typeface="Consolas"/>
                </a:rPr>
                <a:t>03</a:t>
              </a:r>
              <a:r>
                <a:rPr lang="en-US" sz="1050" b="0" spc="225" dirty="0">
                  <a:solidFill>
                    <a:srgbClr val="9C9A94"/>
                  </a:solidFill>
                  <a:latin typeface="Consolas"/>
                  <a:ea typeface="Consolas"/>
                  <a:cs typeface="Consolas"/>
                </a:rPr>
                <a:t> / ANIMATE</a:t>
              </a:r>
              <a:endParaRPr lang="en-US" sz="1050" dirty="0"/>
            </a:p>
          </p:txBody>
        </p:sp>
        <p:sp>
          <p:nvSpPr>
            <p:cNvPr id="91" name="rect 92"/>
            <p:cNvSpPr/>
            <p:nvPr/>
          </p:nvSpPr>
          <p:spPr>
            <a:xfrm>
              <a:off x="8324850" y="2362200"/>
              <a:ext cx="3124200" cy="2857500"/>
            </a:xfrm>
            <a:prstGeom prst="roundRect">
              <a:avLst>
                <a:gd name="adj" fmla="val 2667"/>
              </a:avLst>
            </a:prstGeom>
            <a:solidFill>
              <a:srgbClr val="14171B"/>
            </a:solidFill>
            <a:ln w="9525" cap="flat">
              <a:solidFill>
                <a:srgbClr val="2A2E35"/>
              </a:solidFill>
              <a:miter lim="800000"/>
            </a:ln>
          </p:spPr>
          <p:txBody>
            <a:bodyPr/>
            <a:lstStyle/>
            <a:p>
              <a:endParaRPr lang="en-US"/>
            </a:p>
          </p:txBody>
        </p:sp>
        <p:sp>
          <p:nvSpPr>
            <p:cNvPr id="92" name="line 93"/>
            <p:cNvSpPr/>
            <p:nvPr/>
          </p:nvSpPr>
          <p:spPr>
            <a:xfrm>
              <a:off x="8324850" y="2628900"/>
              <a:ext cx="3124200" cy="95"/>
            </a:xfrm>
            <a:custGeom>
              <a:avLst/>
              <a:gdLst/>
              <a:ahLst/>
              <a:cxnLst/>
              <a:rect l="0" t="0" r="r" b="b"/>
              <a:pathLst>
                <a:path w="3124200" h="95" fill="none">
                  <a:moveTo>
                    <a:pt x="0" y="0"/>
                  </a:moveTo>
                  <a:lnTo>
                    <a:pt x="3124200" y="0"/>
                  </a:lnTo>
                </a:path>
              </a:pathLst>
            </a:custGeom>
            <a:noFill/>
            <a:ln w="9525" cap="flat">
              <a:solidFill>
                <a:srgbClr val="2A2E35"/>
              </a:solidFill>
              <a:miter lim="800000"/>
            </a:ln>
          </p:spPr>
          <p:txBody>
            <a:bodyPr/>
            <a:lstStyle/>
            <a:p>
              <a:endParaRPr lang="en-US"/>
            </a:p>
          </p:txBody>
        </p:sp>
        <p:sp>
          <p:nvSpPr>
            <p:cNvPr id="93" name="circle 94"/>
            <p:cNvSpPr/>
            <p:nvPr/>
          </p:nvSpPr>
          <p:spPr>
            <a:xfrm>
              <a:off x="8462963" y="2462213"/>
              <a:ext cx="66675" cy="66675"/>
            </a:xfrm>
            <a:prstGeom prst="ellipse">
              <a:avLst/>
            </a:prstGeom>
            <a:solidFill>
              <a:srgbClr val="4A5058"/>
            </a:solidFill>
            <a:ln>
              <a:noFill/>
            </a:ln>
          </p:spPr>
          <p:txBody>
            <a:bodyPr/>
            <a:lstStyle/>
            <a:p>
              <a:endParaRPr lang="en-US"/>
            </a:p>
          </p:txBody>
        </p:sp>
        <p:sp>
          <p:nvSpPr>
            <p:cNvPr id="94" name="circle 95"/>
            <p:cNvSpPr/>
            <p:nvPr/>
          </p:nvSpPr>
          <p:spPr>
            <a:xfrm>
              <a:off x="8596313" y="2462213"/>
              <a:ext cx="66675" cy="66675"/>
            </a:xfrm>
            <a:prstGeom prst="ellipse">
              <a:avLst/>
            </a:prstGeom>
            <a:solidFill>
              <a:srgbClr val="4A5058"/>
            </a:solidFill>
            <a:ln>
              <a:noFill/>
            </a:ln>
          </p:spPr>
          <p:txBody>
            <a:bodyPr/>
            <a:lstStyle/>
            <a:p>
              <a:endParaRPr lang="en-US"/>
            </a:p>
          </p:txBody>
        </p:sp>
        <p:sp>
          <p:nvSpPr>
            <p:cNvPr id="95" name="circle 96"/>
            <p:cNvSpPr/>
            <p:nvPr/>
          </p:nvSpPr>
          <p:spPr>
            <a:xfrm>
              <a:off x="8729663" y="2462213"/>
              <a:ext cx="66675" cy="66675"/>
            </a:xfrm>
            <a:prstGeom prst="ellipse">
              <a:avLst/>
            </a:prstGeom>
            <a:solidFill>
              <a:srgbClr val="4A5058"/>
            </a:solidFill>
            <a:ln>
              <a:noFill/>
            </a:ln>
          </p:spPr>
          <p:txBody>
            <a:bodyPr/>
            <a:lstStyle/>
            <a:p>
              <a:endParaRPr lang="en-US"/>
            </a:p>
          </p:txBody>
        </p:sp>
        <p:sp>
          <p:nvSpPr>
            <p:cNvPr id="96" name="Text 97"/>
            <p:cNvSpPr txBox="1"/>
            <p:nvPr/>
          </p:nvSpPr>
          <p:spPr>
            <a:xfrm>
              <a:off x="8915400" y="2432050"/>
              <a:ext cx="876840" cy="157321"/>
            </a:xfrm>
            <a:prstGeom prst="rect">
              <a:avLst/>
            </a:prstGeom>
            <a:noFill/>
          </p:spPr>
          <p:txBody>
            <a:bodyPr wrap="none" lIns="0" tIns="0" rIns="0" bIns="0" rtlCol="0" anchor="t">
              <a:noAutofit/>
            </a:bodyPr>
            <a:lstStyle/>
            <a:p>
              <a:pPr algn="l">
                <a:spcBef>
                  <a:spcPts val="0"/>
                </a:spcBef>
                <a:spcAft>
                  <a:spcPts val="0"/>
                </a:spcAft>
              </a:pPr>
              <a:r>
                <a:rPr lang="en-US" sz="825" b="0" dirty="0">
                  <a:solidFill>
                    <a:srgbClr val="9C9A94"/>
                  </a:solidFill>
                  <a:latin typeface="Consolas"/>
                  <a:ea typeface="Consolas"/>
                  <a:cs typeface="Consolas"/>
                </a:rPr>
                <a:t>animation pane</a:t>
              </a:r>
              <a:endParaRPr lang="en-US" sz="825" dirty="0"/>
            </a:p>
          </p:txBody>
        </p:sp>
        <p:sp>
          <p:nvSpPr>
            <p:cNvPr id="97" name="polygon 98"/>
            <p:cNvSpPr/>
            <p:nvPr/>
          </p:nvSpPr>
          <p:spPr>
            <a:xfrm>
              <a:off x="8477250" y="2800350"/>
              <a:ext cx="133350" cy="171450"/>
            </a:xfrm>
            <a:custGeom>
              <a:avLst/>
              <a:gdLst/>
              <a:ahLst/>
              <a:cxnLst/>
              <a:rect l="0" t="0" r="r" b="b"/>
              <a:pathLst>
                <a:path w="133350" h="171450">
                  <a:moveTo>
                    <a:pt x="0" y="0"/>
                  </a:moveTo>
                  <a:lnTo>
                    <a:pt x="0" y="171450"/>
                  </a:lnTo>
                  <a:lnTo>
                    <a:pt x="133350" y="85725"/>
                  </a:lnTo>
                  <a:close/>
                </a:path>
              </a:pathLst>
            </a:custGeom>
            <a:solidFill>
              <a:srgbClr val="FF5B1F"/>
            </a:solidFill>
            <a:ln>
              <a:noFill/>
            </a:ln>
          </p:spPr>
          <p:txBody>
            <a:bodyPr/>
            <a:lstStyle/>
            <a:p>
              <a:endParaRPr lang="en-US"/>
            </a:p>
          </p:txBody>
        </p:sp>
        <p:sp>
          <p:nvSpPr>
            <p:cNvPr id="98" name="Text 99"/>
            <p:cNvSpPr txBox="1"/>
            <p:nvPr/>
          </p:nvSpPr>
          <p:spPr>
            <a:xfrm>
              <a:off x="8724900" y="2819400"/>
              <a:ext cx="1029338" cy="176689"/>
            </a:xfrm>
            <a:prstGeom prst="rect">
              <a:avLst/>
            </a:prstGeom>
            <a:noFill/>
          </p:spPr>
          <p:txBody>
            <a:bodyPr wrap="none" lIns="0" tIns="0" rIns="0" bIns="0" rtlCol="0" anchor="t">
              <a:noAutofit/>
            </a:bodyPr>
            <a:lstStyle/>
            <a:p>
              <a:pPr algn="l">
                <a:spcBef>
                  <a:spcPts val="0"/>
                </a:spcBef>
                <a:spcAft>
                  <a:spcPts val="0"/>
                </a:spcAft>
              </a:pPr>
              <a:r>
                <a:rPr lang="en-US" sz="975" b="0" dirty="0">
                  <a:solidFill>
                    <a:srgbClr val="EDE9E2"/>
                  </a:solidFill>
                  <a:latin typeface="Consolas"/>
                  <a:ea typeface="Consolas"/>
                  <a:cs typeface="Consolas"/>
                </a:rPr>
                <a:t>Play slideshow</a:t>
              </a:r>
              <a:endParaRPr lang="en-US" sz="975" dirty="0"/>
            </a:p>
          </p:txBody>
        </p:sp>
        <p:sp>
          <p:nvSpPr>
            <p:cNvPr id="99" name="Text 100"/>
            <p:cNvSpPr txBox="1"/>
            <p:nvPr/>
          </p:nvSpPr>
          <p:spPr>
            <a:xfrm>
              <a:off x="10060350" y="2832100"/>
              <a:ext cx="1236300" cy="157321"/>
            </a:xfrm>
            <a:prstGeom prst="rect">
              <a:avLst/>
            </a:prstGeom>
            <a:noFill/>
          </p:spPr>
          <p:txBody>
            <a:bodyPr wrap="none" lIns="0" tIns="0" rIns="0" bIns="0" rtlCol="0" anchor="t">
              <a:noAutofit/>
            </a:bodyPr>
            <a:lstStyle/>
            <a:p>
              <a:pPr algn="r">
                <a:spcBef>
                  <a:spcPts val="0"/>
                </a:spcBef>
                <a:spcAft>
                  <a:spcPts val="0"/>
                </a:spcAft>
              </a:pPr>
              <a:r>
                <a:rPr lang="en-US" sz="825" b="0" dirty="0">
                  <a:solidFill>
                    <a:srgbClr val="9C9A94"/>
                  </a:solidFill>
                  <a:latin typeface="Consolas"/>
                  <a:ea typeface="Consolas"/>
                  <a:cs typeface="Consolas"/>
                </a:rPr>
                <a:t>4 effects · 3 clicks</a:t>
              </a:r>
              <a:endParaRPr lang="en-US" sz="825" dirty="0"/>
            </a:p>
          </p:txBody>
        </p:sp>
        <p:sp>
          <p:nvSpPr>
            <p:cNvPr id="100" name="Text 101"/>
            <p:cNvSpPr txBox="1"/>
            <p:nvPr/>
          </p:nvSpPr>
          <p:spPr>
            <a:xfrm>
              <a:off x="8477250" y="3181350"/>
              <a:ext cx="533719" cy="176689"/>
            </a:xfrm>
            <a:prstGeom prst="rect">
              <a:avLst/>
            </a:prstGeom>
            <a:noFill/>
          </p:spPr>
          <p:txBody>
            <a:bodyPr wrap="none" lIns="0" tIns="0" rIns="0" bIns="0" rtlCol="0" anchor="t">
              <a:noAutofit/>
            </a:bodyPr>
            <a:lstStyle/>
            <a:p>
              <a:pPr algn="l">
                <a:spcBef>
                  <a:spcPts val="0"/>
                </a:spcBef>
                <a:spcAft>
                  <a:spcPts val="0"/>
                </a:spcAft>
              </a:pPr>
              <a:r>
                <a:rPr lang="en-US" sz="975" b="0" dirty="0">
                  <a:solidFill>
                    <a:srgbClr val="9C9A94"/>
                  </a:solidFill>
                  <a:latin typeface="Consolas"/>
                  <a:ea typeface="Consolas"/>
                  <a:cs typeface="Consolas"/>
                </a:rPr>
                <a:t>1</a:t>
              </a:r>
              <a:r>
                <a:rPr lang="en-US" sz="975" b="0" dirty="0">
                  <a:solidFill>
                    <a:srgbClr val="EDE9E2"/>
                  </a:solidFill>
                  <a:latin typeface="Consolas"/>
                  <a:ea typeface="Consolas"/>
                  <a:cs typeface="Consolas"/>
                </a:rPr>
                <a:t> title</a:t>
              </a:r>
              <a:endParaRPr lang="en-US" sz="975" dirty="0"/>
            </a:p>
          </p:txBody>
        </p:sp>
        <p:sp>
          <p:nvSpPr>
            <p:cNvPr id="101" name="Text 102"/>
            <p:cNvSpPr txBox="1"/>
            <p:nvPr/>
          </p:nvSpPr>
          <p:spPr>
            <a:xfrm>
              <a:off x="10474273" y="3194050"/>
              <a:ext cx="822377" cy="160655"/>
            </a:xfrm>
            <a:prstGeom prst="rect">
              <a:avLst/>
            </a:prstGeom>
            <a:noFill/>
          </p:spPr>
          <p:txBody>
            <a:bodyPr wrap="none" lIns="0" tIns="0" rIns="0" bIns="0" rtlCol="0" anchor="t">
              <a:noAutofit/>
            </a:bodyPr>
            <a:lstStyle/>
            <a:p>
              <a:pPr algn="r">
                <a:spcBef>
                  <a:spcPts val="0"/>
                </a:spcBef>
                <a:spcAft>
                  <a:spcPts val="0"/>
                </a:spcAft>
              </a:pPr>
              <a:r>
                <a:rPr lang="en-US" sz="900" b="0" dirty="0">
                  <a:solidFill>
                    <a:srgbClr val="9C9A94"/>
                  </a:solidFill>
                  <a:latin typeface="Consolas"/>
                  <a:ea typeface="Consolas"/>
                  <a:cs typeface="Consolas"/>
                </a:rPr>
                <a:t>fade · after</a:t>
              </a:r>
              <a:endParaRPr lang="en-US" sz="900" dirty="0"/>
            </a:p>
          </p:txBody>
        </p:sp>
        <p:sp>
          <p:nvSpPr>
            <p:cNvPr id="102" name="rect 103"/>
            <p:cNvSpPr/>
            <p:nvPr/>
          </p:nvSpPr>
          <p:spPr>
            <a:xfrm>
              <a:off x="8477250" y="3371850"/>
              <a:ext cx="2819400" cy="57150"/>
            </a:xfrm>
            <a:prstGeom prst="rect">
              <a:avLst/>
            </a:prstGeom>
            <a:solidFill>
              <a:srgbClr val="1B1F24"/>
            </a:solidFill>
            <a:ln>
              <a:noFill/>
            </a:ln>
          </p:spPr>
          <p:txBody>
            <a:bodyPr/>
            <a:lstStyle/>
            <a:p>
              <a:endParaRPr lang="en-US"/>
            </a:p>
          </p:txBody>
        </p:sp>
        <p:sp>
          <p:nvSpPr>
            <p:cNvPr id="103" name="rect 104"/>
            <p:cNvSpPr/>
            <p:nvPr/>
          </p:nvSpPr>
          <p:spPr>
            <a:xfrm>
              <a:off x="8477250" y="3371850"/>
              <a:ext cx="533400" cy="57150"/>
            </a:xfrm>
            <a:prstGeom prst="roundRect">
              <a:avLst>
                <a:gd name="adj" fmla="val 16667"/>
              </a:avLst>
            </a:prstGeom>
            <a:solidFill>
              <a:srgbClr val="FF5B1F"/>
            </a:solidFill>
            <a:ln>
              <a:noFill/>
            </a:ln>
          </p:spPr>
          <p:txBody>
            <a:bodyPr/>
            <a:lstStyle/>
            <a:p>
              <a:endParaRPr lang="en-US"/>
            </a:p>
          </p:txBody>
        </p:sp>
        <p:sp>
          <p:nvSpPr>
            <p:cNvPr id="104" name="Text 105"/>
            <p:cNvSpPr txBox="1"/>
            <p:nvPr/>
          </p:nvSpPr>
          <p:spPr>
            <a:xfrm>
              <a:off x="8477250" y="3600450"/>
              <a:ext cx="533719" cy="176689"/>
            </a:xfrm>
            <a:prstGeom prst="rect">
              <a:avLst/>
            </a:prstGeom>
            <a:noFill/>
          </p:spPr>
          <p:txBody>
            <a:bodyPr wrap="none" lIns="0" tIns="0" rIns="0" bIns="0" rtlCol="0" anchor="t">
              <a:noAutofit/>
            </a:bodyPr>
            <a:lstStyle/>
            <a:p>
              <a:pPr algn="l">
                <a:spcBef>
                  <a:spcPts val="0"/>
                </a:spcBef>
                <a:spcAft>
                  <a:spcPts val="0"/>
                </a:spcAft>
              </a:pPr>
              <a:r>
                <a:rPr lang="en-US" sz="975" b="0" dirty="0">
                  <a:solidFill>
                    <a:srgbClr val="9C9A94"/>
                  </a:solidFill>
                  <a:latin typeface="Consolas"/>
                  <a:ea typeface="Consolas"/>
                  <a:cs typeface="Consolas"/>
                </a:rPr>
                <a:t>2</a:t>
              </a:r>
              <a:r>
                <a:rPr lang="en-US" sz="975" b="0" dirty="0">
                  <a:solidFill>
                    <a:srgbClr val="EDE9E2"/>
                  </a:solidFill>
                  <a:latin typeface="Consolas"/>
                  <a:ea typeface="Consolas"/>
                  <a:cs typeface="Consolas"/>
                </a:rPr>
                <a:t> cards</a:t>
              </a:r>
              <a:endParaRPr lang="en-US" sz="975" dirty="0"/>
            </a:p>
          </p:txBody>
        </p:sp>
        <p:sp>
          <p:nvSpPr>
            <p:cNvPr id="105" name="Text 106"/>
            <p:cNvSpPr txBox="1"/>
            <p:nvPr/>
          </p:nvSpPr>
          <p:spPr>
            <a:xfrm>
              <a:off x="10539630" y="3613150"/>
              <a:ext cx="757020" cy="160655"/>
            </a:xfrm>
            <a:prstGeom prst="rect">
              <a:avLst/>
            </a:prstGeom>
            <a:noFill/>
          </p:spPr>
          <p:txBody>
            <a:bodyPr wrap="none" lIns="0" tIns="0" rIns="0" bIns="0" rtlCol="0" anchor="t">
              <a:noAutofit/>
            </a:bodyPr>
            <a:lstStyle/>
            <a:p>
              <a:pPr algn="r">
                <a:spcBef>
                  <a:spcPts val="0"/>
                </a:spcBef>
                <a:spcAft>
                  <a:spcPts val="0"/>
                </a:spcAft>
              </a:pPr>
              <a:r>
                <a:rPr lang="en-US" sz="900" b="0" dirty="0">
                  <a:solidFill>
                    <a:srgbClr val="9C9A94"/>
                  </a:solidFill>
                  <a:latin typeface="Consolas"/>
                  <a:ea typeface="Consolas"/>
                  <a:cs typeface="Consolas"/>
                </a:rPr>
                <a:t>fly · click</a:t>
              </a:r>
              <a:endParaRPr lang="en-US" sz="900" dirty="0"/>
            </a:p>
          </p:txBody>
        </p:sp>
        <p:sp>
          <p:nvSpPr>
            <p:cNvPr id="106" name="rect 107"/>
            <p:cNvSpPr/>
            <p:nvPr/>
          </p:nvSpPr>
          <p:spPr>
            <a:xfrm>
              <a:off x="8477250" y="3790950"/>
              <a:ext cx="2819400" cy="57150"/>
            </a:xfrm>
            <a:prstGeom prst="rect">
              <a:avLst/>
            </a:prstGeom>
            <a:solidFill>
              <a:srgbClr val="1B1F24"/>
            </a:solidFill>
            <a:ln>
              <a:noFill/>
            </a:ln>
          </p:spPr>
          <p:txBody>
            <a:bodyPr/>
            <a:lstStyle/>
            <a:p>
              <a:endParaRPr lang="en-US"/>
            </a:p>
          </p:txBody>
        </p:sp>
        <p:sp>
          <p:nvSpPr>
            <p:cNvPr id="107" name="rect 108"/>
            <p:cNvSpPr/>
            <p:nvPr/>
          </p:nvSpPr>
          <p:spPr>
            <a:xfrm>
              <a:off x="9163050" y="3790950"/>
              <a:ext cx="800100" cy="57150"/>
            </a:xfrm>
            <a:prstGeom prst="roundRect">
              <a:avLst>
                <a:gd name="adj" fmla="val 16667"/>
              </a:avLst>
            </a:prstGeom>
            <a:solidFill>
              <a:srgbClr val="3D8BFF"/>
            </a:solidFill>
            <a:ln>
              <a:noFill/>
            </a:ln>
          </p:spPr>
          <p:txBody>
            <a:bodyPr/>
            <a:lstStyle/>
            <a:p>
              <a:endParaRPr lang="en-US"/>
            </a:p>
          </p:txBody>
        </p:sp>
        <p:sp>
          <p:nvSpPr>
            <p:cNvPr id="108" name="Text 109"/>
            <p:cNvSpPr txBox="1"/>
            <p:nvPr/>
          </p:nvSpPr>
          <p:spPr>
            <a:xfrm>
              <a:off x="8477250" y="4019550"/>
              <a:ext cx="604522" cy="176689"/>
            </a:xfrm>
            <a:prstGeom prst="rect">
              <a:avLst/>
            </a:prstGeom>
            <a:noFill/>
          </p:spPr>
          <p:txBody>
            <a:bodyPr wrap="none" lIns="0" tIns="0" rIns="0" bIns="0" rtlCol="0" anchor="t">
              <a:noAutofit/>
            </a:bodyPr>
            <a:lstStyle/>
            <a:p>
              <a:pPr algn="l">
                <a:spcBef>
                  <a:spcPts val="0"/>
                </a:spcBef>
                <a:spcAft>
                  <a:spcPts val="0"/>
                </a:spcAft>
              </a:pPr>
              <a:r>
                <a:rPr lang="en-US" sz="975" b="0" dirty="0">
                  <a:solidFill>
                    <a:srgbClr val="9C9A94"/>
                  </a:solidFill>
                  <a:latin typeface="Consolas"/>
                  <a:ea typeface="Consolas"/>
                  <a:cs typeface="Consolas"/>
                </a:rPr>
                <a:t>3</a:t>
              </a:r>
              <a:r>
                <a:rPr lang="en-US" sz="975" b="0" dirty="0">
                  <a:solidFill>
                    <a:srgbClr val="EDE9E2"/>
                  </a:solidFill>
                  <a:latin typeface="Consolas"/>
                  <a:ea typeface="Consolas"/>
                  <a:cs typeface="Consolas"/>
                </a:rPr>
                <a:t> number</a:t>
              </a:r>
              <a:endParaRPr lang="en-US" sz="975" dirty="0"/>
            </a:p>
          </p:txBody>
        </p:sp>
        <p:sp>
          <p:nvSpPr>
            <p:cNvPr id="109" name="Text 110"/>
            <p:cNvSpPr txBox="1"/>
            <p:nvPr/>
          </p:nvSpPr>
          <p:spPr>
            <a:xfrm>
              <a:off x="10474273" y="4032250"/>
              <a:ext cx="822377" cy="160655"/>
            </a:xfrm>
            <a:prstGeom prst="rect">
              <a:avLst/>
            </a:prstGeom>
            <a:noFill/>
          </p:spPr>
          <p:txBody>
            <a:bodyPr wrap="none" lIns="0" tIns="0" rIns="0" bIns="0" rtlCol="0" anchor="t">
              <a:noAutofit/>
            </a:bodyPr>
            <a:lstStyle/>
            <a:p>
              <a:pPr algn="r">
                <a:spcBef>
                  <a:spcPts val="0"/>
                </a:spcBef>
                <a:spcAft>
                  <a:spcPts val="0"/>
                </a:spcAft>
              </a:pPr>
              <a:r>
                <a:rPr lang="en-US" sz="900" b="0" dirty="0">
                  <a:solidFill>
                    <a:srgbClr val="9C9A94"/>
                  </a:solidFill>
                  <a:latin typeface="Consolas"/>
                  <a:ea typeface="Consolas"/>
                  <a:cs typeface="Consolas"/>
                </a:rPr>
                <a:t>zoom · click</a:t>
              </a:r>
              <a:endParaRPr lang="en-US" sz="900" dirty="0"/>
            </a:p>
          </p:txBody>
        </p:sp>
        <p:sp>
          <p:nvSpPr>
            <p:cNvPr id="110" name="rect 111"/>
            <p:cNvSpPr/>
            <p:nvPr/>
          </p:nvSpPr>
          <p:spPr>
            <a:xfrm>
              <a:off x="8477250" y="4210050"/>
              <a:ext cx="2819400" cy="57150"/>
            </a:xfrm>
            <a:prstGeom prst="rect">
              <a:avLst/>
            </a:prstGeom>
            <a:solidFill>
              <a:srgbClr val="1B1F24"/>
            </a:solidFill>
            <a:ln>
              <a:noFill/>
            </a:ln>
          </p:spPr>
          <p:txBody>
            <a:bodyPr/>
            <a:lstStyle/>
            <a:p>
              <a:endParaRPr lang="en-US"/>
            </a:p>
          </p:txBody>
        </p:sp>
        <p:sp>
          <p:nvSpPr>
            <p:cNvPr id="111" name="rect 112"/>
            <p:cNvSpPr/>
            <p:nvPr/>
          </p:nvSpPr>
          <p:spPr>
            <a:xfrm>
              <a:off x="10001250" y="4210050"/>
              <a:ext cx="533400" cy="57150"/>
            </a:xfrm>
            <a:prstGeom prst="roundRect">
              <a:avLst>
                <a:gd name="adj" fmla="val 16667"/>
              </a:avLst>
            </a:prstGeom>
            <a:solidFill>
              <a:srgbClr val="A28BFF"/>
            </a:solidFill>
            <a:ln>
              <a:noFill/>
            </a:ln>
          </p:spPr>
          <p:txBody>
            <a:bodyPr/>
            <a:lstStyle/>
            <a:p>
              <a:endParaRPr lang="en-US"/>
            </a:p>
          </p:txBody>
        </p:sp>
        <p:sp>
          <p:nvSpPr>
            <p:cNvPr id="112" name="Text 113"/>
            <p:cNvSpPr txBox="1"/>
            <p:nvPr/>
          </p:nvSpPr>
          <p:spPr>
            <a:xfrm>
              <a:off x="8477250" y="4438650"/>
              <a:ext cx="462916" cy="176689"/>
            </a:xfrm>
            <a:prstGeom prst="rect">
              <a:avLst/>
            </a:prstGeom>
            <a:noFill/>
          </p:spPr>
          <p:txBody>
            <a:bodyPr wrap="none" lIns="0" tIns="0" rIns="0" bIns="0" rtlCol="0" anchor="t">
              <a:noAutofit/>
            </a:bodyPr>
            <a:lstStyle/>
            <a:p>
              <a:pPr algn="l">
                <a:spcBef>
                  <a:spcPts val="0"/>
                </a:spcBef>
                <a:spcAft>
                  <a:spcPts val="0"/>
                </a:spcAft>
              </a:pPr>
              <a:r>
                <a:rPr lang="en-US" sz="975" b="0" dirty="0">
                  <a:solidFill>
                    <a:srgbClr val="9C9A94"/>
                  </a:solidFill>
                  <a:latin typeface="Consolas"/>
                  <a:ea typeface="Consolas"/>
                  <a:cs typeface="Consolas"/>
                </a:rPr>
                <a:t>4</a:t>
              </a:r>
              <a:r>
                <a:rPr lang="en-US" sz="975" b="0" dirty="0">
                  <a:solidFill>
                    <a:srgbClr val="EDE9E2"/>
                  </a:solidFill>
                  <a:latin typeface="Consolas"/>
                  <a:ea typeface="Consolas"/>
                  <a:cs typeface="Consolas"/>
                </a:rPr>
                <a:t> rule</a:t>
              </a:r>
              <a:endParaRPr lang="en-US" sz="975" dirty="0"/>
            </a:p>
          </p:txBody>
        </p:sp>
        <p:sp>
          <p:nvSpPr>
            <p:cNvPr id="113" name="Text 114"/>
            <p:cNvSpPr txBox="1"/>
            <p:nvPr/>
          </p:nvSpPr>
          <p:spPr>
            <a:xfrm>
              <a:off x="10474273" y="4451350"/>
              <a:ext cx="822377" cy="160655"/>
            </a:xfrm>
            <a:prstGeom prst="rect">
              <a:avLst/>
            </a:prstGeom>
            <a:noFill/>
          </p:spPr>
          <p:txBody>
            <a:bodyPr wrap="none" lIns="0" tIns="0" rIns="0" bIns="0" rtlCol="0" anchor="t">
              <a:noAutofit/>
            </a:bodyPr>
            <a:lstStyle/>
            <a:p>
              <a:pPr algn="r">
                <a:spcBef>
                  <a:spcPts val="0"/>
                </a:spcBef>
                <a:spcAft>
                  <a:spcPts val="0"/>
                </a:spcAft>
              </a:pPr>
              <a:r>
                <a:rPr lang="en-US" sz="900" b="0" dirty="0">
                  <a:solidFill>
                    <a:srgbClr val="9C9A94"/>
                  </a:solidFill>
                  <a:latin typeface="Consolas"/>
                  <a:ea typeface="Consolas"/>
                  <a:cs typeface="Consolas"/>
                </a:rPr>
                <a:t>wipe · click</a:t>
              </a:r>
              <a:endParaRPr lang="en-US" sz="900" dirty="0"/>
            </a:p>
          </p:txBody>
        </p:sp>
        <p:sp>
          <p:nvSpPr>
            <p:cNvPr id="114" name="rect 115"/>
            <p:cNvSpPr/>
            <p:nvPr/>
          </p:nvSpPr>
          <p:spPr>
            <a:xfrm>
              <a:off x="8477250" y="4629150"/>
              <a:ext cx="2819400" cy="57150"/>
            </a:xfrm>
            <a:prstGeom prst="rect">
              <a:avLst/>
            </a:prstGeom>
            <a:solidFill>
              <a:srgbClr val="1B1F24"/>
            </a:solidFill>
            <a:ln>
              <a:noFill/>
            </a:ln>
          </p:spPr>
          <p:txBody>
            <a:bodyPr/>
            <a:lstStyle/>
            <a:p>
              <a:endParaRPr lang="en-US"/>
            </a:p>
          </p:txBody>
        </p:sp>
        <p:sp>
          <p:nvSpPr>
            <p:cNvPr id="115" name="rect 116"/>
            <p:cNvSpPr/>
            <p:nvPr/>
          </p:nvSpPr>
          <p:spPr>
            <a:xfrm>
              <a:off x="10610850" y="4629150"/>
              <a:ext cx="685800" cy="57150"/>
            </a:xfrm>
            <a:prstGeom prst="roundRect">
              <a:avLst>
                <a:gd name="adj" fmla="val 16667"/>
              </a:avLst>
            </a:prstGeom>
            <a:solidFill>
              <a:srgbClr val="F6B69A"/>
            </a:solidFill>
            <a:ln>
              <a:noFill/>
            </a:ln>
          </p:spPr>
          <p:txBody>
            <a:bodyPr/>
            <a:lstStyle/>
            <a:p>
              <a:endParaRPr lang="en-US"/>
            </a:p>
          </p:txBody>
        </p:sp>
        <p:sp>
          <p:nvSpPr>
            <p:cNvPr id="116" name="line 117"/>
            <p:cNvSpPr/>
            <p:nvPr/>
          </p:nvSpPr>
          <p:spPr>
            <a:xfrm>
              <a:off x="10001250" y="3105150"/>
              <a:ext cx="95" cy="1695450"/>
            </a:xfrm>
            <a:custGeom>
              <a:avLst/>
              <a:gdLst/>
              <a:ahLst/>
              <a:cxnLst/>
              <a:rect l="0" t="0" r="r" b="b"/>
              <a:pathLst>
                <a:path w="95" h="1695450" fill="none">
                  <a:moveTo>
                    <a:pt x="0" y="0"/>
                  </a:moveTo>
                  <a:lnTo>
                    <a:pt x="0" y="1695450"/>
                  </a:lnTo>
                </a:path>
              </a:pathLst>
            </a:custGeom>
            <a:noFill/>
            <a:ln w="14288" cap="flat">
              <a:solidFill>
                <a:srgbClr val="FF5B1F"/>
              </a:solidFill>
              <a:miter lim="800000"/>
            </a:ln>
          </p:spPr>
          <p:txBody>
            <a:bodyPr/>
            <a:lstStyle/>
            <a:p>
              <a:endParaRPr lang="en-US"/>
            </a:p>
          </p:txBody>
        </p:sp>
        <p:sp>
          <p:nvSpPr>
            <p:cNvPr id="117" name="polygon 118"/>
            <p:cNvSpPr/>
            <p:nvPr/>
          </p:nvSpPr>
          <p:spPr>
            <a:xfrm>
              <a:off x="9944100" y="3048000"/>
              <a:ext cx="114300" cy="76200"/>
            </a:xfrm>
            <a:custGeom>
              <a:avLst/>
              <a:gdLst/>
              <a:ahLst/>
              <a:cxnLst/>
              <a:rect l="0" t="0" r="r" b="b"/>
              <a:pathLst>
                <a:path w="114300" h="76200">
                  <a:moveTo>
                    <a:pt x="0" y="0"/>
                  </a:moveTo>
                  <a:lnTo>
                    <a:pt x="114300" y="0"/>
                  </a:lnTo>
                  <a:lnTo>
                    <a:pt x="57150" y="76200"/>
                  </a:lnTo>
                  <a:close/>
                </a:path>
              </a:pathLst>
            </a:custGeom>
            <a:solidFill>
              <a:srgbClr val="FF5B1F"/>
            </a:solidFill>
            <a:ln>
              <a:noFill/>
            </a:ln>
          </p:spPr>
          <p:txBody>
            <a:bodyPr/>
            <a:lstStyle/>
            <a:p>
              <a:endParaRPr lang="en-US"/>
            </a:p>
          </p:txBody>
        </p:sp>
        <p:sp>
          <p:nvSpPr>
            <p:cNvPr id="118" name="line 119"/>
            <p:cNvSpPr/>
            <p:nvPr/>
          </p:nvSpPr>
          <p:spPr>
            <a:xfrm>
              <a:off x="8477250" y="4876800"/>
              <a:ext cx="2819400" cy="95"/>
            </a:xfrm>
            <a:custGeom>
              <a:avLst/>
              <a:gdLst/>
              <a:ahLst/>
              <a:cxnLst/>
              <a:rect l="0" t="0" r="r" b="b"/>
              <a:pathLst>
                <a:path w="2819400" h="95" fill="none">
                  <a:moveTo>
                    <a:pt x="0" y="0"/>
                  </a:moveTo>
                  <a:lnTo>
                    <a:pt x="2819400" y="0"/>
                  </a:lnTo>
                </a:path>
              </a:pathLst>
            </a:custGeom>
            <a:noFill/>
            <a:ln w="9525" cap="flat">
              <a:solidFill>
                <a:srgbClr val="2A2E35"/>
              </a:solidFill>
              <a:miter lim="800000"/>
            </a:ln>
          </p:spPr>
          <p:txBody>
            <a:bodyPr/>
            <a:lstStyle/>
            <a:p>
              <a:endParaRPr lang="en-US"/>
            </a:p>
          </p:txBody>
        </p:sp>
        <p:sp>
          <p:nvSpPr>
            <p:cNvPr id="119" name="Text 120"/>
            <p:cNvSpPr txBox="1"/>
            <p:nvPr/>
          </p:nvSpPr>
          <p:spPr>
            <a:xfrm>
              <a:off x="8477250" y="4965700"/>
              <a:ext cx="277740" cy="157321"/>
            </a:xfrm>
            <a:prstGeom prst="rect">
              <a:avLst/>
            </a:prstGeom>
            <a:noFill/>
          </p:spPr>
          <p:txBody>
            <a:bodyPr wrap="none" lIns="0" tIns="0" rIns="0" bIns="0" rtlCol="0" anchor="t">
              <a:noAutofit/>
            </a:bodyPr>
            <a:lstStyle/>
            <a:p>
              <a:pPr algn="l">
                <a:spcBef>
                  <a:spcPts val="0"/>
                </a:spcBef>
                <a:spcAft>
                  <a:spcPts val="0"/>
                </a:spcAft>
              </a:pPr>
              <a:r>
                <a:rPr lang="en-US" sz="825" b="0" dirty="0">
                  <a:solidFill>
                    <a:srgbClr val="9C9A94"/>
                  </a:solidFill>
                  <a:latin typeface="Consolas"/>
                  <a:ea typeface="Consolas"/>
                  <a:cs typeface="Consolas"/>
                </a:rPr>
                <a:t>0.0s</a:t>
              </a:r>
              <a:endParaRPr lang="en-US" sz="825" dirty="0"/>
            </a:p>
          </p:txBody>
        </p:sp>
        <p:sp>
          <p:nvSpPr>
            <p:cNvPr id="120" name="Text 121"/>
            <p:cNvSpPr txBox="1"/>
            <p:nvPr/>
          </p:nvSpPr>
          <p:spPr>
            <a:xfrm>
              <a:off x="11018910" y="4965700"/>
              <a:ext cx="277740" cy="157321"/>
            </a:xfrm>
            <a:prstGeom prst="rect">
              <a:avLst/>
            </a:prstGeom>
            <a:noFill/>
          </p:spPr>
          <p:txBody>
            <a:bodyPr wrap="none" lIns="0" tIns="0" rIns="0" bIns="0" rtlCol="0" anchor="t">
              <a:noAutofit/>
            </a:bodyPr>
            <a:lstStyle/>
            <a:p>
              <a:pPr algn="r">
                <a:spcBef>
                  <a:spcPts val="0"/>
                </a:spcBef>
                <a:spcAft>
                  <a:spcPts val="0"/>
                </a:spcAft>
              </a:pPr>
              <a:r>
                <a:rPr lang="en-US" sz="825" b="0" dirty="0">
                  <a:solidFill>
                    <a:srgbClr val="9C9A94"/>
                  </a:solidFill>
                  <a:latin typeface="Consolas"/>
                  <a:ea typeface="Consolas"/>
                  <a:cs typeface="Consolas"/>
                </a:rPr>
                <a:t>2.4s</a:t>
              </a:r>
              <a:endParaRPr lang="en-US" sz="825" dirty="0"/>
            </a:p>
          </p:txBody>
        </p:sp>
        <p:sp>
          <p:nvSpPr>
            <p:cNvPr id="121" name="path 122"/>
            <p:cNvSpPr/>
            <p:nvPr/>
          </p:nvSpPr>
          <p:spPr>
            <a:xfrm>
              <a:off x="8229600" y="2266950"/>
              <a:ext cx="3314700" cy="3048000"/>
            </a:xfrm>
            <a:custGeom>
              <a:avLst/>
              <a:gdLst/>
              <a:ahLst/>
              <a:cxnLst/>
              <a:rect l="0" t="0" r="r" b="b"/>
              <a:pathLst>
                <a:path w="3314700" h="3048000" fill="none">
                  <a:moveTo>
                    <a:pt x="0" y="190500"/>
                  </a:moveTo>
                  <a:lnTo>
                    <a:pt x="0" y="0"/>
                  </a:lnTo>
                  <a:lnTo>
                    <a:pt x="190500" y="0"/>
                  </a:lnTo>
                  <a:moveTo>
                    <a:pt x="3124200" y="0"/>
                  </a:moveTo>
                  <a:lnTo>
                    <a:pt x="3314700" y="0"/>
                  </a:lnTo>
                  <a:lnTo>
                    <a:pt x="3314700" y="190500"/>
                  </a:lnTo>
                  <a:moveTo>
                    <a:pt x="3314700" y="2857500"/>
                  </a:moveTo>
                  <a:lnTo>
                    <a:pt x="3314700" y="3048000"/>
                  </a:lnTo>
                  <a:lnTo>
                    <a:pt x="3124200" y="3048000"/>
                  </a:lnTo>
                  <a:moveTo>
                    <a:pt x="190500" y="3048000"/>
                  </a:moveTo>
                  <a:lnTo>
                    <a:pt x="0" y="3048000"/>
                  </a:lnTo>
                  <a:lnTo>
                    <a:pt x="0" y="2857500"/>
                  </a:lnTo>
                </a:path>
              </a:pathLst>
            </a:custGeom>
            <a:noFill/>
            <a:ln w="19050" cap="flat">
              <a:solidFill>
                <a:srgbClr val="3D8BFF"/>
              </a:solidFill>
              <a:miter lim="800000"/>
            </a:ln>
          </p:spPr>
          <p:txBody>
            <a:bodyPr/>
            <a:lstStyle/>
            <a:p>
              <a:endParaRPr lang="en-US"/>
            </a:p>
          </p:txBody>
        </p:sp>
        <p:sp>
          <p:nvSpPr>
            <p:cNvPr id="122" name="Text 123"/>
            <p:cNvSpPr txBox="1"/>
            <p:nvPr/>
          </p:nvSpPr>
          <p:spPr>
            <a:xfrm>
              <a:off x="8324850" y="5384800"/>
              <a:ext cx="2571289" cy="263525"/>
            </a:xfrm>
            <a:prstGeom prst="rect">
              <a:avLst/>
            </a:prstGeom>
            <a:noFill/>
          </p:spPr>
          <p:txBody>
            <a:bodyPr wrap="none" lIns="0" tIns="0" rIns="0" bIns="0" rtlCol="0" anchor="t">
              <a:noAutofit/>
            </a:bodyPr>
            <a:lstStyle/>
            <a:p>
              <a:pPr algn="l">
                <a:spcBef>
                  <a:spcPts val="0"/>
                </a:spcBef>
                <a:spcAft>
                  <a:spcPts val="0"/>
                </a:spcAft>
              </a:pPr>
              <a:r>
                <a:rPr lang="en-US" sz="1500" b="1" dirty="0">
                  <a:solidFill>
                    <a:srgbClr val="EDE9E2"/>
                  </a:solidFill>
                  <a:latin typeface="Bahnschrift"/>
                  <a:ea typeface="Bahnschrift"/>
                  <a:cs typeface="Bahnschrift"/>
                </a:rPr>
                <a:t>Motion that follows the story</a:t>
              </a:r>
              <a:endParaRPr lang="en-US" sz="1500" dirty="0"/>
            </a:p>
          </p:txBody>
        </p:sp>
        <p:sp>
          <p:nvSpPr>
            <p:cNvPr id="123" name="Text 124"/>
            <p:cNvSpPr txBox="1"/>
            <p:nvPr/>
          </p:nvSpPr>
          <p:spPr>
            <a:xfrm>
              <a:off x="8324850" y="5645150"/>
              <a:ext cx="2425910" cy="447040"/>
            </a:xfrm>
            <a:prstGeom prst="rect">
              <a:avLst/>
            </a:prstGeom>
            <a:noFill/>
          </p:spPr>
          <p:txBody>
            <a:bodyPr wrap="none" lIns="0" tIns="0" rIns="0" bIns="0" rtlCol="0" anchor="t">
              <a:noAutofit/>
            </a:bodyPr>
            <a:lstStyle/>
            <a:p>
              <a:pPr algn="l">
                <a:lnSpc>
                  <a:spcPts val="1700"/>
                </a:lnSpc>
                <a:spcBef>
                  <a:spcPts val="0"/>
                </a:spcBef>
                <a:spcAft>
                  <a:spcPts val="0"/>
                </a:spcAft>
              </a:pPr>
              <a:r>
                <a:rPr lang="en-US" sz="1200" b="0" dirty="0">
                  <a:solidFill>
                    <a:srgbClr val="9C9A94"/>
                  </a:solidFill>
                  <a:latin typeface="Segoe UI"/>
                  <a:ea typeface="Segoe UI"/>
                  <a:cs typeface="Segoe UI"/>
                </a:rPr>
                <a:t>Title first, then one idea a click,</a:t>
              </a:r>
              <a:endParaRPr lang="en-US" sz="1200" dirty="0"/>
            </a:p>
            <a:p>
              <a:pPr algn="l">
                <a:lnSpc>
                  <a:spcPts val="1700"/>
                </a:lnSpc>
                <a:spcBef>
                  <a:spcPts val="0"/>
                </a:spcBef>
                <a:spcAft>
                  <a:spcPts val="0"/>
                </a:spcAft>
              </a:pPr>
              <a:r>
                <a:rPr lang="en-US" sz="1200" b="0" dirty="0">
                  <a:solidFill>
                    <a:srgbClr val="9C9A94"/>
                  </a:solidFill>
                  <a:latin typeface="Segoe UI"/>
                  <a:ea typeface="Segoe UI"/>
                  <a:cs typeface="Segoe UI"/>
                </a:rPr>
                <a:t>with fades, flies, zooms and wipes.</a:t>
              </a:r>
              <a:endParaRPr lang="en-US" sz="1200" dirty="0"/>
            </a:p>
          </p:txBody>
        </p:sp>
      </p:grpSp>
      <p:grpSp>
        <p:nvGrpSpPr>
          <p:cNvPr id="129" name="footer-progress"/>
          <p:cNvGrpSpPr/>
          <p:nvPr/>
        </p:nvGrpSpPr>
        <p:grpSpPr>
          <a:xfrm>
            <a:off x="742950" y="6083300"/>
            <a:ext cx="10706100" cy="241395"/>
            <a:chOff x="742950" y="6083300"/>
            <a:chExt cx="10706100" cy="241395"/>
          </a:xfrm>
        </p:grpSpPr>
        <p:sp>
          <p:nvSpPr>
            <p:cNvPr id="125" name="Text 126"/>
            <p:cNvSpPr txBox="1"/>
            <p:nvPr/>
          </p:nvSpPr>
          <p:spPr>
            <a:xfrm>
              <a:off x="742950" y="6096000"/>
              <a:ext cx="2162182" cy="176689"/>
            </a:xfrm>
            <a:prstGeom prst="rect">
              <a:avLst/>
            </a:prstGeom>
            <a:noFill/>
          </p:spPr>
          <p:txBody>
            <a:bodyPr wrap="none" lIns="0" tIns="0" rIns="0" bIns="0" rtlCol="0" anchor="t">
              <a:noAutofit/>
            </a:bodyPr>
            <a:lstStyle/>
            <a:p>
              <a:pPr algn="l">
                <a:spcBef>
                  <a:spcPts val="0"/>
                </a:spcBef>
                <a:spcAft>
                  <a:spcPts val="0"/>
                </a:spcAft>
              </a:pPr>
              <a:r>
                <a:rPr lang="en-US" sz="975" b="0" dirty="0">
                  <a:solidFill>
                    <a:srgbClr val="9C9A94"/>
                  </a:solidFill>
                  <a:latin typeface="Consolas"/>
                  <a:ea typeface="Consolas"/>
                  <a:cs typeface="Consolas"/>
                </a:rPr>
                <a:t>YzPzCode · Presentation Studio</a:t>
              </a:r>
              <a:endParaRPr lang="en-US" sz="975" dirty="0"/>
            </a:p>
          </p:txBody>
        </p:sp>
        <p:sp>
          <p:nvSpPr>
            <p:cNvPr id="126" name="Text 127"/>
            <p:cNvSpPr txBox="1"/>
            <p:nvPr/>
          </p:nvSpPr>
          <p:spPr>
            <a:xfrm>
              <a:off x="10877206" y="6083300"/>
              <a:ext cx="571844" cy="192722"/>
            </a:xfrm>
            <a:prstGeom prst="rect">
              <a:avLst/>
            </a:prstGeom>
            <a:noFill/>
          </p:spPr>
          <p:txBody>
            <a:bodyPr wrap="none" lIns="0" tIns="0" rIns="0" bIns="0" rtlCol="0" anchor="t">
              <a:noAutofit/>
            </a:bodyPr>
            <a:lstStyle/>
            <a:p>
              <a:pPr algn="r">
                <a:spcBef>
                  <a:spcPts val="0"/>
                </a:spcBef>
                <a:spcAft>
                  <a:spcPts val="0"/>
                </a:spcAft>
              </a:pPr>
              <a:r>
                <a:rPr lang="en-US" sz="1050" b="0" dirty="0">
                  <a:solidFill>
                    <a:srgbClr val="9C9A94"/>
                  </a:solidFill>
                  <a:latin typeface="Consolas"/>
                  <a:ea typeface="Consolas"/>
                  <a:cs typeface="Consolas"/>
                </a:rPr>
                <a:t>18 / 22</a:t>
              </a:r>
              <a:endParaRPr lang="en-US" sz="1050" dirty="0"/>
            </a:p>
          </p:txBody>
        </p:sp>
        <p:sp>
          <p:nvSpPr>
            <p:cNvPr id="127" name="line 128"/>
            <p:cNvSpPr/>
            <p:nvPr/>
          </p:nvSpPr>
          <p:spPr>
            <a:xfrm>
              <a:off x="742950" y="6324600"/>
              <a:ext cx="10706100" cy="95"/>
            </a:xfrm>
            <a:custGeom>
              <a:avLst/>
              <a:gdLst/>
              <a:ahLst/>
              <a:cxnLst/>
              <a:rect l="0" t="0" r="r" b="b"/>
              <a:pathLst>
                <a:path w="10706100" h="95" fill="none">
                  <a:moveTo>
                    <a:pt x="0" y="0"/>
                  </a:moveTo>
                  <a:lnTo>
                    <a:pt x="10706100" y="0"/>
                  </a:lnTo>
                </a:path>
              </a:pathLst>
            </a:custGeom>
            <a:noFill/>
            <a:ln w="9525" cap="flat">
              <a:solidFill>
                <a:srgbClr val="2A2E35"/>
              </a:solidFill>
              <a:miter lim="800000"/>
            </a:ln>
          </p:spPr>
          <p:txBody>
            <a:bodyPr/>
            <a:lstStyle/>
            <a:p>
              <a:endParaRPr lang="en-US"/>
            </a:p>
          </p:txBody>
        </p:sp>
        <p:sp>
          <p:nvSpPr>
            <p:cNvPr id="128" name="line 129"/>
            <p:cNvSpPr/>
            <p:nvPr/>
          </p:nvSpPr>
          <p:spPr>
            <a:xfrm>
              <a:off x="742950" y="6324600"/>
              <a:ext cx="8763000" cy="95"/>
            </a:xfrm>
            <a:custGeom>
              <a:avLst/>
              <a:gdLst/>
              <a:ahLst/>
              <a:cxnLst/>
              <a:rect l="0" t="0" r="r" b="b"/>
              <a:pathLst>
                <a:path w="8763000" h="95" fill="none">
                  <a:moveTo>
                    <a:pt x="0" y="0"/>
                  </a:moveTo>
                  <a:lnTo>
                    <a:pt x="8763000" y="0"/>
                  </a:lnTo>
                </a:path>
              </a:pathLst>
            </a:custGeom>
            <a:noFill/>
            <a:ln w="19050" cap="flat">
              <a:solidFill>
                <a:srgbClr val="FF5B1F"/>
              </a:solidFill>
              <a:miter lim="800000"/>
            </a:ln>
          </p:spPr>
          <p:txBody>
            <a:bodyPr/>
            <a:lstStyle/>
            <a:p>
              <a:endParaRPr lang="en-US"/>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 calcmode="lin" valueType="num">
                                      <p:cBhvr additive="base">
                                        <p:cTn id="12" dur="500" fill="hold"/>
                                        <p:tgtEl>
                                          <p:spTgt spid="35"/>
                                        </p:tgtEl>
                                        <p:attrNameLst>
                                          <p:attrName>ppt_x</p:attrName>
                                        </p:attrNameLst>
                                      </p:cBhvr>
                                      <p:tavLst>
                                        <p:tav tm="0">
                                          <p:val>
                                            <p:strVal val="0-#ppt_w/2"/>
                                          </p:val>
                                        </p:tav>
                                        <p:tav tm="100000">
                                          <p:val>
                                            <p:strVal val="#ppt_x"/>
                                          </p:val>
                                        </p:tav>
                                      </p:tavLst>
                                    </p:anim>
                                    <p:anim calcmode="lin" valueType="num">
                                      <p:cBhvr additive="base">
                                        <p:cTn id="13"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wipe(left)">
                                      <p:cBhvr>
                                        <p:cTn id="18" dur="500"/>
                                        <p:tgtEl>
                                          <p:spTgt spid="36"/>
                                        </p:tgtEl>
                                      </p:cBhvr>
                                    </p:animEffect>
                                  </p:childTnLst>
                                </p:cTn>
                              </p:par>
                            </p:childTnLst>
                          </p:cTn>
                        </p:par>
                        <p:par>
                          <p:cTn id="19" fill="hold">
                            <p:stCondLst>
                              <p:cond delay="500"/>
                            </p:stCondLst>
                            <p:childTnLst>
                              <p:par>
                                <p:cTn id="20" presetID="42" presetClass="entr" presetSubtype="0" fill="hold" nodeType="afterEffect">
                                  <p:stCondLst>
                                    <p:cond delay="0"/>
                                  </p:stCondLst>
                                  <p:childTnLst>
                                    <p:set>
                                      <p:cBhvr>
                                        <p:cTn id="21" dur="1" fill="hold">
                                          <p:stCondLst>
                                            <p:cond delay="0"/>
                                          </p:stCondLst>
                                        </p:cTn>
                                        <p:tgtEl>
                                          <p:spTgt spid="88"/>
                                        </p:tgtEl>
                                        <p:attrNameLst>
                                          <p:attrName>style.visibility</p:attrName>
                                        </p:attrNameLst>
                                      </p:cBhvr>
                                      <p:to>
                                        <p:strVal val="visible"/>
                                      </p:to>
                                    </p:set>
                                    <p:anim calcmode="lin" valueType="num">
                                      <p:cBhvr>
                                        <p:cTn id="22" dur="600" fill="hold"/>
                                        <p:tgtEl>
                                          <p:spTgt spid="88"/>
                                        </p:tgtEl>
                                        <p:attrNameLst>
                                          <p:attrName>ppt_y</p:attrName>
                                        </p:attrNameLst>
                                      </p:cBhvr>
                                      <p:tavLst>
                                        <p:tav tm="0">
                                          <p:val>
                                            <p:strVal val="#ppt_y+.1"/>
                                          </p:val>
                                        </p:tav>
                                        <p:tav tm="100000">
                                          <p:val>
                                            <p:strVal val="#ppt_y"/>
                                          </p:val>
                                        </p:tav>
                                      </p:tavLst>
                                    </p:anim>
                                    <p:animEffect transition="in" filter="fade">
                                      <p:cBhvr>
                                        <p:cTn id="23" dur="600"/>
                                        <p:tgtEl>
                                          <p:spTgt spid="8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89"/>
                                        </p:tgtEl>
                                        <p:attrNameLst>
                                          <p:attrName>style.visibility</p:attrName>
                                        </p:attrNameLst>
                                      </p:cBhvr>
                                      <p:to>
                                        <p:strVal val="visible"/>
                                      </p:to>
                                    </p:set>
                                    <p:animEffect transition="in" filter="wipe(left)">
                                      <p:cBhvr>
                                        <p:cTn id="28" dur="500"/>
                                        <p:tgtEl>
                                          <p:spTgt spid="89"/>
                                        </p:tgtEl>
                                      </p:cBhvr>
                                    </p:animEffect>
                                  </p:childTnLst>
                                </p:cTn>
                              </p:par>
                            </p:childTnLst>
                          </p:cTn>
                        </p:par>
                        <p:par>
                          <p:cTn id="29" fill="hold">
                            <p:stCondLst>
                              <p:cond delay="500"/>
                            </p:stCondLst>
                            <p:childTnLst>
                              <p:par>
                                <p:cTn id="30" presetID="2" presetClass="entr" presetSubtype="2" fill="hold" nodeType="afterEffect">
                                  <p:stCondLst>
                                    <p:cond delay="0"/>
                                  </p:stCondLst>
                                  <p:childTnLst>
                                    <p:set>
                                      <p:cBhvr>
                                        <p:cTn id="31" dur="1" fill="hold">
                                          <p:stCondLst>
                                            <p:cond delay="0"/>
                                          </p:stCondLst>
                                        </p:cTn>
                                        <p:tgtEl>
                                          <p:spTgt spid="124"/>
                                        </p:tgtEl>
                                        <p:attrNameLst>
                                          <p:attrName>style.visibility</p:attrName>
                                        </p:attrNameLst>
                                      </p:cBhvr>
                                      <p:to>
                                        <p:strVal val="visible"/>
                                      </p:to>
                                    </p:set>
                                    <p:anim calcmode="lin" valueType="num">
                                      <p:cBhvr additive="base">
                                        <p:cTn id="32" dur="500" fill="hold"/>
                                        <p:tgtEl>
                                          <p:spTgt spid="124"/>
                                        </p:tgtEl>
                                        <p:attrNameLst>
                                          <p:attrName>ppt_x</p:attrName>
                                        </p:attrNameLst>
                                      </p:cBhvr>
                                      <p:tavLst>
                                        <p:tav tm="0">
                                          <p:val>
                                            <p:strVal val="1+#ppt_w/2"/>
                                          </p:val>
                                        </p:tav>
                                        <p:tav tm="100000">
                                          <p:val>
                                            <p:strVal val="#ppt_x"/>
                                          </p:val>
                                        </p:tav>
                                      </p:tavLst>
                                    </p:anim>
                                    <p:anim calcmode="lin" valueType="num">
                                      <p:cBhvr additive="base">
                                        <p:cTn id="33" dur="500" fill="hold"/>
                                        <p:tgtEl>
                                          <p:spTgt spid="1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B0D"/>
        </a:solidFill>
        <a:effectLst/>
      </p:bgPr>
    </p:bg>
    <p:spTree>
      <p:nvGrpSpPr>
        <p:cNvPr id="1" name=""/>
        <p:cNvGrpSpPr/>
        <p:nvPr/>
      </p:nvGrpSpPr>
      <p:grpSpPr>
        <a:xfrm>
          <a:off x="0" y="0"/>
          <a:ext cx="0" cy="0"/>
          <a:chOff x="0" y="0"/>
          <a:chExt cx="0" cy="0"/>
        </a:xfrm>
      </p:grpSpPr>
      <p:grpSp>
        <p:nvGrpSpPr>
          <p:cNvPr id="4" name="title-block"/>
          <p:cNvGrpSpPr/>
          <p:nvPr/>
        </p:nvGrpSpPr>
        <p:grpSpPr>
          <a:xfrm>
            <a:off x="609600" y="495300"/>
            <a:ext cx="6411636" cy="1270635"/>
            <a:chOff x="609600" y="495300"/>
            <a:chExt cx="6411636" cy="1270635"/>
          </a:xfrm>
        </p:grpSpPr>
        <p:sp>
          <p:nvSpPr>
            <p:cNvPr id="2" name="rect 3"/>
            <p:cNvSpPr/>
            <p:nvPr/>
          </p:nvSpPr>
          <p:spPr>
            <a:xfrm>
              <a:off x="609600" y="495300"/>
              <a:ext cx="457200" cy="57150"/>
            </a:xfrm>
            <a:prstGeom prst="roundRect">
              <a:avLst>
                <a:gd name="adj" fmla="val 50000"/>
              </a:avLst>
            </a:prstGeom>
            <a:solidFill>
              <a:srgbClr val="FF5B1F"/>
            </a:solidFill>
            <a:ln>
              <a:noFill/>
            </a:ln>
          </p:spPr>
          <p:txBody>
            <a:bodyPr/>
            <a:lstStyle/>
            <a:p>
              <a:endParaRPr lang="en-US"/>
            </a:p>
          </p:txBody>
        </p:sp>
        <p:sp>
          <p:nvSpPr>
            <p:cNvPr id="3" name="Text 4"/>
            <p:cNvSpPr txBox="1"/>
            <p:nvPr/>
          </p:nvSpPr>
          <p:spPr>
            <a:xfrm>
              <a:off x="609600" y="711200"/>
              <a:ext cx="6411636" cy="1054735"/>
            </a:xfrm>
            <a:prstGeom prst="rect">
              <a:avLst/>
            </a:prstGeom>
            <a:noFill/>
          </p:spPr>
          <p:txBody>
            <a:bodyPr wrap="none" lIns="0" tIns="0" rIns="0" bIns="0" rtlCol="0" anchor="t">
              <a:noAutofit/>
            </a:bodyPr>
            <a:lstStyle/>
            <a:p>
              <a:pPr algn="l">
                <a:lnSpc>
                  <a:spcPts val="3900"/>
                </a:lnSpc>
                <a:spcBef>
                  <a:spcPts val="0"/>
                </a:spcBef>
                <a:spcAft>
                  <a:spcPts val="0"/>
                </a:spcAft>
              </a:pPr>
              <a:r>
                <a:rPr lang="en-US" sz="3300" b="1" spc="-15" dirty="0">
                  <a:solidFill>
                    <a:srgbClr val="EDE9E2"/>
                  </a:solidFill>
                  <a:latin typeface="Bahnschrift"/>
                  <a:ea typeface="Bahnschrift"/>
                  <a:cs typeface="Bahnschrift"/>
                </a:rPr>
                <a:t>Writing Studio: where </a:t>
              </a:r>
              <a:r>
                <a:rPr lang="en-US" sz="3300" b="1" spc="-15" dirty="0">
                  <a:solidFill>
                    <a:srgbClr val="FF5B1F"/>
                  </a:solidFill>
                  <a:latin typeface="Bahnschrift"/>
                  <a:ea typeface="Bahnschrift"/>
                  <a:cs typeface="Bahnschrift"/>
                </a:rPr>
                <a:t>documents</a:t>
              </a:r>
              <a:endParaRPr lang="en-US" sz="3300" dirty="0"/>
            </a:p>
            <a:p>
              <a:pPr algn="l">
                <a:lnSpc>
                  <a:spcPts val="3900"/>
                </a:lnSpc>
                <a:spcBef>
                  <a:spcPts val="0"/>
                </a:spcBef>
                <a:spcAft>
                  <a:spcPts val="0"/>
                </a:spcAft>
              </a:pPr>
              <a:r>
                <a:rPr lang="en-US" sz="3300" b="1" spc="-15" dirty="0">
                  <a:solidFill>
                    <a:srgbClr val="EDE9E2"/>
                  </a:solidFill>
                  <a:latin typeface="Bahnschrift"/>
                  <a:ea typeface="Bahnschrift"/>
                  <a:cs typeface="Bahnschrift"/>
                </a:rPr>
                <a:t>and reports take shape</a:t>
              </a:r>
              <a:endParaRPr lang="en-US" sz="3300" dirty="0"/>
            </a:p>
          </p:txBody>
        </p:sp>
      </p:grpSp>
      <p:grpSp>
        <p:nvGrpSpPr>
          <p:cNvPr id="11" name="tags"/>
          <p:cNvGrpSpPr/>
          <p:nvPr/>
        </p:nvGrpSpPr>
        <p:grpSpPr>
          <a:xfrm>
            <a:off x="8801100" y="876300"/>
            <a:ext cx="2781300" cy="266700"/>
            <a:chOff x="8801100" y="876300"/>
            <a:chExt cx="2781300" cy="266700"/>
          </a:xfrm>
        </p:grpSpPr>
        <p:sp>
          <p:nvSpPr>
            <p:cNvPr id="5" name="rect 6"/>
            <p:cNvSpPr/>
            <p:nvPr/>
          </p:nvSpPr>
          <p:spPr>
            <a:xfrm>
              <a:off x="8801100" y="876300"/>
              <a:ext cx="933450" cy="266700"/>
            </a:xfrm>
            <a:prstGeom prst="roundRect">
              <a:avLst>
                <a:gd name="adj" fmla="val 7143"/>
              </a:avLst>
            </a:prstGeom>
            <a:noFill/>
            <a:ln w="9525" cap="flat">
              <a:solidFill>
                <a:srgbClr val="4A5058"/>
              </a:solidFill>
              <a:miter lim="800000"/>
            </a:ln>
          </p:spPr>
          <p:txBody>
            <a:bodyPr/>
            <a:lstStyle/>
            <a:p>
              <a:endParaRPr lang="en-US"/>
            </a:p>
          </p:txBody>
        </p:sp>
        <p:sp>
          <p:nvSpPr>
            <p:cNvPr id="6" name="Text 7"/>
            <p:cNvSpPr txBox="1"/>
            <p:nvPr/>
          </p:nvSpPr>
          <p:spPr>
            <a:xfrm>
              <a:off x="8884343" y="930275"/>
              <a:ext cx="766965" cy="192722"/>
            </a:xfrm>
            <a:prstGeom prst="rect">
              <a:avLst/>
            </a:prstGeom>
            <a:noFill/>
          </p:spPr>
          <p:txBody>
            <a:bodyPr wrap="none" lIns="0" tIns="0" rIns="0" bIns="0" rtlCol="0" anchor="t">
              <a:noAutofit/>
            </a:bodyPr>
            <a:lstStyle/>
            <a:p>
              <a:pPr algn="ctr">
                <a:spcBef>
                  <a:spcPts val="0"/>
                </a:spcBef>
                <a:spcAft>
                  <a:spcPts val="0"/>
                </a:spcAft>
              </a:pPr>
              <a:r>
                <a:rPr lang="en-US" sz="1050" b="0" spc="113" dirty="0">
                  <a:solidFill>
                    <a:srgbClr val="9C9A94"/>
                  </a:solidFill>
                  <a:latin typeface="Consolas"/>
                  <a:ea typeface="Consolas"/>
                  <a:cs typeface="Consolas"/>
                </a:rPr>
                <a:t>DOCUMENT</a:t>
              </a:r>
              <a:endParaRPr lang="en-US" sz="1050" dirty="0"/>
            </a:p>
          </p:txBody>
        </p:sp>
        <p:sp>
          <p:nvSpPr>
            <p:cNvPr id="7" name="rect 8"/>
            <p:cNvSpPr/>
            <p:nvPr/>
          </p:nvSpPr>
          <p:spPr>
            <a:xfrm>
              <a:off x="9810750" y="876300"/>
              <a:ext cx="762000" cy="266700"/>
            </a:xfrm>
            <a:prstGeom prst="roundRect">
              <a:avLst>
                <a:gd name="adj" fmla="val 7143"/>
              </a:avLst>
            </a:prstGeom>
            <a:noFill/>
            <a:ln w="9525" cap="flat">
              <a:solidFill>
                <a:srgbClr val="4A5058"/>
              </a:solidFill>
              <a:miter lim="800000"/>
            </a:ln>
          </p:spPr>
          <p:txBody>
            <a:bodyPr/>
            <a:lstStyle/>
            <a:p>
              <a:endParaRPr lang="en-US"/>
            </a:p>
          </p:txBody>
        </p:sp>
        <p:sp>
          <p:nvSpPr>
            <p:cNvPr id="8" name="Text 9"/>
            <p:cNvSpPr txBox="1"/>
            <p:nvPr/>
          </p:nvSpPr>
          <p:spPr>
            <a:xfrm>
              <a:off x="9899376" y="930275"/>
              <a:ext cx="584749" cy="192722"/>
            </a:xfrm>
            <a:prstGeom prst="rect">
              <a:avLst/>
            </a:prstGeom>
            <a:noFill/>
          </p:spPr>
          <p:txBody>
            <a:bodyPr wrap="none" lIns="0" tIns="0" rIns="0" bIns="0" rtlCol="0" anchor="t">
              <a:noAutofit/>
            </a:bodyPr>
            <a:lstStyle/>
            <a:p>
              <a:pPr algn="ctr">
                <a:spcBef>
                  <a:spcPts val="0"/>
                </a:spcBef>
                <a:spcAft>
                  <a:spcPts val="0"/>
                </a:spcAft>
              </a:pPr>
              <a:r>
                <a:rPr lang="en-US" sz="1050" b="0" spc="113" dirty="0">
                  <a:solidFill>
                    <a:srgbClr val="9C9A94"/>
                  </a:solidFill>
                  <a:latin typeface="Consolas"/>
                  <a:ea typeface="Consolas"/>
                  <a:cs typeface="Consolas"/>
                </a:rPr>
                <a:t>REPORT</a:t>
              </a:r>
              <a:endParaRPr lang="en-US" sz="1050" dirty="0"/>
            </a:p>
          </p:txBody>
        </p:sp>
        <p:sp>
          <p:nvSpPr>
            <p:cNvPr id="9" name="rect 10"/>
            <p:cNvSpPr/>
            <p:nvPr/>
          </p:nvSpPr>
          <p:spPr>
            <a:xfrm>
              <a:off x="10648950" y="876300"/>
              <a:ext cx="933450" cy="266700"/>
            </a:xfrm>
            <a:prstGeom prst="roundRect">
              <a:avLst>
                <a:gd name="adj" fmla="val 7143"/>
              </a:avLst>
            </a:prstGeom>
            <a:noFill/>
            <a:ln w="9525" cap="flat">
              <a:solidFill>
                <a:srgbClr val="3D8BFF"/>
              </a:solidFill>
              <a:miter lim="800000"/>
            </a:ln>
          </p:spPr>
          <p:txBody>
            <a:bodyPr/>
            <a:lstStyle/>
            <a:p>
              <a:endParaRPr lang="en-US"/>
            </a:p>
          </p:txBody>
        </p:sp>
        <p:sp>
          <p:nvSpPr>
            <p:cNvPr id="10" name="Text 11"/>
            <p:cNvSpPr txBox="1"/>
            <p:nvPr/>
          </p:nvSpPr>
          <p:spPr>
            <a:xfrm>
              <a:off x="10732193" y="930275"/>
              <a:ext cx="766965" cy="192722"/>
            </a:xfrm>
            <a:prstGeom prst="rect">
              <a:avLst/>
            </a:prstGeom>
            <a:noFill/>
          </p:spPr>
          <p:txBody>
            <a:bodyPr wrap="none" lIns="0" tIns="0" rIns="0" bIns="0" rtlCol="0" anchor="t">
              <a:noAutofit/>
            </a:bodyPr>
            <a:lstStyle/>
            <a:p>
              <a:pPr algn="ctr">
                <a:spcBef>
                  <a:spcPts val="0"/>
                </a:spcBef>
                <a:spcAft>
                  <a:spcPts val="0"/>
                </a:spcAft>
              </a:pPr>
              <a:r>
                <a:rPr lang="en-US" sz="1050" b="0" spc="113" dirty="0">
                  <a:solidFill>
                    <a:srgbClr val="3D8BFF"/>
                  </a:solidFill>
                  <a:latin typeface="Consolas"/>
                  <a:ea typeface="Consolas"/>
                  <a:cs typeface="Consolas"/>
                </a:rPr>
                <a:t>AI AGENT</a:t>
              </a:r>
              <a:endParaRPr lang="en-US" sz="1050" dirty="0"/>
            </a:p>
          </p:txBody>
        </p:sp>
      </p:grpSp>
      <p:grpSp>
        <p:nvGrpSpPr>
          <p:cNvPr id="74" name="workspace"/>
          <p:cNvGrpSpPr/>
          <p:nvPr/>
        </p:nvGrpSpPr>
        <p:grpSpPr>
          <a:xfrm>
            <a:off x="-342900" y="1181100"/>
            <a:ext cx="8953500" cy="5524500"/>
            <a:chOff x="-342900" y="1181100"/>
            <a:chExt cx="8953500" cy="5524500"/>
          </a:xfrm>
        </p:grpSpPr>
        <p:sp>
          <p:nvSpPr>
            <p:cNvPr id="12" name="ellipse 13"/>
            <p:cNvSpPr/>
            <p:nvPr/>
          </p:nvSpPr>
          <p:spPr>
            <a:xfrm>
              <a:off x="-342900" y="1181100"/>
              <a:ext cx="8953500" cy="5524500"/>
            </a:xfrm>
            <a:prstGeom prst="ellipse">
              <a:avLst/>
            </a:prstGeom>
            <a:gradFill rotWithShape="1">
              <a:gsLst>
                <a:gs pos="0">
                  <a:srgbClr val="3D8BFF">
                    <a:alpha val="28000"/>
                  </a:srgbClr>
                </a:gs>
                <a:gs pos="100000">
                  <a:srgbClr val="3D8BFF">
                    <a:alpha val="0"/>
                  </a:srgbClr>
                </a:gs>
              </a:gsLst>
              <a:path path="circle">
                <a:fillToRect l="50000" t="50000" r="50000" b="50000"/>
              </a:path>
            </a:gradFill>
            <a:ln>
              <a:noFill/>
            </a:ln>
          </p:spPr>
          <p:txBody>
            <a:bodyPr/>
            <a:lstStyle/>
            <a:p>
              <a:endParaRPr lang="en-US"/>
            </a:p>
          </p:txBody>
        </p:sp>
        <p:sp>
          <p:nvSpPr>
            <p:cNvPr id="13" name="rect 14"/>
            <p:cNvSpPr/>
            <p:nvPr/>
          </p:nvSpPr>
          <p:spPr>
            <a:xfrm>
              <a:off x="609600" y="2038350"/>
              <a:ext cx="7048500" cy="3810000"/>
            </a:xfrm>
            <a:prstGeom prst="roundRect">
              <a:avLst>
                <a:gd name="adj" fmla="val 2000"/>
              </a:avLst>
            </a:prstGeom>
            <a:solidFill>
              <a:srgbClr val="14171B"/>
            </a:solidFill>
            <a:ln>
              <a:noFill/>
            </a:ln>
          </p:spPr>
          <p:txBody>
            <a:bodyPr/>
            <a:lstStyle/>
            <a:p>
              <a:endParaRPr lang="en-US"/>
            </a:p>
          </p:txBody>
        </p:sp>
        <p:sp>
          <p:nvSpPr>
            <p:cNvPr id="14" name="rect 15"/>
            <p:cNvSpPr/>
            <p:nvPr/>
          </p:nvSpPr>
          <p:spPr>
            <a:xfrm>
              <a:off x="609600" y="2038350"/>
              <a:ext cx="7048500" cy="323850"/>
            </a:xfrm>
            <a:prstGeom prst="roundRect">
              <a:avLst>
                <a:gd name="adj" fmla="val 23529"/>
              </a:avLst>
            </a:prstGeom>
            <a:solidFill>
              <a:srgbClr val="1A1E23"/>
            </a:solidFill>
            <a:ln>
              <a:noFill/>
            </a:ln>
          </p:spPr>
          <p:txBody>
            <a:bodyPr/>
            <a:lstStyle/>
            <a:p>
              <a:endParaRPr lang="en-US"/>
            </a:p>
          </p:txBody>
        </p:sp>
        <p:sp>
          <p:nvSpPr>
            <p:cNvPr id="15" name="rect 16"/>
            <p:cNvSpPr/>
            <p:nvPr/>
          </p:nvSpPr>
          <p:spPr>
            <a:xfrm>
              <a:off x="609600" y="2228850"/>
              <a:ext cx="7048500" cy="133350"/>
            </a:xfrm>
            <a:prstGeom prst="rect">
              <a:avLst/>
            </a:prstGeom>
            <a:solidFill>
              <a:srgbClr val="1A1E23"/>
            </a:solidFill>
            <a:ln>
              <a:noFill/>
            </a:ln>
          </p:spPr>
          <p:txBody>
            <a:bodyPr/>
            <a:lstStyle/>
            <a:p>
              <a:endParaRPr lang="en-US"/>
            </a:p>
          </p:txBody>
        </p:sp>
        <p:sp>
          <p:nvSpPr>
            <p:cNvPr id="16" name="circle 17"/>
            <p:cNvSpPr/>
            <p:nvPr/>
          </p:nvSpPr>
          <p:spPr>
            <a:xfrm>
              <a:off x="762000" y="2162175"/>
              <a:ext cx="76200" cy="76200"/>
            </a:xfrm>
            <a:prstGeom prst="ellipse">
              <a:avLst/>
            </a:prstGeom>
            <a:solidFill>
              <a:srgbClr val="FF5B1F"/>
            </a:solidFill>
            <a:ln>
              <a:noFill/>
            </a:ln>
          </p:spPr>
          <p:txBody>
            <a:bodyPr/>
            <a:lstStyle/>
            <a:p>
              <a:endParaRPr lang="en-US"/>
            </a:p>
          </p:txBody>
        </p:sp>
        <p:sp>
          <p:nvSpPr>
            <p:cNvPr id="17" name="circle 18"/>
            <p:cNvSpPr/>
            <p:nvPr/>
          </p:nvSpPr>
          <p:spPr>
            <a:xfrm>
              <a:off x="914400" y="2162175"/>
              <a:ext cx="76200" cy="76200"/>
            </a:xfrm>
            <a:prstGeom prst="ellipse">
              <a:avLst/>
            </a:prstGeom>
            <a:solidFill>
              <a:srgbClr val="4A5058"/>
            </a:solidFill>
            <a:ln>
              <a:noFill/>
            </a:ln>
          </p:spPr>
          <p:txBody>
            <a:bodyPr/>
            <a:lstStyle/>
            <a:p>
              <a:endParaRPr lang="en-US"/>
            </a:p>
          </p:txBody>
        </p:sp>
        <p:sp>
          <p:nvSpPr>
            <p:cNvPr id="18" name="circle 19"/>
            <p:cNvSpPr/>
            <p:nvPr/>
          </p:nvSpPr>
          <p:spPr>
            <a:xfrm>
              <a:off x="1066800" y="2162175"/>
              <a:ext cx="76200" cy="76200"/>
            </a:xfrm>
            <a:prstGeom prst="ellipse">
              <a:avLst/>
            </a:prstGeom>
            <a:solidFill>
              <a:srgbClr val="4A5058"/>
            </a:solidFill>
            <a:ln>
              <a:noFill/>
            </a:ln>
          </p:spPr>
          <p:txBody>
            <a:bodyPr/>
            <a:lstStyle/>
            <a:p>
              <a:endParaRPr lang="en-US"/>
            </a:p>
          </p:txBody>
        </p:sp>
        <p:sp>
          <p:nvSpPr>
            <p:cNvPr id="19" name="Text 20"/>
            <p:cNvSpPr txBox="1"/>
            <p:nvPr/>
          </p:nvSpPr>
          <p:spPr>
            <a:xfrm>
              <a:off x="1295400" y="2120900"/>
              <a:ext cx="2278133" cy="192722"/>
            </a:xfrm>
            <a:prstGeom prst="rect">
              <a:avLst/>
            </a:prstGeom>
            <a:noFill/>
          </p:spPr>
          <p:txBody>
            <a:bodyPr wrap="none" lIns="0" tIns="0" rIns="0" bIns="0" rtlCol="0" anchor="t">
              <a:noAutofit/>
            </a:bodyPr>
            <a:lstStyle/>
            <a:p>
              <a:pPr algn="l">
                <a:spcBef>
                  <a:spcPts val="0"/>
                </a:spcBef>
                <a:spcAft>
                  <a:spcPts val="0"/>
                </a:spcAft>
              </a:pPr>
              <a:r>
                <a:rPr lang="en-US" sz="1050" b="0" spc="75" dirty="0">
                  <a:solidFill>
                    <a:srgbClr val="9C9A94"/>
                  </a:solidFill>
                  <a:latin typeface="Consolas"/>
                  <a:ea typeface="Consolas"/>
                  <a:cs typeface="Consolas"/>
                </a:rPr>
                <a:t>report.md · Writing Studio</a:t>
              </a:r>
              <a:endParaRPr lang="en-US" sz="1050" dirty="0"/>
            </a:p>
          </p:txBody>
        </p:sp>
        <p:sp>
          <p:nvSpPr>
            <p:cNvPr id="20" name="circle 21"/>
            <p:cNvSpPr/>
            <p:nvPr/>
          </p:nvSpPr>
          <p:spPr>
            <a:xfrm>
              <a:off x="7038975" y="2171700"/>
              <a:ext cx="57150" cy="57150"/>
            </a:xfrm>
            <a:prstGeom prst="ellipse">
              <a:avLst/>
            </a:prstGeom>
            <a:solidFill>
              <a:srgbClr val="3D8BFF"/>
            </a:solidFill>
            <a:ln>
              <a:noFill/>
            </a:ln>
          </p:spPr>
          <p:txBody>
            <a:bodyPr/>
            <a:lstStyle/>
            <a:p>
              <a:endParaRPr lang="en-US"/>
            </a:p>
          </p:txBody>
        </p:sp>
        <p:sp>
          <p:nvSpPr>
            <p:cNvPr id="21" name="Text 22"/>
            <p:cNvSpPr txBox="1"/>
            <p:nvPr/>
          </p:nvSpPr>
          <p:spPr>
            <a:xfrm>
              <a:off x="7036824" y="2120900"/>
              <a:ext cx="468876" cy="192722"/>
            </a:xfrm>
            <a:prstGeom prst="rect">
              <a:avLst/>
            </a:prstGeom>
            <a:noFill/>
          </p:spPr>
          <p:txBody>
            <a:bodyPr wrap="none" lIns="0" tIns="0" rIns="0" bIns="0" rtlCol="0" anchor="t">
              <a:noAutofit/>
            </a:bodyPr>
            <a:lstStyle/>
            <a:p>
              <a:pPr algn="r">
                <a:spcBef>
                  <a:spcPts val="0"/>
                </a:spcBef>
                <a:spcAft>
                  <a:spcPts val="0"/>
                </a:spcAft>
              </a:pPr>
              <a:r>
                <a:rPr lang="en-US" sz="1050" b="0" spc="75" dirty="0">
                  <a:solidFill>
                    <a:srgbClr val="3D8BFF"/>
                  </a:solidFill>
                  <a:latin typeface="Consolas"/>
                  <a:ea typeface="Consolas"/>
                  <a:cs typeface="Consolas"/>
                </a:rPr>
                <a:t>SAVED</a:t>
              </a:r>
              <a:endParaRPr lang="en-US" sz="1050" dirty="0"/>
            </a:p>
          </p:txBody>
        </p:sp>
        <p:sp>
          <p:nvSpPr>
            <p:cNvPr id="22" name="rect 23"/>
            <p:cNvSpPr/>
            <p:nvPr/>
          </p:nvSpPr>
          <p:spPr>
            <a:xfrm>
              <a:off x="2324100" y="2362200"/>
              <a:ext cx="3124200" cy="3486150"/>
            </a:xfrm>
            <a:prstGeom prst="rect">
              <a:avLst/>
            </a:prstGeom>
            <a:solidFill>
              <a:srgbClr val="0F1215"/>
            </a:solidFill>
            <a:ln>
              <a:noFill/>
            </a:ln>
          </p:spPr>
          <p:txBody>
            <a:bodyPr/>
            <a:lstStyle/>
            <a:p>
              <a:endParaRPr lang="en-US"/>
            </a:p>
          </p:txBody>
        </p:sp>
        <p:sp>
          <p:nvSpPr>
            <p:cNvPr id="23" name="line 24"/>
            <p:cNvSpPr/>
            <p:nvPr/>
          </p:nvSpPr>
          <p:spPr>
            <a:xfrm>
              <a:off x="2324100" y="2362200"/>
              <a:ext cx="95" cy="3486150"/>
            </a:xfrm>
            <a:custGeom>
              <a:avLst/>
              <a:gdLst/>
              <a:ahLst/>
              <a:cxnLst/>
              <a:rect l="0" t="0" r="r" b="b"/>
              <a:pathLst>
                <a:path w="95" h="3486150" fill="none">
                  <a:moveTo>
                    <a:pt x="0" y="0"/>
                  </a:moveTo>
                  <a:lnTo>
                    <a:pt x="0" y="3486150"/>
                  </a:lnTo>
                </a:path>
              </a:pathLst>
            </a:custGeom>
            <a:noFill/>
            <a:ln w="9525" cap="flat">
              <a:solidFill>
                <a:srgbClr val="2A2E35"/>
              </a:solidFill>
              <a:miter lim="800000"/>
            </a:ln>
          </p:spPr>
          <p:txBody>
            <a:bodyPr/>
            <a:lstStyle/>
            <a:p>
              <a:endParaRPr lang="en-US"/>
            </a:p>
          </p:txBody>
        </p:sp>
        <p:sp>
          <p:nvSpPr>
            <p:cNvPr id="24" name="line 25"/>
            <p:cNvSpPr/>
            <p:nvPr/>
          </p:nvSpPr>
          <p:spPr>
            <a:xfrm>
              <a:off x="5448300" y="2362200"/>
              <a:ext cx="95" cy="3486150"/>
            </a:xfrm>
            <a:custGeom>
              <a:avLst/>
              <a:gdLst/>
              <a:ahLst/>
              <a:cxnLst/>
              <a:rect l="0" t="0" r="r" b="b"/>
              <a:pathLst>
                <a:path w="95" h="3486150" fill="none">
                  <a:moveTo>
                    <a:pt x="0" y="0"/>
                  </a:moveTo>
                  <a:lnTo>
                    <a:pt x="0" y="3486150"/>
                  </a:lnTo>
                </a:path>
              </a:pathLst>
            </a:custGeom>
            <a:noFill/>
            <a:ln w="9525" cap="flat">
              <a:solidFill>
                <a:srgbClr val="2A2E35"/>
              </a:solidFill>
              <a:miter lim="800000"/>
            </a:ln>
          </p:spPr>
          <p:txBody>
            <a:bodyPr/>
            <a:lstStyle/>
            <a:p>
              <a:endParaRPr lang="en-US"/>
            </a:p>
          </p:txBody>
        </p:sp>
        <p:sp>
          <p:nvSpPr>
            <p:cNvPr id="25" name="Text 26"/>
            <p:cNvSpPr txBox="1"/>
            <p:nvPr/>
          </p:nvSpPr>
          <p:spPr>
            <a:xfrm>
              <a:off x="800100" y="2520950"/>
              <a:ext cx="710528" cy="192722"/>
            </a:xfrm>
            <a:prstGeom prst="rect">
              <a:avLst/>
            </a:prstGeom>
            <a:noFill/>
          </p:spPr>
          <p:txBody>
            <a:bodyPr wrap="none" lIns="0" tIns="0" rIns="0" bIns="0" rtlCol="0" anchor="t">
              <a:noAutofit/>
            </a:bodyPr>
            <a:lstStyle/>
            <a:p>
              <a:pPr algn="l">
                <a:spcBef>
                  <a:spcPts val="0"/>
                </a:spcBef>
                <a:spcAft>
                  <a:spcPts val="0"/>
                </a:spcAft>
              </a:pPr>
              <a:r>
                <a:rPr lang="en-US" sz="1050" b="0" spc="150" dirty="0">
                  <a:solidFill>
                    <a:srgbClr val="9C9A94"/>
                  </a:solidFill>
                  <a:latin typeface="Consolas"/>
                  <a:ea typeface="Consolas"/>
                  <a:cs typeface="Consolas"/>
                </a:rPr>
                <a:t>OUTLINE</a:t>
              </a:r>
              <a:endParaRPr lang="en-US" sz="1050" dirty="0"/>
            </a:p>
          </p:txBody>
        </p:sp>
        <p:sp>
          <p:nvSpPr>
            <p:cNvPr id="26" name="rect 27"/>
            <p:cNvSpPr/>
            <p:nvPr/>
          </p:nvSpPr>
          <p:spPr>
            <a:xfrm>
              <a:off x="723900" y="3486150"/>
              <a:ext cx="1485900" cy="247650"/>
            </a:xfrm>
            <a:prstGeom prst="rect">
              <a:avLst/>
            </a:prstGeom>
            <a:solidFill>
              <a:srgbClr val="FF5B1F">
                <a:alpha val="14000"/>
              </a:srgbClr>
            </a:solidFill>
            <a:ln>
              <a:noFill/>
            </a:ln>
          </p:spPr>
          <p:txBody>
            <a:bodyPr/>
            <a:lstStyle/>
            <a:p>
              <a:endParaRPr lang="en-US"/>
            </a:p>
          </p:txBody>
        </p:sp>
        <p:sp>
          <p:nvSpPr>
            <p:cNvPr id="27" name="rect 28"/>
            <p:cNvSpPr/>
            <p:nvPr/>
          </p:nvSpPr>
          <p:spPr>
            <a:xfrm>
              <a:off x="723900" y="3486150"/>
              <a:ext cx="19050" cy="247650"/>
            </a:xfrm>
            <a:prstGeom prst="rect">
              <a:avLst/>
            </a:prstGeom>
            <a:solidFill>
              <a:srgbClr val="FF5B1F"/>
            </a:solidFill>
            <a:ln>
              <a:noFill/>
            </a:ln>
          </p:spPr>
          <p:txBody>
            <a:bodyPr/>
            <a:lstStyle/>
            <a:p>
              <a:endParaRPr lang="en-US"/>
            </a:p>
          </p:txBody>
        </p:sp>
        <p:sp>
          <p:nvSpPr>
            <p:cNvPr id="28" name="Text 29"/>
            <p:cNvSpPr txBox="1"/>
            <p:nvPr/>
          </p:nvSpPr>
          <p:spPr>
            <a:xfrm>
              <a:off x="857250" y="2844800"/>
              <a:ext cx="727796"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9C9A94"/>
                  </a:solidFill>
                  <a:latin typeface="Segoe UI"/>
                  <a:ea typeface="Segoe UI"/>
                  <a:cs typeface="Segoe UI"/>
                </a:rPr>
                <a:t>1 Summary</a:t>
              </a:r>
              <a:endParaRPr lang="en-US" sz="1050" dirty="0"/>
            </a:p>
          </p:txBody>
        </p:sp>
        <p:sp>
          <p:nvSpPr>
            <p:cNvPr id="29" name="Text 30"/>
            <p:cNvSpPr txBox="1"/>
            <p:nvPr/>
          </p:nvSpPr>
          <p:spPr>
            <a:xfrm>
              <a:off x="857250" y="3187700"/>
              <a:ext cx="883680"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9C9A94"/>
                  </a:solidFill>
                  <a:latin typeface="Segoe UI"/>
                  <a:ea typeface="Segoe UI"/>
                  <a:cs typeface="Segoe UI"/>
                </a:rPr>
                <a:t>2 Background</a:t>
              </a:r>
              <a:endParaRPr lang="en-US" sz="1050" dirty="0"/>
            </a:p>
          </p:txBody>
        </p:sp>
        <p:sp>
          <p:nvSpPr>
            <p:cNvPr id="30" name="Text 31"/>
            <p:cNvSpPr txBox="1"/>
            <p:nvPr/>
          </p:nvSpPr>
          <p:spPr>
            <a:xfrm>
              <a:off x="857250" y="3530600"/>
              <a:ext cx="707616" cy="192722"/>
            </a:xfrm>
            <a:prstGeom prst="rect">
              <a:avLst/>
            </a:prstGeom>
            <a:noFill/>
          </p:spPr>
          <p:txBody>
            <a:bodyPr wrap="none" lIns="0" tIns="0" rIns="0" bIns="0" rtlCol="0" anchor="t">
              <a:noAutofit/>
            </a:bodyPr>
            <a:lstStyle/>
            <a:p>
              <a:pPr algn="l">
                <a:spcBef>
                  <a:spcPts val="0"/>
                </a:spcBef>
                <a:spcAft>
                  <a:spcPts val="0"/>
                </a:spcAft>
              </a:pPr>
              <a:r>
                <a:rPr lang="en-US" sz="1050" b="1" dirty="0">
                  <a:solidFill>
                    <a:srgbClr val="EDE9E2"/>
                  </a:solidFill>
                  <a:latin typeface="Segoe UI"/>
                  <a:ea typeface="Segoe UI"/>
                  <a:cs typeface="Segoe UI"/>
                </a:rPr>
                <a:t>3 Findings</a:t>
              </a:r>
              <a:endParaRPr lang="en-US" sz="1050" dirty="0"/>
            </a:p>
          </p:txBody>
        </p:sp>
        <p:sp>
          <p:nvSpPr>
            <p:cNvPr id="31" name="Text 32"/>
            <p:cNvSpPr txBox="1"/>
            <p:nvPr/>
          </p:nvSpPr>
          <p:spPr>
            <a:xfrm>
              <a:off x="857250" y="3873500"/>
              <a:ext cx="1288897"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9C9A94"/>
                  </a:solidFill>
                  <a:latin typeface="Segoe UI"/>
                  <a:ea typeface="Segoe UI"/>
                  <a:cs typeface="Segoe UI"/>
                </a:rPr>
                <a:t>4 Recommendations</a:t>
              </a:r>
              <a:endParaRPr lang="en-US" sz="1050" dirty="0"/>
            </a:p>
          </p:txBody>
        </p:sp>
        <p:sp>
          <p:nvSpPr>
            <p:cNvPr id="32" name="Text 33"/>
            <p:cNvSpPr txBox="1"/>
            <p:nvPr/>
          </p:nvSpPr>
          <p:spPr>
            <a:xfrm>
              <a:off x="857250" y="4216400"/>
              <a:ext cx="733281"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9C9A94"/>
                  </a:solidFill>
                  <a:latin typeface="Segoe UI"/>
                  <a:ea typeface="Segoe UI"/>
                  <a:cs typeface="Segoe UI"/>
                </a:rPr>
                <a:t>5 Appendix</a:t>
              </a:r>
              <a:endParaRPr lang="en-US" sz="1050" dirty="0"/>
            </a:p>
          </p:txBody>
        </p:sp>
        <p:sp>
          <p:nvSpPr>
            <p:cNvPr id="33" name="rect 34"/>
            <p:cNvSpPr/>
            <p:nvPr/>
          </p:nvSpPr>
          <p:spPr>
            <a:xfrm>
              <a:off x="800100" y="4953000"/>
              <a:ext cx="133350" cy="133350"/>
            </a:xfrm>
            <a:prstGeom prst="rect">
              <a:avLst/>
            </a:prstGeom>
            <a:solidFill>
              <a:srgbClr val="FF5B1F"/>
            </a:solidFill>
            <a:ln>
              <a:noFill/>
            </a:ln>
          </p:spPr>
          <p:txBody>
            <a:bodyPr/>
            <a:lstStyle/>
            <a:p>
              <a:endParaRPr lang="en-US"/>
            </a:p>
          </p:txBody>
        </p:sp>
        <p:sp>
          <p:nvSpPr>
            <p:cNvPr id="34" name="rect 35"/>
            <p:cNvSpPr/>
            <p:nvPr/>
          </p:nvSpPr>
          <p:spPr>
            <a:xfrm>
              <a:off x="1009650" y="4953000"/>
              <a:ext cx="133350" cy="133350"/>
            </a:xfrm>
            <a:prstGeom prst="rect">
              <a:avLst/>
            </a:prstGeom>
            <a:solidFill>
              <a:srgbClr val="FF5B1F"/>
            </a:solidFill>
            <a:ln>
              <a:noFill/>
            </a:ln>
          </p:spPr>
          <p:txBody>
            <a:bodyPr/>
            <a:lstStyle/>
            <a:p>
              <a:endParaRPr lang="en-US"/>
            </a:p>
          </p:txBody>
        </p:sp>
        <p:sp>
          <p:nvSpPr>
            <p:cNvPr id="35" name="rect 36"/>
            <p:cNvSpPr/>
            <p:nvPr/>
          </p:nvSpPr>
          <p:spPr>
            <a:xfrm>
              <a:off x="1219200" y="4953000"/>
              <a:ext cx="133350" cy="133350"/>
            </a:xfrm>
            <a:prstGeom prst="rect">
              <a:avLst/>
            </a:prstGeom>
            <a:solidFill>
              <a:srgbClr val="FF5B1F"/>
            </a:solidFill>
            <a:ln>
              <a:noFill/>
            </a:ln>
          </p:spPr>
          <p:txBody>
            <a:bodyPr/>
            <a:lstStyle/>
            <a:p>
              <a:endParaRPr lang="en-US"/>
            </a:p>
          </p:txBody>
        </p:sp>
        <p:sp>
          <p:nvSpPr>
            <p:cNvPr id="36" name="rect 37"/>
            <p:cNvSpPr/>
            <p:nvPr/>
          </p:nvSpPr>
          <p:spPr>
            <a:xfrm>
              <a:off x="1428750" y="4953000"/>
              <a:ext cx="133350" cy="133350"/>
            </a:xfrm>
            <a:prstGeom prst="rect">
              <a:avLst/>
            </a:prstGeom>
            <a:noFill/>
            <a:ln w="9525" cap="flat">
              <a:solidFill>
                <a:srgbClr val="4A5058"/>
              </a:solidFill>
              <a:miter lim="800000"/>
            </a:ln>
          </p:spPr>
          <p:txBody>
            <a:bodyPr/>
            <a:lstStyle/>
            <a:p>
              <a:endParaRPr lang="en-US"/>
            </a:p>
          </p:txBody>
        </p:sp>
        <p:sp>
          <p:nvSpPr>
            <p:cNvPr id="37" name="rect 38"/>
            <p:cNvSpPr/>
            <p:nvPr/>
          </p:nvSpPr>
          <p:spPr>
            <a:xfrm>
              <a:off x="1638300" y="4953000"/>
              <a:ext cx="133350" cy="133350"/>
            </a:xfrm>
            <a:prstGeom prst="rect">
              <a:avLst/>
            </a:prstGeom>
            <a:noFill/>
            <a:ln w="9525" cap="flat">
              <a:solidFill>
                <a:srgbClr val="4A5058"/>
              </a:solidFill>
              <a:miter lim="800000"/>
            </a:ln>
          </p:spPr>
          <p:txBody>
            <a:bodyPr/>
            <a:lstStyle/>
            <a:p>
              <a:endParaRPr lang="en-US"/>
            </a:p>
          </p:txBody>
        </p:sp>
        <p:sp>
          <p:nvSpPr>
            <p:cNvPr id="38" name="Text 39"/>
            <p:cNvSpPr txBox="1"/>
            <p:nvPr/>
          </p:nvSpPr>
          <p:spPr>
            <a:xfrm>
              <a:off x="800100" y="5187950"/>
              <a:ext cx="1244272" cy="192722"/>
            </a:xfrm>
            <a:prstGeom prst="rect">
              <a:avLst/>
            </a:prstGeom>
            <a:noFill/>
          </p:spPr>
          <p:txBody>
            <a:bodyPr wrap="none" lIns="0" tIns="0" rIns="0" bIns="0" rtlCol="0" anchor="t">
              <a:noAutofit/>
            </a:bodyPr>
            <a:lstStyle/>
            <a:p>
              <a:pPr algn="l">
                <a:spcBef>
                  <a:spcPts val="0"/>
                </a:spcBef>
                <a:spcAft>
                  <a:spcPts val="0"/>
                </a:spcAft>
              </a:pPr>
              <a:r>
                <a:rPr lang="en-US" sz="1050" b="0" spc="75" dirty="0">
                  <a:solidFill>
                    <a:srgbClr val="9C9A94"/>
                  </a:solidFill>
                  <a:latin typeface="Consolas"/>
                  <a:ea typeface="Consolas"/>
                  <a:cs typeface="Consolas"/>
                </a:rPr>
                <a:t>3 / 5 SECTIONS</a:t>
              </a:r>
              <a:endParaRPr lang="en-US" sz="1050" dirty="0"/>
            </a:p>
          </p:txBody>
        </p:sp>
        <p:sp>
          <p:nvSpPr>
            <p:cNvPr id="39" name="rect 40"/>
            <p:cNvSpPr/>
            <p:nvPr/>
          </p:nvSpPr>
          <p:spPr>
            <a:xfrm>
              <a:off x="2590800" y="2533650"/>
              <a:ext cx="2590800" cy="3314700"/>
            </a:xfrm>
            <a:prstGeom prst="rect">
              <a:avLst/>
            </a:prstGeom>
            <a:solidFill>
              <a:srgbClr val="F2EEE7"/>
            </a:solidFill>
            <a:ln>
              <a:noFill/>
            </a:ln>
          </p:spPr>
          <p:txBody>
            <a:bodyPr/>
            <a:lstStyle/>
            <a:p>
              <a:endParaRPr lang="en-US"/>
            </a:p>
          </p:txBody>
        </p:sp>
        <p:sp>
          <p:nvSpPr>
            <p:cNvPr id="40" name="rect 41"/>
            <p:cNvSpPr/>
            <p:nvPr/>
          </p:nvSpPr>
          <p:spPr>
            <a:xfrm>
              <a:off x="2781300" y="2724150"/>
              <a:ext cx="342900" cy="47625"/>
            </a:xfrm>
            <a:prstGeom prst="roundRect">
              <a:avLst>
                <a:gd name="adj" fmla="val 50000"/>
              </a:avLst>
            </a:prstGeom>
            <a:solidFill>
              <a:srgbClr val="FF5B1F"/>
            </a:solidFill>
            <a:ln>
              <a:noFill/>
            </a:ln>
          </p:spPr>
          <p:txBody>
            <a:bodyPr/>
            <a:lstStyle/>
            <a:p>
              <a:endParaRPr lang="en-US"/>
            </a:p>
          </p:txBody>
        </p:sp>
        <p:sp>
          <p:nvSpPr>
            <p:cNvPr id="41" name="Text 42"/>
            <p:cNvSpPr txBox="1"/>
            <p:nvPr/>
          </p:nvSpPr>
          <p:spPr>
            <a:xfrm>
              <a:off x="2781300" y="2882900"/>
              <a:ext cx="713807" cy="244158"/>
            </a:xfrm>
            <a:prstGeom prst="rect">
              <a:avLst/>
            </a:prstGeom>
            <a:noFill/>
          </p:spPr>
          <p:txBody>
            <a:bodyPr wrap="none" lIns="0" tIns="0" rIns="0" bIns="0" rtlCol="0" anchor="t">
              <a:noAutofit/>
            </a:bodyPr>
            <a:lstStyle/>
            <a:p>
              <a:pPr algn="l">
                <a:spcBef>
                  <a:spcPts val="0"/>
                </a:spcBef>
                <a:spcAft>
                  <a:spcPts val="0"/>
                </a:spcAft>
              </a:pPr>
              <a:r>
                <a:rPr lang="en-US" sz="1350" b="1" dirty="0">
                  <a:solidFill>
                    <a:srgbClr val="14171B"/>
                  </a:solidFill>
                  <a:latin typeface="Bahnschrift"/>
                  <a:ea typeface="Bahnschrift"/>
                  <a:cs typeface="Bahnschrift"/>
                </a:rPr>
                <a:t>Findings</a:t>
              </a:r>
              <a:endParaRPr lang="en-US" sz="1350" dirty="0"/>
            </a:p>
          </p:txBody>
        </p:sp>
        <p:sp>
          <p:nvSpPr>
            <p:cNvPr id="42" name="rect 43"/>
            <p:cNvSpPr/>
            <p:nvPr/>
          </p:nvSpPr>
          <p:spPr>
            <a:xfrm>
              <a:off x="2781300" y="3248025"/>
              <a:ext cx="1066800" cy="123825"/>
            </a:xfrm>
            <a:prstGeom prst="rect">
              <a:avLst/>
            </a:prstGeom>
            <a:solidFill>
              <a:srgbClr val="3D8BFF">
                <a:alpha val="25000"/>
              </a:srgbClr>
            </a:solidFill>
            <a:ln>
              <a:noFill/>
            </a:ln>
          </p:spPr>
          <p:txBody>
            <a:bodyPr/>
            <a:lstStyle/>
            <a:p>
              <a:endParaRPr lang="en-US"/>
            </a:p>
          </p:txBody>
        </p:sp>
        <p:sp>
          <p:nvSpPr>
            <p:cNvPr id="43" name="rect 44"/>
            <p:cNvSpPr/>
            <p:nvPr/>
          </p:nvSpPr>
          <p:spPr>
            <a:xfrm>
              <a:off x="2781300" y="3276600"/>
              <a:ext cx="2209800" cy="47625"/>
            </a:xfrm>
            <a:prstGeom prst="rect">
              <a:avLst/>
            </a:prstGeom>
            <a:solidFill>
              <a:srgbClr val="C9C3B8"/>
            </a:solidFill>
            <a:ln>
              <a:noFill/>
            </a:ln>
          </p:spPr>
          <p:txBody>
            <a:bodyPr/>
            <a:lstStyle/>
            <a:p>
              <a:endParaRPr lang="en-US"/>
            </a:p>
          </p:txBody>
        </p:sp>
        <p:sp>
          <p:nvSpPr>
            <p:cNvPr id="44" name="rect 45"/>
            <p:cNvSpPr/>
            <p:nvPr/>
          </p:nvSpPr>
          <p:spPr>
            <a:xfrm>
              <a:off x="2781300" y="3409950"/>
              <a:ext cx="2209800" cy="47625"/>
            </a:xfrm>
            <a:prstGeom prst="rect">
              <a:avLst/>
            </a:prstGeom>
            <a:solidFill>
              <a:srgbClr val="C9C3B8"/>
            </a:solidFill>
            <a:ln>
              <a:noFill/>
            </a:ln>
          </p:spPr>
          <p:txBody>
            <a:bodyPr/>
            <a:lstStyle/>
            <a:p>
              <a:endParaRPr lang="en-US"/>
            </a:p>
          </p:txBody>
        </p:sp>
        <p:sp>
          <p:nvSpPr>
            <p:cNvPr id="45" name="rect 46"/>
            <p:cNvSpPr/>
            <p:nvPr/>
          </p:nvSpPr>
          <p:spPr>
            <a:xfrm>
              <a:off x="2781300" y="3543300"/>
              <a:ext cx="1428750" cy="47625"/>
            </a:xfrm>
            <a:prstGeom prst="rect">
              <a:avLst/>
            </a:prstGeom>
            <a:solidFill>
              <a:srgbClr val="C9C3B8"/>
            </a:solidFill>
            <a:ln>
              <a:noFill/>
            </a:ln>
          </p:spPr>
          <p:txBody>
            <a:bodyPr/>
            <a:lstStyle/>
            <a:p>
              <a:endParaRPr lang="en-US"/>
            </a:p>
          </p:txBody>
        </p:sp>
        <p:sp>
          <p:nvSpPr>
            <p:cNvPr id="46" name="rect 47"/>
            <p:cNvSpPr/>
            <p:nvPr/>
          </p:nvSpPr>
          <p:spPr>
            <a:xfrm>
              <a:off x="2781300" y="3733800"/>
              <a:ext cx="2209800" cy="1009650"/>
            </a:xfrm>
            <a:prstGeom prst="rect">
              <a:avLst/>
            </a:prstGeom>
            <a:noFill/>
            <a:ln w="9525" cap="flat">
              <a:solidFill>
                <a:srgbClr val="D5CFC4"/>
              </a:solidFill>
              <a:miter lim="800000"/>
            </a:ln>
          </p:spPr>
          <p:txBody>
            <a:bodyPr/>
            <a:lstStyle/>
            <a:p>
              <a:endParaRPr lang="en-US"/>
            </a:p>
          </p:txBody>
        </p:sp>
        <p:sp>
          <p:nvSpPr>
            <p:cNvPr id="47" name="Text 48"/>
            <p:cNvSpPr txBox="1"/>
            <p:nvPr/>
          </p:nvSpPr>
          <p:spPr>
            <a:xfrm>
              <a:off x="2876550" y="3822700"/>
              <a:ext cx="489674" cy="160655"/>
            </a:xfrm>
            <a:prstGeom prst="rect">
              <a:avLst/>
            </a:prstGeom>
            <a:noFill/>
          </p:spPr>
          <p:txBody>
            <a:bodyPr wrap="none" lIns="0" tIns="0" rIns="0" bIns="0" rtlCol="0" anchor="t">
              <a:noAutofit/>
            </a:bodyPr>
            <a:lstStyle/>
            <a:p>
              <a:pPr algn="l">
                <a:spcBef>
                  <a:spcPts val="0"/>
                </a:spcBef>
                <a:spcAft>
                  <a:spcPts val="0"/>
                </a:spcAft>
              </a:pPr>
              <a:r>
                <a:rPr lang="en-US" sz="900" b="0" spc="75" dirty="0">
                  <a:solidFill>
                    <a:srgbClr val="6B665D"/>
                  </a:solidFill>
                  <a:latin typeface="Consolas"/>
                  <a:ea typeface="Consolas"/>
                  <a:cs typeface="Consolas"/>
                </a:rPr>
                <a:t>FIG. 1</a:t>
              </a:r>
              <a:endParaRPr lang="en-US" sz="900" dirty="0"/>
            </a:p>
          </p:txBody>
        </p:sp>
        <p:sp>
          <p:nvSpPr>
            <p:cNvPr id="48" name="line 49"/>
            <p:cNvSpPr/>
            <p:nvPr/>
          </p:nvSpPr>
          <p:spPr>
            <a:xfrm>
              <a:off x="2876550" y="4629150"/>
              <a:ext cx="2019300" cy="95"/>
            </a:xfrm>
            <a:custGeom>
              <a:avLst/>
              <a:gdLst/>
              <a:ahLst/>
              <a:cxnLst/>
              <a:rect l="0" t="0" r="r" b="b"/>
              <a:pathLst>
                <a:path w="2019300" h="95" fill="none">
                  <a:moveTo>
                    <a:pt x="0" y="0"/>
                  </a:moveTo>
                  <a:lnTo>
                    <a:pt x="2019300" y="0"/>
                  </a:lnTo>
                </a:path>
              </a:pathLst>
            </a:custGeom>
            <a:noFill/>
            <a:ln w="9525" cap="flat">
              <a:solidFill>
                <a:srgbClr val="14171B"/>
              </a:solidFill>
              <a:miter lim="800000"/>
            </a:ln>
          </p:spPr>
          <p:txBody>
            <a:bodyPr/>
            <a:lstStyle/>
            <a:p>
              <a:endParaRPr lang="en-US"/>
            </a:p>
          </p:txBody>
        </p:sp>
        <p:sp>
          <p:nvSpPr>
            <p:cNvPr id="49" name="rect 50"/>
            <p:cNvSpPr/>
            <p:nvPr/>
          </p:nvSpPr>
          <p:spPr>
            <a:xfrm>
              <a:off x="3181350" y="4286250"/>
              <a:ext cx="247650" cy="342900"/>
            </a:xfrm>
            <a:prstGeom prst="rect">
              <a:avLst/>
            </a:prstGeom>
            <a:solidFill>
              <a:srgbClr val="FF5B1F"/>
            </a:solidFill>
            <a:ln>
              <a:noFill/>
            </a:ln>
          </p:spPr>
          <p:txBody>
            <a:bodyPr/>
            <a:lstStyle/>
            <a:p>
              <a:endParaRPr lang="en-US"/>
            </a:p>
          </p:txBody>
        </p:sp>
        <p:sp>
          <p:nvSpPr>
            <p:cNvPr id="50" name="rect 51"/>
            <p:cNvSpPr/>
            <p:nvPr/>
          </p:nvSpPr>
          <p:spPr>
            <a:xfrm>
              <a:off x="3562350" y="4095750"/>
              <a:ext cx="247650" cy="533400"/>
            </a:xfrm>
            <a:prstGeom prst="rect">
              <a:avLst/>
            </a:prstGeom>
            <a:solidFill>
              <a:srgbClr val="3D8BFF"/>
            </a:solidFill>
            <a:ln>
              <a:noFill/>
            </a:ln>
          </p:spPr>
          <p:txBody>
            <a:bodyPr/>
            <a:lstStyle/>
            <a:p>
              <a:endParaRPr lang="en-US"/>
            </a:p>
          </p:txBody>
        </p:sp>
        <p:sp>
          <p:nvSpPr>
            <p:cNvPr id="51" name="rect 52"/>
            <p:cNvSpPr/>
            <p:nvPr/>
          </p:nvSpPr>
          <p:spPr>
            <a:xfrm>
              <a:off x="3943350" y="4210050"/>
              <a:ext cx="247650" cy="419100"/>
            </a:xfrm>
            <a:prstGeom prst="rect">
              <a:avLst/>
            </a:prstGeom>
            <a:solidFill>
              <a:srgbClr val="A28BFF"/>
            </a:solidFill>
            <a:ln>
              <a:noFill/>
            </a:ln>
          </p:spPr>
          <p:txBody>
            <a:bodyPr/>
            <a:lstStyle/>
            <a:p>
              <a:endParaRPr lang="en-US"/>
            </a:p>
          </p:txBody>
        </p:sp>
        <p:sp>
          <p:nvSpPr>
            <p:cNvPr id="52" name="rect 53"/>
            <p:cNvSpPr/>
            <p:nvPr/>
          </p:nvSpPr>
          <p:spPr>
            <a:xfrm>
              <a:off x="4324350" y="3962400"/>
              <a:ext cx="247650" cy="666750"/>
            </a:xfrm>
            <a:prstGeom prst="rect">
              <a:avLst/>
            </a:prstGeom>
            <a:solidFill>
              <a:srgbClr val="F6B69A"/>
            </a:solidFill>
            <a:ln>
              <a:noFill/>
            </a:ln>
          </p:spPr>
          <p:txBody>
            <a:bodyPr/>
            <a:lstStyle/>
            <a:p>
              <a:endParaRPr lang="en-US"/>
            </a:p>
          </p:txBody>
        </p:sp>
        <p:sp>
          <p:nvSpPr>
            <p:cNvPr id="53" name="rect 54"/>
            <p:cNvSpPr/>
            <p:nvPr/>
          </p:nvSpPr>
          <p:spPr>
            <a:xfrm>
              <a:off x="2781300" y="4914900"/>
              <a:ext cx="2209800" cy="47625"/>
            </a:xfrm>
            <a:prstGeom prst="rect">
              <a:avLst/>
            </a:prstGeom>
            <a:solidFill>
              <a:srgbClr val="C9C3B8"/>
            </a:solidFill>
            <a:ln>
              <a:noFill/>
            </a:ln>
          </p:spPr>
          <p:txBody>
            <a:bodyPr/>
            <a:lstStyle/>
            <a:p>
              <a:endParaRPr lang="en-US"/>
            </a:p>
          </p:txBody>
        </p:sp>
        <p:sp>
          <p:nvSpPr>
            <p:cNvPr id="54" name="rect 55"/>
            <p:cNvSpPr/>
            <p:nvPr/>
          </p:nvSpPr>
          <p:spPr>
            <a:xfrm>
              <a:off x="2781300" y="5048250"/>
              <a:ext cx="2209800" cy="47625"/>
            </a:xfrm>
            <a:prstGeom prst="rect">
              <a:avLst/>
            </a:prstGeom>
            <a:solidFill>
              <a:srgbClr val="C9C3B8"/>
            </a:solidFill>
            <a:ln>
              <a:noFill/>
            </a:ln>
          </p:spPr>
          <p:txBody>
            <a:bodyPr/>
            <a:lstStyle/>
            <a:p>
              <a:endParaRPr lang="en-US"/>
            </a:p>
          </p:txBody>
        </p:sp>
        <p:sp>
          <p:nvSpPr>
            <p:cNvPr id="55" name="rect 56"/>
            <p:cNvSpPr/>
            <p:nvPr/>
          </p:nvSpPr>
          <p:spPr>
            <a:xfrm>
              <a:off x="2781300" y="5181600"/>
              <a:ext cx="1143000" cy="47625"/>
            </a:xfrm>
            <a:prstGeom prst="rect">
              <a:avLst/>
            </a:prstGeom>
            <a:solidFill>
              <a:srgbClr val="C9C3B8"/>
            </a:solidFill>
            <a:ln>
              <a:noFill/>
            </a:ln>
          </p:spPr>
          <p:txBody>
            <a:bodyPr/>
            <a:lstStyle/>
            <a:p>
              <a:endParaRPr lang="en-US"/>
            </a:p>
          </p:txBody>
        </p:sp>
        <p:sp>
          <p:nvSpPr>
            <p:cNvPr id="56" name="rect 57"/>
            <p:cNvSpPr/>
            <p:nvPr/>
          </p:nvSpPr>
          <p:spPr>
            <a:xfrm>
              <a:off x="3981450" y="5133975"/>
              <a:ext cx="19050" cy="142875"/>
            </a:xfrm>
            <a:prstGeom prst="rect">
              <a:avLst/>
            </a:prstGeom>
            <a:solidFill>
              <a:srgbClr val="FF5B1F"/>
            </a:solidFill>
            <a:ln>
              <a:noFill/>
            </a:ln>
          </p:spPr>
          <p:txBody>
            <a:bodyPr/>
            <a:lstStyle/>
            <a:p>
              <a:endParaRPr lang="en-US"/>
            </a:p>
          </p:txBody>
        </p:sp>
        <p:sp>
          <p:nvSpPr>
            <p:cNvPr id="57" name="Text 58"/>
            <p:cNvSpPr txBox="1"/>
            <p:nvPr/>
          </p:nvSpPr>
          <p:spPr>
            <a:xfrm>
              <a:off x="5638800" y="2520950"/>
              <a:ext cx="518406" cy="192722"/>
            </a:xfrm>
            <a:prstGeom prst="rect">
              <a:avLst/>
            </a:prstGeom>
            <a:noFill/>
          </p:spPr>
          <p:txBody>
            <a:bodyPr wrap="none" lIns="0" tIns="0" rIns="0" bIns="0" rtlCol="0" anchor="t">
              <a:noAutofit/>
            </a:bodyPr>
            <a:lstStyle/>
            <a:p>
              <a:pPr algn="l">
                <a:spcBef>
                  <a:spcPts val="0"/>
                </a:spcBef>
                <a:spcAft>
                  <a:spcPts val="0"/>
                </a:spcAft>
              </a:pPr>
              <a:r>
                <a:rPr lang="en-US" sz="1050" b="0" spc="150" dirty="0">
                  <a:solidFill>
                    <a:srgbClr val="9C9A94"/>
                  </a:solidFill>
                  <a:latin typeface="Consolas"/>
                  <a:ea typeface="Consolas"/>
                  <a:cs typeface="Consolas"/>
                </a:rPr>
                <a:t>AGENT</a:t>
              </a:r>
              <a:endParaRPr lang="en-US" sz="1050" dirty="0"/>
            </a:p>
          </p:txBody>
        </p:sp>
        <p:sp>
          <p:nvSpPr>
            <p:cNvPr id="58" name="rect 59"/>
            <p:cNvSpPr/>
            <p:nvPr/>
          </p:nvSpPr>
          <p:spPr>
            <a:xfrm>
              <a:off x="5638800" y="2819400"/>
              <a:ext cx="1828800" cy="552450"/>
            </a:xfrm>
            <a:prstGeom prst="roundRect">
              <a:avLst>
                <a:gd name="adj" fmla="val 3448"/>
              </a:avLst>
            </a:prstGeom>
            <a:solidFill>
              <a:srgbClr val="1A1E23"/>
            </a:solidFill>
            <a:ln w="9525" cap="flat">
              <a:solidFill>
                <a:srgbClr val="2A2E35"/>
              </a:solidFill>
              <a:miter lim="800000"/>
            </a:ln>
          </p:spPr>
          <p:txBody>
            <a:bodyPr/>
            <a:lstStyle/>
            <a:p>
              <a:endParaRPr lang="en-US"/>
            </a:p>
          </p:txBody>
        </p:sp>
        <p:sp>
          <p:nvSpPr>
            <p:cNvPr id="59" name="Text 60"/>
            <p:cNvSpPr txBox="1"/>
            <p:nvPr/>
          </p:nvSpPr>
          <p:spPr>
            <a:xfrm>
              <a:off x="5753100" y="2917825"/>
              <a:ext cx="1404828" cy="395922"/>
            </a:xfrm>
            <a:prstGeom prst="rect">
              <a:avLst/>
            </a:prstGeom>
            <a:noFill/>
          </p:spPr>
          <p:txBody>
            <a:bodyPr wrap="none" lIns="0" tIns="0" rIns="0" bIns="0" rtlCol="0" anchor="t">
              <a:noAutofit/>
            </a:bodyPr>
            <a:lstStyle/>
            <a:p>
              <a:pPr algn="l">
                <a:lnSpc>
                  <a:spcPts val="1500"/>
                </a:lnSpc>
                <a:spcBef>
                  <a:spcPts val="0"/>
                </a:spcBef>
                <a:spcAft>
                  <a:spcPts val="0"/>
                </a:spcAft>
              </a:pPr>
              <a:r>
                <a:rPr lang="en-US" sz="1050" b="0" dirty="0">
                  <a:solidFill>
                    <a:srgbClr val="EDE9E2"/>
                  </a:solidFill>
                  <a:latin typeface="Segoe UI"/>
                  <a:ea typeface="Segoe UI"/>
                  <a:cs typeface="Segoe UI"/>
                </a:rPr>
                <a:t>Draft the findings</a:t>
              </a:r>
              <a:endParaRPr lang="en-US" sz="1050" dirty="0"/>
            </a:p>
            <a:p>
              <a:pPr algn="l">
                <a:lnSpc>
                  <a:spcPts val="1500"/>
                </a:lnSpc>
                <a:spcBef>
                  <a:spcPts val="0"/>
                </a:spcBef>
                <a:spcAft>
                  <a:spcPts val="0"/>
                </a:spcAft>
              </a:pPr>
              <a:r>
                <a:rPr lang="en-US" sz="1050" b="0" dirty="0">
                  <a:solidFill>
                    <a:srgbClr val="EDE9E2"/>
                  </a:solidFill>
                  <a:latin typeface="Segoe UI"/>
                  <a:ea typeface="Segoe UI"/>
                  <a:cs typeface="Segoe UI"/>
                </a:rPr>
                <a:t>section from my notes</a:t>
              </a:r>
              <a:endParaRPr lang="en-US" sz="1050" dirty="0"/>
            </a:p>
          </p:txBody>
        </p:sp>
        <p:sp>
          <p:nvSpPr>
            <p:cNvPr id="60" name="rect 61"/>
            <p:cNvSpPr/>
            <p:nvPr/>
          </p:nvSpPr>
          <p:spPr>
            <a:xfrm>
              <a:off x="5638800" y="3505200"/>
              <a:ext cx="1828800" cy="933450"/>
            </a:xfrm>
            <a:prstGeom prst="roundRect">
              <a:avLst>
                <a:gd name="adj" fmla="val 2041"/>
              </a:avLst>
            </a:prstGeom>
            <a:noFill/>
            <a:ln w="9525" cap="flat">
              <a:solidFill>
                <a:srgbClr val="3D8BFF">
                  <a:alpha val="60000"/>
                </a:srgbClr>
              </a:solidFill>
              <a:miter lim="800000"/>
            </a:ln>
          </p:spPr>
          <p:txBody>
            <a:bodyPr/>
            <a:lstStyle/>
            <a:p>
              <a:endParaRPr lang="en-US"/>
            </a:p>
          </p:txBody>
        </p:sp>
        <p:sp>
          <p:nvSpPr>
            <p:cNvPr id="61" name="Text 62"/>
            <p:cNvSpPr txBox="1"/>
            <p:nvPr/>
          </p:nvSpPr>
          <p:spPr>
            <a:xfrm>
              <a:off x="5753100" y="3606800"/>
              <a:ext cx="1486833"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FF5B1F"/>
                  </a:solidFill>
                  <a:latin typeface="Consolas"/>
                  <a:ea typeface="Consolas"/>
                  <a:cs typeface="Consolas"/>
                </a:rPr>
                <a:t>$ draft --section 3</a:t>
              </a:r>
              <a:endParaRPr lang="en-US" sz="1050" dirty="0"/>
            </a:p>
          </p:txBody>
        </p:sp>
        <p:sp>
          <p:nvSpPr>
            <p:cNvPr id="62" name="rect 63"/>
            <p:cNvSpPr/>
            <p:nvPr/>
          </p:nvSpPr>
          <p:spPr>
            <a:xfrm>
              <a:off x="5753100" y="3848100"/>
              <a:ext cx="1524000" cy="47625"/>
            </a:xfrm>
            <a:prstGeom prst="rect">
              <a:avLst/>
            </a:prstGeom>
            <a:solidFill>
              <a:srgbClr val="4A5058"/>
            </a:solidFill>
            <a:ln>
              <a:noFill/>
            </a:ln>
          </p:spPr>
          <p:txBody>
            <a:bodyPr/>
            <a:lstStyle/>
            <a:p>
              <a:endParaRPr lang="en-US"/>
            </a:p>
          </p:txBody>
        </p:sp>
        <p:sp>
          <p:nvSpPr>
            <p:cNvPr id="63" name="rect 64"/>
            <p:cNvSpPr/>
            <p:nvPr/>
          </p:nvSpPr>
          <p:spPr>
            <a:xfrm>
              <a:off x="5753100" y="3962400"/>
              <a:ext cx="1219200" cy="47625"/>
            </a:xfrm>
            <a:prstGeom prst="rect">
              <a:avLst/>
            </a:prstGeom>
            <a:solidFill>
              <a:srgbClr val="4A5058"/>
            </a:solidFill>
            <a:ln>
              <a:noFill/>
            </a:ln>
          </p:spPr>
          <p:txBody>
            <a:bodyPr/>
            <a:lstStyle/>
            <a:p>
              <a:endParaRPr lang="en-US"/>
            </a:p>
          </p:txBody>
        </p:sp>
        <p:sp>
          <p:nvSpPr>
            <p:cNvPr id="64" name="rect 65"/>
            <p:cNvSpPr/>
            <p:nvPr/>
          </p:nvSpPr>
          <p:spPr>
            <a:xfrm>
              <a:off x="5753100" y="4076700"/>
              <a:ext cx="1409700" cy="47625"/>
            </a:xfrm>
            <a:prstGeom prst="rect">
              <a:avLst/>
            </a:prstGeom>
            <a:solidFill>
              <a:srgbClr val="4A5058"/>
            </a:solidFill>
            <a:ln>
              <a:noFill/>
            </a:ln>
          </p:spPr>
          <p:txBody>
            <a:bodyPr/>
            <a:lstStyle/>
            <a:p>
              <a:endParaRPr lang="en-US"/>
            </a:p>
          </p:txBody>
        </p:sp>
        <p:sp>
          <p:nvSpPr>
            <p:cNvPr id="65" name="Text 66"/>
            <p:cNvSpPr txBox="1"/>
            <p:nvPr/>
          </p:nvSpPr>
          <p:spPr>
            <a:xfrm>
              <a:off x="5753100" y="4197350"/>
              <a:ext cx="1258086"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3D8BFF"/>
                  </a:solidFill>
                  <a:latin typeface="Consolas"/>
                  <a:ea typeface="Consolas"/>
                  <a:cs typeface="Consolas"/>
                </a:rPr>
                <a:t>● drafting 3 / 5</a:t>
              </a:r>
              <a:endParaRPr lang="en-US" sz="1050" dirty="0"/>
            </a:p>
          </p:txBody>
        </p:sp>
        <p:sp>
          <p:nvSpPr>
            <p:cNvPr id="66" name="rect 67"/>
            <p:cNvSpPr/>
            <p:nvPr/>
          </p:nvSpPr>
          <p:spPr>
            <a:xfrm>
              <a:off x="5638800" y="4610100"/>
              <a:ext cx="1066800" cy="247650"/>
            </a:xfrm>
            <a:prstGeom prst="roundRect">
              <a:avLst>
                <a:gd name="adj" fmla="val 7692"/>
              </a:avLst>
            </a:prstGeom>
            <a:noFill/>
            <a:ln w="9525" cap="flat">
              <a:solidFill>
                <a:srgbClr val="4A5058"/>
              </a:solidFill>
              <a:miter lim="800000"/>
            </a:ln>
          </p:spPr>
          <p:txBody>
            <a:bodyPr/>
            <a:lstStyle/>
            <a:p>
              <a:endParaRPr lang="en-US"/>
            </a:p>
          </p:txBody>
        </p:sp>
        <p:sp>
          <p:nvSpPr>
            <p:cNvPr id="67" name="Text 68"/>
            <p:cNvSpPr txBox="1"/>
            <p:nvPr/>
          </p:nvSpPr>
          <p:spPr>
            <a:xfrm>
              <a:off x="5695655" y="4654550"/>
              <a:ext cx="953089" cy="192722"/>
            </a:xfrm>
            <a:prstGeom prst="rect">
              <a:avLst/>
            </a:prstGeom>
            <a:noFill/>
          </p:spPr>
          <p:txBody>
            <a:bodyPr wrap="none" lIns="0" tIns="0" rIns="0" bIns="0" rtlCol="0" anchor="t">
              <a:noAutofit/>
            </a:bodyPr>
            <a:lstStyle/>
            <a:p>
              <a:pPr algn="ctr">
                <a:spcBef>
                  <a:spcPts val="0"/>
                </a:spcBef>
                <a:spcAft>
                  <a:spcPts val="0"/>
                </a:spcAft>
              </a:pPr>
              <a:r>
                <a:rPr lang="en-US" sz="1050" b="0" dirty="0">
                  <a:solidFill>
                    <a:srgbClr val="9C9A94"/>
                  </a:solidFill>
                  <a:latin typeface="Consolas"/>
                  <a:ea typeface="Consolas"/>
                  <a:cs typeface="Consolas"/>
                </a:rPr>
                <a:t>Tighten tone</a:t>
              </a:r>
              <a:endParaRPr lang="en-US" sz="1050" dirty="0"/>
            </a:p>
          </p:txBody>
        </p:sp>
        <p:sp>
          <p:nvSpPr>
            <p:cNvPr id="68" name="rect 69"/>
            <p:cNvSpPr/>
            <p:nvPr/>
          </p:nvSpPr>
          <p:spPr>
            <a:xfrm>
              <a:off x="5638800" y="4933950"/>
              <a:ext cx="1238250" cy="247650"/>
            </a:xfrm>
            <a:prstGeom prst="roundRect">
              <a:avLst>
                <a:gd name="adj" fmla="val 7692"/>
              </a:avLst>
            </a:prstGeom>
            <a:noFill/>
            <a:ln w="9525" cap="flat">
              <a:solidFill>
                <a:srgbClr val="4A5058"/>
              </a:solidFill>
              <a:miter lim="800000"/>
            </a:ln>
          </p:spPr>
          <p:txBody>
            <a:bodyPr/>
            <a:lstStyle/>
            <a:p>
              <a:endParaRPr lang="en-US"/>
            </a:p>
          </p:txBody>
        </p:sp>
        <p:sp>
          <p:nvSpPr>
            <p:cNvPr id="69" name="Text 70"/>
            <p:cNvSpPr txBox="1"/>
            <p:nvPr/>
          </p:nvSpPr>
          <p:spPr>
            <a:xfrm>
              <a:off x="5743256" y="4978400"/>
              <a:ext cx="1029338" cy="192722"/>
            </a:xfrm>
            <a:prstGeom prst="rect">
              <a:avLst/>
            </a:prstGeom>
            <a:noFill/>
          </p:spPr>
          <p:txBody>
            <a:bodyPr wrap="none" lIns="0" tIns="0" rIns="0" bIns="0" rtlCol="0" anchor="t">
              <a:noAutofit/>
            </a:bodyPr>
            <a:lstStyle/>
            <a:p>
              <a:pPr algn="ctr">
                <a:spcBef>
                  <a:spcPts val="0"/>
                </a:spcBef>
                <a:spcAft>
                  <a:spcPts val="0"/>
                </a:spcAft>
              </a:pPr>
              <a:r>
                <a:rPr lang="en-US" sz="1050" b="0" dirty="0">
                  <a:solidFill>
                    <a:srgbClr val="9C9A94"/>
                  </a:solidFill>
                  <a:latin typeface="Consolas"/>
                  <a:ea typeface="Consolas"/>
                  <a:cs typeface="Consolas"/>
                </a:rPr>
                <a:t>Add a summary</a:t>
              </a:r>
              <a:endParaRPr lang="en-US" sz="1050" dirty="0"/>
            </a:p>
          </p:txBody>
        </p:sp>
        <p:sp>
          <p:nvSpPr>
            <p:cNvPr id="70" name="rect 71"/>
            <p:cNvSpPr/>
            <p:nvPr/>
          </p:nvSpPr>
          <p:spPr>
            <a:xfrm>
              <a:off x="5638800" y="5391150"/>
              <a:ext cx="1828800" cy="342900"/>
            </a:xfrm>
            <a:prstGeom prst="roundRect">
              <a:avLst>
                <a:gd name="adj" fmla="val 5556"/>
              </a:avLst>
            </a:prstGeom>
            <a:solidFill>
              <a:srgbClr val="0F1215"/>
            </a:solidFill>
            <a:ln w="9525" cap="flat">
              <a:solidFill>
                <a:srgbClr val="2A2E35"/>
              </a:solidFill>
              <a:miter lim="800000"/>
            </a:ln>
          </p:spPr>
          <p:txBody>
            <a:bodyPr/>
            <a:lstStyle/>
            <a:p>
              <a:endParaRPr lang="en-US"/>
            </a:p>
          </p:txBody>
        </p:sp>
        <p:sp>
          <p:nvSpPr>
            <p:cNvPr id="71" name="Text 72"/>
            <p:cNvSpPr txBox="1"/>
            <p:nvPr/>
          </p:nvSpPr>
          <p:spPr>
            <a:xfrm>
              <a:off x="5753100" y="5483225"/>
              <a:ext cx="981192"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9C9A94"/>
                  </a:solidFill>
                  <a:latin typeface="Segoe UI"/>
                  <a:ea typeface="Segoe UI"/>
                  <a:cs typeface="Segoe UI"/>
                </a:rPr>
                <a:t>Ask the agent…</a:t>
              </a:r>
              <a:endParaRPr lang="en-US" sz="1050" dirty="0"/>
            </a:p>
          </p:txBody>
        </p:sp>
        <p:sp>
          <p:nvSpPr>
            <p:cNvPr id="72" name="polygon 73"/>
            <p:cNvSpPr/>
            <p:nvPr/>
          </p:nvSpPr>
          <p:spPr>
            <a:xfrm>
              <a:off x="7258050" y="5495925"/>
              <a:ext cx="114300" cy="133350"/>
            </a:xfrm>
            <a:custGeom>
              <a:avLst/>
              <a:gdLst/>
              <a:ahLst/>
              <a:cxnLst/>
              <a:rect l="0" t="0" r="r" b="b"/>
              <a:pathLst>
                <a:path w="114300" h="133350">
                  <a:moveTo>
                    <a:pt x="0" y="0"/>
                  </a:moveTo>
                  <a:lnTo>
                    <a:pt x="114300" y="66675"/>
                  </a:lnTo>
                  <a:lnTo>
                    <a:pt x="0" y="133350"/>
                  </a:lnTo>
                  <a:close/>
                </a:path>
              </a:pathLst>
            </a:custGeom>
            <a:solidFill>
              <a:srgbClr val="FF5B1F"/>
            </a:solidFill>
            <a:ln>
              <a:noFill/>
            </a:ln>
          </p:spPr>
          <p:txBody>
            <a:bodyPr/>
            <a:lstStyle/>
            <a:p>
              <a:endParaRPr lang="en-US"/>
            </a:p>
          </p:txBody>
        </p:sp>
        <p:sp>
          <p:nvSpPr>
            <p:cNvPr id="73" name="rect 74"/>
            <p:cNvSpPr/>
            <p:nvPr/>
          </p:nvSpPr>
          <p:spPr>
            <a:xfrm>
              <a:off x="609600" y="2038350"/>
              <a:ext cx="7048500" cy="3810000"/>
            </a:xfrm>
            <a:prstGeom prst="roundRect">
              <a:avLst>
                <a:gd name="adj" fmla="val 2000"/>
              </a:avLst>
            </a:prstGeom>
            <a:noFill/>
            <a:ln w="9525" cap="flat">
              <a:solidFill>
                <a:srgbClr val="2A2E35"/>
              </a:solidFill>
              <a:miter lim="800000"/>
            </a:ln>
          </p:spPr>
          <p:txBody>
            <a:bodyPr/>
            <a:lstStyle/>
            <a:p>
              <a:endParaRPr lang="en-US"/>
            </a:p>
          </p:txBody>
        </p:sp>
      </p:grpSp>
      <p:grpSp>
        <p:nvGrpSpPr>
          <p:cNvPr id="79" name="brackets"/>
          <p:cNvGrpSpPr/>
          <p:nvPr/>
        </p:nvGrpSpPr>
        <p:grpSpPr>
          <a:xfrm>
            <a:off x="495300" y="1924050"/>
            <a:ext cx="7277100" cy="4038600"/>
            <a:chOff x="495300" y="1924050"/>
            <a:chExt cx="7277100" cy="4038600"/>
          </a:xfrm>
        </p:grpSpPr>
        <p:sp>
          <p:nvSpPr>
            <p:cNvPr id="75" name="path 76"/>
            <p:cNvSpPr/>
            <p:nvPr/>
          </p:nvSpPr>
          <p:spPr>
            <a:xfrm>
              <a:off x="495300" y="1924050"/>
              <a:ext cx="228600" cy="228600"/>
            </a:xfrm>
            <a:custGeom>
              <a:avLst/>
              <a:gdLst/>
              <a:ahLst/>
              <a:cxnLst/>
              <a:rect l="0" t="0" r="r" b="b"/>
              <a:pathLst>
                <a:path w="228600" h="228600" fill="none">
                  <a:moveTo>
                    <a:pt x="0" y="228600"/>
                  </a:moveTo>
                  <a:lnTo>
                    <a:pt x="0" y="0"/>
                  </a:lnTo>
                  <a:lnTo>
                    <a:pt x="228600" y="0"/>
                  </a:lnTo>
                </a:path>
              </a:pathLst>
            </a:custGeom>
            <a:noFill/>
            <a:ln w="19050" cap="flat">
              <a:solidFill>
                <a:srgbClr val="FF5B1F"/>
              </a:solidFill>
              <a:miter lim="800000"/>
            </a:ln>
          </p:spPr>
          <p:txBody>
            <a:bodyPr/>
            <a:lstStyle/>
            <a:p>
              <a:endParaRPr lang="en-US"/>
            </a:p>
          </p:txBody>
        </p:sp>
        <p:sp>
          <p:nvSpPr>
            <p:cNvPr id="76" name="path 77"/>
            <p:cNvSpPr/>
            <p:nvPr/>
          </p:nvSpPr>
          <p:spPr>
            <a:xfrm>
              <a:off x="7543800" y="1924050"/>
              <a:ext cx="228600" cy="228600"/>
            </a:xfrm>
            <a:custGeom>
              <a:avLst/>
              <a:gdLst/>
              <a:ahLst/>
              <a:cxnLst/>
              <a:rect l="0" t="0" r="r" b="b"/>
              <a:pathLst>
                <a:path w="228600" h="228600" fill="none">
                  <a:moveTo>
                    <a:pt x="0" y="0"/>
                  </a:moveTo>
                  <a:lnTo>
                    <a:pt x="228600" y="0"/>
                  </a:lnTo>
                  <a:lnTo>
                    <a:pt x="228600" y="228600"/>
                  </a:lnTo>
                </a:path>
              </a:pathLst>
            </a:custGeom>
            <a:noFill/>
            <a:ln w="19050" cap="flat">
              <a:solidFill>
                <a:srgbClr val="3D8BFF"/>
              </a:solidFill>
              <a:miter lim="800000"/>
            </a:ln>
          </p:spPr>
          <p:txBody>
            <a:bodyPr/>
            <a:lstStyle/>
            <a:p>
              <a:endParaRPr lang="en-US"/>
            </a:p>
          </p:txBody>
        </p:sp>
        <p:sp>
          <p:nvSpPr>
            <p:cNvPr id="77" name="path 78"/>
            <p:cNvSpPr/>
            <p:nvPr/>
          </p:nvSpPr>
          <p:spPr>
            <a:xfrm>
              <a:off x="7543800" y="5734050"/>
              <a:ext cx="228600" cy="228600"/>
            </a:xfrm>
            <a:custGeom>
              <a:avLst/>
              <a:gdLst/>
              <a:ahLst/>
              <a:cxnLst/>
              <a:rect l="0" t="0" r="r" b="b"/>
              <a:pathLst>
                <a:path w="228600" h="228600" fill="none">
                  <a:moveTo>
                    <a:pt x="228600" y="0"/>
                  </a:moveTo>
                  <a:lnTo>
                    <a:pt x="228600" y="228600"/>
                  </a:lnTo>
                  <a:lnTo>
                    <a:pt x="0" y="228600"/>
                  </a:lnTo>
                </a:path>
              </a:pathLst>
            </a:custGeom>
            <a:noFill/>
            <a:ln w="19050" cap="flat">
              <a:solidFill>
                <a:srgbClr val="FF5B1F"/>
              </a:solidFill>
              <a:miter lim="800000"/>
            </a:ln>
          </p:spPr>
          <p:txBody>
            <a:bodyPr/>
            <a:lstStyle/>
            <a:p>
              <a:endParaRPr lang="en-US"/>
            </a:p>
          </p:txBody>
        </p:sp>
        <p:sp>
          <p:nvSpPr>
            <p:cNvPr id="78" name="path 79"/>
            <p:cNvSpPr/>
            <p:nvPr/>
          </p:nvSpPr>
          <p:spPr>
            <a:xfrm>
              <a:off x="495300" y="5734050"/>
              <a:ext cx="228600" cy="228600"/>
            </a:xfrm>
            <a:custGeom>
              <a:avLst/>
              <a:gdLst/>
              <a:ahLst/>
              <a:cxnLst/>
              <a:rect l="0" t="0" r="r" b="b"/>
              <a:pathLst>
                <a:path w="228600" h="228600" fill="none">
                  <a:moveTo>
                    <a:pt x="228600" y="228600"/>
                  </a:moveTo>
                  <a:lnTo>
                    <a:pt x="0" y="228600"/>
                  </a:lnTo>
                  <a:lnTo>
                    <a:pt x="0" y="0"/>
                  </a:lnTo>
                </a:path>
              </a:pathLst>
            </a:custGeom>
            <a:noFill/>
            <a:ln w="19050" cap="flat">
              <a:solidFill>
                <a:srgbClr val="3D8BFF"/>
              </a:solidFill>
              <a:miter lim="800000"/>
            </a:ln>
          </p:spPr>
          <p:txBody>
            <a:bodyPr/>
            <a:lstStyle/>
            <a:p>
              <a:endParaRPr lang="en-US"/>
            </a:p>
          </p:txBody>
        </p:sp>
      </p:grpSp>
      <p:grpSp>
        <p:nvGrpSpPr>
          <p:cNvPr id="82" name="workflow-rail"/>
          <p:cNvGrpSpPr/>
          <p:nvPr/>
        </p:nvGrpSpPr>
        <p:grpSpPr>
          <a:xfrm>
            <a:off x="8191500" y="2025650"/>
            <a:ext cx="806589" cy="2832100"/>
            <a:chOff x="8191500" y="2025650"/>
            <a:chExt cx="806589" cy="2832100"/>
          </a:xfrm>
        </p:grpSpPr>
        <p:sp>
          <p:nvSpPr>
            <p:cNvPr id="80" name="Text 81"/>
            <p:cNvSpPr txBox="1"/>
            <p:nvPr/>
          </p:nvSpPr>
          <p:spPr>
            <a:xfrm>
              <a:off x="8191500" y="2025650"/>
              <a:ext cx="806589" cy="192722"/>
            </a:xfrm>
            <a:prstGeom prst="rect">
              <a:avLst/>
            </a:prstGeom>
            <a:noFill/>
          </p:spPr>
          <p:txBody>
            <a:bodyPr wrap="none" lIns="0" tIns="0" rIns="0" bIns="0" rtlCol="0" anchor="t">
              <a:noAutofit/>
            </a:bodyPr>
            <a:lstStyle/>
            <a:p>
              <a:pPr algn="l">
                <a:spcBef>
                  <a:spcPts val="0"/>
                </a:spcBef>
                <a:spcAft>
                  <a:spcPts val="0"/>
                </a:spcAft>
              </a:pPr>
              <a:r>
                <a:rPr lang="en-US" sz="1050" b="0" spc="150" dirty="0">
                  <a:solidFill>
                    <a:srgbClr val="9C9A94"/>
                  </a:solidFill>
                  <a:latin typeface="Consolas"/>
                  <a:ea typeface="Consolas"/>
                  <a:cs typeface="Consolas"/>
                </a:rPr>
                <a:t>WORKFLOW</a:t>
              </a:r>
              <a:endParaRPr lang="en-US" sz="1050" dirty="0"/>
            </a:p>
          </p:txBody>
        </p:sp>
        <p:sp>
          <p:nvSpPr>
            <p:cNvPr id="81" name="line 82"/>
            <p:cNvSpPr/>
            <p:nvPr/>
          </p:nvSpPr>
          <p:spPr>
            <a:xfrm>
              <a:off x="8343900" y="2609850"/>
              <a:ext cx="95" cy="2247900"/>
            </a:xfrm>
            <a:custGeom>
              <a:avLst/>
              <a:gdLst/>
              <a:ahLst/>
              <a:cxnLst/>
              <a:rect l="0" t="0" r="r" b="b"/>
              <a:pathLst>
                <a:path w="95" h="2247900" fill="none">
                  <a:moveTo>
                    <a:pt x="0" y="0"/>
                  </a:moveTo>
                  <a:lnTo>
                    <a:pt x="0" y="2247900"/>
                  </a:lnTo>
                </a:path>
              </a:pathLst>
            </a:custGeom>
            <a:noFill/>
            <a:ln w="9525" cap="flat">
              <a:solidFill>
                <a:srgbClr val="4A5058"/>
              </a:solidFill>
              <a:prstDash val="dash"/>
              <a:miter lim="800000"/>
            </a:ln>
          </p:spPr>
          <p:txBody>
            <a:bodyPr/>
            <a:lstStyle/>
            <a:p>
              <a:endParaRPr lang="en-US"/>
            </a:p>
          </p:txBody>
        </p:sp>
      </p:grpSp>
      <p:grpSp>
        <p:nvGrpSpPr>
          <p:cNvPr id="87" name="step-outline"/>
          <p:cNvGrpSpPr/>
          <p:nvPr/>
        </p:nvGrpSpPr>
        <p:grpSpPr>
          <a:xfrm>
            <a:off x="8172450" y="2254250"/>
            <a:ext cx="2949261" cy="789940"/>
            <a:chOff x="8172450" y="2254250"/>
            <a:chExt cx="2949261" cy="789940"/>
          </a:xfrm>
        </p:grpSpPr>
        <p:sp>
          <p:nvSpPr>
            <p:cNvPr id="83" name="circle 84"/>
            <p:cNvSpPr/>
            <p:nvPr/>
          </p:nvSpPr>
          <p:spPr>
            <a:xfrm>
              <a:off x="8172450" y="2266950"/>
              <a:ext cx="342900" cy="342900"/>
            </a:xfrm>
            <a:prstGeom prst="ellipse">
              <a:avLst/>
            </a:prstGeom>
            <a:solidFill>
              <a:srgbClr val="0A0B0D"/>
            </a:solidFill>
            <a:ln w="19050" cap="flat">
              <a:solidFill>
                <a:srgbClr val="FF5B1F"/>
              </a:solidFill>
              <a:miter lim="800000"/>
            </a:ln>
          </p:spPr>
          <p:txBody>
            <a:bodyPr/>
            <a:lstStyle/>
            <a:p>
              <a:endParaRPr lang="en-US"/>
            </a:p>
          </p:txBody>
        </p:sp>
        <p:sp>
          <p:nvSpPr>
            <p:cNvPr id="84" name="Text 85"/>
            <p:cNvSpPr txBox="1"/>
            <p:nvPr/>
          </p:nvSpPr>
          <p:spPr>
            <a:xfrm>
              <a:off x="8248601" y="2359025"/>
              <a:ext cx="190598" cy="192722"/>
            </a:xfrm>
            <a:prstGeom prst="rect">
              <a:avLst/>
            </a:prstGeom>
            <a:noFill/>
          </p:spPr>
          <p:txBody>
            <a:bodyPr wrap="none" lIns="0" tIns="0" rIns="0" bIns="0" rtlCol="0" anchor="t">
              <a:noAutofit/>
            </a:bodyPr>
            <a:lstStyle/>
            <a:p>
              <a:pPr algn="ctr">
                <a:spcBef>
                  <a:spcPts val="0"/>
                </a:spcBef>
                <a:spcAft>
                  <a:spcPts val="0"/>
                </a:spcAft>
              </a:pPr>
              <a:r>
                <a:rPr lang="en-US" sz="1050" b="1" dirty="0">
                  <a:solidFill>
                    <a:srgbClr val="FF5B1F"/>
                  </a:solidFill>
                  <a:latin typeface="Consolas"/>
                  <a:ea typeface="Consolas"/>
                  <a:cs typeface="Consolas"/>
                </a:rPr>
                <a:t>01</a:t>
              </a:r>
              <a:endParaRPr lang="en-US" sz="1050" dirty="0"/>
            </a:p>
          </p:txBody>
        </p:sp>
        <p:sp>
          <p:nvSpPr>
            <p:cNvPr id="85" name="Text 86"/>
            <p:cNvSpPr txBox="1"/>
            <p:nvPr/>
          </p:nvSpPr>
          <p:spPr>
            <a:xfrm>
              <a:off x="8724900" y="2254250"/>
              <a:ext cx="727438" cy="295593"/>
            </a:xfrm>
            <a:prstGeom prst="rect">
              <a:avLst/>
            </a:prstGeom>
            <a:noFill/>
          </p:spPr>
          <p:txBody>
            <a:bodyPr wrap="none" lIns="0" tIns="0" rIns="0" bIns="0" rtlCol="0" anchor="t">
              <a:noAutofit/>
            </a:bodyPr>
            <a:lstStyle/>
            <a:p>
              <a:pPr algn="l">
                <a:spcBef>
                  <a:spcPts val="0"/>
                </a:spcBef>
                <a:spcAft>
                  <a:spcPts val="0"/>
                </a:spcAft>
              </a:pPr>
              <a:r>
                <a:rPr lang="en-US" sz="1650" b="1" dirty="0">
                  <a:solidFill>
                    <a:srgbClr val="EDE9E2"/>
                  </a:solidFill>
                  <a:latin typeface="Bahnschrift"/>
                  <a:ea typeface="Bahnschrift"/>
                  <a:cs typeface="Bahnschrift"/>
                </a:rPr>
                <a:t>Outline</a:t>
              </a:r>
              <a:endParaRPr lang="en-US" sz="1650" dirty="0"/>
            </a:p>
          </p:txBody>
        </p:sp>
        <p:sp>
          <p:nvSpPr>
            <p:cNvPr id="86" name="Text 87"/>
            <p:cNvSpPr txBox="1"/>
            <p:nvPr/>
          </p:nvSpPr>
          <p:spPr>
            <a:xfrm>
              <a:off x="8724900" y="2565400"/>
              <a:ext cx="2396811" cy="478790"/>
            </a:xfrm>
            <a:prstGeom prst="rect">
              <a:avLst/>
            </a:prstGeom>
            <a:noFill/>
          </p:spPr>
          <p:txBody>
            <a:bodyPr wrap="none" lIns="0" tIns="0" rIns="0" bIns="0" rtlCol="0" anchor="t">
              <a:noAutofit/>
            </a:bodyPr>
            <a:lstStyle/>
            <a:p>
              <a:pPr algn="l">
                <a:lnSpc>
                  <a:spcPts val="1800"/>
                </a:lnSpc>
                <a:spcBef>
                  <a:spcPts val="0"/>
                </a:spcBef>
                <a:spcAft>
                  <a:spcPts val="0"/>
                </a:spcAft>
              </a:pPr>
              <a:r>
                <a:rPr lang="en-US" sz="1200" b="0" dirty="0">
                  <a:solidFill>
                    <a:srgbClr val="9C9A94"/>
                  </a:solidFill>
                  <a:latin typeface="Segoe UI"/>
                  <a:ea typeface="Segoe UI"/>
                  <a:cs typeface="Segoe UI"/>
                </a:rPr>
                <a:t>Shape the structure first:</a:t>
              </a:r>
              <a:endParaRPr lang="en-US" sz="1200" dirty="0"/>
            </a:p>
            <a:p>
              <a:pPr algn="l">
                <a:lnSpc>
                  <a:spcPts val="1800"/>
                </a:lnSpc>
                <a:spcBef>
                  <a:spcPts val="0"/>
                </a:spcBef>
                <a:spcAft>
                  <a:spcPts val="0"/>
                </a:spcAft>
              </a:pPr>
              <a:r>
                <a:rPr lang="en-US" sz="1200" b="0" dirty="0">
                  <a:solidFill>
                    <a:srgbClr val="9C9A94"/>
                  </a:solidFill>
                  <a:latin typeface="Segoe UI"/>
                  <a:ea typeface="Segoe UI"/>
                  <a:cs typeface="Segoe UI"/>
                </a:rPr>
                <a:t>sections, headings, running order.</a:t>
              </a:r>
              <a:endParaRPr lang="en-US" sz="1200" dirty="0"/>
            </a:p>
          </p:txBody>
        </p:sp>
      </p:grpSp>
      <p:grpSp>
        <p:nvGrpSpPr>
          <p:cNvPr id="92" name="step-draft"/>
          <p:cNvGrpSpPr/>
          <p:nvPr/>
        </p:nvGrpSpPr>
        <p:grpSpPr>
          <a:xfrm>
            <a:off x="8172450" y="3549650"/>
            <a:ext cx="2825978" cy="789940"/>
            <a:chOff x="8172450" y="3549650"/>
            <a:chExt cx="2825978" cy="789940"/>
          </a:xfrm>
        </p:grpSpPr>
        <p:sp>
          <p:nvSpPr>
            <p:cNvPr id="88" name="circle 89"/>
            <p:cNvSpPr/>
            <p:nvPr/>
          </p:nvSpPr>
          <p:spPr>
            <a:xfrm>
              <a:off x="8172450" y="3562350"/>
              <a:ext cx="342900" cy="342900"/>
            </a:xfrm>
            <a:prstGeom prst="ellipse">
              <a:avLst/>
            </a:prstGeom>
            <a:solidFill>
              <a:srgbClr val="0A0B0D"/>
            </a:solidFill>
            <a:ln w="19050" cap="flat">
              <a:solidFill>
                <a:srgbClr val="FF5B1F"/>
              </a:solidFill>
              <a:miter lim="800000"/>
            </a:ln>
          </p:spPr>
          <p:txBody>
            <a:bodyPr/>
            <a:lstStyle/>
            <a:p>
              <a:endParaRPr lang="en-US"/>
            </a:p>
          </p:txBody>
        </p:sp>
        <p:sp>
          <p:nvSpPr>
            <p:cNvPr id="89" name="Text 90"/>
            <p:cNvSpPr txBox="1"/>
            <p:nvPr/>
          </p:nvSpPr>
          <p:spPr>
            <a:xfrm>
              <a:off x="8248601" y="3654425"/>
              <a:ext cx="190598" cy="192722"/>
            </a:xfrm>
            <a:prstGeom prst="rect">
              <a:avLst/>
            </a:prstGeom>
            <a:noFill/>
          </p:spPr>
          <p:txBody>
            <a:bodyPr wrap="none" lIns="0" tIns="0" rIns="0" bIns="0" rtlCol="0" anchor="t">
              <a:noAutofit/>
            </a:bodyPr>
            <a:lstStyle/>
            <a:p>
              <a:pPr algn="ctr">
                <a:spcBef>
                  <a:spcPts val="0"/>
                </a:spcBef>
                <a:spcAft>
                  <a:spcPts val="0"/>
                </a:spcAft>
              </a:pPr>
              <a:r>
                <a:rPr lang="en-US" sz="1050" b="1" dirty="0">
                  <a:solidFill>
                    <a:srgbClr val="FF5B1F"/>
                  </a:solidFill>
                  <a:latin typeface="Consolas"/>
                  <a:ea typeface="Consolas"/>
                  <a:cs typeface="Consolas"/>
                </a:rPr>
                <a:t>02</a:t>
              </a:r>
              <a:endParaRPr lang="en-US" sz="1050" dirty="0"/>
            </a:p>
          </p:txBody>
        </p:sp>
        <p:sp>
          <p:nvSpPr>
            <p:cNvPr id="90" name="Text 91"/>
            <p:cNvSpPr txBox="1"/>
            <p:nvPr/>
          </p:nvSpPr>
          <p:spPr>
            <a:xfrm>
              <a:off x="8724900" y="3549650"/>
              <a:ext cx="530256" cy="295593"/>
            </a:xfrm>
            <a:prstGeom prst="rect">
              <a:avLst/>
            </a:prstGeom>
            <a:noFill/>
          </p:spPr>
          <p:txBody>
            <a:bodyPr wrap="none" lIns="0" tIns="0" rIns="0" bIns="0" rtlCol="0" anchor="t">
              <a:noAutofit/>
            </a:bodyPr>
            <a:lstStyle/>
            <a:p>
              <a:pPr algn="l">
                <a:spcBef>
                  <a:spcPts val="0"/>
                </a:spcBef>
                <a:spcAft>
                  <a:spcPts val="0"/>
                </a:spcAft>
              </a:pPr>
              <a:r>
                <a:rPr lang="en-US" sz="1650" b="1" dirty="0">
                  <a:solidFill>
                    <a:srgbClr val="EDE9E2"/>
                  </a:solidFill>
                  <a:latin typeface="Bahnschrift"/>
                  <a:ea typeface="Bahnschrift"/>
                  <a:cs typeface="Bahnschrift"/>
                </a:rPr>
                <a:t>Draft</a:t>
              </a:r>
              <a:endParaRPr lang="en-US" sz="1650" dirty="0"/>
            </a:p>
          </p:txBody>
        </p:sp>
        <p:sp>
          <p:nvSpPr>
            <p:cNvPr id="91" name="Text 92"/>
            <p:cNvSpPr txBox="1"/>
            <p:nvPr/>
          </p:nvSpPr>
          <p:spPr>
            <a:xfrm>
              <a:off x="8724900" y="3860800"/>
              <a:ext cx="2273528" cy="478790"/>
            </a:xfrm>
            <a:prstGeom prst="rect">
              <a:avLst/>
            </a:prstGeom>
            <a:noFill/>
          </p:spPr>
          <p:txBody>
            <a:bodyPr wrap="none" lIns="0" tIns="0" rIns="0" bIns="0" rtlCol="0" anchor="t">
              <a:noAutofit/>
            </a:bodyPr>
            <a:lstStyle/>
            <a:p>
              <a:pPr algn="l">
                <a:lnSpc>
                  <a:spcPts val="1800"/>
                </a:lnSpc>
                <a:spcBef>
                  <a:spcPts val="0"/>
                </a:spcBef>
                <a:spcAft>
                  <a:spcPts val="0"/>
                </a:spcAft>
              </a:pPr>
              <a:r>
                <a:rPr lang="en-US" sz="1200" b="0" dirty="0">
                  <a:solidFill>
                    <a:srgbClr val="9C9A94"/>
                  </a:solidFill>
                  <a:latin typeface="Segoe UI"/>
                  <a:ea typeface="Segoe UI"/>
                  <a:cs typeface="Segoe UI"/>
                </a:rPr>
                <a:t>Write on the page with an AI</a:t>
              </a:r>
              <a:endParaRPr lang="en-US" sz="1200" dirty="0"/>
            </a:p>
            <a:p>
              <a:pPr algn="l">
                <a:lnSpc>
                  <a:spcPts val="1800"/>
                </a:lnSpc>
                <a:spcBef>
                  <a:spcPts val="0"/>
                </a:spcBef>
                <a:spcAft>
                  <a:spcPts val="0"/>
                </a:spcAft>
              </a:pPr>
              <a:r>
                <a:rPr lang="en-US" sz="1200" b="0" dirty="0">
                  <a:solidFill>
                    <a:srgbClr val="9C9A94"/>
                  </a:solidFill>
                  <a:latin typeface="Segoe UI"/>
                  <a:ea typeface="Segoe UI"/>
                  <a:cs typeface="Segoe UI"/>
                </a:rPr>
                <a:t>agent working in the side panel.</a:t>
              </a:r>
              <a:endParaRPr lang="en-US" sz="1200" dirty="0"/>
            </a:p>
          </p:txBody>
        </p:sp>
      </p:grpSp>
      <p:grpSp>
        <p:nvGrpSpPr>
          <p:cNvPr id="97" name="step-export"/>
          <p:cNvGrpSpPr/>
          <p:nvPr/>
        </p:nvGrpSpPr>
        <p:grpSpPr>
          <a:xfrm>
            <a:off x="8172450" y="4845050"/>
            <a:ext cx="2853916" cy="789940"/>
            <a:chOff x="8172450" y="4845050"/>
            <a:chExt cx="2853916" cy="789940"/>
          </a:xfrm>
        </p:grpSpPr>
        <p:sp>
          <p:nvSpPr>
            <p:cNvPr id="93" name="circle 94"/>
            <p:cNvSpPr/>
            <p:nvPr/>
          </p:nvSpPr>
          <p:spPr>
            <a:xfrm>
              <a:off x="8172450" y="4857750"/>
              <a:ext cx="342900" cy="342900"/>
            </a:xfrm>
            <a:prstGeom prst="ellipse">
              <a:avLst/>
            </a:prstGeom>
            <a:solidFill>
              <a:srgbClr val="0A0B0D"/>
            </a:solidFill>
            <a:ln w="19050" cap="flat">
              <a:solidFill>
                <a:srgbClr val="3D8BFF"/>
              </a:solidFill>
              <a:miter lim="800000"/>
            </a:ln>
          </p:spPr>
          <p:txBody>
            <a:bodyPr/>
            <a:lstStyle/>
            <a:p>
              <a:endParaRPr lang="en-US"/>
            </a:p>
          </p:txBody>
        </p:sp>
        <p:sp>
          <p:nvSpPr>
            <p:cNvPr id="94" name="Text 95"/>
            <p:cNvSpPr txBox="1"/>
            <p:nvPr/>
          </p:nvSpPr>
          <p:spPr>
            <a:xfrm>
              <a:off x="8248601" y="4949825"/>
              <a:ext cx="190598" cy="192722"/>
            </a:xfrm>
            <a:prstGeom prst="rect">
              <a:avLst/>
            </a:prstGeom>
            <a:noFill/>
          </p:spPr>
          <p:txBody>
            <a:bodyPr wrap="none" lIns="0" tIns="0" rIns="0" bIns="0" rtlCol="0" anchor="t">
              <a:noAutofit/>
            </a:bodyPr>
            <a:lstStyle/>
            <a:p>
              <a:pPr algn="ctr">
                <a:spcBef>
                  <a:spcPts val="0"/>
                </a:spcBef>
                <a:spcAft>
                  <a:spcPts val="0"/>
                </a:spcAft>
              </a:pPr>
              <a:r>
                <a:rPr lang="en-US" sz="1050" b="1" dirty="0">
                  <a:solidFill>
                    <a:srgbClr val="3D8BFF"/>
                  </a:solidFill>
                  <a:latin typeface="Consolas"/>
                  <a:ea typeface="Consolas"/>
                  <a:cs typeface="Consolas"/>
                </a:rPr>
                <a:t>03</a:t>
              </a:r>
              <a:endParaRPr lang="en-US" sz="1050" dirty="0"/>
            </a:p>
          </p:txBody>
        </p:sp>
        <p:sp>
          <p:nvSpPr>
            <p:cNvPr id="95" name="Text 96"/>
            <p:cNvSpPr txBox="1"/>
            <p:nvPr/>
          </p:nvSpPr>
          <p:spPr>
            <a:xfrm>
              <a:off x="8724900" y="4845050"/>
              <a:ext cx="1620129" cy="295593"/>
            </a:xfrm>
            <a:prstGeom prst="rect">
              <a:avLst/>
            </a:prstGeom>
            <a:noFill/>
          </p:spPr>
          <p:txBody>
            <a:bodyPr wrap="none" lIns="0" tIns="0" rIns="0" bIns="0" rtlCol="0" anchor="t">
              <a:noAutofit/>
            </a:bodyPr>
            <a:lstStyle/>
            <a:p>
              <a:pPr algn="l">
                <a:spcBef>
                  <a:spcPts val="0"/>
                </a:spcBef>
                <a:spcAft>
                  <a:spcPts val="0"/>
                </a:spcAft>
              </a:pPr>
              <a:r>
                <a:rPr lang="en-US" sz="1650" b="1" dirty="0">
                  <a:solidFill>
                    <a:srgbClr val="EDE9E2"/>
                  </a:solidFill>
                  <a:latin typeface="Bahnschrift"/>
                  <a:ea typeface="Bahnschrift"/>
                  <a:cs typeface="Bahnschrift"/>
                </a:rPr>
                <a:t>Review &amp; export</a:t>
              </a:r>
              <a:endParaRPr lang="en-US" sz="1650" dirty="0"/>
            </a:p>
          </p:txBody>
        </p:sp>
        <p:sp>
          <p:nvSpPr>
            <p:cNvPr id="96" name="Text 97"/>
            <p:cNvSpPr txBox="1"/>
            <p:nvPr/>
          </p:nvSpPr>
          <p:spPr>
            <a:xfrm>
              <a:off x="8724900" y="5156200"/>
              <a:ext cx="2301466" cy="478790"/>
            </a:xfrm>
            <a:prstGeom prst="rect">
              <a:avLst/>
            </a:prstGeom>
            <a:noFill/>
          </p:spPr>
          <p:txBody>
            <a:bodyPr wrap="none" lIns="0" tIns="0" rIns="0" bIns="0" rtlCol="0" anchor="t">
              <a:noAutofit/>
            </a:bodyPr>
            <a:lstStyle/>
            <a:p>
              <a:pPr algn="l">
                <a:lnSpc>
                  <a:spcPts val="1800"/>
                </a:lnSpc>
                <a:spcBef>
                  <a:spcPts val="0"/>
                </a:spcBef>
                <a:spcAft>
                  <a:spcPts val="0"/>
                </a:spcAft>
              </a:pPr>
              <a:r>
                <a:rPr lang="en-US" sz="1200" b="0" dirty="0">
                  <a:solidFill>
                    <a:srgbClr val="9C9A94"/>
                  </a:solidFill>
                  <a:latin typeface="Segoe UI"/>
                  <a:ea typeface="Segoe UI"/>
                  <a:cs typeface="Segoe UI"/>
                </a:rPr>
                <a:t>Refine the wording and hand off</a:t>
              </a:r>
              <a:endParaRPr lang="en-US" sz="1200" dirty="0"/>
            </a:p>
            <a:p>
              <a:pPr algn="l">
                <a:lnSpc>
                  <a:spcPts val="1800"/>
                </a:lnSpc>
                <a:spcBef>
                  <a:spcPts val="0"/>
                </a:spcBef>
                <a:spcAft>
                  <a:spcPts val="0"/>
                </a:spcAft>
              </a:pPr>
              <a:r>
                <a:rPr lang="en-US" sz="1200" b="0" dirty="0">
                  <a:solidFill>
                    <a:srgbClr val="9C9A94"/>
                  </a:solidFill>
                  <a:latin typeface="Segoe UI"/>
                  <a:ea typeface="Segoe UI"/>
                  <a:cs typeface="Segoe UI"/>
                </a:rPr>
                <a:t>the finished report.</a:t>
              </a:r>
              <a:endParaRPr lang="en-US" sz="1200" dirty="0"/>
            </a:p>
          </p:txBody>
        </p:sp>
      </p:grpSp>
      <p:grpSp>
        <p:nvGrpSpPr>
          <p:cNvPr id="102" name="footer"/>
          <p:cNvGrpSpPr/>
          <p:nvPr/>
        </p:nvGrpSpPr>
        <p:grpSpPr>
          <a:xfrm>
            <a:off x="609600" y="6162675"/>
            <a:ext cx="10972800" cy="303847"/>
            <a:chOff x="609600" y="6162675"/>
            <a:chExt cx="10972800" cy="303847"/>
          </a:xfrm>
        </p:grpSpPr>
        <p:sp>
          <p:nvSpPr>
            <p:cNvPr id="98" name="line 99"/>
            <p:cNvSpPr/>
            <p:nvPr/>
          </p:nvSpPr>
          <p:spPr>
            <a:xfrm>
              <a:off x="609600" y="6172200"/>
              <a:ext cx="10972800" cy="95"/>
            </a:xfrm>
            <a:custGeom>
              <a:avLst/>
              <a:gdLst/>
              <a:ahLst/>
              <a:cxnLst/>
              <a:rect l="0" t="0" r="r" b="b"/>
              <a:pathLst>
                <a:path w="10972800" h="95" fill="none">
                  <a:moveTo>
                    <a:pt x="0" y="0"/>
                  </a:moveTo>
                  <a:lnTo>
                    <a:pt x="10972800" y="0"/>
                  </a:lnTo>
                </a:path>
              </a:pathLst>
            </a:custGeom>
            <a:noFill/>
            <a:ln w="9525" cap="flat">
              <a:solidFill>
                <a:srgbClr val="2A2E35"/>
              </a:solidFill>
              <a:miter lim="800000"/>
            </a:ln>
          </p:spPr>
          <p:txBody>
            <a:bodyPr/>
            <a:lstStyle/>
            <a:p>
              <a:endParaRPr lang="en-US"/>
            </a:p>
          </p:txBody>
        </p:sp>
        <p:sp>
          <p:nvSpPr>
            <p:cNvPr id="99" name="rect 100"/>
            <p:cNvSpPr/>
            <p:nvPr/>
          </p:nvSpPr>
          <p:spPr>
            <a:xfrm>
              <a:off x="609600" y="6162675"/>
              <a:ext cx="9477375" cy="19050"/>
            </a:xfrm>
            <a:prstGeom prst="rect">
              <a:avLst/>
            </a:prstGeom>
            <a:solidFill>
              <a:srgbClr val="FF5B1F"/>
            </a:solidFill>
            <a:ln>
              <a:noFill/>
            </a:ln>
          </p:spPr>
          <p:txBody>
            <a:bodyPr/>
            <a:lstStyle/>
            <a:p>
              <a:endParaRPr lang="en-US"/>
            </a:p>
          </p:txBody>
        </p:sp>
        <p:sp>
          <p:nvSpPr>
            <p:cNvPr id="100" name="Text 101"/>
            <p:cNvSpPr txBox="1"/>
            <p:nvPr/>
          </p:nvSpPr>
          <p:spPr>
            <a:xfrm>
              <a:off x="609600" y="6273800"/>
              <a:ext cx="2439628" cy="192722"/>
            </a:xfrm>
            <a:prstGeom prst="rect">
              <a:avLst/>
            </a:prstGeom>
            <a:noFill/>
          </p:spPr>
          <p:txBody>
            <a:bodyPr wrap="none" lIns="0" tIns="0" rIns="0" bIns="0" rtlCol="0" anchor="t">
              <a:noAutofit/>
            </a:bodyPr>
            <a:lstStyle/>
            <a:p>
              <a:pPr algn="l">
                <a:spcBef>
                  <a:spcPts val="0"/>
                </a:spcBef>
                <a:spcAft>
                  <a:spcPts val="0"/>
                </a:spcAft>
              </a:pPr>
              <a:r>
                <a:rPr lang="en-US" sz="1050" b="0" spc="150" dirty="0">
                  <a:solidFill>
                    <a:srgbClr val="9C9A94"/>
                  </a:solidFill>
                  <a:latin typeface="Consolas"/>
                  <a:ea typeface="Consolas"/>
                  <a:cs typeface="Consolas"/>
                </a:rPr>
                <a:t>YZPZCODE / WRITING STUDIO</a:t>
              </a:r>
              <a:endParaRPr lang="en-US" sz="1050" dirty="0"/>
            </a:p>
          </p:txBody>
        </p:sp>
        <p:sp>
          <p:nvSpPr>
            <p:cNvPr id="101" name="Text 102"/>
            <p:cNvSpPr txBox="1"/>
            <p:nvPr/>
          </p:nvSpPr>
          <p:spPr>
            <a:xfrm>
              <a:off x="10941214" y="6273800"/>
              <a:ext cx="641186" cy="192722"/>
            </a:xfrm>
            <a:prstGeom prst="rect">
              <a:avLst/>
            </a:prstGeom>
            <a:noFill/>
          </p:spPr>
          <p:txBody>
            <a:bodyPr wrap="none" lIns="0" tIns="0" rIns="0" bIns="0" rtlCol="0" anchor="t">
              <a:noAutofit/>
            </a:bodyPr>
            <a:lstStyle/>
            <a:p>
              <a:pPr algn="r">
                <a:spcBef>
                  <a:spcPts val="0"/>
                </a:spcBef>
                <a:spcAft>
                  <a:spcPts val="0"/>
                </a:spcAft>
              </a:pPr>
              <a:r>
                <a:rPr lang="en-US" sz="1050" b="0" spc="75" dirty="0">
                  <a:solidFill>
                    <a:srgbClr val="EDE9E2"/>
                  </a:solidFill>
                  <a:latin typeface="Consolas"/>
                  <a:ea typeface="Consolas"/>
                  <a:cs typeface="Consolas"/>
                </a:rPr>
                <a:t>19 / 22</a:t>
              </a:r>
              <a:endParaRPr lang="en-US" sz="105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600" fill="hold"/>
                                        <p:tgtEl>
                                          <p:spTgt spid="4"/>
                                        </p:tgtEl>
                                        <p:attrNameLst>
                                          <p:attrName>ppt_y</p:attrName>
                                        </p:attrNameLst>
                                      </p:cBhvr>
                                      <p:tavLst>
                                        <p:tav tm="0">
                                          <p:val>
                                            <p:strVal val="#ppt_y+.1"/>
                                          </p:val>
                                        </p:tav>
                                        <p:tav tm="100000">
                                          <p:val>
                                            <p:strVal val="#ppt_y"/>
                                          </p:val>
                                        </p:tav>
                                      </p:tavLst>
                                    </p:anim>
                                    <p:animEffect transition="in" filter="fade">
                                      <p:cBhvr>
                                        <p:cTn id="8" dur="600"/>
                                        <p:tgtEl>
                                          <p:spTgt spid="4"/>
                                        </p:tgtEl>
                                      </p:cBhvr>
                                    </p:animEffect>
                                  </p:childTnLst>
                                </p:cTn>
                              </p:par>
                              <p:par>
                                <p:cTn id="9" presetID="10"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nodeType="clickEffect">
                                  <p:stCondLst>
                                    <p:cond delay="0"/>
                                  </p:stCondLst>
                                  <p:childTnLst>
                                    <p:set>
                                      <p:cBhvr>
                                        <p:cTn id="15" dur="1" fill="hold">
                                          <p:stCondLst>
                                            <p:cond delay="0"/>
                                          </p:stCondLst>
                                        </p:cTn>
                                        <p:tgtEl>
                                          <p:spTgt spid="74"/>
                                        </p:tgtEl>
                                        <p:attrNameLst>
                                          <p:attrName>style.visibility</p:attrName>
                                        </p:attrNameLst>
                                      </p:cBhvr>
                                      <p:to>
                                        <p:strVal val="visible"/>
                                      </p:to>
                                    </p:set>
                                    <p:anim calcmode="lin" valueType="num">
                                      <p:cBhvr additive="base">
                                        <p:cTn id="16" dur="600" fill="hold"/>
                                        <p:tgtEl>
                                          <p:spTgt spid="74"/>
                                        </p:tgtEl>
                                        <p:attrNameLst>
                                          <p:attrName>ppt_x</p:attrName>
                                        </p:attrNameLst>
                                      </p:cBhvr>
                                      <p:tavLst>
                                        <p:tav tm="0">
                                          <p:val>
                                            <p:strVal val="0-#ppt_w/2"/>
                                          </p:val>
                                        </p:tav>
                                        <p:tav tm="100000">
                                          <p:val>
                                            <p:strVal val="#ppt_x"/>
                                          </p:val>
                                        </p:tav>
                                      </p:tavLst>
                                    </p:anim>
                                    <p:anim calcmode="lin" valueType="num">
                                      <p:cBhvr additive="base">
                                        <p:cTn id="17" dur="600" fill="hold"/>
                                        <p:tgtEl>
                                          <p:spTgt spid="74"/>
                                        </p:tgtEl>
                                        <p:attrNameLst>
                                          <p:attrName>ppt_y</p:attrName>
                                        </p:attrNameLst>
                                      </p:cBhvr>
                                      <p:tavLst>
                                        <p:tav tm="0">
                                          <p:val>
                                            <p:strVal val="#ppt_y"/>
                                          </p:val>
                                        </p:tav>
                                        <p:tav tm="100000">
                                          <p:val>
                                            <p:strVal val="#ppt_y"/>
                                          </p:val>
                                        </p:tav>
                                      </p:tavLst>
                                    </p:anim>
                                  </p:childTnLst>
                                </p:cTn>
                              </p:par>
                              <p:par>
                                <p:cTn id="18" presetID="10" presetClass="entr" presetSubtype="0" fill="hold" nodeType="withEffect">
                                  <p:stCondLst>
                                    <p:cond delay="0"/>
                                  </p:stCondLst>
                                  <p:childTnLst>
                                    <p:set>
                                      <p:cBhvr>
                                        <p:cTn id="19" dur="1" fill="hold">
                                          <p:stCondLst>
                                            <p:cond delay="0"/>
                                          </p:stCondLst>
                                        </p:cTn>
                                        <p:tgtEl>
                                          <p:spTgt spid="79"/>
                                        </p:tgtEl>
                                        <p:attrNameLst>
                                          <p:attrName>style.visibility</p:attrName>
                                        </p:attrNameLst>
                                      </p:cBhvr>
                                      <p:to>
                                        <p:strVal val="visible"/>
                                      </p:to>
                                    </p:set>
                                    <p:animEffect transition="in" filter="fade">
                                      <p:cBhvr>
                                        <p:cTn id="20" dur="500"/>
                                        <p:tgtEl>
                                          <p:spTgt spid="7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82"/>
                                        </p:tgtEl>
                                        <p:attrNameLst>
                                          <p:attrName>style.visibility</p:attrName>
                                        </p:attrNameLst>
                                      </p:cBhvr>
                                      <p:to>
                                        <p:strVal val="visible"/>
                                      </p:to>
                                    </p:set>
                                    <p:animEffect transition="in" filter="wipe(up)">
                                      <p:cBhvr>
                                        <p:cTn id="25" dur="500"/>
                                        <p:tgtEl>
                                          <p:spTgt spid="82"/>
                                        </p:tgtEl>
                                      </p:cBhvr>
                                    </p:animEffect>
                                  </p:childTnLst>
                                </p:cTn>
                              </p:par>
                              <p:par>
                                <p:cTn id="26" presetID="2" presetClass="entr" presetSubtype="2" fill="hold" nodeType="withEffect">
                                  <p:stCondLst>
                                    <p:cond delay="0"/>
                                  </p:stCondLst>
                                  <p:childTnLst>
                                    <p:set>
                                      <p:cBhvr>
                                        <p:cTn id="27" dur="1" fill="hold">
                                          <p:stCondLst>
                                            <p:cond delay="0"/>
                                          </p:stCondLst>
                                        </p:cTn>
                                        <p:tgtEl>
                                          <p:spTgt spid="87"/>
                                        </p:tgtEl>
                                        <p:attrNameLst>
                                          <p:attrName>style.visibility</p:attrName>
                                        </p:attrNameLst>
                                      </p:cBhvr>
                                      <p:to>
                                        <p:strVal val="visible"/>
                                      </p:to>
                                    </p:set>
                                    <p:anim calcmode="lin" valueType="num">
                                      <p:cBhvr additive="base">
                                        <p:cTn id="28" dur="500" fill="hold"/>
                                        <p:tgtEl>
                                          <p:spTgt spid="87"/>
                                        </p:tgtEl>
                                        <p:attrNameLst>
                                          <p:attrName>ppt_x</p:attrName>
                                        </p:attrNameLst>
                                      </p:cBhvr>
                                      <p:tavLst>
                                        <p:tav tm="0">
                                          <p:val>
                                            <p:strVal val="1+#ppt_w/2"/>
                                          </p:val>
                                        </p:tav>
                                        <p:tav tm="100000">
                                          <p:val>
                                            <p:strVal val="#ppt_x"/>
                                          </p:val>
                                        </p:tav>
                                      </p:tavLst>
                                    </p:anim>
                                    <p:anim calcmode="lin" valueType="num">
                                      <p:cBhvr additive="base">
                                        <p:cTn id="29" dur="500" fill="hold"/>
                                        <p:tgtEl>
                                          <p:spTgt spid="87"/>
                                        </p:tgtEl>
                                        <p:attrNameLst>
                                          <p:attrName>ppt_y</p:attrName>
                                        </p:attrNameLst>
                                      </p:cBhvr>
                                      <p:tavLst>
                                        <p:tav tm="0">
                                          <p:val>
                                            <p:strVal val="#ppt_y"/>
                                          </p:val>
                                        </p:tav>
                                        <p:tav tm="100000">
                                          <p:val>
                                            <p:strVal val="#ppt_y"/>
                                          </p:val>
                                        </p:tav>
                                      </p:tavLst>
                                    </p:anim>
                                  </p:childTnLst>
                                </p:cTn>
                              </p:par>
                            </p:childTnLst>
                          </p:cTn>
                        </p:par>
                        <p:par>
                          <p:cTn id="30" fill="hold">
                            <p:stCondLst>
                              <p:cond delay="500"/>
                            </p:stCondLst>
                            <p:childTnLst>
                              <p:par>
                                <p:cTn id="31" presetID="2" presetClass="entr" presetSubtype="2" fill="hold" nodeType="afterEffect">
                                  <p:stCondLst>
                                    <p:cond delay="0"/>
                                  </p:stCondLst>
                                  <p:childTnLst>
                                    <p:set>
                                      <p:cBhvr>
                                        <p:cTn id="32" dur="1" fill="hold">
                                          <p:stCondLst>
                                            <p:cond delay="0"/>
                                          </p:stCondLst>
                                        </p:cTn>
                                        <p:tgtEl>
                                          <p:spTgt spid="92"/>
                                        </p:tgtEl>
                                        <p:attrNameLst>
                                          <p:attrName>style.visibility</p:attrName>
                                        </p:attrNameLst>
                                      </p:cBhvr>
                                      <p:to>
                                        <p:strVal val="visible"/>
                                      </p:to>
                                    </p:set>
                                    <p:anim calcmode="lin" valueType="num">
                                      <p:cBhvr additive="base">
                                        <p:cTn id="33" dur="500" fill="hold"/>
                                        <p:tgtEl>
                                          <p:spTgt spid="92"/>
                                        </p:tgtEl>
                                        <p:attrNameLst>
                                          <p:attrName>ppt_x</p:attrName>
                                        </p:attrNameLst>
                                      </p:cBhvr>
                                      <p:tavLst>
                                        <p:tav tm="0">
                                          <p:val>
                                            <p:strVal val="1+#ppt_w/2"/>
                                          </p:val>
                                        </p:tav>
                                        <p:tav tm="100000">
                                          <p:val>
                                            <p:strVal val="#ppt_x"/>
                                          </p:val>
                                        </p:tav>
                                      </p:tavLst>
                                    </p:anim>
                                    <p:anim calcmode="lin" valueType="num">
                                      <p:cBhvr additive="base">
                                        <p:cTn id="34" dur="500" fill="hold"/>
                                        <p:tgtEl>
                                          <p:spTgt spid="92"/>
                                        </p:tgtEl>
                                        <p:attrNameLst>
                                          <p:attrName>ppt_y</p:attrName>
                                        </p:attrNameLst>
                                      </p:cBhvr>
                                      <p:tavLst>
                                        <p:tav tm="0">
                                          <p:val>
                                            <p:strVal val="#ppt_y"/>
                                          </p:val>
                                        </p:tav>
                                        <p:tav tm="100000">
                                          <p:val>
                                            <p:strVal val="#ppt_y"/>
                                          </p:val>
                                        </p:tav>
                                      </p:tavLst>
                                    </p:anim>
                                  </p:childTnLst>
                                </p:cTn>
                              </p:par>
                            </p:childTnLst>
                          </p:cTn>
                        </p:par>
                        <p:par>
                          <p:cTn id="35" fill="hold">
                            <p:stCondLst>
                              <p:cond delay="1000"/>
                            </p:stCondLst>
                            <p:childTnLst>
                              <p:par>
                                <p:cTn id="36" presetID="2" presetClass="entr" presetSubtype="2" fill="hold" nodeType="afterEffect">
                                  <p:stCondLst>
                                    <p:cond delay="0"/>
                                  </p:stCondLst>
                                  <p:childTnLst>
                                    <p:set>
                                      <p:cBhvr>
                                        <p:cTn id="37" dur="1" fill="hold">
                                          <p:stCondLst>
                                            <p:cond delay="0"/>
                                          </p:stCondLst>
                                        </p:cTn>
                                        <p:tgtEl>
                                          <p:spTgt spid="97"/>
                                        </p:tgtEl>
                                        <p:attrNameLst>
                                          <p:attrName>style.visibility</p:attrName>
                                        </p:attrNameLst>
                                      </p:cBhvr>
                                      <p:to>
                                        <p:strVal val="visible"/>
                                      </p:to>
                                    </p:set>
                                    <p:anim calcmode="lin" valueType="num">
                                      <p:cBhvr additive="base">
                                        <p:cTn id="38" dur="500" fill="hold"/>
                                        <p:tgtEl>
                                          <p:spTgt spid="97"/>
                                        </p:tgtEl>
                                        <p:attrNameLst>
                                          <p:attrName>ppt_x</p:attrName>
                                        </p:attrNameLst>
                                      </p:cBhvr>
                                      <p:tavLst>
                                        <p:tav tm="0">
                                          <p:val>
                                            <p:strVal val="1+#ppt_w/2"/>
                                          </p:val>
                                        </p:tav>
                                        <p:tav tm="100000">
                                          <p:val>
                                            <p:strVal val="#ppt_x"/>
                                          </p:val>
                                        </p:tav>
                                      </p:tavLst>
                                    </p:anim>
                                    <p:anim calcmode="lin" valueType="num">
                                      <p:cBhvr additive="base">
                                        <p:cTn id="39" dur="500" fill="hold"/>
                                        <p:tgtEl>
                                          <p:spTgt spid="9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B0D"/>
        </a:solidFill>
        <a:effectLst/>
      </p:bgPr>
    </p:bg>
    <p:spTree>
      <p:nvGrpSpPr>
        <p:cNvPr id="1" name=""/>
        <p:cNvGrpSpPr/>
        <p:nvPr/>
      </p:nvGrpSpPr>
      <p:grpSpPr>
        <a:xfrm>
          <a:off x="0" y="0"/>
          <a:ext cx="0" cy="0"/>
          <a:chOff x="0" y="0"/>
          <a:chExt cx="0" cy="0"/>
        </a:xfrm>
      </p:grpSpPr>
      <p:grpSp>
        <p:nvGrpSpPr>
          <p:cNvPr id="4" name="title-block"/>
          <p:cNvGrpSpPr/>
          <p:nvPr/>
        </p:nvGrpSpPr>
        <p:grpSpPr>
          <a:xfrm>
            <a:off x="609600" y="533400"/>
            <a:ext cx="6113593" cy="1175385"/>
            <a:chOff x="609600" y="533400"/>
            <a:chExt cx="6113593" cy="1175385"/>
          </a:xfrm>
        </p:grpSpPr>
        <p:sp>
          <p:nvSpPr>
            <p:cNvPr id="2" name="rect 3"/>
            <p:cNvSpPr/>
            <p:nvPr/>
          </p:nvSpPr>
          <p:spPr>
            <a:xfrm>
              <a:off x="609600" y="533400"/>
              <a:ext cx="457200" cy="57150"/>
            </a:xfrm>
            <a:prstGeom prst="roundRect">
              <a:avLst>
                <a:gd name="adj" fmla="val 50000"/>
              </a:avLst>
            </a:prstGeom>
            <a:solidFill>
              <a:srgbClr val="FF5B1F"/>
            </a:solidFill>
            <a:ln>
              <a:noFill/>
            </a:ln>
          </p:spPr>
          <p:txBody>
            <a:bodyPr/>
            <a:lstStyle/>
            <a:p>
              <a:endParaRPr lang="en-US"/>
            </a:p>
          </p:txBody>
        </p:sp>
        <p:sp>
          <p:nvSpPr>
            <p:cNvPr id="3" name="Text 4"/>
            <p:cNvSpPr txBox="1"/>
            <p:nvPr/>
          </p:nvSpPr>
          <p:spPr>
            <a:xfrm>
              <a:off x="609600" y="635000"/>
              <a:ext cx="6113593" cy="1073785"/>
            </a:xfrm>
            <a:prstGeom prst="rect">
              <a:avLst/>
            </a:prstGeom>
            <a:noFill/>
          </p:spPr>
          <p:txBody>
            <a:bodyPr wrap="none" lIns="0" tIns="0" rIns="0" bIns="0" rtlCol="0" anchor="t">
              <a:noAutofit/>
            </a:bodyPr>
            <a:lstStyle/>
            <a:p>
              <a:pPr algn="l">
                <a:lnSpc>
                  <a:spcPts val="4100"/>
                </a:lnSpc>
                <a:spcBef>
                  <a:spcPts val="0"/>
                </a:spcBef>
                <a:spcAft>
                  <a:spcPts val="0"/>
                </a:spcAft>
              </a:pPr>
              <a:r>
                <a:rPr lang="en-US" sz="3300" b="1" dirty="0">
                  <a:solidFill>
                    <a:srgbClr val="EDE9E2"/>
                  </a:solidFill>
                  <a:latin typeface="Bahnschrift"/>
                  <a:ea typeface="Bahnschrift"/>
                  <a:cs typeface="Bahnschrift"/>
                </a:rPr>
                <a:t>From outline to finished report,</a:t>
              </a:r>
              <a:endParaRPr lang="en-US" sz="3300" dirty="0"/>
            </a:p>
            <a:p>
              <a:pPr algn="l">
                <a:lnSpc>
                  <a:spcPts val="4100"/>
                </a:lnSpc>
                <a:spcBef>
                  <a:spcPts val="0"/>
                </a:spcBef>
                <a:spcAft>
                  <a:spcPts val="0"/>
                </a:spcAft>
              </a:pPr>
              <a:r>
                <a:rPr lang="en-US" sz="3300" b="1" dirty="0">
                  <a:solidFill>
                    <a:srgbClr val="EDE9E2"/>
                  </a:solidFill>
                  <a:latin typeface="Bahnschrift"/>
                  <a:ea typeface="Bahnschrift"/>
                  <a:cs typeface="Bahnschrift"/>
                </a:rPr>
                <a:t>in one writing workspace</a:t>
              </a:r>
              <a:endParaRPr lang="en-US" sz="3300" dirty="0"/>
            </a:p>
          </p:txBody>
        </p:sp>
      </p:grpSp>
      <p:grpSp>
        <p:nvGrpSpPr>
          <p:cNvPr id="55" name="workspace-window"/>
          <p:cNvGrpSpPr/>
          <p:nvPr/>
        </p:nvGrpSpPr>
        <p:grpSpPr>
          <a:xfrm>
            <a:off x="-628650" y="1085850"/>
            <a:ext cx="9144000" cy="5715000"/>
            <a:chOff x="-628650" y="1085850"/>
            <a:chExt cx="9144000" cy="5715000"/>
          </a:xfrm>
        </p:grpSpPr>
        <p:sp>
          <p:nvSpPr>
            <p:cNvPr id="5" name="ellipse 6"/>
            <p:cNvSpPr/>
            <p:nvPr/>
          </p:nvSpPr>
          <p:spPr>
            <a:xfrm>
              <a:off x="-628650" y="1085850"/>
              <a:ext cx="9144000" cy="5715000"/>
            </a:xfrm>
            <a:prstGeom prst="ellipse">
              <a:avLst/>
            </a:prstGeom>
            <a:gradFill rotWithShape="1">
              <a:gsLst>
                <a:gs pos="0">
                  <a:srgbClr val="3D8BFF">
                    <a:alpha val="28000"/>
                  </a:srgbClr>
                </a:gs>
                <a:gs pos="100000">
                  <a:srgbClr val="3D8BFF">
                    <a:alpha val="0"/>
                  </a:srgbClr>
                </a:gs>
              </a:gsLst>
              <a:path path="circle">
                <a:fillToRect l="50000" t="50000" r="50000" b="50000"/>
              </a:path>
            </a:gradFill>
            <a:ln>
              <a:noFill/>
            </a:ln>
          </p:spPr>
          <p:txBody>
            <a:bodyPr/>
            <a:lstStyle/>
            <a:p>
              <a:endParaRPr lang="en-US"/>
            </a:p>
          </p:txBody>
        </p:sp>
        <p:sp>
          <p:nvSpPr>
            <p:cNvPr id="6" name="rect 7"/>
            <p:cNvSpPr/>
            <p:nvPr/>
          </p:nvSpPr>
          <p:spPr>
            <a:xfrm>
              <a:off x="609600" y="1905000"/>
              <a:ext cx="6667500" cy="4076700"/>
            </a:xfrm>
            <a:prstGeom prst="roundRect">
              <a:avLst>
                <a:gd name="adj" fmla="val 1869"/>
              </a:avLst>
            </a:prstGeom>
            <a:solidFill>
              <a:srgbClr val="14171B"/>
            </a:solidFill>
            <a:ln w="9525" cap="flat">
              <a:solidFill>
                <a:srgbClr val="2A2E35"/>
              </a:solidFill>
              <a:miter lim="800000"/>
            </a:ln>
          </p:spPr>
          <p:txBody>
            <a:bodyPr/>
            <a:lstStyle/>
            <a:p>
              <a:endParaRPr lang="en-US"/>
            </a:p>
          </p:txBody>
        </p:sp>
        <p:sp>
          <p:nvSpPr>
            <p:cNvPr id="7" name="circle 8"/>
            <p:cNvSpPr/>
            <p:nvPr/>
          </p:nvSpPr>
          <p:spPr>
            <a:xfrm>
              <a:off x="762000" y="2009775"/>
              <a:ext cx="76200" cy="76200"/>
            </a:xfrm>
            <a:prstGeom prst="ellipse">
              <a:avLst/>
            </a:prstGeom>
            <a:solidFill>
              <a:srgbClr val="4A5058"/>
            </a:solidFill>
            <a:ln>
              <a:noFill/>
            </a:ln>
          </p:spPr>
          <p:txBody>
            <a:bodyPr/>
            <a:lstStyle/>
            <a:p>
              <a:endParaRPr lang="en-US"/>
            </a:p>
          </p:txBody>
        </p:sp>
        <p:sp>
          <p:nvSpPr>
            <p:cNvPr id="8" name="circle 9"/>
            <p:cNvSpPr/>
            <p:nvPr/>
          </p:nvSpPr>
          <p:spPr>
            <a:xfrm>
              <a:off x="914400" y="2009775"/>
              <a:ext cx="76200" cy="76200"/>
            </a:xfrm>
            <a:prstGeom prst="ellipse">
              <a:avLst/>
            </a:prstGeom>
            <a:solidFill>
              <a:srgbClr val="4A5058"/>
            </a:solidFill>
            <a:ln>
              <a:noFill/>
            </a:ln>
          </p:spPr>
          <p:txBody>
            <a:bodyPr/>
            <a:lstStyle/>
            <a:p>
              <a:endParaRPr lang="en-US"/>
            </a:p>
          </p:txBody>
        </p:sp>
        <p:sp>
          <p:nvSpPr>
            <p:cNvPr id="9" name="circle 10"/>
            <p:cNvSpPr/>
            <p:nvPr/>
          </p:nvSpPr>
          <p:spPr>
            <a:xfrm>
              <a:off x="1066800" y="2009775"/>
              <a:ext cx="76200" cy="76200"/>
            </a:xfrm>
            <a:prstGeom prst="ellipse">
              <a:avLst/>
            </a:prstGeom>
            <a:solidFill>
              <a:srgbClr val="4A5058"/>
            </a:solidFill>
            <a:ln>
              <a:noFill/>
            </a:ln>
          </p:spPr>
          <p:txBody>
            <a:bodyPr/>
            <a:lstStyle/>
            <a:p>
              <a:endParaRPr lang="en-US"/>
            </a:p>
          </p:txBody>
        </p:sp>
        <p:sp>
          <p:nvSpPr>
            <p:cNvPr id="10" name="Text 11"/>
            <p:cNvSpPr txBox="1"/>
            <p:nvPr/>
          </p:nvSpPr>
          <p:spPr>
            <a:xfrm>
              <a:off x="1333500" y="1968500"/>
              <a:ext cx="2554321"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9C9A94"/>
                  </a:solidFill>
                  <a:latin typeface="Consolas"/>
                  <a:ea typeface="Consolas"/>
                  <a:cs typeface="Consolas"/>
                </a:rPr>
                <a:t>quarterly-report · Writing Studio</a:t>
              </a:r>
              <a:endParaRPr lang="en-US" sz="1050" dirty="0"/>
            </a:p>
          </p:txBody>
        </p:sp>
        <p:sp>
          <p:nvSpPr>
            <p:cNvPr id="11" name="line 12"/>
            <p:cNvSpPr/>
            <p:nvPr/>
          </p:nvSpPr>
          <p:spPr>
            <a:xfrm>
              <a:off x="609600" y="2190750"/>
              <a:ext cx="6667500" cy="95"/>
            </a:xfrm>
            <a:custGeom>
              <a:avLst/>
              <a:gdLst/>
              <a:ahLst/>
              <a:cxnLst/>
              <a:rect l="0" t="0" r="r" b="b"/>
              <a:pathLst>
                <a:path w="6667500" h="95" fill="none">
                  <a:moveTo>
                    <a:pt x="0" y="0"/>
                  </a:moveTo>
                  <a:lnTo>
                    <a:pt x="6667500" y="0"/>
                  </a:lnTo>
                </a:path>
              </a:pathLst>
            </a:custGeom>
            <a:noFill/>
            <a:ln w="9525" cap="flat">
              <a:solidFill>
                <a:srgbClr val="2A2E35"/>
              </a:solidFill>
              <a:miter lim="800000"/>
            </a:ln>
          </p:spPr>
          <p:txBody>
            <a:bodyPr/>
            <a:lstStyle/>
            <a:p>
              <a:endParaRPr lang="en-US"/>
            </a:p>
          </p:txBody>
        </p:sp>
        <p:sp>
          <p:nvSpPr>
            <p:cNvPr id="12" name="rect 13"/>
            <p:cNvSpPr/>
            <p:nvPr/>
          </p:nvSpPr>
          <p:spPr>
            <a:xfrm>
              <a:off x="614363" y="2195513"/>
              <a:ext cx="1590675" cy="3781425"/>
            </a:xfrm>
            <a:prstGeom prst="rect">
              <a:avLst/>
            </a:prstGeom>
            <a:solidFill>
              <a:srgbClr val="0F1114"/>
            </a:solidFill>
            <a:ln>
              <a:noFill/>
            </a:ln>
          </p:spPr>
          <p:txBody>
            <a:bodyPr/>
            <a:lstStyle/>
            <a:p>
              <a:endParaRPr lang="en-US"/>
            </a:p>
          </p:txBody>
        </p:sp>
        <p:sp>
          <p:nvSpPr>
            <p:cNvPr id="13" name="line 14"/>
            <p:cNvSpPr/>
            <p:nvPr/>
          </p:nvSpPr>
          <p:spPr>
            <a:xfrm>
              <a:off x="2209800" y="2190750"/>
              <a:ext cx="95" cy="3790950"/>
            </a:xfrm>
            <a:custGeom>
              <a:avLst/>
              <a:gdLst/>
              <a:ahLst/>
              <a:cxnLst/>
              <a:rect l="0" t="0" r="r" b="b"/>
              <a:pathLst>
                <a:path w="95" h="3790950" fill="none">
                  <a:moveTo>
                    <a:pt x="0" y="0"/>
                  </a:moveTo>
                  <a:lnTo>
                    <a:pt x="0" y="3790950"/>
                  </a:lnTo>
                </a:path>
              </a:pathLst>
            </a:custGeom>
            <a:noFill/>
            <a:ln w="9525" cap="flat">
              <a:solidFill>
                <a:srgbClr val="2A2E35"/>
              </a:solidFill>
              <a:miter lim="800000"/>
            </a:ln>
          </p:spPr>
          <p:txBody>
            <a:bodyPr/>
            <a:lstStyle/>
            <a:p>
              <a:endParaRPr lang="en-US"/>
            </a:p>
          </p:txBody>
        </p:sp>
        <p:sp>
          <p:nvSpPr>
            <p:cNvPr id="14" name="Text 15"/>
            <p:cNvSpPr txBox="1"/>
            <p:nvPr/>
          </p:nvSpPr>
          <p:spPr>
            <a:xfrm>
              <a:off x="800100" y="2349500"/>
              <a:ext cx="710528" cy="192722"/>
            </a:xfrm>
            <a:prstGeom prst="rect">
              <a:avLst/>
            </a:prstGeom>
            <a:noFill/>
          </p:spPr>
          <p:txBody>
            <a:bodyPr wrap="none" lIns="0" tIns="0" rIns="0" bIns="0" rtlCol="0" anchor="t">
              <a:noAutofit/>
            </a:bodyPr>
            <a:lstStyle/>
            <a:p>
              <a:pPr algn="l">
                <a:spcBef>
                  <a:spcPts val="0"/>
                </a:spcBef>
                <a:spcAft>
                  <a:spcPts val="0"/>
                </a:spcAft>
              </a:pPr>
              <a:r>
                <a:rPr lang="en-US" sz="1050" b="0" spc="150" dirty="0">
                  <a:solidFill>
                    <a:srgbClr val="9C9A94"/>
                  </a:solidFill>
                  <a:latin typeface="Consolas"/>
                  <a:ea typeface="Consolas"/>
                  <a:cs typeface="Consolas"/>
                </a:rPr>
                <a:t>OUTLINE</a:t>
              </a:r>
              <a:endParaRPr lang="en-US" sz="1050" dirty="0"/>
            </a:p>
          </p:txBody>
        </p:sp>
        <p:sp>
          <p:nvSpPr>
            <p:cNvPr id="15" name="rect 16"/>
            <p:cNvSpPr/>
            <p:nvPr/>
          </p:nvSpPr>
          <p:spPr>
            <a:xfrm>
              <a:off x="685800" y="2819400"/>
              <a:ext cx="1447800" cy="304800"/>
            </a:xfrm>
            <a:prstGeom prst="roundRect">
              <a:avLst>
                <a:gd name="adj" fmla="val 6250"/>
              </a:avLst>
            </a:prstGeom>
            <a:solidFill>
              <a:srgbClr val="FF5B1F">
                <a:alpha val="14000"/>
              </a:srgbClr>
            </a:solidFill>
            <a:ln>
              <a:noFill/>
            </a:ln>
          </p:spPr>
          <p:txBody>
            <a:bodyPr/>
            <a:lstStyle/>
            <a:p>
              <a:endParaRPr lang="en-US"/>
            </a:p>
          </p:txBody>
        </p:sp>
        <p:sp>
          <p:nvSpPr>
            <p:cNvPr id="16" name="rect 17"/>
            <p:cNvSpPr/>
            <p:nvPr/>
          </p:nvSpPr>
          <p:spPr>
            <a:xfrm>
              <a:off x="685800" y="2838450"/>
              <a:ext cx="28575" cy="266700"/>
            </a:xfrm>
            <a:prstGeom prst="rect">
              <a:avLst/>
            </a:prstGeom>
            <a:solidFill>
              <a:srgbClr val="FF5B1F"/>
            </a:solidFill>
            <a:ln>
              <a:noFill/>
            </a:ln>
          </p:spPr>
          <p:txBody>
            <a:bodyPr/>
            <a:lstStyle/>
            <a:p>
              <a:endParaRPr lang="en-US"/>
            </a:p>
          </p:txBody>
        </p:sp>
        <p:sp>
          <p:nvSpPr>
            <p:cNvPr id="17" name="Text 18"/>
            <p:cNvSpPr txBox="1"/>
            <p:nvPr/>
          </p:nvSpPr>
          <p:spPr>
            <a:xfrm>
              <a:off x="876300" y="2571750"/>
              <a:ext cx="826324"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Segoe UI"/>
                  <a:ea typeface="Segoe UI"/>
                  <a:cs typeface="Segoe UI"/>
                </a:rPr>
                <a:t>1 Summary</a:t>
              </a:r>
              <a:endParaRPr lang="en-US" sz="1200" dirty="0"/>
            </a:p>
          </p:txBody>
        </p:sp>
        <p:sp>
          <p:nvSpPr>
            <p:cNvPr id="18" name="Text 19"/>
            <p:cNvSpPr txBox="1"/>
            <p:nvPr/>
          </p:nvSpPr>
          <p:spPr>
            <a:xfrm>
              <a:off x="876300" y="2876550"/>
              <a:ext cx="803261" cy="224790"/>
            </a:xfrm>
            <a:prstGeom prst="rect">
              <a:avLst/>
            </a:prstGeom>
            <a:noFill/>
          </p:spPr>
          <p:txBody>
            <a:bodyPr wrap="none" lIns="0" tIns="0" rIns="0" bIns="0" rtlCol="0" anchor="t">
              <a:noAutofit/>
            </a:bodyPr>
            <a:lstStyle/>
            <a:p>
              <a:pPr algn="l">
                <a:spcBef>
                  <a:spcPts val="0"/>
                </a:spcBef>
                <a:spcAft>
                  <a:spcPts val="0"/>
                </a:spcAft>
              </a:pPr>
              <a:r>
                <a:rPr lang="en-US" sz="1200" b="1" dirty="0">
                  <a:solidFill>
                    <a:srgbClr val="EDE9E2"/>
                  </a:solidFill>
                  <a:latin typeface="Segoe UI"/>
                  <a:ea typeface="Segoe UI"/>
                  <a:cs typeface="Segoe UI"/>
                </a:rPr>
                <a:t>2 Findings</a:t>
              </a:r>
              <a:endParaRPr lang="en-US" sz="1200" dirty="0"/>
            </a:p>
          </p:txBody>
        </p:sp>
        <p:sp>
          <p:nvSpPr>
            <p:cNvPr id="19" name="Text 20"/>
            <p:cNvSpPr txBox="1"/>
            <p:nvPr/>
          </p:nvSpPr>
          <p:spPr>
            <a:xfrm>
              <a:off x="876300" y="3181350"/>
              <a:ext cx="679823"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Segoe UI"/>
                  <a:ea typeface="Segoe UI"/>
                  <a:cs typeface="Segoe UI"/>
                </a:rPr>
                <a:t>3 Metrics</a:t>
              </a:r>
              <a:endParaRPr lang="en-US" sz="1200" dirty="0"/>
            </a:p>
          </p:txBody>
        </p:sp>
        <p:sp>
          <p:nvSpPr>
            <p:cNvPr id="20" name="Text 21"/>
            <p:cNvSpPr txBox="1"/>
            <p:nvPr/>
          </p:nvSpPr>
          <p:spPr>
            <a:xfrm>
              <a:off x="876300" y="3486150"/>
              <a:ext cx="513433"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Segoe UI"/>
                  <a:ea typeface="Segoe UI"/>
                  <a:cs typeface="Segoe UI"/>
                </a:rPr>
                <a:t>4 Risks</a:t>
              </a:r>
              <a:endParaRPr lang="en-US" sz="1200" dirty="0"/>
            </a:p>
          </p:txBody>
        </p:sp>
        <p:sp>
          <p:nvSpPr>
            <p:cNvPr id="21" name="Text 22"/>
            <p:cNvSpPr txBox="1"/>
            <p:nvPr/>
          </p:nvSpPr>
          <p:spPr>
            <a:xfrm>
              <a:off x="876300" y="3790950"/>
              <a:ext cx="902553"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9C9A94"/>
                  </a:solidFill>
                  <a:latin typeface="Segoe UI"/>
                  <a:ea typeface="Segoe UI"/>
                  <a:cs typeface="Segoe UI"/>
                </a:rPr>
                <a:t>5 Next steps</a:t>
              </a:r>
              <a:endParaRPr lang="en-US" sz="1200" dirty="0"/>
            </a:p>
          </p:txBody>
        </p:sp>
        <p:sp>
          <p:nvSpPr>
            <p:cNvPr id="22" name="Text 23"/>
            <p:cNvSpPr txBox="1"/>
            <p:nvPr/>
          </p:nvSpPr>
          <p:spPr>
            <a:xfrm>
              <a:off x="800100" y="5702300"/>
              <a:ext cx="800591"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9C9A94"/>
                  </a:solidFill>
                  <a:latin typeface="Consolas"/>
                  <a:ea typeface="Consolas"/>
                  <a:cs typeface="Consolas"/>
                </a:rPr>
                <a:t>5 sections</a:t>
              </a:r>
              <a:endParaRPr lang="en-US" sz="1050" dirty="0"/>
            </a:p>
          </p:txBody>
        </p:sp>
        <p:sp>
          <p:nvSpPr>
            <p:cNvPr id="23" name="rect 24"/>
            <p:cNvSpPr/>
            <p:nvPr/>
          </p:nvSpPr>
          <p:spPr>
            <a:xfrm>
              <a:off x="2400300" y="2362200"/>
              <a:ext cx="4686300" cy="3467100"/>
            </a:xfrm>
            <a:prstGeom prst="roundRect">
              <a:avLst>
                <a:gd name="adj" fmla="val 549"/>
              </a:avLst>
            </a:prstGeom>
            <a:solidFill>
              <a:srgbClr val="F2EEE7"/>
            </a:solidFill>
            <a:ln>
              <a:noFill/>
            </a:ln>
          </p:spPr>
          <p:txBody>
            <a:bodyPr/>
            <a:lstStyle/>
            <a:p>
              <a:endParaRPr lang="en-US"/>
            </a:p>
          </p:txBody>
        </p:sp>
        <p:sp>
          <p:nvSpPr>
            <p:cNvPr id="24" name="rect 25"/>
            <p:cNvSpPr/>
            <p:nvPr/>
          </p:nvSpPr>
          <p:spPr>
            <a:xfrm>
              <a:off x="2628900" y="2552700"/>
              <a:ext cx="266700" cy="38100"/>
            </a:xfrm>
            <a:prstGeom prst="roundRect">
              <a:avLst>
                <a:gd name="adj" fmla="val 50000"/>
              </a:avLst>
            </a:prstGeom>
            <a:solidFill>
              <a:srgbClr val="FF5B1F"/>
            </a:solidFill>
            <a:ln>
              <a:noFill/>
            </a:ln>
          </p:spPr>
          <p:txBody>
            <a:bodyPr/>
            <a:lstStyle/>
            <a:p>
              <a:endParaRPr lang="en-US"/>
            </a:p>
          </p:txBody>
        </p:sp>
        <p:sp>
          <p:nvSpPr>
            <p:cNvPr id="25" name="Text 26"/>
            <p:cNvSpPr txBox="1"/>
            <p:nvPr/>
          </p:nvSpPr>
          <p:spPr>
            <a:xfrm>
              <a:off x="2990850" y="2482850"/>
              <a:ext cx="1410584"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6B665E"/>
                  </a:solidFill>
                  <a:latin typeface="Consolas"/>
                  <a:ea typeface="Consolas"/>
                  <a:cs typeface="Consolas"/>
                </a:rPr>
                <a:t>FINDINGS · DRAFT 3</a:t>
              </a:r>
              <a:endParaRPr lang="en-US" sz="1050" dirty="0"/>
            </a:p>
          </p:txBody>
        </p:sp>
        <p:sp>
          <p:nvSpPr>
            <p:cNvPr id="26" name="Text 27"/>
            <p:cNvSpPr txBox="1"/>
            <p:nvPr/>
          </p:nvSpPr>
          <p:spPr>
            <a:xfrm>
              <a:off x="2628900" y="2755900"/>
              <a:ext cx="2162240" cy="314960"/>
            </a:xfrm>
            <a:prstGeom prst="rect">
              <a:avLst/>
            </a:prstGeom>
            <a:noFill/>
          </p:spPr>
          <p:txBody>
            <a:bodyPr wrap="none" lIns="0" tIns="0" rIns="0" bIns="0" rtlCol="0" anchor="t">
              <a:noAutofit/>
            </a:bodyPr>
            <a:lstStyle/>
            <a:p>
              <a:pPr algn="l">
                <a:spcBef>
                  <a:spcPts val="0"/>
                </a:spcBef>
                <a:spcAft>
                  <a:spcPts val="0"/>
                </a:spcAft>
              </a:pPr>
              <a:r>
                <a:rPr lang="en-US" sz="1800" b="1" dirty="0">
                  <a:solidFill>
                    <a:srgbClr val="14171B"/>
                  </a:solidFill>
                  <a:latin typeface="Bahnschrift"/>
                  <a:ea typeface="Bahnschrift"/>
                  <a:cs typeface="Bahnschrift"/>
                </a:rPr>
                <a:t>Findings at a glance</a:t>
              </a:r>
              <a:endParaRPr lang="en-US" sz="1800" dirty="0"/>
            </a:p>
          </p:txBody>
        </p:sp>
        <p:sp>
          <p:nvSpPr>
            <p:cNvPr id="27" name="rect 28"/>
            <p:cNvSpPr/>
            <p:nvPr/>
          </p:nvSpPr>
          <p:spPr>
            <a:xfrm>
              <a:off x="2628900" y="3143250"/>
              <a:ext cx="4000500" cy="57150"/>
            </a:xfrm>
            <a:prstGeom prst="roundRect">
              <a:avLst>
                <a:gd name="adj" fmla="val 50000"/>
              </a:avLst>
            </a:prstGeom>
            <a:solidFill>
              <a:srgbClr val="CBC9C3"/>
            </a:solidFill>
            <a:ln>
              <a:noFill/>
            </a:ln>
          </p:spPr>
          <p:txBody>
            <a:bodyPr/>
            <a:lstStyle/>
            <a:p>
              <a:endParaRPr lang="en-US"/>
            </a:p>
          </p:txBody>
        </p:sp>
        <p:sp>
          <p:nvSpPr>
            <p:cNvPr id="28" name="rect 29"/>
            <p:cNvSpPr/>
            <p:nvPr/>
          </p:nvSpPr>
          <p:spPr>
            <a:xfrm>
              <a:off x="2628900" y="3276600"/>
              <a:ext cx="4000500" cy="57150"/>
            </a:xfrm>
            <a:prstGeom prst="roundRect">
              <a:avLst>
                <a:gd name="adj" fmla="val 50000"/>
              </a:avLst>
            </a:prstGeom>
            <a:solidFill>
              <a:srgbClr val="CBC9C3"/>
            </a:solidFill>
            <a:ln>
              <a:noFill/>
            </a:ln>
          </p:spPr>
          <p:txBody>
            <a:bodyPr/>
            <a:lstStyle/>
            <a:p>
              <a:endParaRPr lang="en-US"/>
            </a:p>
          </p:txBody>
        </p:sp>
        <p:sp>
          <p:nvSpPr>
            <p:cNvPr id="29" name="rect 30"/>
            <p:cNvSpPr/>
            <p:nvPr/>
          </p:nvSpPr>
          <p:spPr>
            <a:xfrm>
              <a:off x="2628900" y="3409950"/>
              <a:ext cx="2762250" cy="57150"/>
            </a:xfrm>
            <a:prstGeom prst="roundRect">
              <a:avLst>
                <a:gd name="adj" fmla="val 50000"/>
              </a:avLst>
            </a:prstGeom>
            <a:solidFill>
              <a:srgbClr val="CBC9C3"/>
            </a:solidFill>
            <a:ln>
              <a:noFill/>
            </a:ln>
          </p:spPr>
          <p:txBody>
            <a:bodyPr/>
            <a:lstStyle/>
            <a:p>
              <a:endParaRPr lang="en-US"/>
            </a:p>
          </p:txBody>
        </p:sp>
        <p:sp>
          <p:nvSpPr>
            <p:cNvPr id="30" name="Text 31"/>
            <p:cNvSpPr txBox="1"/>
            <p:nvPr/>
          </p:nvSpPr>
          <p:spPr>
            <a:xfrm>
              <a:off x="2628900" y="3683000"/>
              <a:ext cx="1283615"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14171B"/>
                  </a:solidFill>
                  <a:latin typeface="Segoe UI"/>
                  <a:ea typeface="Segoe UI"/>
                  <a:cs typeface="Segoe UI"/>
                </a:rPr>
                <a:t>Adoption by quarter</a:t>
              </a:r>
              <a:endParaRPr lang="en-US" sz="1050" dirty="0"/>
            </a:p>
          </p:txBody>
        </p:sp>
        <p:sp>
          <p:nvSpPr>
            <p:cNvPr id="31" name="rect 32"/>
            <p:cNvSpPr/>
            <p:nvPr/>
          </p:nvSpPr>
          <p:spPr>
            <a:xfrm>
              <a:off x="2667000" y="5067300"/>
              <a:ext cx="381000" cy="342900"/>
            </a:xfrm>
            <a:prstGeom prst="rect">
              <a:avLst/>
            </a:prstGeom>
            <a:solidFill>
              <a:srgbClr val="4A5058"/>
            </a:solidFill>
            <a:ln>
              <a:noFill/>
            </a:ln>
          </p:spPr>
          <p:txBody>
            <a:bodyPr/>
            <a:lstStyle/>
            <a:p>
              <a:endParaRPr lang="en-US"/>
            </a:p>
          </p:txBody>
        </p:sp>
        <p:sp>
          <p:nvSpPr>
            <p:cNvPr id="32" name="rect 33"/>
            <p:cNvSpPr/>
            <p:nvPr/>
          </p:nvSpPr>
          <p:spPr>
            <a:xfrm>
              <a:off x="3200400" y="4838700"/>
              <a:ext cx="381000" cy="571500"/>
            </a:xfrm>
            <a:prstGeom prst="rect">
              <a:avLst/>
            </a:prstGeom>
            <a:solidFill>
              <a:srgbClr val="4A5058"/>
            </a:solidFill>
            <a:ln>
              <a:noFill/>
            </a:ln>
          </p:spPr>
          <p:txBody>
            <a:bodyPr/>
            <a:lstStyle/>
            <a:p>
              <a:endParaRPr lang="en-US"/>
            </a:p>
          </p:txBody>
        </p:sp>
        <p:sp>
          <p:nvSpPr>
            <p:cNvPr id="33" name="rect 34"/>
            <p:cNvSpPr/>
            <p:nvPr/>
          </p:nvSpPr>
          <p:spPr>
            <a:xfrm>
              <a:off x="3733800" y="4610100"/>
              <a:ext cx="381000" cy="800100"/>
            </a:xfrm>
            <a:prstGeom prst="rect">
              <a:avLst/>
            </a:prstGeom>
            <a:solidFill>
              <a:srgbClr val="4A5058"/>
            </a:solidFill>
            <a:ln>
              <a:noFill/>
            </a:ln>
          </p:spPr>
          <p:txBody>
            <a:bodyPr/>
            <a:lstStyle/>
            <a:p>
              <a:endParaRPr lang="en-US"/>
            </a:p>
          </p:txBody>
        </p:sp>
        <p:sp>
          <p:nvSpPr>
            <p:cNvPr id="34" name="rect 35"/>
            <p:cNvSpPr/>
            <p:nvPr/>
          </p:nvSpPr>
          <p:spPr>
            <a:xfrm>
              <a:off x="4267200" y="4267200"/>
              <a:ext cx="381000" cy="1143000"/>
            </a:xfrm>
            <a:prstGeom prst="rect">
              <a:avLst/>
            </a:prstGeom>
            <a:solidFill>
              <a:srgbClr val="FF5B1F"/>
            </a:solidFill>
            <a:ln>
              <a:noFill/>
            </a:ln>
          </p:spPr>
          <p:txBody>
            <a:bodyPr/>
            <a:lstStyle/>
            <a:p>
              <a:endParaRPr lang="en-US"/>
            </a:p>
          </p:txBody>
        </p:sp>
        <p:sp>
          <p:nvSpPr>
            <p:cNvPr id="35" name="line 36"/>
            <p:cNvSpPr/>
            <p:nvPr/>
          </p:nvSpPr>
          <p:spPr>
            <a:xfrm>
              <a:off x="2628900" y="5410200"/>
              <a:ext cx="2133600" cy="95"/>
            </a:xfrm>
            <a:custGeom>
              <a:avLst/>
              <a:gdLst/>
              <a:ahLst/>
              <a:cxnLst/>
              <a:rect l="0" t="0" r="r" b="b"/>
              <a:pathLst>
                <a:path w="2133600" h="95" fill="none">
                  <a:moveTo>
                    <a:pt x="0" y="0"/>
                  </a:moveTo>
                  <a:lnTo>
                    <a:pt x="2133600" y="0"/>
                  </a:lnTo>
                </a:path>
              </a:pathLst>
            </a:custGeom>
            <a:noFill/>
            <a:ln w="9525" cap="flat">
              <a:solidFill>
                <a:srgbClr val="14171B">
                  <a:alpha val="35000"/>
                </a:srgbClr>
              </a:solidFill>
              <a:miter lim="800000"/>
            </a:ln>
          </p:spPr>
          <p:txBody>
            <a:bodyPr/>
            <a:lstStyle/>
            <a:p>
              <a:endParaRPr lang="en-US"/>
            </a:p>
          </p:txBody>
        </p:sp>
        <p:sp>
          <p:nvSpPr>
            <p:cNvPr id="36" name="Text 37"/>
            <p:cNvSpPr txBox="1"/>
            <p:nvPr/>
          </p:nvSpPr>
          <p:spPr>
            <a:xfrm>
              <a:off x="2762201" y="5473700"/>
              <a:ext cx="190598" cy="192722"/>
            </a:xfrm>
            <a:prstGeom prst="rect">
              <a:avLst/>
            </a:prstGeom>
            <a:noFill/>
          </p:spPr>
          <p:txBody>
            <a:bodyPr wrap="none" lIns="0" tIns="0" rIns="0" bIns="0" rtlCol="0" anchor="t">
              <a:noAutofit/>
            </a:bodyPr>
            <a:lstStyle/>
            <a:p>
              <a:pPr algn="ctr">
                <a:spcBef>
                  <a:spcPts val="0"/>
                </a:spcBef>
                <a:spcAft>
                  <a:spcPts val="0"/>
                </a:spcAft>
              </a:pPr>
              <a:r>
                <a:rPr lang="en-US" sz="1050" b="0" dirty="0">
                  <a:solidFill>
                    <a:srgbClr val="6B665E"/>
                  </a:solidFill>
                  <a:latin typeface="Consolas"/>
                  <a:ea typeface="Consolas"/>
                  <a:cs typeface="Consolas"/>
                </a:rPr>
                <a:t>Q1</a:t>
              </a:r>
              <a:endParaRPr lang="en-US" sz="1050" dirty="0"/>
            </a:p>
          </p:txBody>
        </p:sp>
        <p:sp>
          <p:nvSpPr>
            <p:cNvPr id="37" name="Text 38"/>
            <p:cNvSpPr txBox="1"/>
            <p:nvPr/>
          </p:nvSpPr>
          <p:spPr>
            <a:xfrm>
              <a:off x="3295601" y="5473700"/>
              <a:ext cx="190598" cy="192722"/>
            </a:xfrm>
            <a:prstGeom prst="rect">
              <a:avLst/>
            </a:prstGeom>
            <a:noFill/>
          </p:spPr>
          <p:txBody>
            <a:bodyPr wrap="none" lIns="0" tIns="0" rIns="0" bIns="0" rtlCol="0" anchor="t">
              <a:noAutofit/>
            </a:bodyPr>
            <a:lstStyle/>
            <a:p>
              <a:pPr algn="ctr">
                <a:spcBef>
                  <a:spcPts val="0"/>
                </a:spcBef>
                <a:spcAft>
                  <a:spcPts val="0"/>
                </a:spcAft>
              </a:pPr>
              <a:r>
                <a:rPr lang="en-US" sz="1050" b="0" dirty="0">
                  <a:solidFill>
                    <a:srgbClr val="6B665E"/>
                  </a:solidFill>
                  <a:latin typeface="Consolas"/>
                  <a:ea typeface="Consolas"/>
                  <a:cs typeface="Consolas"/>
                </a:rPr>
                <a:t>Q2</a:t>
              </a:r>
              <a:endParaRPr lang="en-US" sz="1050" dirty="0"/>
            </a:p>
          </p:txBody>
        </p:sp>
        <p:sp>
          <p:nvSpPr>
            <p:cNvPr id="38" name="Text 39"/>
            <p:cNvSpPr txBox="1"/>
            <p:nvPr/>
          </p:nvSpPr>
          <p:spPr>
            <a:xfrm>
              <a:off x="3829001" y="5473700"/>
              <a:ext cx="190598" cy="192722"/>
            </a:xfrm>
            <a:prstGeom prst="rect">
              <a:avLst/>
            </a:prstGeom>
            <a:noFill/>
          </p:spPr>
          <p:txBody>
            <a:bodyPr wrap="none" lIns="0" tIns="0" rIns="0" bIns="0" rtlCol="0" anchor="t">
              <a:noAutofit/>
            </a:bodyPr>
            <a:lstStyle/>
            <a:p>
              <a:pPr algn="ctr">
                <a:spcBef>
                  <a:spcPts val="0"/>
                </a:spcBef>
                <a:spcAft>
                  <a:spcPts val="0"/>
                </a:spcAft>
              </a:pPr>
              <a:r>
                <a:rPr lang="en-US" sz="1050" b="0" dirty="0">
                  <a:solidFill>
                    <a:srgbClr val="6B665E"/>
                  </a:solidFill>
                  <a:latin typeface="Consolas"/>
                  <a:ea typeface="Consolas"/>
                  <a:cs typeface="Consolas"/>
                </a:rPr>
                <a:t>Q3</a:t>
              </a:r>
              <a:endParaRPr lang="en-US" sz="1050" dirty="0"/>
            </a:p>
          </p:txBody>
        </p:sp>
        <p:sp>
          <p:nvSpPr>
            <p:cNvPr id="39" name="Text 40"/>
            <p:cNvSpPr txBox="1"/>
            <p:nvPr/>
          </p:nvSpPr>
          <p:spPr>
            <a:xfrm>
              <a:off x="4362401" y="5473700"/>
              <a:ext cx="190598" cy="192722"/>
            </a:xfrm>
            <a:prstGeom prst="rect">
              <a:avLst/>
            </a:prstGeom>
            <a:noFill/>
          </p:spPr>
          <p:txBody>
            <a:bodyPr wrap="none" lIns="0" tIns="0" rIns="0" bIns="0" rtlCol="0" anchor="t">
              <a:noAutofit/>
            </a:bodyPr>
            <a:lstStyle/>
            <a:p>
              <a:pPr algn="ctr">
                <a:spcBef>
                  <a:spcPts val="0"/>
                </a:spcBef>
                <a:spcAft>
                  <a:spcPts val="0"/>
                </a:spcAft>
              </a:pPr>
              <a:r>
                <a:rPr lang="en-US" sz="1050" b="0" dirty="0">
                  <a:solidFill>
                    <a:srgbClr val="6B665E"/>
                  </a:solidFill>
                  <a:latin typeface="Consolas"/>
                  <a:ea typeface="Consolas"/>
                  <a:cs typeface="Consolas"/>
                </a:rPr>
                <a:t>Q4</a:t>
              </a:r>
              <a:endParaRPr lang="en-US" sz="1050" dirty="0"/>
            </a:p>
          </p:txBody>
        </p:sp>
        <p:sp>
          <p:nvSpPr>
            <p:cNvPr id="40" name="Text 41"/>
            <p:cNvSpPr txBox="1"/>
            <p:nvPr/>
          </p:nvSpPr>
          <p:spPr>
            <a:xfrm>
              <a:off x="5410200" y="3683000"/>
              <a:ext cx="1082361"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14171B"/>
                  </a:solidFill>
                  <a:latin typeface="Segoe UI"/>
                  <a:ea typeface="Segoe UI"/>
                  <a:cs typeface="Segoe UI"/>
                </a:rPr>
                <a:t>Share by channel</a:t>
              </a:r>
              <a:endParaRPr lang="en-US" sz="1050" dirty="0"/>
            </a:p>
          </p:txBody>
        </p:sp>
        <p:sp>
          <p:nvSpPr>
            <p:cNvPr id="41" name="circle 42"/>
            <p:cNvSpPr/>
            <p:nvPr/>
          </p:nvSpPr>
          <p:spPr>
            <a:xfrm>
              <a:off x="5219700" y="4248150"/>
              <a:ext cx="990600" cy="990600"/>
            </a:xfrm>
            <a:prstGeom prst="ellipse">
              <a:avLst/>
            </a:prstGeom>
            <a:solidFill>
              <a:srgbClr val="F6B69A"/>
            </a:solidFill>
            <a:ln>
              <a:noFill/>
            </a:ln>
          </p:spPr>
          <p:txBody>
            <a:bodyPr/>
            <a:lstStyle/>
            <a:p>
              <a:endParaRPr lang="en-US"/>
            </a:p>
          </p:txBody>
        </p:sp>
        <p:sp>
          <p:nvSpPr>
            <p:cNvPr id="42" name="path 43"/>
            <p:cNvSpPr/>
            <p:nvPr/>
          </p:nvSpPr>
          <p:spPr>
            <a:xfrm>
              <a:off x="5547360" y="4457700"/>
              <a:ext cx="477582" cy="589765"/>
            </a:xfrm>
            <a:custGeom>
              <a:avLst/>
              <a:gdLst/>
              <a:ahLst/>
              <a:cxnLst/>
              <a:rect l="0" t="0" r="r" b="b"/>
              <a:pathLst>
                <a:path w="477582" h="589765" fill="none">
                  <a:moveTo>
                    <a:pt x="167640" y="0"/>
                  </a:moveTo>
                  <a:cubicBezTo>
                    <a:pt x="291367" y="29"/>
                    <a:pt x="401020" y="79683"/>
                    <a:pt x="439301" y="197340"/>
                  </a:cubicBezTo>
                  <a:cubicBezTo>
                    <a:pt x="477582" y="314996"/>
                    <a:pt x="435794" y="443923"/>
                    <a:pt x="335772" y="516752"/>
                  </a:cubicBezTo>
                  <a:cubicBezTo>
                    <a:pt x="235750" y="589581"/>
                    <a:pt x="100219" y="589765"/>
                    <a:pt x="0" y="517207"/>
                  </a:cubicBezTo>
                </a:path>
              </a:pathLst>
            </a:custGeom>
            <a:noFill/>
            <a:ln w="114300" cap="flat">
              <a:solidFill>
                <a:srgbClr val="FF5B1F"/>
              </a:solidFill>
              <a:miter lim="800000"/>
            </a:ln>
          </p:spPr>
          <p:txBody>
            <a:bodyPr/>
            <a:lstStyle/>
            <a:p>
              <a:endParaRPr lang="en-US"/>
            </a:p>
          </p:txBody>
        </p:sp>
        <p:sp>
          <p:nvSpPr>
            <p:cNvPr id="43" name="path 44"/>
            <p:cNvSpPr/>
            <p:nvPr/>
          </p:nvSpPr>
          <p:spPr>
            <a:xfrm>
              <a:off x="5420811" y="4575810"/>
              <a:ext cx="126549" cy="399097"/>
            </a:xfrm>
            <a:custGeom>
              <a:avLst/>
              <a:gdLst/>
              <a:ahLst/>
              <a:cxnLst/>
              <a:rect l="0" t="0" r="r" b="b"/>
              <a:pathLst>
                <a:path w="126549" h="399097" fill="none">
                  <a:moveTo>
                    <a:pt x="126549" y="399097"/>
                  </a:moveTo>
                  <a:cubicBezTo>
                    <a:pt x="65154" y="354643"/>
                    <a:pt x="23937" y="287617"/>
                    <a:pt x="11969" y="212768"/>
                  </a:cubicBezTo>
                  <a:cubicBezTo>
                    <a:pt x="0" y="137920"/>
                    <a:pt x="18261" y="61383"/>
                    <a:pt x="62732" y="0"/>
                  </a:cubicBezTo>
                </a:path>
              </a:pathLst>
            </a:custGeom>
            <a:noFill/>
            <a:ln w="114300" cap="flat">
              <a:solidFill>
                <a:srgbClr val="3D8BFF"/>
              </a:solidFill>
              <a:miter lim="800000"/>
            </a:ln>
          </p:spPr>
          <p:txBody>
            <a:bodyPr/>
            <a:lstStyle/>
            <a:p>
              <a:endParaRPr lang="en-US"/>
            </a:p>
          </p:txBody>
        </p:sp>
        <p:sp>
          <p:nvSpPr>
            <p:cNvPr id="44" name="path 45"/>
            <p:cNvSpPr/>
            <p:nvPr/>
          </p:nvSpPr>
          <p:spPr>
            <a:xfrm>
              <a:off x="5483543" y="4457684"/>
              <a:ext cx="231457" cy="118126"/>
            </a:xfrm>
            <a:custGeom>
              <a:avLst/>
              <a:gdLst/>
              <a:ahLst/>
              <a:cxnLst/>
              <a:rect l="0" t="0" r="r" b="b"/>
              <a:pathLst>
                <a:path w="231457" h="118126" fill="none">
                  <a:moveTo>
                    <a:pt x="0" y="118126"/>
                  </a:moveTo>
                  <a:cubicBezTo>
                    <a:pt x="53754" y="43924"/>
                    <a:pt x="139831" y="0"/>
                    <a:pt x="231457" y="16"/>
                  </a:cubicBezTo>
                </a:path>
              </a:pathLst>
            </a:custGeom>
            <a:noFill/>
            <a:ln w="114300" cap="flat">
              <a:solidFill>
                <a:srgbClr val="A28BFF"/>
              </a:solidFill>
              <a:miter lim="800000"/>
            </a:ln>
          </p:spPr>
          <p:txBody>
            <a:bodyPr/>
            <a:lstStyle/>
            <a:p>
              <a:endParaRPr lang="en-US"/>
            </a:p>
          </p:txBody>
        </p:sp>
        <p:sp>
          <p:nvSpPr>
            <p:cNvPr id="45" name="rect 46"/>
            <p:cNvSpPr/>
            <p:nvPr/>
          </p:nvSpPr>
          <p:spPr>
            <a:xfrm>
              <a:off x="6248400" y="4629150"/>
              <a:ext cx="76200" cy="76200"/>
            </a:xfrm>
            <a:prstGeom prst="rect">
              <a:avLst/>
            </a:prstGeom>
            <a:solidFill>
              <a:srgbClr val="FF5B1F"/>
            </a:solidFill>
            <a:ln>
              <a:noFill/>
            </a:ln>
          </p:spPr>
          <p:txBody>
            <a:bodyPr/>
            <a:lstStyle/>
            <a:p>
              <a:endParaRPr lang="en-US"/>
            </a:p>
          </p:txBody>
        </p:sp>
        <p:sp>
          <p:nvSpPr>
            <p:cNvPr id="46" name="Text 47"/>
            <p:cNvSpPr txBox="1"/>
            <p:nvPr/>
          </p:nvSpPr>
          <p:spPr>
            <a:xfrm>
              <a:off x="6400800" y="4578350"/>
              <a:ext cx="571844"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14171B"/>
                  </a:solidFill>
                  <a:latin typeface="Consolas"/>
                  <a:ea typeface="Consolas"/>
                  <a:cs typeface="Consolas"/>
                </a:rPr>
                <a:t>Web 60%</a:t>
              </a:r>
              <a:endParaRPr lang="en-US" sz="1050" dirty="0"/>
            </a:p>
          </p:txBody>
        </p:sp>
        <p:sp>
          <p:nvSpPr>
            <p:cNvPr id="47" name="rect 48"/>
            <p:cNvSpPr/>
            <p:nvPr/>
          </p:nvSpPr>
          <p:spPr>
            <a:xfrm>
              <a:off x="6248400" y="4819650"/>
              <a:ext cx="76200" cy="76200"/>
            </a:xfrm>
            <a:prstGeom prst="rect">
              <a:avLst/>
            </a:prstGeom>
            <a:solidFill>
              <a:srgbClr val="3D8BFF"/>
            </a:solidFill>
            <a:ln>
              <a:noFill/>
            </a:ln>
          </p:spPr>
          <p:txBody>
            <a:bodyPr/>
            <a:lstStyle/>
            <a:p>
              <a:endParaRPr lang="en-US"/>
            </a:p>
          </p:txBody>
        </p:sp>
        <p:sp>
          <p:nvSpPr>
            <p:cNvPr id="48" name="Text 49"/>
            <p:cNvSpPr txBox="1"/>
            <p:nvPr/>
          </p:nvSpPr>
          <p:spPr>
            <a:xfrm>
              <a:off x="6400800" y="4768850"/>
              <a:ext cx="648093"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14171B"/>
                  </a:solidFill>
                  <a:latin typeface="Consolas"/>
                  <a:ea typeface="Consolas"/>
                  <a:cs typeface="Consolas"/>
                </a:rPr>
                <a:t>Docs 25%</a:t>
              </a:r>
              <a:endParaRPr lang="en-US" sz="1050" dirty="0"/>
            </a:p>
          </p:txBody>
        </p:sp>
        <p:sp>
          <p:nvSpPr>
            <p:cNvPr id="49" name="rect 50"/>
            <p:cNvSpPr/>
            <p:nvPr/>
          </p:nvSpPr>
          <p:spPr>
            <a:xfrm>
              <a:off x="6248400" y="5010150"/>
              <a:ext cx="76200" cy="76200"/>
            </a:xfrm>
            <a:prstGeom prst="rect">
              <a:avLst/>
            </a:prstGeom>
            <a:solidFill>
              <a:srgbClr val="A28BFF"/>
            </a:solidFill>
            <a:ln>
              <a:noFill/>
            </a:ln>
          </p:spPr>
          <p:txBody>
            <a:bodyPr/>
            <a:lstStyle/>
            <a:p>
              <a:endParaRPr lang="en-US"/>
            </a:p>
          </p:txBody>
        </p:sp>
        <p:sp>
          <p:nvSpPr>
            <p:cNvPr id="50" name="Text 51"/>
            <p:cNvSpPr txBox="1"/>
            <p:nvPr/>
          </p:nvSpPr>
          <p:spPr>
            <a:xfrm>
              <a:off x="6400800" y="4959350"/>
              <a:ext cx="571844" cy="192722"/>
            </a:xfrm>
            <a:prstGeom prst="rect">
              <a:avLst/>
            </a:prstGeom>
            <a:noFill/>
          </p:spPr>
          <p:txBody>
            <a:bodyPr wrap="none" lIns="0" tIns="0" rIns="0" bIns="0" rtlCol="0" anchor="t">
              <a:noAutofit/>
            </a:bodyPr>
            <a:lstStyle/>
            <a:p>
              <a:pPr algn="l">
                <a:spcBef>
                  <a:spcPts val="0"/>
                </a:spcBef>
                <a:spcAft>
                  <a:spcPts val="0"/>
                </a:spcAft>
              </a:pPr>
              <a:r>
                <a:rPr lang="en-US" sz="1050" b="0" dirty="0">
                  <a:solidFill>
                    <a:srgbClr val="14171B"/>
                  </a:solidFill>
                  <a:latin typeface="Consolas"/>
                  <a:ea typeface="Consolas"/>
                  <a:cs typeface="Consolas"/>
                </a:rPr>
                <a:t>API 15%</a:t>
              </a:r>
              <a:endParaRPr lang="en-US" sz="1050" dirty="0"/>
            </a:p>
          </p:txBody>
        </p:sp>
        <p:sp>
          <p:nvSpPr>
            <p:cNvPr id="51" name="path 52"/>
            <p:cNvSpPr/>
            <p:nvPr/>
          </p:nvSpPr>
          <p:spPr>
            <a:xfrm>
              <a:off x="495300" y="1790700"/>
              <a:ext cx="342900" cy="342900"/>
            </a:xfrm>
            <a:custGeom>
              <a:avLst/>
              <a:gdLst/>
              <a:ahLst/>
              <a:cxnLst/>
              <a:rect l="0" t="0" r="r" b="b"/>
              <a:pathLst>
                <a:path w="342900" h="342900" fill="none">
                  <a:moveTo>
                    <a:pt x="0" y="342900"/>
                  </a:moveTo>
                  <a:lnTo>
                    <a:pt x="0" y="0"/>
                  </a:lnTo>
                  <a:lnTo>
                    <a:pt x="342900" y="0"/>
                  </a:lnTo>
                </a:path>
              </a:pathLst>
            </a:custGeom>
            <a:noFill/>
            <a:ln w="19050" cap="flat">
              <a:solidFill>
                <a:srgbClr val="FF5B1F"/>
              </a:solidFill>
              <a:miter lim="800000"/>
            </a:ln>
          </p:spPr>
          <p:txBody>
            <a:bodyPr/>
            <a:lstStyle/>
            <a:p>
              <a:endParaRPr lang="en-US"/>
            </a:p>
          </p:txBody>
        </p:sp>
        <p:sp>
          <p:nvSpPr>
            <p:cNvPr id="52" name="path 53"/>
            <p:cNvSpPr/>
            <p:nvPr/>
          </p:nvSpPr>
          <p:spPr>
            <a:xfrm>
              <a:off x="7048500" y="1790700"/>
              <a:ext cx="342900" cy="342900"/>
            </a:xfrm>
            <a:custGeom>
              <a:avLst/>
              <a:gdLst/>
              <a:ahLst/>
              <a:cxnLst/>
              <a:rect l="0" t="0" r="r" b="b"/>
              <a:pathLst>
                <a:path w="342900" h="342900" fill="none">
                  <a:moveTo>
                    <a:pt x="0" y="0"/>
                  </a:moveTo>
                  <a:lnTo>
                    <a:pt x="342900" y="0"/>
                  </a:lnTo>
                  <a:lnTo>
                    <a:pt x="342900" y="342900"/>
                  </a:lnTo>
                </a:path>
              </a:pathLst>
            </a:custGeom>
            <a:noFill/>
            <a:ln w="19050" cap="flat">
              <a:solidFill>
                <a:srgbClr val="FF5B1F"/>
              </a:solidFill>
              <a:miter lim="800000"/>
            </a:ln>
          </p:spPr>
          <p:txBody>
            <a:bodyPr/>
            <a:lstStyle/>
            <a:p>
              <a:endParaRPr lang="en-US"/>
            </a:p>
          </p:txBody>
        </p:sp>
        <p:sp>
          <p:nvSpPr>
            <p:cNvPr id="53" name="path 54"/>
            <p:cNvSpPr/>
            <p:nvPr/>
          </p:nvSpPr>
          <p:spPr>
            <a:xfrm>
              <a:off x="495300" y="5753100"/>
              <a:ext cx="342900" cy="342900"/>
            </a:xfrm>
            <a:custGeom>
              <a:avLst/>
              <a:gdLst/>
              <a:ahLst/>
              <a:cxnLst/>
              <a:rect l="0" t="0" r="r" b="b"/>
              <a:pathLst>
                <a:path w="342900" h="342900" fill="none">
                  <a:moveTo>
                    <a:pt x="0" y="0"/>
                  </a:moveTo>
                  <a:lnTo>
                    <a:pt x="0" y="342900"/>
                  </a:lnTo>
                  <a:lnTo>
                    <a:pt x="342900" y="342900"/>
                  </a:lnTo>
                </a:path>
              </a:pathLst>
            </a:custGeom>
            <a:noFill/>
            <a:ln w="19050" cap="flat">
              <a:solidFill>
                <a:srgbClr val="FF5B1F"/>
              </a:solidFill>
              <a:miter lim="800000"/>
            </a:ln>
          </p:spPr>
          <p:txBody>
            <a:bodyPr/>
            <a:lstStyle/>
            <a:p>
              <a:endParaRPr lang="en-US"/>
            </a:p>
          </p:txBody>
        </p:sp>
        <p:sp>
          <p:nvSpPr>
            <p:cNvPr id="54" name="path 55"/>
            <p:cNvSpPr/>
            <p:nvPr/>
          </p:nvSpPr>
          <p:spPr>
            <a:xfrm>
              <a:off x="7048500" y="5753100"/>
              <a:ext cx="342900" cy="342900"/>
            </a:xfrm>
            <a:custGeom>
              <a:avLst/>
              <a:gdLst/>
              <a:ahLst/>
              <a:cxnLst/>
              <a:rect l="0" t="0" r="r" b="b"/>
              <a:pathLst>
                <a:path w="342900" h="342900" fill="none">
                  <a:moveTo>
                    <a:pt x="342900" y="0"/>
                  </a:moveTo>
                  <a:lnTo>
                    <a:pt x="342900" y="342900"/>
                  </a:lnTo>
                  <a:lnTo>
                    <a:pt x="0" y="342900"/>
                  </a:lnTo>
                </a:path>
              </a:pathLst>
            </a:custGeom>
            <a:noFill/>
            <a:ln w="19050" cap="flat">
              <a:solidFill>
                <a:srgbClr val="FF5B1F"/>
              </a:solidFill>
              <a:miter lim="800000"/>
            </a:ln>
          </p:spPr>
          <p:txBody>
            <a:bodyPr/>
            <a:lstStyle/>
            <a:p>
              <a:endParaRPr lang="en-US"/>
            </a:p>
          </p:txBody>
        </p:sp>
      </p:grpSp>
      <p:grpSp>
        <p:nvGrpSpPr>
          <p:cNvPr id="64" name="callout-badges"/>
          <p:cNvGrpSpPr/>
          <p:nvPr/>
        </p:nvGrpSpPr>
        <p:grpSpPr>
          <a:xfrm>
            <a:off x="1952625" y="2867025"/>
            <a:ext cx="5048250" cy="1723073"/>
            <a:chOff x="1952625" y="2867025"/>
            <a:chExt cx="5048250" cy="1723073"/>
          </a:xfrm>
        </p:grpSpPr>
        <p:sp>
          <p:nvSpPr>
            <p:cNvPr id="56" name="circle 57"/>
            <p:cNvSpPr/>
            <p:nvPr/>
          </p:nvSpPr>
          <p:spPr>
            <a:xfrm>
              <a:off x="1952625" y="2867025"/>
              <a:ext cx="209550" cy="209550"/>
            </a:xfrm>
            <a:prstGeom prst="ellipse">
              <a:avLst/>
            </a:prstGeom>
            <a:solidFill>
              <a:srgbClr val="3D8BFF"/>
            </a:solidFill>
            <a:ln>
              <a:noFill/>
            </a:ln>
          </p:spPr>
          <p:txBody>
            <a:bodyPr/>
            <a:lstStyle/>
            <a:p>
              <a:endParaRPr lang="en-US"/>
            </a:p>
          </p:txBody>
        </p:sp>
        <p:sp>
          <p:nvSpPr>
            <p:cNvPr id="57" name="Text 58"/>
            <p:cNvSpPr txBox="1"/>
            <p:nvPr/>
          </p:nvSpPr>
          <p:spPr>
            <a:xfrm>
              <a:off x="1998465" y="2892425"/>
              <a:ext cx="117870" cy="192722"/>
            </a:xfrm>
            <a:prstGeom prst="rect">
              <a:avLst/>
            </a:prstGeom>
            <a:noFill/>
          </p:spPr>
          <p:txBody>
            <a:bodyPr wrap="none" lIns="0" tIns="0" rIns="0" bIns="0" rtlCol="0" anchor="t">
              <a:noAutofit/>
            </a:bodyPr>
            <a:lstStyle/>
            <a:p>
              <a:pPr algn="ctr">
                <a:spcBef>
                  <a:spcPts val="0"/>
                </a:spcBef>
                <a:spcAft>
                  <a:spcPts val="0"/>
                </a:spcAft>
              </a:pPr>
              <a:r>
                <a:rPr lang="en-US" sz="1050" b="1" dirty="0">
                  <a:solidFill>
                    <a:srgbClr val="0A0B0D"/>
                  </a:solidFill>
                  <a:latin typeface="Segoe UI"/>
                  <a:ea typeface="Segoe UI"/>
                  <a:cs typeface="Segoe UI"/>
                </a:rPr>
                <a:t>1</a:t>
              </a:r>
              <a:endParaRPr lang="en-US" sz="1050" dirty="0"/>
            </a:p>
          </p:txBody>
        </p:sp>
        <p:sp>
          <p:nvSpPr>
            <p:cNvPr id="58" name="circle 59"/>
            <p:cNvSpPr/>
            <p:nvPr/>
          </p:nvSpPr>
          <p:spPr>
            <a:xfrm>
              <a:off x="6791325" y="3105150"/>
              <a:ext cx="209550" cy="209550"/>
            </a:xfrm>
            <a:prstGeom prst="ellipse">
              <a:avLst/>
            </a:prstGeom>
            <a:solidFill>
              <a:srgbClr val="3D8BFF"/>
            </a:solidFill>
            <a:ln>
              <a:noFill/>
            </a:ln>
          </p:spPr>
          <p:txBody>
            <a:bodyPr/>
            <a:lstStyle/>
            <a:p>
              <a:endParaRPr lang="en-US"/>
            </a:p>
          </p:txBody>
        </p:sp>
        <p:sp>
          <p:nvSpPr>
            <p:cNvPr id="59" name="Text 60"/>
            <p:cNvSpPr txBox="1"/>
            <p:nvPr/>
          </p:nvSpPr>
          <p:spPr>
            <a:xfrm>
              <a:off x="6837165" y="3130550"/>
              <a:ext cx="117870" cy="192722"/>
            </a:xfrm>
            <a:prstGeom prst="rect">
              <a:avLst/>
            </a:prstGeom>
            <a:noFill/>
          </p:spPr>
          <p:txBody>
            <a:bodyPr wrap="none" lIns="0" tIns="0" rIns="0" bIns="0" rtlCol="0" anchor="t">
              <a:noAutofit/>
            </a:bodyPr>
            <a:lstStyle/>
            <a:p>
              <a:pPr algn="ctr">
                <a:spcBef>
                  <a:spcPts val="0"/>
                </a:spcBef>
                <a:spcAft>
                  <a:spcPts val="0"/>
                </a:spcAft>
              </a:pPr>
              <a:r>
                <a:rPr lang="en-US" sz="1050" b="1" dirty="0">
                  <a:solidFill>
                    <a:srgbClr val="0A0B0D"/>
                  </a:solidFill>
                  <a:latin typeface="Segoe UI"/>
                  <a:ea typeface="Segoe UI"/>
                  <a:cs typeface="Segoe UI"/>
                </a:rPr>
                <a:t>2</a:t>
              </a:r>
              <a:endParaRPr lang="en-US" sz="1050" dirty="0"/>
            </a:p>
          </p:txBody>
        </p:sp>
        <p:sp>
          <p:nvSpPr>
            <p:cNvPr id="60" name="circle 61"/>
            <p:cNvSpPr/>
            <p:nvPr/>
          </p:nvSpPr>
          <p:spPr>
            <a:xfrm>
              <a:off x="4352925" y="4010025"/>
              <a:ext cx="209550" cy="209550"/>
            </a:xfrm>
            <a:prstGeom prst="ellipse">
              <a:avLst/>
            </a:prstGeom>
            <a:solidFill>
              <a:srgbClr val="3D8BFF"/>
            </a:solidFill>
            <a:ln>
              <a:noFill/>
            </a:ln>
          </p:spPr>
          <p:txBody>
            <a:bodyPr/>
            <a:lstStyle/>
            <a:p>
              <a:endParaRPr lang="en-US"/>
            </a:p>
          </p:txBody>
        </p:sp>
        <p:sp>
          <p:nvSpPr>
            <p:cNvPr id="61" name="Text 62"/>
            <p:cNvSpPr txBox="1"/>
            <p:nvPr/>
          </p:nvSpPr>
          <p:spPr>
            <a:xfrm>
              <a:off x="4398765" y="4035425"/>
              <a:ext cx="117870" cy="192722"/>
            </a:xfrm>
            <a:prstGeom prst="rect">
              <a:avLst/>
            </a:prstGeom>
            <a:noFill/>
          </p:spPr>
          <p:txBody>
            <a:bodyPr wrap="none" lIns="0" tIns="0" rIns="0" bIns="0" rtlCol="0" anchor="t">
              <a:noAutofit/>
            </a:bodyPr>
            <a:lstStyle/>
            <a:p>
              <a:pPr algn="ctr">
                <a:spcBef>
                  <a:spcPts val="0"/>
                </a:spcBef>
                <a:spcAft>
                  <a:spcPts val="0"/>
                </a:spcAft>
              </a:pPr>
              <a:r>
                <a:rPr lang="en-US" sz="1050" b="1" dirty="0">
                  <a:solidFill>
                    <a:srgbClr val="0A0B0D"/>
                  </a:solidFill>
                  <a:latin typeface="Segoe UI"/>
                  <a:ea typeface="Segoe UI"/>
                  <a:cs typeface="Segoe UI"/>
                </a:rPr>
                <a:t>3</a:t>
              </a:r>
              <a:endParaRPr lang="en-US" sz="1050" dirty="0"/>
            </a:p>
          </p:txBody>
        </p:sp>
        <p:sp>
          <p:nvSpPr>
            <p:cNvPr id="62" name="circle 63"/>
            <p:cNvSpPr/>
            <p:nvPr/>
          </p:nvSpPr>
          <p:spPr>
            <a:xfrm>
              <a:off x="5991225" y="4371975"/>
              <a:ext cx="209550" cy="209550"/>
            </a:xfrm>
            <a:prstGeom prst="ellipse">
              <a:avLst/>
            </a:prstGeom>
            <a:solidFill>
              <a:srgbClr val="3D8BFF"/>
            </a:solidFill>
            <a:ln>
              <a:noFill/>
            </a:ln>
          </p:spPr>
          <p:txBody>
            <a:bodyPr/>
            <a:lstStyle/>
            <a:p>
              <a:endParaRPr lang="en-US"/>
            </a:p>
          </p:txBody>
        </p:sp>
        <p:sp>
          <p:nvSpPr>
            <p:cNvPr id="63" name="Text 64"/>
            <p:cNvSpPr txBox="1"/>
            <p:nvPr/>
          </p:nvSpPr>
          <p:spPr>
            <a:xfrm>
              <a:off x="6037065" y="4397375"/>
              <a:ext cx="117870" cy="192722"/>
            </a:xfrm>
            <a:prstGeom prst="rect">
              <a:avLst/>
            </a:prstGeom>
            <a:noFill/>
          </p:spPr>
          <p:txBody>
            <a:bodyPr wrap="none" lIns="0" tIns="0" rIns="0" bIns="0" rtlCol="0" anchor="t">
              <a:noAutofit/>
            </a:bodyPr>
            <a:lstStyle/>
            <a:p>
              <a:pPr algn="ctr">
                <a:spcBef>
                  <a:spcPts val="0"/>
                </a:spcBef>
                <a:spcAft>
                  <a:spcPts val="0"/>
                </a:spcAft>
              </a:pPr>
              <a:r>
                <a:rPr lang="en-US" sz="1050" b="1" dirty="0">
                  <a:solidFill>
                    <a:srgbClr val="0A0B0D"/>
                  </a:solidFill>
                  <a:latin typeface="Segoe UI"/>
                  <a:ea typeface="Segoe UI"/>
                  <a:cs typeface="Segoe UI"/>
                </a:rPr>
                <a:t>4</a:t>
              </a:r>
              <a:endParaRPr lang="en-US" sz="1050" dirty="0"/>
            </a:p>
          </p:txBody>
        </p:sp>
      </p:grpSp>
      <p:grpSp>
        <p:nvGrpSpPr>
          <p:cNvPr id="67" name="stage-rail"/>
          <p:cNvGrpSpPr/>
          <p:nvPr/>
        </p:nvGrpSpPr>
        <p:grpSpPr>
          <a:xfrm>
            <a:off x="7810500" y="2025650"/>
            <a:ext cx="2151444" cy="3108325"/>
            <a:chOff x="7810500" y="2025650"/>
            <a:chExt cx="2151444" cy="3108325"/>
          </a:xfrm>
        </p:grpSpPr>
        <p:sp>
          <p:nvSpPr>
            <p:cNvPr id="65" name="Text 66"/>
            <p:cNvSpPr txBox="1"/>
            <p:nvPr/>
          </p:nvSpPr>
          <p:spPr>
            <a:xfrm>
              <a:off x="7810500" y="2025650"/>
              <a:ext cx="2151444" cy="192722"/>
            </a:xfrm>
            <a:prstGeom prst="rect">
              <a:avLst/>
            </a:prstGeom>
            <a:noFill/>
          </p:spPr>
          <p:txBody>
            <a:bodyPr wrap="none" lIns="0" tIns="0" rIns="0" bIns="0" rtlCol="0" anchor="t">
              <a:noAutofit/>
            </a:bodyPr>
            <a:lstStyle/>
            <a:p>
              <a:pPr algn="l">
                <a:spcBef>
                  <a:spcPts val="0"/>
                </a:spcBef>
                <a:spcAft>
                  <a:spcPts val="0"/>
                </a:spcAft>
              </a:pPr>
              <a:r>
                <a:rPr lang="en-US" sz="1050" b="0" spc="150" dirty="0">
                  <a:solidFill>
                    <a:srgbClr val="9C9A94"/>
                  </a:solidFill>
                  <a:latin typeface="Consolas"/>
                  <a:ea typeface="Consolas"/>
                  <a:cs typeface="Consolas"/>
                </a:rPr>
                <a:t>THE PAGE, STEP BY STEP</a:t>
              </a:r>
              <a:endParaRPr lang="en-US" sz="1050" dirty="0"/>
            </a:p>
          </p:txBody>
        </p:sp>
        <p:sp>
          <p:nvSpPr>
            <p:cNvPr id="66" name="line 67"/>
            <p:cNvSpPr/>
            <p:nvPr/>
          </p:nvSpPr>
          <p:spPr>
            <a:xfrm>
              <a:off x="7943850" y="2505075"/>
              <a:ext cx="95" cy="2628900"/>
            </a:xfrm>
            <a:custGeom>
              <a:avLst/>
              <a:gdLst/>
              <a:ahLst/>
              <a:cxnLst/>
              <a:rect l="0" t="0" r="r" b="b"/>
              <a:pathLst>
                <a:path w="95" h="2628900" fill="none">
                  <a:moveTo>
                    <a:pt x="0" y="0"/>
                  </a:moveTo>
                  <a:lnTo>
                    <a:pt x="0" y="2628900"/>
                  </a:lnTo>
                </a:path>
              </a:pathLst>
            </a:custGeom>
            <a:noFill/>
            <a:ln w="9525" cap="flat">
              <a:solidFill>
                <a:srgbClr val="2A2E35"/>
              </a:solidFill>
              <a:miter lim="800000"/>
            </a:ln>
          </p:spPr>
          <p:txBody>
            <a:bodyPr/>
            <a:lstStyle/>
            <a:p>
              <a:endParaRPr lang="en-US"/>
            </a:p>
          </p:txBody>
        </p:sp>
      </p:grpSp>
      <p:grpSp>
        <p:nvGrpSpPr>
          <p:cNvPr id="73" name="stage-step-1"/>
          <p:cNvGrpSpPr/>
          <p:nvPr/>
        </p:nvGrpSpPr>
        <p:grpSpPr>
          <a:xfrm>
            <a:off x="7829550" y="2368550"/>
            <a:ext cx="3752850" cy="850995"/>
            <a:chOff x="7829550" y="2368550"/>
            <a:chExt cx="3752850" cy="850995"/>
          </a:xfrm>
        </p:grpSpPr>
        <p:sp>
          <p:nvSpPr>
            <p:cNvPr id="68" name="circle 69"/>
            <p:cNvSpPr/>
            <p:nvPr/>
          </p:nvSpPr>
          <p:spPr>
            <a:xfrm>
              <a:off x="7829550" y="2390775"/>
              <a:ext cx="228600" cy="228600"/>
            </a:xfrm>
            <a:prstGeom prst="ellipse">
              <a:avLst/>
            </a:prstGeom>
            <a:solidFill>
              <a:srgbClr val="3D8BFF"/>
            </a:solidFill>
            <a:ln>
              <a:noFill/>
            </a:ln>
          </p:spPr>
          <p:txBody>
            <a:bodyPr/>
            <a:lstStyle/>
            <a:p>
              <a:endParaRPr lang="en-US"/>
            </a:p>
          </p:txBody>
        </p:sp>
        <p:sp>
          <p:nvSpPr>
            <p:cNvPr id="69" name="Text 70"/>
            <p:cNvSpPr txBox="1"/>
            <p:nvPr/>
          </p:nvSpPr>
          <p:spPr>
            <a:xfrm>
              <a:off x="7884915" y="2425700"/>
              <a:ext cx="117870" cy="192722"/>
            </a:xfrm>
            <a:prstGeom prst="rect">
              <a:avLst/>
            </a:prstGeom>
            <a:noFill/>
          </p:spPr>
          <p:txBody>
            <a:bodyPr wrap="none" lIns="0" tIns="0" rIns="0" bIns="0" rtlCol="0" anchor="t">
              <a:noAutofit/>
            </a:bodyPr>
            <a:lstStyle/>
            <a:p>
              <a:pPr algn="ctr">
                <a:spcBef>
                  <a:spcPts val="0"/>
                </a:spcBef>
                <a:spcAft>
                  <a:spcPts val="0"/>
                </a:spcAft>
              </a:pPr>
              <a:r>
                <a:rPr lang="en-US" sz="1050" b="1" dirty="0">
                  <a:solidFill>
                    <a:srgbClr val="0A0B0D"/>
                  </a:solidFill>
                  <a:latin typeface="Segoe UI"/>
                  <a:ea typeface="Segoe UI"/>
                  <a:cs typeface="Segoe UI"/>
                </a:rPr>
                <a:t>1</a:t>
              </a:r>
              <a:endParaRPr lang="en-US" sz="1050" dirty="0"/>
            </a:p>
          </p:txBody>
        </p:sp>
        <p:sp>
          <p:nvSpPr>
            <p:cNvPr id="70" name="Text 71"/>
            <p:cNvSpPr txBox="1"/>
            <p:nvPr/>
          </p:nvSpPr>
          <p:spPr>
            <a:xfrm>
              <a:off x="8210550" y="2368550"/>
              <a:ext cx="1190011" cy="295593"/>
            </a:xfrm>
            <a:prstGeom prst="rect">
              <a:avLst/>
            </a:prstGeom>
            <a:noFill/>
          </p:spPr>
          <p:txBody>
            <a:bodyPr wrap="none" lIns="0" tIns="0" rIns="0" bIns="0" rtlCol="0" anchor="t">
              <a:noAutofit/>
            </a:bodyPr>
            <a:lstStyle/>
            <a:p>
              <a:pPr algn="l">
                <a:spcBef>
                  <a:spcPts val="0"/>
                </a:spcBef>
                <a:spcAft>
                  <a:spcPts val="0"/>
                </a:spcAft>
              </a:pPr>
              <a:r>
                <a:rPr lang="en-US" sz="1650" b="1" dirty="0">
                  <a:solidFill>
                    <a:srgbClr val="EDE9E2"/>
                  </a:solidFill>
                  <a:latin typeface="Bahnschrift"/>
                  <a:ea typeface="Bahnschrift"/>
                  <a:cs typeface="Bahnschrift"/>
                </a:rPr>
                <a:t>Outline first</a:t>
              </a:r>
              <a:endParaRPr lang="en-US" sz="1650" dirty="0"/>
            </a:p>
          </p:txBody>
        </p:sp>
        <p:sp>
          <p:nvSpPr>
            <p:cNvPr id="71" name="Text 72"/>
            <p:cNvSpPr txBox="1"/>
            <p:nvPr/>
          </p:nvSpPr>
          <p:spPr>
            <a:xfrm>
              <a:off x="8210550" y="2641600"/>
              <a:ext cx="1973407" cy="478790"/>
            </a:xfrm>
            <a:prstGeom prst="rect">
              <a:avLst/>
            </a:prstGeom>
            <a:noFill/>
          </p:spPr>
          <p:txBody>
            <a:bodyPr wrap="none" lIns="0" tIns="0" rIns="0" bIns="0" rtlCol="0" anchor="t">
              <a:noAutofit/>
            </a:bodyPr>
            <a:lstStyle/>
            <a:p>
              <a:pPr algn="l">
                <a:lnSpc>
                  <a:spcPts val="1800"/>
                </a:lnSpc>
                <a:spcBef>
                  <a:spcPts val="0"/>
                </a:spcBef>
                <a:spcAft>
                  <a:spcPts val="0"/>
                </a:spcAft>
              </a:pPr>
              <a:r>
                <a:rPr lang="en-US" sz="1200" b="0" dirty="0">
                  <a:solidFill>
                    <a:srgbClr val="9C9A94"/>
                  </a:solidFill>
                  <a:latin typeface="Segoe UI"/>
                  <a:ea typeface="Segoe UI"/>
                  <a:cs typeface="Segoe UI"/>
                </a:rPr>
                <a:t>Plan sections in the left rail;</a:t>
              </a:r>
              <a:endParaRPr lang="en-US" sz="1200" dirty="0"/>
            </a:p>
            <a:p>
              <a:pPr algn="l">
                <a:lnSpc>
                  <a:spcPts val="1800"/>
                </a:lnSpc>
                <a:spcBef>
                  <a:spcPts val="0"/>
                </a:spcBef>
                <a:spcAft>
                  <a:spcPts val="0"/>
                </a:spcAft>
              </a:pPr>
              <a:r>
                <a:rPr lang="en-US" sz="1200" b="0" dirty="0">
                  <a:solidFill>
                    <a:srgbClr val="9C9A94"/>
                  </a:solidFill>
                  <a:latin typeface="Segoe UI"/>
                  <a:ea typeface="Segoe UI"/>
                  <a:cs typeface="Segoe UI"/>
                </a:rPr>
                <a:t>the page follows that order.</a:t>
              </a:r>
              <a:endParaRPr lang="en-US" sz="1200" dirty="0"/>
            </a:p>
          </p:txBody>
        </p:sp>
        <p:sp>
          <p:nvSpPr>
            <p:cNvPr id="72" name="line 73"/>
            <p:cNvSpPr/>
            <p:nvPr/>
          </p:nvSpPr>
          <p:spPr>
            <a:xfrm>
              <a:off x="8210550" y="3219450"/>
              <a:ext cx="3371850" cy="95"/>
            </a:xfrm>
            <a:custGeom>
              <a:avLst/>
              <a:gdLst/>
              <a:ahLst/>
              <a:cxnLst/>
              <a:rect l="0" t="0" r="r" b="b"/>
              <a:pathLst>
                <a:path w="3371850" h="95" fill="none">
                  <a:moveTo>
                    <a:pt x="0" y="0"/>
                  </a:moveTo>
                  <a:lnTo>
                    <a:pt x="3371850" y="0"/>
                  </a:lnTo>
                </a:path>
              </a:pathLst>
            </a:custGeom>
            <a:noFill/>
            <a:ln w="9525" cap="flat">
              <a:solidFill>
                <a:srgbClr val="2A2E35"/>
              </a:solidFill>
              <a:miter lim="800000"/>
            </a:ln>
          </p:spPr>
          <p:txBody>
            <a:bodyPr/>
            <a:lstStyle/>
            <a:p>
              <a:endParaRPr lang="en-US"/>
            </a:p>
          </p:txBody>
        </p:sp>
      </p:grpSp>
      <p:grpSp>
        <p:nvGrpSpPr>
          <p:cNvPr id="79" name="stage-step-2"/>
          <p:cNvGrpSpPr/>
          <p:nvPr/>
        </p:nvGrpSpPr>
        <p:grpSpPr>
          <a:xfrm>
            <a:off x="7829550" y="3244850"/>
            <a:ext cx="3752850" cy="850995"/>
            <a:chOff x="7829550" y="3244850"/>
            <a:chExt cx="3752850" cy="850995"/>
          </a:xfrm>
        </p:grpSpPr>
        <p:sp>
          <p:nvSpPr>
            <p:cNvPr id="74" name="circle 75"/>
            <p:cNvSpPr/>
            <p:nvPr/>
          </p:nvSpPr>
          <p:spPr>
            <a:xfrm>
              <a:off x="7829550" y="3267075"/>
              <a:ext cx="228600" cy="228600"/>
            </a:xfrm>
            <a:prstGeom prst="ellipse">
              <a:avLst/>
            </a:prstGeom>
            <a:solidFill>
              <a:srgbClr val="3D8BFF"/>
            </a:solidFill>
            <a:ln>
              <a:noFill/>
            </a:ln>
          </p:spPr>
          <p:txBody>
            <a:bodyPr/>
            <a:lstStyle/>
            <a:p>
              <a:endParaRPr lang="en-US"/>
            </a:p>
          </p:txBody>
        </p:sp>
        <p:sp>
          <p:nvSpPr>
            <p:cNvPr id="75" name="Text 76"/>
            <p:cNvSpPr txBox="1"/>
            <p:nvPr/>
          </p:nvSpPr>
          <p:spPr>
            <a:xfrm>
              <a:off x="7884915" y="3302000"/>
              <a:ext cx="117870" cy="192722"/>
            </a:xfrm>
            <a:prstGeom prst="rect">
              <a:avLst/>
            </a:prstGeom>
            <a:noFill/>
          </p:spPr>
          <p:txBody>
            <a:bodyPr wrap="none" lIns="0" tIns="0" rIns="0" bIns="0" rtlCol="0" anchor="t">
              <a:noAutofit/>
            </a:bodyPr>
            <a:lstStyle/>
            <a:p>
              <a:pPr algn="ctr">
                <a:spcBef>
                  <a:spcPts val="0"/>
                </a:spcBef>
                <a:spcAft>
                  <a:spcPts val="0"/>
                </a:spcAft>
              </a:pPr>
              <a:r>
                <a:rPr lang="en-US" sz="1050" b="1" dirty="0">
                  <a:solidFill>
                    <a:srgbClr val="0A0B0D"/>
                  </a:solidFill>
                  <a:latin typeface="Segoe UI"/>
                  <a:ea typeface="Segoe UI"/>
                  <a:cs typeface="Segoe UI"/>
                </a:rPr>
                <a:t>2</a:t>
              </a:r>
              <a:endParaRPr lang="en-US" sz="1050" dirty="0"/>
            </a:p>
          </p:txBody>
        </p:sp>
        <p:sp>
          <p:nvSpPr>
            <p:cNvPr id="76" name="Text 77"/>
            <p:cNvSpPr txBox="1"/>
            <p:nvPr/>
          </p:nvSpPr>
          <p:spPr>
            <a:xfrm>
              <a:off x="8210550" y="3244850"/>
              <a:ext cx="1976503" cy="295593"/>
            </a:xfrm>
            <a:prstGeom prst="rect">
              <a:avLst/>
            </a:prstGeom>
            <a:noFill/>
          </p:spPr>
          <p:txBody>
            <a:bodyPr wrap="none" lIns="0" tIns="0" rIns="0" bIns="0" rtlCol="0" anchor="t">
              <a:noAutofit/>
            </a:bodyPr>
            <a:lstStyle/>
            <a:p>
              <a:pPr algn="l">
                <a:spcBef>
                  <a:spcPts val="0"/>
                </a:spcBef>
                <a:spcAft>
                  <a:spcPts val="0"/>
                </a:spcAft>
              </a:pPr>
              <a:r>
                <a:rPr lang="en-US" sz="1650" b="1" dirty="0">
                  <a:solidFill>
                    <a:srgbClr val="EDE9E2"/>
                  </a:solidFill>
                  <a:latin typeface="Bahnschrift"/>
                  <a:ea typeface="Bahnschrift"/>
                  <a:cs typeface="Bahnschrift"/>
                </a:rPr>
                <a:t>Draft on a real page</a:t>
              </a:r>
              <a:endParaRPr lang="en-US" sz="1650" dirty="0"/>
            </a:p>
          </p:txBody>
        </p:sp>
        <p:sp>
          <p:nvSpPr>
            <p:cNvPr id="77" name="Text 78"/>
            <p:cNvSpPr txBox="1"/>
            <p:nvPr/>
          </p:nvSpPr>
          <p:spPr>
            <a:xfrm>
              <a:off x="8210550" y="3517900"/>
              <a:ext cx="2493318" cy="478790"/>
            </a:xfrm>
            <a:prstGeom prst="rect">
              <a:avLst/>
            </a:prstGeom>
            <a:noFill/>
          </p:spPr>
          <p:txBody>
            <a:bodyPr wrap="none" lIns="0" tIns="0" rIns="0" bIns="0" rtlCol="0" anchor="t">
              <a:noAutofit/>
            </a:bodyPr>
            <a:lstStyle/>
            <a:p>
              <a:pPr algn="l">
                <a:lnSpc>
                  <a:spcPts val="1800"/>
                </a:lnSpc>
                <a:spcBef>
                  <a:spcPts val="0"/>
                </a:spcBef>
                <a:spcAft>
                  <a:spcPts val="0"/>
                </a:spcAft>
              </a:pPr>
              <a:r>
                <a:rPr lang="en-US" sz="1200" b="0" dirty="0">
                  <a:solidFill>
                    <a:srgbClr val="9C9A94"/>
                  </a:solidFill>
                  <a:latin typeface="Segoe UI"/>
                  <a:ea typeface="Segoe UI"/>
                  <a:cs typeface="Segoe UI"/>
                </a:rPr>
                <a:t>Headings and paragraphs stay fully</a:t>
              </a:r>
              <a:endParaRPr lang="en-US" sz="1200" dirty="0"/>
            </a:p>
            <a:p>
              <a:pPr algn="l">
                <a:lnSpc>
                  <a:spcPts val="1800"/>
                </a:lnSpc>
                <a:spcBef>
                  <a:spcPts val="0"/>
                </a:spcBef>
                <a:spcAft>
                  <a:spcPts val="0"/>
                </a:spcAft>
              </a:pPr>
              <a:r>
                <a:rPr lang="en-US" sz="1200" b="0" dirty="0">
                  <a:solidFill>
                    <a:srgbClr val="9C9A94"/>
                  </a:solidFill>
                  <a:latin typeface="Segoe UI"/>
                  <a:ea typeface="Segoe UI"/>
                  <a:cs typeface="Segoe UI"/>
                </a:rPr>
                <a:t>editable, right where you write.</a:t>
              </a:r>
              <a:endParaRPr lang="en-US" sz="1200" dirty="0"/>
            </a:p>
          </p:txBody>
        </p:sp>
        <p:sp>
          <p:nvSpPr>
            <p:cNvPr id="78" name="line 79"/>
            <p:cNvSpPr/>
            <p:nvPr/>
          </p:nvSpPr>
          <p:spPr>
            <a:xfrm>
              <a:off x="8210550" y="4095750"/>
              <a:ext cx="3371850" cy="95"/>
            </a:xfrm>
            <a:custGeom>
              <a:avLst/>
              <a:gdLst/>
              <a:ahLst/>
              <a:cxnLst/>
              <a:rect l="0" t="0" r="r" b="b"/>
              <a:pathLst>
                <a:path w="3371850" h="95" fill="none">
                  <a:moveTo>
                    <a:pt x="0" y="0"/>
                  </a:moveTo>
                  <a:lnTo>
                    <a:pt x="3371850" y="0"/>
                  </a:lnTo>
                </a:path>
              </a:pathLst>
            </a:custGeom>
            <a:noFill/>
            <a:ln w="9525" cap="flat">
              <a:solidFill>
                <a:srgbClr val="2A2E35"/>
              </a:solidFill>
              <a:miter lim="800000"/>
            </a:ln>
          </p:spPr>
          <p:txBody>
            <a:bodyPr/>
            <a:lstStyle/>
            <a:p>
              <a:endParaRPr lang="en-US"/>
            </a:p>
          </p:txBody>
        </p:sp>
      </p:grpSp>
      <p:grpSp>
        <p:nvGrpSpPr>
          <p:cNvPr id="85" name="stage-step-3"/>
          <p:cNvGrpSpPr/>
          <p:nvPr/>
        </p:nvGrpSpPr>
        <p:grpSpPr>
          <a:xfrm>
            <a:off x="7829550" y="4121150"/>
            <a:ext cx="3752850" cy="850995"/>
            <a:chOff x="7829550" y="4121150"/>
            <a:chExt cx="3752850" cy="850995"/>
          </a:xfrm>
        </p:grpSpPr>
        <p:sp>
          <p:nvSpPr>
            <p:cNvPr id="80" name="circle 81"/>
            <p:cNvSpPr/>
            <p:nvPr/>
          </p:nvSpPr>
          <p:spPr>
            <a:xfrm>
              <a:off x="7829550" y="4143375"/>
              <a:ext cx="228600" cy="228600"/>
            </a:xfrm>
            <a:prstGeom prst="ellipse">
              <a:avLst/>
            </a:prstGeom>
            <a:solidFill>
              <a:srgbClr val="3D8BFF"/>
            </a:solidFill>
            <a:ln>
              <a:noFill/>
            </a:ln>
          </p:spPr>
          <p:txBody>
            <a:bodyPr/>
            <a:lstStyle/>
            <a:p>
              <a:endParaRPr lang="en-US"/>
            </a:p>
          </p:txBody>
        </p:sp>
        <p:sp>
          <p:nvSpPr>
            <p:cNvPr id="81" name="Text 82"/>
            <p:cNvSpPr txBox="1"/>
            <p:nvPr/>
          </p:nvSpPr>
          <p:spPr>
            <a:xfrm>
              <a:off x="7884915" y="4178300"/>
              <a:ext cx="117870" cy="192722"/>
            </a:xfrm>
            <a:prstGeom prst="rect">
              <a:avLst/>
            </a:prstGeom>
            <a:noFill/>
          </p:spPr>
          <p:txBody>
            <a:bodyPr wrap="none" lIns="0" tIns="0" rIns="0" bIns="0" rtlCol="0" anchor="t">
              <a:noAutofit/>
            </a:bodyPr>
            <a:lstStyle/>
            <a:p>
              <a:pPr algn="ctr">
                <a:spcBef>
                  <a:spcPts val="0"/>
                </a:spcBef>
                <a:spcAft>
                  <a:spcPts val="0"/>
                </a:spcAft>
              </a:pPr>
              <a:r>
                <a:rPr lang="en-US" sz="1050" b="1" dirty="0">
                  <a:solidFill>
                    <a:srgbClr val="0A0B0D"/>
                  </a:solidFill>
                  <a:latin typeface="Segoe UI"/>
                  <a:ea typeface="Segoe UI"/>
                  <a:cs typeface="Segoe UI"/>
                </a:rPr>
                <a:t>3</a:t>
              </a:r>
              <a:endParaRPr lang="en-US" sz="1050" dirty="0"/>
            </a:p>
          </p:txBody>
        </p:sp>
        <p:sp>
          <p:nvSpPr>
            <p:cNvPr id="82" name="Text 83"/>
            <p:cNvSpPr txBox="1"/>
            <p:nvPr/>
          </p:nvSpPr>
          <p:spPr>
            <a:xfrm>
              <a:off x="8210550" y="4121150"/>
              <a:ext cx="2582201" cy="295593"/>
            </a:xfrm>
            <a:prstGeom prst="rect">
              <a:avLst/>
            </a:prstGeom>
            <a:noFill/>
          </p:spPr>
          <p:txBody>
            <a:bodyPr wrap="none" lIns="0" tIns="0" rIns="0" bIns="0" rtlCol="0" anchor="t">
              <a:noAutofit/>
            </a:bodyPr>
            <a:lstStyle/>
            <a:p>
              <a:pPr algn="l">
                <a:spcBef>
                  <a:spcPts val="0"/>
                </a:spcBef>
                <a:spcAft>
                  <a:spcPts val="0"/>
                </a:spcAft>
              </a:pPr>
              <a:r>
                <a:rPr lang="en-US" sz="1650" b="1" dirty="0">
                  <a:solidFill>
                    <a:srgbClr val="EDE9E2"/>
                  </a:solidFill>
                  <a:latin typeface="Bahnschrift"/>
                  <a:ea typeface="Bahnschrift"/>
                  <a:cs typeface="Bahnschrift"/>
                </a:rPr>
                <a:t>Charts from real numbers</a:t>
              </a:r>
              <a:endParaRPr lang="en-US" sz="1650" dirty="0"/>
            </a:p>
          </p:txBody>
        </p:sp>
        <p:sp>
          <p:nvSpPr>
            <p:cNvPr id="83" name="Text 84"/>
            <p:cNvSpPr txBox="1"/>
            <p:nvPr/>
          </p:nvSpPr>
          <p:spPr>
            <a:xfrm>
              <a:off x="8210550" y="4394200"/>
              <a:ext cx="2636335" cy="478790"/>
            </a:xfrm>
            <a:prstGeom prst="rect">
              <a:avLst/>
            </a:prstGeom>
            <a:noFill/>
          </p:spPr>
          <p:txBody>
            <a:bodyPr wrap="none" lIns="0" tIns="0" rIns="0" bIns="0" rtlCol="0" anchor="t">
              <a:noAutofit/>
            </a:bodyPr>
            <a:lstStyle/>
            <a:p>
              <a:pPr algn="l">
                <a:lnSpc>
                  <a:spcPts val="1800"/>
                </a:lnSpc>
                <a:spcBef>
                  <a:spcPts val="0"/>
                </a:spcBef>
                <a:spcAft>
                  <a:spcPts val="0"/>
                </a:spcAft>
              </a:pPr>
              <a:r>
                <a:rPr lang="en-US" sz="1200" b="0" dirty="0">
                  <a:solidFill>
                    <a:srgbClr val="9C9A94"/>
                  </a:solidFill>
                  <a:latin typeface="Segoe UI"/>
                  <a:ea typeface="Segoe UI"/>
                  <a:cs typeface="Segoe UI"/>
                </a:rPr>
                <a:t>Bars, rings and tables are drawn from</a:t>
              </a:r>
              <a:endParaRPr lang="en-US" sz="1200" dirty="0"/>
            </a:p>
            <a:p>
              <a:pPr algn="l">
                <a:lnSpc>
                  <a:spcPts val="1800"/>
                </a:lnSpc>
                <a:spcBef>
                  <a:spcPts val="0"/>
                </a:spcBef>
                <a:spcAft>
                  <a:spcPts val="0"/>
                </a:spcAft>
              </a:pPr>
              <a:r>
                <a:rPr lang="en-US" sz="1200" b="0" dirty="0">
                  <a:solidFill>
                    <a:srgbClr val="9C9A94"/>
                  </a:solidFill>
                  <a:latin typeface="Segoe UI"/>
                  <a:ea typeface="Segoe UI"/>
                  <a:cs typeface="Segoe UI"/>
                </a:rPr>
                <a:t>your data, never pasted as pictures.</a:t>
              </a:r>
              <a:endParaRPr lang="en-US" sz="1200" dirty="0"/>
            </a:p>
          </p:txBody>
        </p:sp>
        <p:sp>
          <p:nvSpPr>
            <p:cNvPr id="84" name="line 85"/>
            <p:cNvSpPr/>
            <p:nvPr/>
          </p:nvSpPr>
          <p:spPr>
            <a:xfrm>
              <a:off x="8210550" y="4972050"/>
              <a:ext cx="3371850" cy="95"/>
            </a:xfrm>
            <a:custGeom>
              <a:avLst/>
              <a:gdLst/>
              <a:ahLst/>
              <a:cxnLst/>
              <a:rect l="0" t="0" r="r" b="b"/>
              <a:pathLst>
                <a:path w="3371850" h="95" fill="none">
                  <a:moveTo>
                    <a:pt x="0" y="0"/>
                  </a:moveTo>
                  <a:lnTo>
                    <a:pt x="3371850" y="0"/>
                  </a:lnTo>
                </a:path>
              </a:pathLst>
            </a:custGeom>
            <a:noFill/>
            <a:ln w="9525" cap="flat">
              <a:solidFill>
                <a:srgbClr val="2A2E35"/>
              </a:solidFill>
              <a:miter lim="800000"/>
            </a:ln>
          </p:spPr>
          <p:txBody>
            <a:bodyPr/>
            <a:lstStyle/>
            <a:p>
              <a:endParaRPr lang="en-US"/>
            </a:p>
          </p:txBody>
        </p:sp>
      </p:grpSp>
      <p:grpSp>
        <p:nvGrpSpPr>
          <p:cNvPr id="90" name="stage-step-4"/>
          <p:cNvGrpSpPr/>
          <p:nvPr/>
        </p:nvGrpSpPr>
        <p:grpSpPr>
          <a:xfrm>
            <a:off x="7829550" y="4997450"/>
            <a:ext cx="2951631" cy="751840"/>
            <a:chOff x="7829550" y="4997450"/>
            <a:chExt cx="2951631" cy="751840"/>
          </a:xfrm>
        </p:grpSpPr>
        <p:sp>
          <p:nvSpPr>
            <p:cNvPr id="86" name="circle 87"/>
            <p:cNvSpPr/>
            <p:nvPr/>
          </p:nvSpPr>
          <p:spPr>
            <a:xfrm>
              <a:off x="7829550" y="5019675"/>
              <a:ext cx="228600" cy="228600"/>
            </a:xfrm>
            <a:prstGeom prst="ellipse">
              <a:avLst/>
            </a:prstGeom>
            <a:solidFill>
              <a:srgbClr val="FF5B1F"/>
            </a:solidFill>
            <a:ln>
              <a:noFill/>
            </a:ln>
          </p:spPr>
          <p:txBody>
            <a:bodyPr/>
            <a:lstStyle/>
            <a:p>
              <a:endParaRPr lang="en-US"/>
            </a:p>
          </p:txBody>
        </p:sp>
        <p:sp>
          <p:nvSpPr>
            <p:cNvPr id="87" name="Text 88"/>
            <p:cNvSpPr txBox="1"/>
            <p:nvPr/>
          </p:nvSpPr>
          <p:spPr>
            <a:xfrm>
              <a:off x="7884915" y="5054600"/>
              <a:ext cx="117870" cy="192722"/>
            </a:xfrm>
            <a:prstGeom prst="rect">
              <a:avLst/>
            </a:prstGeom>
            <a:noFill/>
          </p:spPr>
          <p:txBody>
            <a:bodyPr wrap="none" lIns="0" tIns="0" rIns="0" bIns="0" rtlCol="0" anchor="t">
              <a:noAutofit/>
            </a:bodyPr>
            <a:lstStyle/>
            <a:p>
              <a:pPr algn="ctr">
                <a:spcBef>
                  <a:spcPts val="0"/>
                </a:spcBef>
                <a:spcAft>
                  <a:spcPts val="0"/>
                </a:spcAft>
              </a:pPr>
              <a:r>
                <a:rPr lang="en-US" sz="1050" b="1" dirty="0">
                  <a:solidFill>
                    <a:srgbClr val="0A0B0D"/>
                  </a:solidFill>
                  <a:latin typeface="Segoe UI"/>
                  <a:ea typeface="Segoe UI"/>
                  <a:cs typeface="Segoe UI"/>
                </a:rPr>
                <a:t>4</a:t>
              </a:r>
              <a:endParaRPr lang="en-US" sz="1050" dirty="0"/>
            </a:p>
          </p:txBody>
        </p:sp>
        <p:sp>
          <p:nvSpPr>
            <p:cNvPr id="88" name="Text 89"/>
            <p:cNvSpPr txBox="1"/>
            <p:nvPr/>
          </p:nvSpPr>
          <p:spPr>
            <a:xfrm>
              <a:off x="8210550" y="4997450"/>
              <a:ext cx="2066740" cy="295593"/>
            </a:xfrm>
            <a:prstGeom prst="rect">
              <a:avLst/>
            </a:prstGeom>
            <a:noFill/>
          </p:spPr>
          <p:txBody>
            <a:bodyPr wrap="none" lIns="0" tIns="0" rIns="0" bIns="0" rtlCol="0" anchor="t">
              <a:noAutofit/>
            </a:bodyPr>
            <a:lstStyle/>
            <a:p>
              <a:pPr algn="l">
                <a:spcBef>
                  <a:spcPts val="0"/>
                </a:spcBef>
                <a:spcAft>
                  <a:spcPts val="0"/>
                </a:spcAft>
              </a:pPr>
              <a:r>
                <a:rPr lang="en-US" sz="1650" b="1" dirty="0">
                  <a:solidFill>
                    <a:srgbClr val="EDE9E2"/>
                  </a:solidFill>
                  <a:latin typeface="Bahnschrift"/>
                  <a:ea typeface="Bahnschrift"/>
                  <a:cs typeface="Bahnschrift"/>
                </a:rPr>
                <a:t>Hand over the report</a:t>
              </a:r>
              <a:endParaRPr lang="en-US" sz="1650" dirty="0"/>
            </a:p>
          </p:txBody>
        </p:sp>
        <p:sp>
          <p:nvSpPr>
            <p:cNvPr id="89" name="Text 90"/>
            <p:cNvSpPr txBox="1"/>
            <p:nvPr/>
          </p:nvSpPr>
          <p:spPr>
            <a:xfrm>
              <a:off x="8210550" y="5270500"/>
              <a:ext cx="2570631" cy="478790"/>
            </a:xfrm>
            <a:prstGeom prst="rect">
              <a:avLst/>
            </a:prstGeom>
            <a:noFill/>
          </p:spPr>
          <p:txBody>
            <a:bodyPr wrap="none" lIns="0" tIns="0" rIns="0" bIns="0" rtlCol="0" anchor="t">
              <a:noAutofit/>
            </a:bodyPr>
            <a:lstStyle/>
            <a:p>
              <a:pPr algn="l">
                <a:lnSpc>
                  <a:spcPts val="1800"/>
                </a:lnSpc>
                <a:spcBef>
                  <a:spcPts val="0"/>
                </a:spcBef>
                <a:spcAft>
                  <a:spcPts val="0"/>
                </a:spcAft>
              </a:pPr>
              <a:r>
                <a:rPr lang="en-US" sz="1200" b="0" dirty="0">
                  <a:solidFill>
                    <a:srgbClr val="9C9A94"/>
                  </a:solidFill>
                  <a:latin typeface="Segoe UI"/>
                  <a:ea typeface="Segoe UI"/>
                  <a:cs typeface="Segoe UI"/>
                </a:rPr>
                <a:t>Export a document your readers can</a:t>
              </a:r>
              <a:endParaRPr lang="en-US" sz="1200" dirty="0"/>
            </a:p>
            <a:p>
              <a:pPr algn="l">
                <a:lnSpc>
                  <a:spcPts val="1800"/>
                </a:lnSpc>
                <a:spcBef>
                  <a:spcPts val="0"/>
                </a:spcBef>
                <a:spcAft>
                  <a:spcPts val="0"/>
                </a:spcAft>
              </a:pPr>
              <a:r>
                <a:rPr lang="en-US" sz="1200" b="0" dirty="0">
                  <a:solidFill>
                    <a:srgbClr val="9C9A94"/>
                  </a:solidFill>
                  <a:latin typeface="Segoe UI"/>
                  <a:ea typeface="Segoe UI"/>
                  <a:cs typeface="Segoe UI"/>
                </a:rPr>
                <a:t>open without the studio.</a:t>
              </a:r>
              <a:endParaRPr lang="en-US" sz="1200" dirty="0"/>
            </a:p>
          </p:txBody>
        </p:sp>
      </p:grpSp>
      <p:grpSp>
        <p:nvGrpSpPr>
          <p:cNvPr id="95" name="footer"/>
          <p:cNvGrpSpPr/>
          <p:nvPr/>
        </p:nvGrpSpPr>
        <p:grpSpPr>
          <a:xfrm>
            <a:off x="609600" y="6121400"/>
            <a:ext cx="10972800" cy="260350"/>
            <a:chOff x="609600" y="6121400"/>
            <a:chExt cx="10972800" cy="260350"/>
          </a:xfrm>
        </p:grpSpPr>
        <p:sp>
          <p:nvSpPr>
            <p:cNvPr id="91" name="Text 92"/>
            <p:cNvSpPr txBox="1"/>
            <p:nvPr/>
          </p:nvSpPr>
          <p:spPr>
            <a:xfrm>
              <a:off x="609600" y="6121400"/>
              <a:ext cx="2439628" cy="192722"/>
            </a:xfrm>
            <a:prstGeom prst="rect">
              <a:avLst/>
            </a:prstGeom>
            <a:noFill/>
          </p:spPr>
          <p:txBody>
            <a:bodyPr wrap="none" lIns="0" tIns="0" rIns="0" bIns="0" rtlCol="0" anchor="t">
              <a:noAutofit/>
            </a:bodyPr>
            <a:lstStyle/>
            <a:p>
              <a:pPr algn="l">
                <a:spcBef>
                  <a:spcPts val="0"/>
                </a:spcBef>
                <a:spcAft>
                  <a:spcPts val="0"/>
                </a:spcAft>
              </a:pPr>
              <a:r>
                <a:rPr lang="en-US" sz="1050" b="0" spc="150" dirty="0">
                  <a:solidFill>
                    <a:srgbClr val="9C9A94"/>
                  </a:solidFill>
                  <a:latin typeface="Consolas"/>
                  <a:ea typeface="Consolas"/>
                  <a:cs typeface="Consolas"/>
                </a:rPr>
                <a:t>YZPZCODE · WRITING STUDIO</a:t>
              </a:r>
              <a:endParaRPr lang="en-US" sz="1050" dirty="0"/>
            </a:p>
          </p:txBody>
        </p:sp>
        <p:sp>
          <p:nvSpPr>
            <p:cNvPr id="92" name="Text 93"/>
            <p:cNvSpPr txBox="1"/>
            <p:nvPr/>
          </p:nvSpPr>
          <p:spPr>
            <a:xfrm>
              <a:off x="11010556" y="6121400"/>
              <a:ext cx="571844" cy="192722"/>
            </a:xfrm>
            <a:prstGeom prst="rect">
              <a:avLst/>
            </a:prstGeom>
            <a:noFill/>
          </p:spPr>
          <p:txBody>
            <a:bodyPr wrap="none" lIns="0" tIns="0" rIns="0" bIns="0" rtlCol="0" anchor="t">
              <a:noAutofit/>
            </a:bodyPr>
            <a:lstStyle/>
            <a:p>
              <a:pPr algn="r">
                <a:spcBef>
                  <a:spcPts val="0"/>
                </a:spcBef>
                <a:spcAft>
                  <a:spcPts val="0"/>
                </a:spcAft>
              </a:pPr>
              <a:r>
                <a:rPr lang="en-US" sz="1050" b="0" dirty="0">
                  <a:solidFill>
                    <a:srgbClr val="9C9A94"/>
                  </a:solidFill>
                  <a:latin typeface="Consolas"/>
                  <a:ea typeface="Consolas"/>
                  <a:cs typeface="Consolas"/>
                </a:rPr>
                <a:t>20 / 22</a:t>
              </a:r>
              <a:endParaRPr lang="en-US" sz="1050" dirty="0"/>
            </a:p>
          </p:txBody>
        </p:sp>
        <p:sp>
          <p:nvSpPr>
            <p:cNvPr id="93" name="rect 94"/>
            <p:cNvSpPr/>
            <p:nvPr/>
          </p:nvSpPr>
          <p:spPr>
            <a:xfrm>
              <a:off x="609600" y="6362700"/>
              <a:ext cx="10972800" cy="19050"/>
            </a:xfrm>
            <a:prstGeom prst="rect">
              <a:avLst/>
            </a:prstGeom>
            <a:solidFill>
              <a:srgbClr val="2A2E35"/>
            </a:solidFill>
            <a:ln>
              <a:noFill/>
            </a:ln>
          </p:spPr>
          <p:txBody>
            <a:bodyPr/>
            <a:lstStyle/>
            <a:p>
              <a:endParaRPr lang="en-US"/>
            </a:p>
          </p:txBody>
        </p:sp>
        <p:sp>
          <p:nvSpPr>
            <p:cNvPr id="94" name="rect 95"/>
            <p:cNvSpPr/>
            <p:nvPr/>
          </p:nvSpPr>
          <p:spPr>
            <a:xfrm>
              <a:off x="609600" y="6362700"/>
              <a:ext cx="9972675" cy="19050"/>
            </a:xfrm>
            <a:prstGeom prst="rect">
              <a:avLst/>
            </a:prstGeom>
            <a:solidFill>
              <a:srgbClr val="FF5B1F"/>
            </a:solidFill>
            <a:ln>
              <a:noFill/>
            </a:ln>
          </p:spPr>
          <p:txBody>
            <a:bodyPr/>
            <a:lstStyle/>
            <a:p>
              <a:endParaRPr lang="en-US"/>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600" fill="hold"/>
                                        <p:tgtEl>
                                          <p:spTgt spid="4"/>
                                        </p:tgtEl>
                                        <p:attrNameLst>
                                          <p:attrName>ppt_y</p:attrName>
                                        </p:attrNameLst>
                                      </p:cBhvr>
                                      <p:tavLst>
                                        <p:tav tm="0">
                                          <p:val>
                                            <p:strVal val="#ppt_y+.1"/>
                                          </p:val>
                                        </p:tav>
                                        <p:tav tm="100000">
                                          <p:val>
                                            <p:strVal val="#ppt_y"/>
                                          </p:val>
                                        </p:tav>
                                      </p:tavLst>
                                    </p:anim>
                                    <p:animEffect transition="in" filter="fade">
                                      <p:cBhvr>
                                        <p:cTn id="8" dur="6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5"/>
                                        </p:tgtEl>
                                        <p:attrNameLst>
                                          <p:attrName>style.visibility</p:attrName>
                                        </p:attrNameLst>
                                      </p:cBhvr>
                                      <p:to>
                                        <p:strVal val="visible"/>
                                      </p:to>
                                    </p:set>
                                    <p:anim calcmode="lin" valueType="num">
                                      <p:cBhvr additive="base">
                                        <p:cTn id="13" dur="600" fill="hold"/>
                                        <p:tgtEl>
                                          <p:spTgt spid="55"/>
                                        </p:tgtEl>
                                        <p:attrNameLst>
                                          <p:attrName>ppt_x</p:attrName>
                                        </p:attrNameLst>
                                      </p:cBhvr>
                                      <p:tavLst>
                                        <p:tav tm="0">
                                          <p:val>
                                            <p:strVal val="0-#ppt_w/2"/>
                                          </p:val>
                                        </p:tav>
                                        <p:tav tm="100000">
                                          <p:val>
                                            <p:strVal val="#ppt_x"/>
                                          </p:val>
                                        </p:tav>
                                      </p:tavLst>
                                    </p:anim>
                                    <p:anim calcmode="lin" valueType="num">
                                      <p:cBhvr additive="base">
                                        <p:cTn id="14" dur="600" fill="hold"/>
                                        <p:tgtEl>
                                          <p:spTgt spid="5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64"/>
                                        </p:tgtEl>
                                        <p:attrNameLst>
                                          <p:attrName>style.visibility</p:attrName>
                                        </p:attrNameLst>
                                      </p:cBhvr>
                                      <p:to>
                                        <p:strVal val="visible"/>
                                      </p:to>
                                    </p:set>
                                    <p:anim calcmode="lin" valueType="num">
                                      <p:cBhvr>
                                        <p:cTn id="19" dur="450" fill="hold"/>
                                        <p:tgtEl>
                                          <p:spTgt spid="64"/>
                                        </p:tgtEl>
                                        <p:attrNameLst>
                                          <p:attrName>ppt_w</p:attrName>
                                        </p:attrNameLst>
                                      </p:cBhvr>
                                      <p:tavLst>
                                        <p:tav tm="0">
                                          <p:val>
                                            <p:fltVal val="0"/>
                                          </p:val>
                                        </p:tav>
                                        <p:tav tm="100000">
                                          <p:val>
                                            <p:strVal val="#ppt_w"/>
                                          </p:val>
                                        </p:tav>
                                      </p:tavLst>
                                    </p:anim>
                                    <p:anim calcmode="lin" valueType="num">
                                      <p:cBhvr>
                                        <p:cTn id="20" dur="450" fill="hold"/>
                                        <p:tgtEl>
                                          <p:spTgt spid="64"/>
                                        </p:tgtEl>
                                        <p:attrNameLst>
                                          <p:attrName>ppt_h</p:attrName>
                                        </p:attrNameLst>
                                      </p:cBhvr>
                                      <p:tavLst>
                                        <p:tav tm="0">
                                          <p:val>
                                            <p:fltVal val="0"/>
                                          </p:val>
                                        </p:tav>
                                        <p:tav tm="100000">
                                          <p:val>
                                            <p:strVal val="#ppt_h"/>
                                          </p:val>
                                        </p:tav>
                                      </p:tavLst>
                                    </p:anim>
                                    <p:animEffect transition="in" filter="fade">
                                      <p:cBhvr>
                                        <p:cTn id="21" dur="450"/>
                                        <p:tgtEl>
                                          <p:spTgt spid="64"/>
                                        </p:tgtEl>
                                      </p:cBhvr>
                                    </p:animEffect>
                                  </p:childTnLst>
                                </p:cTn>
                              </p:par>
                              <p:par>
                                <p:cTn id="22" presetID="22" presetClass="entr" presetSubtype="1" fill="hold" nodeType="withEffect">
                                  <p:stCondLst>
                                    <p:cond delay="0"/>
                                  </p:stCondLst>
                                  <p:childTnLst>
                                    <p:set>
                                      <p:cBhvr>
                                        <p:cTn id="23" dur="1" fill="hold">
                                          <p:stCondLst>
                                            <p:cond delay="0"/>
                                          </p:stCondLst>
                                        </p:cTn>
                                        <p:tgtEl>
                                          <p:spTgt spid="67"/>
                                        </p:tgtEl>
                                        <p:attrNameLst>
                                          <p:attrName>style.visibility</p:attrName>
                                        </p:attrNameLst>
                                      </p:cBhvr>
                                      <p:to>
                                        <p:strVal val="visible"/>
                                      </p:to>
                                    </p:set>
                                    <p:animEffect transition="in" filter="wipe(up)">
                                      <p:cBhvr>
                                        <p:cTn id="24" dur="500"/>
                                        <p:tgtEl>
                                          <p:spTgt spid="67"/>
                                        </p:tgtEl>
                                      </p:cBhvr>
                                    </p:animEffect>
                                  </p:childTnLst>
                                </p:cTn>
                              </p:par>
                              <p:par>
                                <p:cTn id="25" presetID="2" presetClass="entr" presetSubtype="2" fill="hold" nodeType="withEffect">
                                  <p:stCondLst>
                                    <p:cond delay="0"/>
                                  </p:stCondLst>
                                  <p:childTnLst>
                                    <p:set>
                                      <p:cBhvr>
                                        <p:cTn id="26" dur="1" fill="hold">
                                          <p:stCondLst>
                                            <p:cond delay="0"/>
                                          </p:stCondLst>
                                        </p:cTn>
                                        <p:tgtEl>
                                          <p:spTgt spid="73"/>
                                        </p:tgtEl>
                                        <p:attrNameLst>
                                          <p:attrName>style.visibility</p:attrName>
                                        </p:attrNameLst>
                                      </p:cBhvr>
                                      <p:to>
                                        <p:strVal val="visible"/>
                                      </p:to>
                                    </p:set>
                                    <p:anim calcmode="lin" valueType="num">
                                      <p:cBhvr additive="base">
                                        <p:cTn id="27" dur="450" fill="hold"/>
                                        <p:tgtEl>
                                          <p:spTgt spid="73"/>
                                        </p:tgtEl>
                                        <p:attrNameLst>
                                          <p:attrName>ppt_x</p:attrName>
                                        </p:attrNameLst>
                                      </p:cBhvr>
                                      <p:tavLst>
                                        <p:tav tm="0">
                                          <p:val>
                                            <p:strVal val="1+#ppt_w/2"/>
                                          </p:val>
                                        </p:tav>
                                        <p:tav tm="100000">
                                          <p:val>
                                            <p:strVal val="#ppt_x"/>
                                          </p:val>
                                        </p:tav>
                                      </p:tavLst>
                                    </p:anim>
                                    <p:anim calcmode="lin" valueType="num">
                                      <p:cBhvr additive="base">
                                        <p:cTn id="28" dur="450" fill="hold"/>
                                        <p:tgtEl>
                                          <p:spTgt spid="73"/>
                                        </p:tgtEl>
                                        <p:attrNameLst>
                                          <p:attrName>ppt_y</p:attrName>
                                        </p:attrNameLst>
                                      </p:cBhvr>
                                      <p:tavLst>
                                        <p:tav tm="0">
                                          <p:val>
                                            <p:strVal val="#ppt_y"/>
                                          </p:val>
                                        </p:tav>
                                        <p:tav tm="100000">
                                          <p:val>
                                            <p:strVal val="#ppt_y"/>
                                          </p:val>
                                        </p:tav>
                                      </p:tavLst>
                                    </p:anim>
                                  </p:childTnLst>
                                </p:cTn>
                              </p:par>
                            </p:childTnLst>
                          </p:cTn>
                        </p:par>
                        <p:par>
                          <p:cTn id="29" fill="hold">
                            <p:stCondLst>
                              <p:cond delay="500"/>
                            </p:stCondLst>
                            <p:childTnLst>
                              <p:par>
                                <p:cTn id="30" presetID="2" presetClass="entr" presetSubtype="2" fill="hold" nodeType="afterEffect">
                                  <p:stCondLst>
                                    <p:cond delay="0"/>
                                  </p:stCondLst>
                                  <p:childTnLst>
                                    <p:set>
                                      <p:cBhvr>
                                        <p:cTn id="31" dur="1" fill="hold">
                                          <p:stCondLst>
                                            <p:cond delay="0"/>
                                          </p:stCondLst>
                                        </p:cTn>
                                        <p:tgtEl>
                                          <p:spTgt spid="79"/>
                                        </p:tgtEl>
                                        <p:attrNameLst>
                                          <p:attrName>style.visibility</p:attrName>
                                        </p:attrNameLst>
                                      </p:cBhvr>
                                      <p:to>
                                        <p:strVal val="visible"/>
                                      </p:to>
                                    </p:set>
                                    <p:anim calcmode="lin" valueType="num">
                                      <p:cBhvr additive="base">
                                        <p:cTn id="32" dur="450" fill="hold"/>
                                        <p:tgtEl>
                                          <p:spTgt spid="79"/>
                                        </p:tgtEl>
                                        <p:attrNameLst>
                                          <p:attrName>ppt_x</p:attrName>
                                        </p:attrNameLst>
                                      </p:cBhvr>
                                      <p:tavLst>
                                        <p:tav tm="0">
                                          <p:val>
                                            <p:strVal val="1+#ppt_w/2"/>
                                          </p:val>
                                        </p:tav>
                                        <p:tav tm="100000">
                                          <p:val>
                                            <p:strVal val="#ppt_x"/>
                                          </p:val>
                                        </p:tav>
                                      </p:tavLst>
                                    </p:anim>
                                    <p:anim calcmode="lin" valueType="num">
                                      <p:cBhvr additive="base">
                                        <p:cTn id="33" dur="450" fill="hold"/>
                                        <p:tgtEl>
                                          <p:spTgt spid="79"/>
                                        </p:tgtEl>
                                        <p:attrNameLst>
                                          <p:attrName>ppt_y</p:attrName>
                                        </p:attrNameLst>
                                      </p:cBhvr>
                                      <p:tavLst>
                                        <p:tav tm="0">
                                          <p:val>
                                            <p:strVal val="#ppt_y"/>
                                          </p:val>
                                        </p:tav>
                                        <p:tav tm="100000">
                                          <p:val>
                                            <p:strVal val="#ppt_y"/>
                                          </p:val>
                                        </p:tav>
                                      </p:tavLst>
                                    </p:anim>
                                  </p:childTnLst>
                                </p:cTn>
                              </p:par>
                            </p:childTnLst>
                          </p:cTn>
                        </p:par>
                        <p:par>
                          <p:cTn id="34" fill="hold">
                            <p:stCondLst>
                              <p:cond delay="950"/>
                            </p:stCondLst>
                            <p:childTnLst>
                              <p:par>
                                <p:cTn id="35" presetID="2" presetClass="entr" presetSubtype="2" fill="hold" nodeType="afterEffect">
                                  <p:stCondLst>
                                    <p:cond delay="0"/>
                                  </p:stCondLst>
                                  <p:childTnLst>
                                    <p:set>
                                      <p:cBhvr>
                                        <p:cTn id="36" dur="1" fill="hold">
                                          <p:stCondLst>
                                            <p:cond delay="0"/>
                                          </p:stCondLst>
                                        </p:cTn>
                                        <p:tgtEl>
                                          <p:spTgt spid="85"/>
                                        </p:tgtEl>
                                        <p:attrNameLst>
                                          <p:attrName>style.visibility</p:attrName>
                                        </p:attrNameLst>
                                      </p:cBhvr>
                                      <p:to>
                                        <p:strVal val="visible"/>
                                      </p:to>
                                    </p:set>
                                    <p:anim calcmode="lin" valueType="num">
                                      <p:cBhvr additive="base">
                                        <p:cTn id="37" dur="450" fill="hold"/>
                                        <p:tgtEl>
                                          <p:spTgt spid="85"/>
                                        </p:tgtEl>
                                        <p:attrNameLst>
                                          <p:attrName>ppt_x</p:attrName>
                                        </p:attrNameLst>
                                      </p:cBhvr>
                                      <p:tavLst>
                                        <p:tav tm="0">
                                          <p:val>
                                            <p:strVal val="1+#ppt_w/2"/>
                                          </p:val>
                                        </p:tav>
                                        <p:tav tm="100000">
                                          <p:val>
                                            <p:strVal val="#ppt_x"/>
                                          </p:val>
                                        </p:tav>
                                      </p:tavLst>
                                    </p:anim>
                                    <p:anim calcmode="lin" valueType="num">
                                      <p:cBhvr additive="base">
                                        <p:cTn id="38" dur="450" fill="hold"/>
                                        <p:tgtEl>
                                          <p:spTgt spid="85"/>
                                        </p:tgtEl>
                                        <p:attrNameLst>
                                          <p:attrName>ppt_y</p:attrName>
                                        </p:attrNameLst>
                                      </p:cBhvr>
                                      <p:tavLst>
                                        <p:tav tm="0">
                                          <p:val>
                                            <p:strVal val="#ppt_y"/>
                                          </p:val>
                                        </p:tav>
                                        <p:tav tm="100000">
                                          <p:val>
                                            <p:strVal val="#ppt_y"/>
                                          </p:val>
                                        </p:tav>
                                      </p:tavLst>
                                    </p:anim>
                                  </p:childTnLst>
                                </p:cTn>
                              </p:par>
                            </p:childTnLst>
                          </p:cTn>
                        </p:par>
                        <p:par>
                          <p:cTn id="39" fill="hold">
                            <p:stCondLst>
                              <p:cond delay="1400"/>
                            </p:stCondLst>
                            <p:childTnLst>
                              <p:par>
                                <p:cTn id="40" presetID="2" presetClass="entr" presetSubtype="2" fill="hold" nodeType="afterEffect">
                                  <p:stCondLst>
                                    <p:cond delay="0"/>
                                  </p:stCondLst>
                                  <p:childTnLst>
                                    <p:set>
                                      <p:cBhvr>
                                        <p:cTn id="41" dur="1" fill="hold">
                                          <p:stCondLst>
                                            <p:cond delay="0"/>
                                          </p:stCondLst>
                                        </p:cTn>
                                        <p:tgtEl>
                                          <p:spTgt spid="90"/>
                                        </p:tgtEl>
                                        <p:attrNameLst>
                                          <p:attrName>style.visibility</p:attrName>
                                        </p:attrNameLst>
                                      </p:cBhvr>
                                      <p:to>
                                        <p:strVal val="visible"/>
                                      </p:to>
                                    </p:set>
                                    <p:anim calcmode="lin" valueType="num">
                                      <p:cBhvr additive="base">
                                        <p:cTn id="42" dur="450" fill="hold"/>
                                        <p:tgtEl>
                                          <p:spTgt spid="90"/>
                                        </p:tgtEl>
                                        <p:attrNameLst>
                                          <p:attrName>ppt_x</p:attrName>
                                        </p:attrNameLst>
                                      </p:cBhvr>
                                      <p:tavLst>
                                        <p:tav tm="0">
                                          <p:val>
                                            <p:strVal val="1+#ppt_w/2"/>
                                          </p:val>
                                        </p:tav>
                                        <p:tav tm="100000">
                                          <p:val>
                                            <p:strVal val="#ppt_x"/>
                                          </p:val>
                                        </p:tav>
                                      </p:tavLst>
                                    </p:anim>
                                    <p:anim calcmode="lin" valueType="num">
                                      <p:cBhvr additive="base">
                                        <p:cTn id="43" dur="450" fill="hold"/>
                                        <p:tgtEl>
                                          <p:spTgt spid="9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B0D"/>
        </a:solidFill>
        <a:effectLst/>
      </p:bgPr>
    </p:bg>
    <p:spTree>
      <p:nvGrpSpPr>
        <p:cNvPr id="1" name=""/>
        <p:cNvGrpSpPr/>
        <p:nvPr/>
      </p:nvGrpSpPr>
      <p:grpSpPr>
        <a:xfrm>
          <a:off x="0" y="0"/>
          <a:ext cx="0" cy="0"/>
          <a:chOff x="0" y="0"/>
          <a:chExt cx="0" cy="0"/>
        </a:xfrm>
      </p:grpSpPr>
      <p:sp>
        <p:nvSpPr>
          <p:cNvPr id="3" name="rect 4"/>
          <p:cNvSpPr/>
          <p:nvPr/>
        </p:nvSpPr>
        <p:spPr>
          <a:xfrm>
            <a:off x="609600" y="457200"/>
            <a:ext cx="457200" cy="57150"/>
          </a:xfrm>
          <a:prstGeom prst="roundRect">
            <a:avLst>
              <a:gd name="adj" fmla="val 50000"/>
            </a:avLst>
          </a:prstGeom>
          <a:solidFill>
            <a:srgbClr val="FF5B1F"/>
          </a:solidFill>
          <a:ln>
            <a:noFill/>
          </a:ln>
        </p:spPr>
        <p:txBody>
          <a:bodyPr/>
          <a:lstStyle/>
          <a:p>
            <a:endParaRPr lang="en-US"/>
          </a:p>
        </p:txBody>
      </p:sp>
      <p:sp>
        <p:nvSpPr>
          <p:cNvPr id="4" name="Text 5"/>
          <p:cNvSpPr txBox="1"/>
          <p:nvPr/>
        </p:nvSpPr>
        <p:spPr>
          <a:xfrm>
            <a:off x="609600" y="673100"/>
            <a:ext cx="6771645" cy="1054735"/>
          </a:xfrm>
          <a:prstGeom prst="rect">
            <a:avLst/>
          </a:prstGeom>
          <a:noFill/>
        </p:spPr>
        <p:txBody>
          <a:bodyPr wrap="none" lIns="0" tIns="0" rIns="0" bIns="0" rtlCol="0" anchor="t">
            <a:noAutofit/>
          </a:bodyPr>
          <a:lstStyle/>
          <a:p>
            <a:pPr algn="l">
              <a:lnSpc>
                <a:spcPts val="3900"/>
              </a:lnSpc>
              <a:spcBef>
                <a:spcPts val="0"/>
              </a:spcBef>
              <a:spcAft>
                <a:spcPts val="0"/>
              </a:spcAft>
            </a:pPr>
            <a:r>
              <a:rPr lang="en-US" sz="3300" b="1" dirty="0">
                <a:solidFill>
                  <a:srgbClr val="EDE9E2"/>
                </a:solidFill>
                <a:latin typeface="Bahnschrift"/>
                <a:ea typeface="Bahnschrift"/>
                <a:cs typeface="Bahnschrift"/>
              </a:rPr>
              <a:t>Writing Studio: from first outline to</a:t>
            </a:r>
            <a:endParaRPr lang="en-US" sz="3300" dirty="0"/>
          </a:p>
          <a:p>
            <a:pPr algn="l">
              <a:lnSpc>
                <a:spcPts val="3900"/>
              </a:lnSpc>
              <a:spcBef>
                <a:spcPts val="0"/>
              </a:spcBef>
              <a:spcAft>
                <a:spcPts val="0"/>
              </a:spcAft>
            </a:pPr>
            <a:r>
              <a:rPr lang="en-US" sz="3300" b="1" dirty="0">
                <a:solidFill>
                  <a:srgbClr val="FF5B1F"/>
                </a:solidFill>
                <a:latin typeface="Bahnschrift"/>
                <a:ea typeface="Bahnschrift"/>
                <a:cs typeface="Bahnschrift"/>
              </a:rPr>
              <a:t>a finished report</a:t>
            </a:r>
            <a:r>
              <a:rPr lang="en-US" sz="3300" b="1" dirty="0">
                <a:solidFill>
                  <a:srgbClr val="EDE9E2"/>
                </a:solidFill>
                <a:latin typeface="Bahnschrift"/>
                <a:ea typeface="Bahnschrift"/>
                <a:cs typeface="Bahnschrift"/>
              </a:rPr>
              <a:t>, charts included</a:t>
            </a:r>
            <a:endParaRPr lang="en-US" sz="3300" dirty="0"/>
          </a:p>
        </p:txBody>
      </p:sp>
      <p:grpSp>
        <p:nvGrpSpPr>
          <p:cNvPr id="22" name="steps"/>
          <p:cNvGrpSpPr/>
          <p:nvPr/>
        </p:nvGrpSpPr>
        <p:grpSpPr>
          <a:xfrm>
            <a:off x="609600" y="2025650"/>
            <a:ext cx="2642812" cy="3837940"/>
            <a:chOff x="609600" y="2025650"/>
            <a:chExt cx="2642812" cy="3837940"/>
          </a:xfrm>
        </p:grpSpPr>
        <p:sp>
          <p:nvSpPr>
            <p:cNvPr id="5" name="line 6"/>
            <p:cNvSpPr/>
            <p:nvPr/>
          </p:nvSpPr>
          <p:spPr>
            <a:xfrm>
              <a:off x="742950" y="2305050"/>
              <a:ext cx="95" cy="2952750"/>
            </a:xfrm>
            <a:custGeom>
              <a:avLst/>
              <a:gdLst/>
              <a:ahLst/>
              <a:cxnLst/>
              <a:rect l="0" t="0" r="r" b="b"/>
              <a:pathLst>
                <a:path w="95" h="2952750" fill="none">
                  <a:moveTo>
                    <a:pt x="0" y="0"/>
                  </a:moveTo>
                  <a:lnTo>
                    <a:pt x="0" y="2952750"/>
                  </a:lnTo>
                </a:path>
              </a:pathLst>
            </a:custGeom>
            <a:noFill/>
            <a:ln w="9525" cap="flat">
              <a:solidFill>
                <a:srgbClr val="2A2E35"/>
              </a:solidFill>
              <a:miter lim="800000"/>
            </a:ln>
          </p:spPr>
          <p:txBody>
            <a:bodyPr/>
            <a:lstStyle/>
            <a:p>
              <a:endParaRPr lang="en-US"/>
            </a:p>
          </p:txBody>
        </p:sp>
        <p:sp>
          <p:nvSpPr>
            <p:cNvPr id="6" name="rect 7"/>
            <p:cNvSpPr/>
            <p:nvPr/>
          </p:nvSpPr>
          <p:spPr>
            <a:xfrm>
              <a:off x="609600" y="2038350"/>
              <a:ext cx="266700" cy="266700"/>
            </a:xfrm>
            <a:prstGeom prst="roundRect">
              <a:avLst>
                <a:gd name="adj" fmla="val 7143"/>
              </a:avLst>
            </a:prstGeom>
            <a:solidFill>
              <a:srgbClr val="0A0B0D"/>
            </a:solidFill>
            <a:ln w="14288" cap="flat">
              <a:solidFill>
                <a:srgbClr val="9C9A94"/>
              </a:solidFill>
              <a:miter lim="800000"/>
            </a:ln>
          </p:spPr>
          <p:txBody>
            <a:bodyPr/>
            <a:lstStyle/>
            <a:p>
              <a:endParaRPr lang="en-US"/>
            </a:p>
          </p:txBody>
        </p:sp>
        <p:sp>
          <p:nvSpPr>
            <p:cNvPr id="7" name="Text 8"/>
            <p:cNvSpPr txBox="1"/>
            <p:nvPr/>
          </p:nvSpPr>
          <p:spPr>
            <a:xfrm>
              <a:off x="649827" y="2105025"/>
              <a:ext cx="186245" cy="176689"/>
            </a:xfrm>
            <a:prstGeom prst="rect">
              <a:avLst/>
            </a:prstGeom>
            <a:noFill/>
          </p:spPr>
          <p:txBody>
            <a:bodyPr wrap="none" lIns="0" tIns="0" rIns="0" bIns="0" rtlCol="0" anchor="t">
              <a:noAutofit/>
            </a:bodyPr>
            <a:lstStyle/>
            <a:p>
              <a:pPr algn="ctr">
                <a:spcBef>
                  <a:spcPts val="0"/>
                </a:spcBef>
                <a:spcAft>
                  <a:spcPts val="0"/>
                </a:spcAft>
              </a:pPr>
              <a:r>
                <a:rPr lang="en-US" sz="975" b="1" dirty="0">
                  <a:solidFill>
                    <a:srgbClr val="EDE9E2"/>
                  </a:solidFill>
                  <a:latin typeface="Segoe UI"/>
                  <a:ea typeface="Segoe UI"/>
                  <a:cs typeface="Segoe UI"/>
                </a:rPr>
                <a:t>01</a:t>
              </a:r>
              <a:endParaRPr lang="en-US" sz="975" dirty="0"/>
            </a:p>
          </p:txBody>
        </p:sp>
        <p:sp>
          <p:nvSpPr>
            <p:cNvPr id="8" name="Text 9"/>
            <p:cNvSpPr txBox="1"/>
            <p:nvPr/>
          </p:nvSpPr>
          <p:spPr>
            <a:xfrm>
              <a:off x="1066800" y="2025650"/>
              <a:ext cx="727438" cy="295593"/>
            </a:xfrm>
            <a:prstGeom prst="rect">
              <a:avLst/>
            </a:prstGeom>
            <a:noFill/>
          </p:spPr>
          <p:txBody>
            <a:bodyPr wrap="none" lIns="0" tIns="0" rIns="0" bIns="0" rtlCol="0" anchor="t">
              <a:noAutofit/>
            </a:bodyPr>
            <a:lstStyle/>
            <a:p>
              <a:pPr algn="l">
                <a:spcBef>
                  <a:spcPts val="0"/>
                </a:spcBef>
                <a:spcAft>
                  <a:spcPts val="0"/>
                </a:spcAft>
              </a:pPr>
              <a:r>
                <a:rPr lang="en-US" sz="1650" b="1" dirty="0">
                  <a:solidFill>
                    <a:srgbClr val="EDE9E2"/>
                  </a:solidFill>
                  <a:latin typeface="Bahnschrift"/>
                  <a:ea typeface="Bahnschrift"/>
                  <a:cs typeface="Bahnschrift"/>
                </a:rPr>
                <a:t>Outline</a:t>
              </a:r>
              <a:endParaRPr lang="en-US" sz="1650" dirty="0"/>
            </a:p>
          </p:txBody>
        </p:sp>
        <p:sp>
          <p:nvSpPr>
            <p:cNvPr id="9" name="Text 10"/>
            <p:cNvSpPr txBox="1"/>
            <p:nvPr/>
          </p:nvSpPr>
          <p:spPr>
            <a:xfrm>
              <a:off x="1066800" y="2330450"/>
              <a:ext cx="2144131" cy="447040"/>
            </a:xfrm>
            <a:prstGeom prst="rect">
              <a:avLst/>
            </a:prstGeom>
            <a:noFill/>
          </p:spPr>
          <p:txBody>
            <a:bodyPr wrap="none" lIns="0" tIns="0" rIns="0" bIns="0" rtlCol="0" anchor="t">
              <a:noAutofit/>
            </a:bodyPr>
            <a:lstStyle/>
            <a:p>
              <a:pPr algn="l">
                <a:lnSpc>
                  <a:spcPts val="1700"/>
                </a:lnSpc>
                <a:spcBef>
                  <a:spcPts val="0"/>
                </a:spcBef>
                <a:spcAft>
                  <a:spcPts val="0"/>
                </a:spcAft>
              </a:pPr>
              <a:r>
                <a:rPr lang="en-US" sz="1200" b="0" dirty="0">
                  <a:solidFill>
                    <a:srgbClr val="9C9A94"/>
                  </a:solidFill>
                  <a:latin typeface="Segoe UI"/>
                  <a:ea typeface="Segoe UI"/>
                  <a:cs typeface="Segoe UI"/>
                </a:rPr>
                <a:t>Lay out headings and sections</a:t>
              </a:r>
              <a:endParaRPr lang="en-US" sz="1200" dirty="0"/>
            </a:p>
            <a:p>
              <a:pPr algn="l">
                <a:lnSpc>
                  <a:spcPts val="1700"/>
                </a:lnSpc>
                <a:spcBef>
                  <a:spcPts val="0"/>
                </a:spcBef>
                <a:spcAft>
                  <a:spcPts val="0"/>
                </a:spcAft>
              </a:pPr>
              <a:r>
                <a:rPr lang="en-US" sz="1200" b="0" dirty="0">
                  <a:solidFill>
                    <a:srgbClr val="9C9A94"/>
                  </a:solidFill>
                  <a:latin typeface="Segoe UI"/>
                  <a:ea typeface="Segoe UI"/>
                  <a:cs typeface="Segoe UI"/>
                </a:rPr>
                <a:t>before the first sentence.</a:t>
              </a:r>
              <a:endParaRPr lang="en-US" sz="1200" dirty="0"/>
            </a:p>
          </p:txBody>
        </p:sp>
        <p:sp>
          <p:nvSpPr>
            <p:cNvPr id="10" name="rect 11"/>
            <p:cNvSpPr/>
            <p:nvPr/>
          </p:nvSpPr>
          <p:spPr>
            <a:xfrm>
              <a:off x="609600" y="3067050"/>
              <a:ext cx="266700" cy="266700"/>
            </a:xfrm>
            <a:prstGeom prst="roundRect">
              <a:avLst>
                <a:gd name="adj" fmla="val 7143"/>
              </a:avLst>
            </a:prstGeom>
            <a:solidFill>
              <a:srgbClr val="0A0B0D"/>
            </a:solidFill>
            <a:ln w="14288" cap="flat">
              <a:solidFill>
                <a:srgbClr val="9C9A94"/>
              </a:solidFill>
              <a:miter lim="800000"/>
            </a:ln>
          </p:spPr>
          <p:txBody>
            <a:bodyPr/>
            <a:lstStyle/>
            <a:p>
              <a:endParaRPr lang="en-US"/>
            </a:p>
          </p:txBody>
        </p:sp>
        <p:sp>
          <p:nvSpPr>
            <p:cNvPr id="11" name="Text 12"/>
            <p:cNvSpPr txBox="1"/>
            <p:nvPr/>
          </p:nvSpPr>
          <p:spPr>
            <a:xfrm>
              <a:off x="649827" y="3133725"/>
              <a:ext cx="186245" cy="176689"/>
            </a:xfrm>
            <a:prstGeom prst="rect">
              <a:avLst/>
            </a:prstGeom>
            <a:noFill/>
          </p:spPr>
          <p:txBody>
            <a:bodyPr wrap="none" lIns="0" tIns="0" rIns="0" bIns="0" rtlCol="0" anchor="t">
              <a:noAutofit/>
            </a:bodyPr>
            <a:lstStyle/>
            <a:p>
              <a:pPr algn="ctr">
                <a:spcBef>
                  <a:spcPts val="0"/>
                </a:spcBef>
                <a:spcAft>
                  <a:spcPts val="0"/>
                </a:spcAft>
              </a:pPr>
              <a:r>
                <a:rPr lang="en-US" sz="975" b="1" dirty="0">
                  <a:solidFill>
                    <a:srgbClr val="EDE9E2"/>
                  </a:solidFill>
                  <a:latin typeface="Segoe UI"/>
                  <a:ea typeface="Segoe UI"/>
                  <a:cs typeface="Segoe UI"/>
                </a:rPr>
                <a:t>02</a:t>
              </a:r>
              <a:endParaRPr lang="en-US" sz="975" dirty="0"/>
            </a:p>
          </p:txBody>
        </p:sp>
        <p:sp>
          <p:nvSpPr>
            <p:cNvPr id="12" name="Text 13"/>
            <p:cNvSpPr txBox="1"/>
            <p:nvPr/>
          </p:nvSpPr>
          <p:spPr>
            <a:xfrm>
              <a:off x="1066800" y="3054350"/>
              <a:ext cx="530256" cy="295593"/>
            </a:xfrm>
            <a:prstGeom prst="rect">
              <a:avLst/>
            </a:prstGeom>
            <a:noFill/>
          </p:spPr>
          <p:txBody>
            <a:bodyPr wrap="none" lIns="0" tIns="0" rIns="0" bIns="0" rtlCol="0" anchor="t">
              <a:noAutofit/>
            </a:bodyPr>
            <a:lstStyle/>
            <a:p>
              <a:pPr algn="l">
                <a:spcBef>
                  <a:spcPts val="0"/>
                </a:spcBef>
                <a:spcAft>
                  <a:spcPts val="0"/>
                </a:spcAft>
              </a:pPr>
              <a:r>
                <a:rPr lang="en-US" sz="1650" b="1" dirty="0">
                  <a:solidFill>
                    <a:srgbClr val="EDE9E2"/>
                  </a:solidFill>
                  <a:latin typeface="Bahnschrift"/>
                  <a:ea typeface="Bahnschrift"/>
                  <a:cs typeface="Bahnschrift"/>
                </a:rPr>
                <a:t>Draft</a:t>
              </a:r>
              <a:endParaRPr lang="en-US" sz="1650" dirty="0"/>
            </a:p>
          </p:txBody>
        </p:sp>
        <p:sp>
          <p:nvSpPr>
            <p:cNvPr id="13" name="Text 14"/>
            <p:cNvSpPr txBox="1"/>
            <p:nvPr/>
          </p:nvSpPr>
          <p:spPr>
            <a:xfrm>
              <a:off x="1066800" y="3359150"/>
              <a:ext cx="2014657" cy="447040"/>
            </a:xfrm>
            <a:prstGeom prst="rect">
              <a:avLst/>
            </a:prstGeom>
            <a:noFill/>
          </p:spPr>
          <p:txBody>
            <a:bodyPr wrap="none" lIns="0" tIns="0" rIns="0" bIns="0" rtlCol="0" anchor="t">
              <a:noAutofit/>
            </a:bodyPr>
            <a:lstStyle/>
            <a:p>
              <a:pPr algn="l">
                <a:lnSpc>
                  <a:spcPts val="1700"/>
                </a:lnSpc>
                <a:spcBef>
                  <a:spcPts val="0"/>
                </a:spcBef>
                <a:spcAft>
                  <a:spcPts val="0"/>
                </a:spcAft>
              </a:pPr>
              <a:r>
                <a:rPr lang="en-US" sz="1200" b="0" dirty="0">
                  <a:solidFill>
                    <a:srgbClr val="9C9A94"/>
                  </a:solidFill>
                  <a:latin typeface="Segoe UI"/>
                  <a:ea typeface="Segoe UI"/>
                  <a:cs typeface="Segoe UI"/>
                </a:rPr>
                <a:t>Write in the editor with your</a:t>
              </a:r>
              <a:endParaRPr lang="en-US" sz="1200" dirty="0"/>
            </a:p>
            <a:p>
              <a:pPr algn="l">
                <a:lnSpc>
                  <a:spcPts val="1700"/>
                </a:lnSpc>
                <a:spcBef>
                  <a:spcPts val="0"/>
                </a:spcBef>
                <a:spcAft>
                  <a:spcPts val="0"/>
                </a:spcAft>
              </a:pPr>
              <a:r>
                <a:rPr lang="en-US" sz="1200" b="0" dirty="0">
                  <a:solidFill>
                    <a:srgbClr val="9C9A94"/>
                  </a:solidFill>
                  <a:latin typeface="Segoe UI"/>
                  <a:ea typeface="Segoe UI"/>
                  <a:cs typeface="Segoe UI"/>
                </a:rPr>
                <a:t>agents one pane away.</a:t>
              </a:r>
              <a:endParaRPr lang="en-US" sz="1200" dirty="0"/>
            </a:p>
          </p:txBody>
        </p:sp>
        <p:sp>
          <p:nvSpPr>
            <p:cNvPr id="14" name="rect 15"/>
            <p:cNvSpPr/>
            <p:nvPr/>
          </p:nvSpPr>
          <p:spPr>
            <a:xfrm>
              <a:off x="609600" y="4095750"/>
              <a:ext cx="266700" cy="266700"/>
            </a:xfrm>
            <a:prstGeom prst="roundRect">
              <a:avLst>
                <a:gd name="adj" fmla="val 7143"/>
              </a:avLst>
            </a:prstGeom>
            <a:solidFill>
              <a:srgbClr val="FF5B1F"/>
            </a:solidFill>
            <a:ln>
              <a:noFill/>
            </a:ln>
          </p:spPr>
          <p:txBody>
            <a:bodyPr/>
            <a:lstStyle/>
            <a:p>
              <a:endParaRPr lang="en-US"/>
            </a:p>
          </p:txBody>
        </p:sp>
        <p:sp>
          <p:nvSpPr>
            <p:cNvPr id="15" name="Text 16"/>
            <p:cNvSpPr txBox="1"/>
            <p:nvPr/>
          </p:nvSpPr>
          <p:spPr>
            <a:xfrm>
              <a:off x="649827" y="4162425"/>
              <a:ext cx="186245" cy="176689"/>
            </a:xfrm>
            <a:prstGeom prst="rect">
              <a:avLst/>
            </a:prstGeom>
            <a:noFill/>
          </p:spPr>
          <p:txBody>
            <a:bodyPr wrap="none" lIns="0" tIns="0" rIns="0" bIns="0" rtlCol="0" anchor="t">
              <a:noAutofit/>
            </a:bodyPr>
            <a:lstStyle/>
            <a:p>
              <a:pPr algn="ctr">
                <a:spcBef>
                  <a:spcPts val="0"/>
                </a:spcBef>
                <a:spcAft>
                  <a:spcPts val="0"/>
                </a:spcAft>
              </a:pPr>
              <a:r>
                <a:rPr lang="en-US" sz="975" b="1" dirty="0">
                  <a:solidFill>
                    <a:srgbClr val="0A0B0D"/>
                  </a:solidFill>
                  <a:latin typeface="Segoe UI"/>
                  <a:ea typeface="Segoe UI"/>
                  <a:cs typeface="Segoe UI"/>
                </a:rPr>
                <a:t>03</a:t>
              </a:r>
              <a:endParaRPr lang="en-US" sz="975" dirty="0"/>
            </a:p>
          </p:txBody>
        </p:sp>
        <p:sp>
          <p:nvSpPr>
            <p:cNvPr id="16" name="Text 17"/>
            <p:cNvSpPr txBox="1"/>
            <p:nvPr/>
          </p:nvSpPr>
          <p:spPr>
            <a:xfrm>
              <a:off x="1066800" y="4083050"/>
              <a:ext cx="925471" cy="295593"/>
            </a:xfrm>
            <a:prstGeom prst="rect">
              <a:avLst/>
            </a:prstGeom>
            <a:noFill/>
          </p:spPr>
          <p:txBody>
            <a:bodyPr wrap="none" lIns="0" tIns="0" rIns="0" bIns="0" rtlCol="0" anchor="t">
              <a:noAutofit/>
            </a:bodyPr>
            <a:lstStyle/>
            <a:p>
              <a:pPr algn="l">
                <a:spcBef>
                  <a:spcPts val="0"/>
                </a:spcBef>
                <a:spcAft>
                  <a:spcPts val="0"/>
                </a:spcAft>
              </a:pPr>
              <a:r>
                <a:rPr lang="en-US" sz="1650" b="1" dirty="0">
                  <a:solidFill>
                    <a:srgbClr val="FF5B1F"/>
                  </a:solidFill>
                  <a:latin typeface="Bahnschrift"/>
                  <a:ea typeface="Bahnschrift"/>
                  <a:cs typeface="Bahnschrift"/>
                </a:rPr>
                <a:t>Illustrate</a:t>
              </a:r>
              <a:endParaRPr lang="en-US" sz="1650" dirty="0"/>
            </a:p>
          </p:txBody>
        </p:sp>
        <p:sp>
          <p:nvSpPr>
            <p:cNvPr id="17" name="Text 18"/>
            <p:cNvSpPr txBox="1"/>
            <p:nvPr/>
          </p:nvSpPr>
          <p:spPr>
            <a:xfrm>
              <a:off x="1066800" y="4387850"/>
              <a:ext cx="2185612" cy="447040"/>
            </a:xfrm>
            <a:prstGeom prst="rect">
              <a:avLst/>
            </a:prstGeom>
            <a:noFill/>
          </p:spPr>
          <p:txBody>
            <a:bodyPr wrap="none" lIns="0" tIns="0" rIns="0" bIns="0" rtlCol="0" anchor="t">
              <a:noAutofit/>
            </a:bodyPr>
            <a:lstStyle/>
            <a:p>
              <a:pPr algn="l">
                <a:lnSpc>
                  <a:spcPts val="1700"/>
                </a:lnSpc>
                <a:spcBef>
                  <a:spcPts val="0"/>
                </a:spcBef>
                <a:spcAft>
                  <a:spcPts val="0"/>
                </a:spcAft>
              </a:pPr>
              <a:r>
                <a:rPr lang="en-US" sz="1200" b="0" dirty="0">
                  <a:solidFill>
                    <a:srgbClr val="EDE9E2"/>
                  </a:solidFill>
                  <a:latin typeface="Segoe UI"/>
                  <a:ea typeface="Segoe UI"/>
                  <a:cs typeface="Segoe UI"/>
                </a:rPr>
                <a:t>Place charts, tables and figures</a:t>
              </a:r>
              <a:endParaRPr lang="en-US" sz="1200" dirty="0"/>
            </a:p>
            <a:p>
              <a:pPr algn="l">
                <a:lnSpc>
                  <a:spcPts val="1700"/>
                </a:lnSpc>
                <a:spcBef>
                  <a:spcPts val="0"/>
                </a:spcBef>
                <a:spcAft>
                  <a:spcPts val="0"/>
                </a:spcAft>
              </a:pPr>
              <a:r>
                <a:rPr lang="en-US" sz="1200" b="0" dirty="0">
                  <a:solidFill>
                    <a:srgbClr val="EDE9E2"/>
                  </a:solidFill>
                  <a:latin typeface="Segoe UI"/>
                  <a:ea typeface="Segoe UI"/>
                  <a:cs typeface="Segoe UI"/>
                </a:rPr>
                <a:t>drawn from real numbers.</a:t>
              </a:r>
              <a:endParaRPr lang="en-US" sz="1200" dirty="0"/>
            </a:p>
          </p:txBody>
        </p:sp>
        <p:sp>
          <p:nvSpPr>
            <p:cNvPr id="18" name="rect 19"/>
            <p:cNvSpPr/>
            <p:nvPr/>
          </p:nvSpPr>
          <p:spPr>
            <a:xfrm>
              <a:off x="609600" y="5124450"/>
              <a:ext cx="266700" cy="266700"/>
            </a:xfrm>
            <a:prstGeom prst="roundRect">
              <a:avLst>
                <a:gd name="adj" fmla="val 7143"/>
              </a:avLst>
            </a:prstGeom>
            <a:solidFill>
              <a:srgbClr val="0A0B0D"/>
            </a:solidFill>
            <a:ln w="14288" cap="flat">
              <a:solidFill>
                <a:srgbClr val="9C9A94"/>
              </a:solidFill>
              <a:miter lim="800000"/>
            </a:ln>
          </p:spPr>
          <p:txBody>
            <a:bodyPr/>
            <a:lstStyle/>
            <a:p>
              <a:endParaRPr lang="en-US"/>
            </a:p>
          </p:txBody>
        </p:sp>
        <p:sp>
          <p:nvSpPr>
            <p:cNvPr id="19" name="Text 20"/>
            <p:cNvSpPr txBox="1"/>
            <p:nvPr/>
          </p:nvSpPr>
          <p:spPr>
            <a:xfrm>
              <a:off x="649827" y="5191125"/>
              <a:ext cx="186245" cy="176689"/>
            </a:xfrm>
            <a:prstGeom prst="rect">
              <a:avLst/>
            </a:prstGeom>
            <a:noFill/>
          </p:spPr>
          <p:txBody>
            <a:bodyPr wrap="none" lIns="0" tIns="0" rIns="0" bIns="0" rtlCol="0" anchor="t">
              <a:noAutofit/>
            </a:bodyPr>
            <a:lstStyle/>
            <a:p>
              <a:pPr algn="ctr">
                <a:spcBef>
                  <a:spcPts val="0"/>
                </a:spcBef>
                <a:spcAft>
                  <a:spcPts val="0"/>
                </a:spcAft>
              </a:pPr>
              <a:r>
                <a:rPr lang="en-US" sz="975" b="1" dirty="0">
                  <a:solidFill>
                    <a:srgbClr val="EDE9E2"/>
                  </a:solidFill>
                  <a:latin typeface="Segoe UI"/>
                  <a:ea typeface="Segoe UI"/>
                  <a:cs typeface="Segoe UI"/>
                </a:rPr>
                <a:t>04</a:t>
              </a:r>
              <a:endParaRPr lang="en-US" sz="975" dirty="0"/>
            </a:p>
          </p:txBody>
        </p:sp>
        <p:sp>
          <p:nvSpPr>
            <p:cNvPr id="20" name="Text 21"/>
            <p:cNvSpPr txBox="1"/>
            <p:nvPr/>
          </p:nvSpPr>
          <p:spPr>
            <a:xfrm>
              <a:off x="1066800" y="5111750"/>
              <a:ext cx="682425" cy="295593"/>
            </a:xfrm>
            <a:prstGeom prst="rect">
              <a:avLst/>
            </a:prstGeom>
            <a:noFill/>
          </p:spPr>
          <p:txBody>
            <a:bodyPr wrap="none" lIns="0" tIns="0" rIns="0" bIns="0" rtlCol="0" anchor="t">
              <a:noAutofit/>
            </a:bodyPr>
            <a:lstStyle/>
            <a:p>
              <a:pPr algn="l">
                <a:spcBef>
                  <a:spcPts val="0"/>
                </a:spcBef>
                <a:spcAft>
                  <a:spcPts val="0"/>
                </a:spcAft>
              </a:pPr>
              <a:r>
                <a:rPr lang="en-US" sz="1650" b="1" dirty="0">
                  <a:solidFill>
                    <a:srgbClr val="EDE9E2"/>
                  </a:solidFill>
                  <a:latin typeface="Bahnschrift"/>
                  <a:ea typeface="Bahnschrift"/>
                  <a:cs typeface="Bahnschrift"/>
                </a:rPr>
                <a:t>Export</a:t>
              </a:r>
              <a:endParaRPr lang="en-US" sz="1650" dirty="0"/>
            </a:p>
          </p:txBody>
        </p:sp>
        <p:sp>
          <p:nvSpPr>
            <p:cNvPr id="21" name="Text 22"/>
            <p:cNvSpPr txBox="1"/>
            <p:nvPr/>
          </p:nvSpPr>
          <p:spPr>
            <a:xfrm>
              <a:off x="1066800" y="5416550"/>
              <a:ext cx="1700373" cy="447040"/>
            </a:xfrm>
            <a:prstGeom prst="rect">
              <a:avLst/>
            </a:prstGeom>
            <a:noFill/>
          </p:spPr>
          <p:txBody>
            <a:bodyPr wrap="none" lIns="0" tIns="0" rIns="0" bIns="0" rtlCol="0" anchor="t">
              <a:noAutofit/>
            </a:bodyPr>
            <a:lstStyle/>
            <a:p>
              <a:pPr algn="l">
                <a:lnSpc>
                  <a:spcPts val="1700"/>
                </a:lnSpc>
                <a:spcBef>
                  <a:spcPts val="0"/>
                </a:spcBef>
                <a:spcAft>
                  <a:spcPts val="0"/>
                </a:spcAft>
              </a:pPr>
              <a:r>
                <a:rPr lang="en-US" sz="1200" b="0" dirty="0">
                  <a:solidFill>
                    <a:srgbClr val="9C9A94"/>
                  </a:solidFill>
                  <a:latin typeface="Segoe UI"/>
                  <a:ea typeface="Segoe UI"/>
                  <a:cs typeface="Segoe UI"/>
                </a:rPr>
                <a:t>Hand over one finished,</a:t>
              </a:r>
              <a:endParaRPr lang="en-US" sz="1200" dirty="0"/>
            </a:p>
            <a:p>
              <a:pPr algn="l">
                <a:lnSpc>
                  <a:spcPts val="1700"/>
                </a:lnSpc>
                <a:spcBef>
                  <a:spcPts val="0"/>
                </a:spcBef>
                <a:spcAft>
                  <a:spcPts val="0"/>
                </a:spcAft>
              </a:pPr>
              <a:r>
                <a:rPr lang="en-US" sz="1200" b="0" dirty="0">
                  <a:solidFill>
                    <a:srgbClr val="9C9A94"/>
                  </a:solidFill>
                  <a:latin typeface="Segoe UI"/>
                  <a:ea typeface="Segoe UI"/>
                  <a:cs typeface="Segoe UI"/>
                </a:rPr>
                <a:t>shareable document.</a:t>
              </a:r>
              <a:endParaRPr lang="en-US" sz="1200" dirty="0"/>
            </a:p>
          </p:txBody>
        </p:sp>
      </p:grpSp>
      <p:grpSp>
        <p:nvGrpSpPr>
          <p:cNvPr id="46" name="report-window"/>
          <p:cNvGrpSpPr/>
          <p:nvPr/>
        </p:nvGrpSpPr>
        <p:grpSpPr>
          <a:xfrm>
            <a:off x="4857750" y="1866900"/>
            <a:ext cx="6724650" cy="4381500"/>
            <a:chOff x="4857750" y="1866900"/>
            <a:chExt cx="6724650" cy="4381500"/>
          </a:xfrm>
        </p:grpSpPr>
        <p:sp>
          <p:nvSpPr>
            <p:cNvPr id="23" name="rect 24"/>
            <p:cNvSpPr/>
            <p:nvPr/>
          </p:nvSpPr>
          <p:spPr>
            <a:xfrm>
              <a:off x="4857750" y="1866900"/>
              <a:ext cx="6724650" cy="4381500"/>
            </a:xfrm>
            <a:prstGeom prst="roundRect">
              <a:avLst>
                <a:gd name="adj" fmla="val 1739"/>
              </a:avLst>
            </a:prstGeom>
            <a:solidFill>
              <a:srgbClr val="14171B"/>
            </a:solidFill>
            <a:ln w="9525" cap="flat">
              <a:solidFill>
                <a:srgbClr val="2A2E35"/>
              </a:solidFill>
              <a:miter lim="800000"/>
            </a:ln>
          </p:spPr>
          <p:txBody>
            <a:bodyPr/>
            <a:lstStyle/>
            <a:p>
              <a:endParaRPr lang="en-US"/>
            </a:p>
          </p:txBody>
        </p:sp>
        <p:sp>
          <p:nvSpPr>
            <p:cNvPr id="24" name="line 25"/>
            <p:cNvSpPr/>
            <p:nvPr/>
          </p:nvSpPr>
          <p:spPr>
            <a:xfrm>
              <a:off x="4857750" y="2209800"/>
              <a:ext cx="6724650" cy="95"/>
            </a:xfrm>
            <a:custGeom>
              <a:avLst/>
              <a:gdLst/>
              <a:ahLst/>
              <a:cxnLst/>
              <a:rect l="0" t="0" r="r" b="b"/>
              <a:pathLst>
                <a:path w="6724650" h="95" fill="none">
                  <a:moveTo>
                    <a:pt x="0" y="0"/>
                  </a:moveTo>
                  <a:lnTo>
                    <a:pt x="6724650" y="0"/>
                  </a:lnTo>
                </a:path>
              </a:pathLst>
            </a:custGeom>
            <a:noFill/>
            <a:ln w="9525" cap="flat">
              <a:solidFill>
                <a:srgbClr val="2A2E35"/>
              </a:solidFill>
              <a:miter lim="800000"/>
            </a:ln>
          </p:spPr>
          <p:txBody>
            <a:bodyPr/>
            <a:lstStyle/>
            <a:p>
              <a:endParaRPr lang="en-US"/>
            </a:p>
          </p:txBody>
        </p:sp>
        <p:sp>
          <p:nvSpPr>
            <p:cNvPr id="25" name="circle 26"/>
            <p:cNvSpPr/>
            <p:nvPr/>
          </p:nvSpPr>
          <p:spPr>
            <a:xfrm>
              <a:off x="5010150" y="2000250"/>
              <a:ext cx="76200" cy="76200"/>
            </a:xfrm>
            <a:prstGeom prst="ellipse">
              <a:avLst/>
            </a:prstGeom>
            <a:solidFill>
              <a:srgbClr val="4A5058"/>
            </a:solidFill>
            <a:ln>
              <a:noFill/>
            </a:ln>
          </p:spPr>
          <p:txBody>
            <a:bodyPr/>
            <a:lstStyle/>
            <a:p>
              <a:endParaRPr lang="en-US"/>
            </a:p>
          </p:txBody>
        </p:sp>
        <p:sp>
          <p:nvSpPr>
            <p:cNvPr id="26" name="circle 27"/>
            <p:cNvSpPr/>
            <p:nvPr/>
          </p:nvSpPr>
          <p:spPr>
            <a:xfrm>
              <a:off x="5162550" y="2000250"/>
              <a:ext cx="76200" cy="76200"/>
            </a:xfrm>
            <a:prstGeom prst="ellipse">
              <a:avLst/>
            </a:prstGeom>
            <a:solidFill>
              <a:srgbClr val="4A5058"/>
            </a:solidFill>
            <a:ln>
              <a:noFill/>
            </a:ln>
          </p:spPr>
          <p:txBody>
            <a:bodyPr/>
            <a:lstStyle/>
            <a:p>
              <a:endParaRPr lang="en-US"/>
            </a:p>
          </p:txBody>
        </p:sp>
        <p:sp>
          <p:nvSpPr>
            <p:cNvPr id="27" name="circle 28"/>
            <p:cNvSpPr/>
            <p:nvPr/>
          </p:nvSpPr>
          <p:spPr>
            <a:xfrm>
              <a:off x="5314950" y="2000250"/>
              <a:ext cx="76200" cy="76200"/>
            </a:xfrm>
            <a:prstGeom prst="ellipse">
              <a:avLst/>
            </a:prstGeom>
            <a:solidFill>
              <a:srgbClr val="4A5058"/>
            </a:solidFill>
            <a:ln>
              <a:noFill/>
            </a:ln>
          </p:spPr>
          <p:txBody>
            <a:bodyPr/>
            <a:lstStyle/>
            <a:p>
              <a:endParaRPr lang="en-US"/>
            </a:p>
          </p:txBody>
        </p:sp>
        <p:sp>
          <p:nvSpPr>
            <p:cNvPr id="28" name="Text 29"/>
            <p:cNvSpPr txBox="1"/>
            <p:nvPr/>
          </p:nvSpPr>
          <p:spPr>
            <a:xfrm>
              <a:off x="5562600" y="1962150"/>
              <a:ext cx="1500260" cy="173355"/>
            </a:xfrm>
            <a:prstGeom prst="rect">
              <a:avLst/>
            </a:prstGeom>
            <a:noFill/>
          </p:spPr>
          <p:txBody>
            <a:bodyPr wrap="none" lIns="0" tIns="0" rIns="0" bIns="0" rtlCol="0" anchor="t">
              <a:noAutofit/>
            </a:bodyPr>
            <a:lstStyle/>
            <a:p>
              <a:pPr algn="l">
                <a:spcBef>
                  <a:spcPts val="0"/>
                </a:spcBef>
                <a:spcAft>
                  <a:spcPts val="0"/>
                </a:spcAft>
              </a:pPr>
              <a:r>
                <a:rPr lang="en-US" sz="900" b="0" dirty="0">
                  <a:solidFill>
                    <a:srgbClr val="9C9A94"/>
                  </a:solidFill>
                  <a:latin typeface="Segoe UI"/>
                  <a:ea typeface="Segoe UI"/>
                  <a:cs typeface="Segoe UI"/>
                </a:rPr>
                <a:t>report.md — Writing Studio</a:t>
              </a:r>
              <a:endParaRPr lang="en-US" sz="900" dirty="0"/>
            </a:p>
          </p:txBody>
        </p:sp>
        <p:sp>
          <p:nvSpPr>
            <p:cNvPr id="29" name="Text 30"/>
            <p:cNvSpPr txBox="1"/>
            <p:nvPr/>
          </p:nvSpPr>
          <p:spPr>
            <a:xfrm>
              <a:off x="10852705" y="1974850"/>
              <a:ext cx="539195" cy="157321"/>
            </a:xfrm>
            <a:prstGeom prst="rect">
              <a:avLst/>
            </a:prstGeom>
            <a:noFill/>
          </p:spPr>
          <p:txBody>
            <a:bodyPr wrap="none" lIns="0" tIns="0" rIns="0" bIns="0" rtlCol="0" anchor="t">
              <a:noAutofit/>
            </a:bodyPr>
            <a:lstStyle/>
            <a:p>
              <a:pPr algn="r">
                <a:spcBef>
                  <a:spcPts val="0"/>
                </a:spcBef>
                <a:spcAft>
                  <a:spcPts val="0"/>
                </a:spcAft>
              </a:pPr>
              <a:r>
                <a:rPr lang="en-US" sz="825" b="0" dirty="0">
                  <a:solidFill>
                    <a:srgbClr val="9C9A94"/>
                  </a:solidFill>
                  <a:latin typeface="Segoe UI"/>
                  <a:ea typeface="Segoe UI"/>
                  <a:cs typeface="Segoe UI"/>
                </a:rPr>
                <a:t>PAGE 2 / 6</a:t>
              </a:r>
              <a:endParaRPr lang="en-US" sz="825" dirty="0"/>
            </a:p>
          </p:txBody>
        </p:sp>
        <p:sp>
          <p:nvSpPr>
            <p:cNvPr id="30" name="Text 31"/>
            <p:cNvSpPr txBox="1"/>
            <p:nvPr/>
          </p:nvSpPr>
          <p:spPr>
            <a:xfrm>
              <a:off x="5010150" y="2413000"/>
              <a:ext cx="469122" cy="157321"/>
            </a:xfrm>
            <a:prstGeom prst="rect">
              <a:avLst/>
            </a:prstGeom>
            <a:noFill/>
          </p:spPr>
          <p:txBody>
            <a:bodyPr wrap="none" lIns="0" tIns="0" rIns="0" bIns="0" rtlCol="0" anchor="t">
              <a:noAutofit/>
            </a:bodyPr>
            <a:lstStyle/>
            <a:p>
              <a:pPr algn="l">
                <a:spcBef>
                  <a:spcPts val="0"/>
                </a:spcBef>
                <a:spcAft>
                  <a:spcPts val="0"/>
                </a:spcAft>
              </a:pPr>
              <a:r>
                <a:rPr lang="en-US" sz="825" b="0" dirty="0">
                  <a:solidFill>
                    <a:srgbClr val="9C9A94"/>
                  </a:solidFill>
                  <a:latin typeface="Segoe UI"/>
                  <a:ea typeface="Segoe UI"/>
                  <a:cs typeface="Segoe UI"/>
                </a:rPr>
                <a:t>OUTLINE</a:t>
              </a:r>
              <a:endParaRPr lang="en-US" sz="825" dirty="0"/>
            </a:p>
          </p:txBody>
        </p:sp>
        <p:sp>
          <p:nvSpPr>
            <p:cNvPr id="31" name="rect 32"/>
            <p:cNvSpPr/>
            <p:nvPr/>
          </p:nvSpPr>
          <p:spPr>
            <a:xfrm>
              <a:off x="4933950" y="3028950"/>
              <a:ext cx="971550" cy="285750"/>
            </a:xfrm>
            <a:prstGeom prst="roundRect">
              <a:avLst>
                <a:gd name="adj" fmla="val 6667"/>
              </a:avLst>
            </a:prstGeom>
            <a:solidFill>
              <a:srgbClr val="FF5B1F">
                <a:alpha val="14000"/>
              </a:srgbClr>
            </a:solidFill>
            <a:ln>
              <a:noFill/>
            </a:ln>
          </p:spPr>
          <p:txBody>
            <a:bodyPr/>
            <a:lstStyle/>
            <a:p>
              <a:endParaRPr lang="en-US"/>
            </a:p>
          </p:txBody>
        </p:sp>
        <p:sp>
          <p:nvSpPr>
            <p:cNvPr id="32" name="rect 33"/>
            <p:cNvSpPr/>
            <p:nvPr/>
          </p:nvSpPr>
          <p:spPr>
            <a:xfrm>
              <a:off x="4933950" y="3028950"/>
              <a:ext cx="28575" cy="285750"/>
            </a:xfrm>
            <a:prstGeom prst="rect">
              <a:avLst/>
            </a:prstGeom>
            <a:solidFill>
              <a:srgbClr val="FF5B1F"/>
            </a:solidFill>
            <a:ln>
              <a:noFill/>
            </a:ln>
          </p:spPr>
          <p:txBody>
            <a:bodyPr/>
            <a:lstStyle/>
            <a:p>
              <a:endParaRPr lang="en-US"/>
            </a:p>
          </p:txBody>
        </p:sp>
        <p:sp>
          <p:nvSpPr>
            <p:cNvPr id="33" name="Text 34"/>
            <p:cNvSpPr txBox="1"/>
            <p:nvPr/>
          </p:nvSpPr>
          <p:spPr>
            <a:xfrm>
              <a:off x="5067300" y="2724150"/>
              <a:ext cx="678532" cy="176689"/>
            </a:xfrm>
            <a:prstGeom prst="rect">
              <a:avLst/>
            </a:prstGeom>
            <a:noFill/>
          </p:spPr>
          <p:txBody>
            <a:bodyPr wrap="none" lIns="0" tIns="0" rIns="0" bIns="0" rtlCol="0" anchor="t">
              <a:noAutofit/>
            </a:bodyPr>
            <a:lstStyle/>
            <a:p>
              <a:pPr algn="l">
                <a:spcBef>
                  <a:spcPts val="0"/>
                </a:spcBef>
                <a:spcAft>
                  <a:spcPts val="0"/>
                </a:spcAft>
              </a:pPr>
              <a:r>
                <a:rPr lang="en-US" sz="975" b="0" dirty="0">
                  <a:solidFill>
                    <a:srgbClr val="9C9A94"/>
                  </a:solidFill>
                  <a:latin typeface="Segoe UI"/>
                  <a:ea typeface="Segoe UI"/>
                  <a:cs typeface="Segoe UI"/>
                </a:rPr>
                <a:t>1 Summary</a:t>
              </a:r>
              <a:endParaRPr lang="en-US" sz="975" dirty="0"/>
            </a:p>
          </p:txBody>
        </p:sp>
        <p:sp>
          <p:nvSpPr>
            <p:cNvPr id="34" name="Text 35"/>
            <p:cNvSpPr txBox="1"/>
            <p:nvPr/>
          </p:nvSpPr>
          <p:spPr>
            <a:xfrm>
              <a:off x="5067300" y="3105150"/>
              <a:ext cx="659793" cy="176689"/>
            </a:xfrm>
            <a:prstGeom prst="rect">
              <a:avLst/>
            </a:prstGeom>
            <a:noFill/>
          </p:spPr>
          <p:txBody>
            <a:bodyPr wrap="none" lIns="0" tIns="0" rIns="0" bIns="0" rtlCol="0" anchor="t">
              <a:noAutofit/>
            </a:bodyPr>
            <a:lstStyle/>
            <a:p>
              <a:pPr algn="l">
                <a:spcBef>
                  <a:spcPts val="0"/>
                </a:spcBef>
                <a:spcAft>
                  <a:spcPts val="0"/>
                </a:spcAft>
              </a:pPr>
              <a:r>
                <a:rPr lang="en-US" sz="975" b="1" dirty="0">
                  <a:solidFill>
                    <a:srgbClr val="EDE9E2"/>
                  </a:solidFill>
                  <a:latin typeface="Segoe UI"/>
                  <a:ea typeface="Segoe UI"/>
                  <a:cs typeface="Segoe UI"/>
                </a:rPr>
                <a:t>2 Findings</a:t>
              </a:r>
              <a:endParaRPr lang="en-US" sz="975" dirty="0"/>
            </a:p>
          </p:txBody>
        </p:sp>
        <p:sp>
          <p:nvSpPr>
            <p:cNvPr id="35" name="Text 36"/>
            <p:cNvSpPr txBox="1"/>
            <p:nvPr/>
          </p:nvSpPr>
          <p:spPr>
            <a:xfrm>
              <a:off x="5067300" y="3486150"/>
              <a:ext cx="593581" cy="176689"/>
            </a:xfrm>
            <a:prstGeom prst="rect">
              <a:avLst/>
            </a:prstGeom>
            <a:noFill/>
          </p:spPr>
          <p:txBody>
            <a:bodyPr wrap="none" lIns="0" tIns="0" rIns="0" bIns="0" rtlCol="0" anchor="t">
              <a:noAutofit/>
            </a:bodyPr>
            <a:lstStyle/>
            <a:p>
              <a:pPr algn="l">
                <a:spcBef>
                  <a:spcPts val="0"/>
                </a:spcBef>
                <a:spcAft>
                  <a:spcPts val="0"/>
                </a:spcAft>
              </a:pPr>
              <a:r>
                <a:rPr lang="en-US" sz="975" b="0" dirty="0">
                  <a:solidFill>
                    <a:srgbClr val="9C9A94"/>
                  </a:solidFill>
                  <a:latin typeface="Segoe UI"/>
                  <a:ea typeface="Segoe UI"/>
                  <a:cs typeface="Segoe UI"/>
                </a:rPr>
                <a:t>3 Method</a:t>
              </a:r>
              <a:endParaRPr lang="en-US" sz="975" dirty="0"/>
            </a:p>
          </p:txBody>
        </p:sp>
        <p:sp>
          <p:nvSpPr>
            <p:cNvPr id="36" name="Text 37"/>
            <p:cNvSpPr txBox="1"/>
            <p:nvPr/>
          </p:nvSpPr>
          <p:spPr>
            <a:xfrm>
              <a:off x="5067300" y="3867150"/>
              <a:ext cx="740468" cy="176689"/>
            </a:xfrm>
            <a:prstGeom prst="rect">
              <a:avLst/>
            </a:prstGeom>
            <a:noFill/>
          </p:spPr>
          <p:txBody>
            <a:bodyPr wrap="none" lIns="0" tIns="0" rIns="0" bIns="0" rtlCol="0" anchor="t">
              <a:noAutofit/>
            </a:bodyPr>
            <a:lstStyle/>
            <a:p>
              <a:pPr algn="l">
                <a:spcBef>
                  <a:spcPts val="0"/>
                </a:spcBef>
                <a:spcAft>
                  <a:spcPts val="0"/>
                </a:spcAft>
              </a:pPr>
              <a:r>
                <a:rPr lang="en-US" sz="975" b="0" dirty="0">
                  <a:solidFill>
                    <a:srgbClr val="9C9A94"/>
                  </a:solidFill>
                  <a:latin typeface="Segoe UI"/>
                  <a:ea typeface="Segoe UI"/>
                  <a:cs typeface="Segoe UI"/>
                </a:rPr>
                <a:t>4 Next steps</a:t>
              </a:r>
              <a:endParaRPr lang="en-US" sz="975" dirty="0"/>
            </a:p>
          </p:txBody>
        </p:sp>
        <p:sp>
          <p:nvSpPr>
            <p:cNvPr id="37" name="Text 38"/>
            <p:cNvSpPr txBox="1"/>
            <p:nvPr/>
          </p:nvSpPr>
          <p:spPr>
            <a:xfrm>
              <a:off x="5010150" y="5899150"/>
              <a:ext cx="614800" cy="157321"/>
            </a:xfrm>
            <a:prstGeom prst="rect">
              <a:avLst/>
            </a:prstGeom>
            <a:noFill/>
          </p:spPr>
          <p:txBody>
            <a:bodyPr wrap="none" lIns="0" tIns="0" rIns="0" bIns="0" rtlCol="0" anchor="t">
              <a:noAutofit/>
            </a:bodyPr>
            <a:lstStyle/>
            <a:p>
              <a:pPr algn="l">
                <a:spcBef>
                  <a:spcPts val="0"/>
                </a:spcBef>
                <a:spcAft>
                  <a:spcPts val="0"/>
                </a:spcAft>
              </a:pPr>
              <a:r>
                <a:rPr lang="en-US" sz="825" b="0" dirty="0">
                  <a:solidFill>
                    <a:srgbClr val="9C9A94"/>
                  </a:solidFill>
                  <a:latin typeface="Segoe UI"/>
                  <a:ea typeface="Segoe UI"/>
                  <a:cs typeface="Segoe UI"/>
                </a:rPr>
                <a:t>4 SECTIONS</a:t>
              </a:r>
              <a:endParaRPr lang="en-US" sz="825" dirty="0"/>
            </a:p>
          </p:txBody>
        </p:sp>
        <p:sp>
          <p:nvSpPr>
            <p:cNvPr id="38" name="line 39"/>
            <p:cNvSpPr/>
            <p:nvPr/>
          </p:nvSpPr>
          <p:spPr>
            <a:xfrm>
              <a:off x="6000750" y="2343150"/>
              <a:ext cx="95" cy="3771900"/>
            </a:xfrm>
            <a:custGeom>
              <a:avLst/>
              <a:gdLst/>
              <a:ahLst/>
              <a:cxnLst/>
              <a:rect l="0" t="0" r="r" b="b"/>
              <a:pathLst>
                <a:path w="95" h="3771900" fill="none">
                  <a:moveTo>
                    <a:pt x="0" y="0"/>
                  </a:moveTo>
                  <a:lnTo>
                    <a:pt x="0" y="3771900"/>
                  </a:lnTo>
                </a:path>
              </a:pathLst>
            </a:custGeom>
            <a:noFill/>
            <a:ln w="9525" cap="flat">
              <a:solidFill>
                <a:srgbClr val="2A2E35"/>
              </a:solidFill>
              <a:miter lim="800000"/>
            </a:ln>
          </p:spPr>
          <p:txBody>
            <a:bodyPr/>
            <a:lstStyle/>
            <a:p>
              <a:endParaRPr lang="en-US"/>
            </a:p>
          </p:txBody>
        </p:sp>
        <p:sp>
          <p:nvSpPr>
            <p:cNvPr id="39" name="rect 40"/>
            <p:cNvSpPr/>
            <p:nvPr/>
          </p:nvSpPr>
          <p:spPr>
            <a:xfrm>
              <a:off x="6134100" y="2362200"/>
              <a:ext cx="3238500" cy="3733800"/>
            </a:xfrm>
            <a:prstGeom prst="roundRect">
              <a:avLst>
                <a:gd name="adj" fmla="val 588"/>
              </a:avLst>
            </a:prstGeom>
            <a:solidFill>
              <a:srgbClr val="F2EEE7"/>
            </a:solidFill>
            <a:ln>
              <a:noFill/>
            </a:ln>
          </p:spPr>
          <p:txBody>
            <a:bodyPr/>
            <a:lstStyle/>
            <a:p>
              <a:endParaRPr lang="en-US"/>
            </a:p>
          </p:txBody>
        </p:sp>
        <p:sp>
          <p:nvSpPr>
            <p:cNvPr id="40" name="rect 41"/>
            <p:cNvSpPr/>
            <p:nvPr/>
          </p:nvSpPr>
          <p:spPr>
            <a:xfrm>
              <a:off x="6362700" y="2514600"/>
              <a:ext cx="266700" cy="38100"/>
            </a:xfrm>
            <a:prstGeom prst="rect">
              <a:avLst/>
            </a:prstGeom>
            <a:solidFill>
              <a:srgbClr val="FF5B1F"/>
            </a:solidFill>
            <a:ln>
              <a:noFill/>
            </a:ln>
          </p:spPr>
          <p:txBody>
            <a:bodyPr/>
            <a:lstStyle/>
            <a:p>
              <a:endParaRPr lang="en-US"/>
            </a:p>
          </p:txBody>
        </p:sp>
        <p:sp>
          <p:nvSpPr>
            <p:cNvPr id="41" name="Text 42"/>
            <p:cNvSpPr txBox="1"/>
            <p:nvPr/>
          </p:nvSpPr>
          <p:spPr>
            <a:xfrm>
              <a:off x="6362700" y="2641600"/>
              <a:ext cx="722170" cy="157321"/>
            </a:xfrm>
            <a:prstGeom prst="rect">
              <a:avLst/>
            </a:prstGeom>
            <a:noFill/>
          </p:spPr>
          <p:txBody>
            <a:bodyPr wrap="none" lIns="0" tIns="0" rIns="0" bIns="0" rtlCol="0" anchor="t">
              <a:noAutofit/>
            </a:bodyPr>
            <a:lstStyle/>
            <a:p>
              <a:pPr algn="l">
                <a:spcBef>
                  <a:spcPts val="0"/>
                </a:spcBef>
                <a:spcAft>
                  <a:spcPts val="0"/>
                </a:spcAft>
              </a:pPr>
              <a:r>
                <a:rPr lang="en-US" sz="825" b="0" dirty="0">
                  <a:solidFill>
                    <a:srgbClr val="14171B"/>
                  </a:solidFill>
                  <a:latin typeface="Segoe UI"/>
                  <a:ea typeface="Segoe UI"/>
                  <a:cs typeface="Segoe UI"/>
                </a:rPr>
                <a:t>02 · FINDINGS</a:t>
              </a:r>
              <a:endParaRPr lang="en-US" sz="825" dirty="0"/>
            </a:p>
          </p:txBody>
        </p:sp>
        <p:sp>
          <p:nvSpPr>
            <p:cNvPr id="42" name="Text 43"/>
            <p:cNvSpPr txBox="1"/>
            <p:nvPr/>
          </p:nvSpPr>
          <p:spPr>
            <a:xfrm>
              <a:off x="6362700" y="2838450"/>
              <a:ext cx="1784216" cy="530543"/>
            </a:xfrm>
            <a:prstGeom prst="rect">
              <a:avLst/>
            </a:prstGeom>
            <a:noFill/>
          </p:spPr>
          <p:txBody>
            <a:bodyPr wrap="none" lIns="0" tIns="0" rIns="0" bIns="0" rtlCol="0" anchor="t">
              <a:noAutofit/>
            </a:bodyPr>
            <a:lstStyle/>
            <a:p>
              <a:pPr algn="l">
                <a:lnSpc>
                  <a:spcPts val="2000"/>
                </a:lnSpc>
                <a:spcBef>
                  <a:spcPts val="0"/>
                </a:spcBef>
                <a:spcAft>
                  <a:spcPts val="0"/>
                </a:spcAft>
              </a:pPr>
              <a:r>
                <a:rPr lang="en-US" sz="1650" b="1" dirty="0">
                  <a:solidFill>
                    <a:srgbClr val="14171B"/>
                  </a:solidFill>
                  <a:latin typeface="Bahnschrift"/>
                  <a:ea typeface="Bahnschrift"/>
                  <a:cs typeface="Bahnschrift"/>
                </a:rPr>
                <a:t>Usage grew every</a:t>
              </a:r>
              <a:endParaRPr lang="en-US" sz="1650" dirty="0"/>
            </a:p>
            <a:p>
              <a:pPr algn="l">
                <a:lnSpc>
                  <a:spcPts val="2000"/>
                </a:lnSpc>
                <a:spcBef>
                  <a:spcPts val="0"/>
                </a:spcBef>
                <a:spcAft>
                  <a:spcPts val="0"/>
                </a:spcAft>
              </a:pPr>
              <a:r>
                <a:rPr lang="en-US" sz="1650" b="1" dirty="0">
                  <a:solidFill>
                    <a:srgbClr val="14171B"/>
                  </a:solidFill>
                  <a:latin typeface="Bahnschrift"/>
                  <a:ea typeface="Bahnschrift"/>
                  <a:cs typeface="Bahnschrift"/>
                </a:rPr>
                <a:t>quarter this year</a:t>
              </a:r>
              <a:endParaRPr lang="en-US" sz="1650" dirty="0"/>
            </a:p>
          </p:txBody>
        </p:sp>
        <p:sp>
          <p:nvSpPr>
            <p:cNvPr id="43" name="Text 44"/>
            <p:cNvSpPr txBox="1"/>
            <p:nvPr/>
          </p:nvSpPr>
          <p:spPr>
            <a:xfrm>
              <a:off x="6362700" y="3416300"/>
              <a:ext cx="2167406" cy="347980"/>
            </a:xfrm>
            <a:prstGeom prst="rect">
              <a:avLst/>
            </a:prstGeom>
            <a:noFill/>
          </p:spPr>
          <p:txBody>
            <a:bodyPr wrap="none" lIns="0" tIns="0" rIns="0" bIns="0" rtlCol="0" anchor="t">
              <a:noAutofit/>
            </a:bodyPr>
            <a:lstStyle/>
            <a:p>
              <a:pPr algn="l">
                <a:lnSpc>
                  <a:spcPts val="1300"/>
                </a:lnSpc>
                <a:spcBef>
                  <a:spcPts val="0"/>
                </a:spcBef>
                <a:spcAft>
                  <a:spcPts val="0"/>
                </a:spcAft>
              </a:pPr>
              <a:r>
                <a:rPr lang="en-US" sz="900" b="0" dirty="0">
                  <a:solidFill>
                    <a:srgbClr val="3A3A38"/>
                  </a:solidFill>
                  <a:latin typeface="Segoe UI"/>
                  <a:ea typeface="Segoe UI"/>
                  <a:cs typeface="Segoe UI"/>
                </a:rPr>
                <a:t>Draft and figure sit on the same page,</a:t>
              </a:r>
              <a:endParaRPr lang="en-US" sz="900" dirty="0"/>
            </a:p>
            <a:p>
              <a:pPr algn="l">
                <a:lnSpc>
                  <a:spcPts val="1300"/>
                </a:lnSpc>
                <a:spcBef>
                  <a:spcPts val="0"/>
                </a:spcBef>
                <a:spcAft>
                  <a:spcPts val="0"/>
                </a:spcAft>
              </a:pPr>
              <a:r>
                <a:rPr lang="en-US" sz="900" b="0" dirty="0">
                  <a:solidFill>
                    <a:srgbClr val="3A3A38"/>
                  </a:solidFill>
                  <a:latin typeface="Segoe UI"/>
                  <a:ea typeface="Segoe UI"/>
                  <a:cs typeface="Segoe UI"/>
                </a:rPr>
                <a:t>so the numbers never drift from the text.</a:t>
              </a:r>
              <a:endParaRPr lang="en-US" sz="900" dirty="0"/>
            </a:p>
          </p:txBody>
        </p:sp>
        <p:sp>
          <p:nvSpPr>
            <p:cNvPr id="44" name="line 45"/>
            <p:cNvSpPr/>
            <p:nvPr/>
          </p:nvSpPr>
          <p:spPr>
            <a:xfrm>
              <a:off x="6362700" y="5334000"/>
              <a:ext cx="2781300" cy="95"/>
            </a:xfrm>
            <a:custGeom>
              <a:avLst/>
              <a:gdLst/>
              <a:ahLst/>
              <a:cxnLst/>
              <a:rect l="0" t="0" r="r" b="b"/>
              <a:pathLst>
                <a:path w="2781300" h="95" fill="none">
                  <a:moveTo>
                    <a:pt x="0" y="0"/>
                  </a:moveTo>
                  <a:lnTo>
                    <a:pt x="2781300" y="0"/>
                  </a:lnTo>
                </a:path>
              </a:pathLst>
            </a:custGeom>
            <a:noFill/>
            <a:ln w="9525" cap="flat">
              <a:solidFill>
                <a:srgbClr val="14171B">
                  <a:alpha val="40000"/>
                </a:srgbClr>
              </a:solidFill>
              <a:miter lim="800000"/>
            </a:ln>
          </p:spPr>
          <p:txBody>
            <a:bodyPr/>
            <a:lstStyle/>
            <a:p>
              <a:endParaRPr lang="en-US"/>
            </a:p>
          </p:txBody>
        </p:sp>
        <p:sp>
          <p:nvSpPr>
            <p:cNvPr id="45" name="line 46"/>
            <p:cNvSpPr/>
            <p:nvPr/>
          </p:nvSpPr>
          <p:spPr>
            <a:xfrm>
              <a:off x="6362700" y="5905500"/>
              <a:ext cx="2781300" cy="95"/>
            </a:xfrm>
            <a:custGeom>
              <a:avLst/>
              <a:gdLst/>
              <a:ahLst/>
              <a:cxnLst/>
              <a:rect l="0" t="0" r="r" b="b"/>
              <a:pathLst>
                <a:path w="2781300" h="95" fill="none">
                  <a:moveTo>
                    <a:pt x="0" y="0"/>
                  </a:moveTo>
                  <a:lnTo>
                    <a:pt x="2781300" y="0"/>
                  </a:lnTo>
                </a:path>
              </a:pathLst>
            </a:custGeom>
            <a:noFill/>
            <a:ln w="9525" cap="flat">
              <a:solidFill>
                <a:srgbClr val="14171B">
                  <a:alpha val="15000"/>
                </a:srgbClr>
              </a:solidFill>
              <a:miter lim="800000"/>
            </a:ln>
          </p:spPr>
          <p:txBody>
            <a:bodyPr/>
            <a:lstStyle/>
            <a:p>
              <a:endParaRPr lang="en-US"/>
            </a:p>
          </p:txBody>
        </p:sp>
      </p:grpSp>
      <p:grpSp>
        <p:nvGrpSpPr>
          <p:cNvPr id="69" name="report-chart"/>
          <p:cNvGrpSpPr/>
          <p:nvPr/>
        </p:nvGrpSpPr>
        <p:grpSpPr>
          <a:xfrm>
            <a:off x="6362700" y="3852863"/>
            <a:ext cx="2781300" cy="2032159"/>
            <a:chOff x="6362700" y="3852863"/>
            <a:chExt cx="2781300" cy="2032159"/>
          </a:xfrm>
        </p:grpSpPr>
        <p:sp>
          <p:nvSpPr>
            <p:cNvPr id="47" name="rect 48"/>
            <p:cNvSpPr/>
            <p:nvPr/>
          </p:nvSpPr>
          <p:spPr>
            <a:xfrm>
              <a:off x="6362700" y="4991100"/>
              <a:ext cx="361950" cy="342900"/>
            </a:xfrm>
            <a:prstGeom prst="rect">
              <a:avLst/>
            </a:prstGeom>
            <a:solidFill>
              <a:srgbClr val="F6B69A"/>
            </a:solidFill>
            <a:ln>
              <a:noFill/>
            </a:ln>
          </p:spPr>
          <p:txBody>
            <a:bodyPr/>
            <a:lstStyle/>
            <a:p>
              <a:endParaRPr lang="en-US"/>
            </a:p>
          </p:txBody>
        </p:sp>
        <p:sp>
          <p:nvSpPr>
            <p:cNvPr id="48" name="rect 49"/>
            <p:cNvSpPr/>
            <p:nvPr/>
          </p:nvSpPr>
          <p:spPr>
            <a:xfrm>
              <a:off x="6962775" y="4819650"/>
              <a:ext cx="361950" cy="514350"/>
            </a:xfrm>
            <a:prstGeom prst="rect">
              <a:avLst/>
            </a:prstGeom>
            <a:solidFill>
              <a:srgbClr val="F6B69A"/>
            </a:solidFill>
            <a:ln>
              <a:noFill/>
            </a:ln>
          </p:spPr>
          <p:txBody>
            <a:bodyPr/>
            <a:lstStyle/>
            <a:p>
              <a:endParaRPr lang="en-US"/>
            </a:p>
          </p:txBody>
        </p:sp>
        <p:sp>
          <p:nvSpPr>
            <p:cNvPr id="49" name="rect 50"/>
            <p:cNvSpPr/>
            <p:nvPr/>
          </p:nvSpPr>
          <p:spPr>
            <a:xfrm>
              <a:off x="7572375" y="4591050"/>
              <a:ext cx="361950" cy="742950"/>
            </a:xfrm>
            <a:prstGeom prst="rect">
              <a:avLst/>
            </a:prstGeom>
            <a:solidFill>
              <a:srgbClr val="F6B69A"/>
            </a:solidFill>
            <a:ln>
              <a:noFill/>
            </a:ln>
          </p:spPr>
          <p:txBody>
            <a:bodyPr/>
            <a:lstStyle/>
            <a:p>
              <a:endParaRPr lang="en-US"/>
            </a:p>
          </p:txBody>
        </p:sp>
        <p:sp>
          <p:nvSpPr>
            <p:cNvPr id="50" name="rect 51"/>
            <p:cNvSpPr/>
            <p:nvPr/>
          </p:nvSpPr>
          <p:spPr>
            <a:xfrm>
              <a:off x="8172450" y="4362450"/>
              <a:ext cx="361950" cy="971550"/>
            </a:xfrm>
            <a:prstGeom prst="rect">
              <a:avLst/>
            </a:prstGeom>
            <a:solidFill>
              <a:srgbClr val="F6B69A"/>
            </a:solidFill>
            <a:ln>
              <a:noFill/>
            </a:ln>
          </p:spPr>
          <p:txBody>
            <a:bodyPr/>
            <a:lstStyle/>
            <a:p>
              <a:endParaRPr lang="en-US"/>
            </a:p>
          </p:txBody>
        </p:sp>
        <p:sp>
          <p:nvSpPr>
            <p:cNvPr id="51" name="rect 52"/>
            <p:cNvSpPr/>
            <p:nvPr/>
          </p:nvSpPr>
          <p:spPr>
            <a:xfrm>
              <a:off x="8782050" y="4019550"/>
              <a:ext cx="361950" cy="1314450"/>
            </a:xfrm>
            <a:prstGeom prst="rect">
              <a:avLst/>
            </a:prstGeom>
            <a:solidFill>
              <a:srgbClr val="FF5B1F"/>
            </a:solidFill>
            <a:ln>
              <a:noFill/>
            </a:ln>
          </p:spPr>
          <p:txBody>
            <a:bodyPr/>
            <a:lstStyle/>
            <a:p>
              <a:endParaRPr lang="en-US"/>
            </a:p>
          </p:txBody>
        </p:sp>
        <p:sp>
          <p:nvSpPr>
            <p:cNvPr id="52" name="Text 53"/>
            <p:cNvSpPr txBox="1"/>
            <p:nvPr/>
          </p:nvSpPr>
          <p:spPr>
            <a:xfrm>
              <a:off x="6465886" y="5165725"/>
              <a:ext cx="155579" cy="157321"/>
            </a:xfrm>
            <a:prstGeom prst="rect">
              <a:avLst/>
            </a:prstGeom>
            <a:noFill/>
          </p:spPr>
          <p:txBody>
            <a:bodyPr wrap="none" lIns="0" tIns="0" rIns="0" bIns="0" rtlCol="0" anchor="t">
              <a:noAutofit/>
            </a:bodyPr>
            <a:lstStyle/>
            <a:p>
              <a:pPr algn="ctr">
                <a:spcBef>
                  <a:spcPts val="0"/>
                </a:spcBef>
                <a:spcAft>
                  <a:spcPts val="0"/>
                </a:spcAft>
              </a:pPr>
              <a:r>
                <a:rPr lang="en-US" sz="825" b="0" dirty="0">
                  <a:solidFill>
                    <a:srgbClr val="14171B"/>
                  </a:solidFill>
                  <a:latin typeface="Segoe UI"/>
                  <a:ea typeface="Segoe UI"/>
                  <a:cs typeface="Segoe UI"/>
                </a:rPr>
                <a:t>12</a:t>
              </a:r>
              <a:endParaRPr lang="en-US" sz="825" dirty="0"/>
            </a:p>
          </p:txBody>
        </p:sp>
        <p:sp>
          <p:nvSpPr>
            <p:cNvPr id="53" name="Text 54"/>
            <p:cNvSpPr txBox="1"/>
            <p:nvPr/>
          </p:nvSpPr>
          <p:spPr>
            <a:xfrm>
              <a:off x="7065961" y="5165725"/>
              <a:ext cx="155579" cy="157321"/>
            </a:xfrm>
            <a:prstGeom prst="rect">
              <a:avLst/>
            </a:prstGeom>
            <a:noFill/>
          </p:spPr>
          <p:txBody>
            <a:bodyPr wrap="none" lIns="0" tIns="0" rIns="0" bIns="0" rtlCol="0" anchor="t">
              <a:noAutofit/>
            </a:bodyPr>
            <a:lstStyle/>
            <a:p>
              <a:pPr algn="ctr">
                <a:spcBef>
                  <a:spcPts val="0"/>
                </a:spcBef>
                <a:spcAft>
                  <a:spcPts val="0"/>
                </a:spcAft>
              </a:pPr>
              <a:r>
                <a:rPr lang="en-US" sz="825" b="0" dirty="0">
                  <a:solidFill>
                    <a:srgbClr val="14171B"/>
                  </a:solidFill>
                  <a:latin typeface="Segoe UI"/>
                  <a:ea typeface="Segoe UI"/>
                  <a:cs typeface="Segoe UI"/>
                </a:rPr>
                <a:t>18</a:t>
              </a:r>
              <a:endParaRPr lang="en-US" sz="825" dirty="0"/>
            </a:p>
          </p:txBody>
        </p:sp>
        <p:sp>
          <p:nvSpPr>
            <p:cNvPr id="54" name="Text 55"/>
            <p:cNvSpPr txBox="1"/>
            <p:nvPr/>
          </p:nvSpPr>
          <p:spPr>
            <a:xfrm>
              <a:off x="7675561" y="5165725"/>
              <a:ext cx="155579" cy="157321"/>
            </a:xfrm>
            <a:prstGeom prst="rect">
              <a:avLst/>
            </a:prstGeom>
            <a:noFill/>
          </p:spPr>
          <p:txBody>
            <a:bodyPr wrap="none" lIns="0" tIns="0" rIns="0" bIns="0" rtlCol="0" anchor="t">
              <a:noAutofit/>
            </a:bodyPr>
            <a:lstStyle/>
            <a:p>
              <a:pPr algn="ctr">
                <a:spcBef>
                  <a:spcPts val="0"/>
                </a:spcBef>
                <a:spcAft>
                  <a:spcPts val="0"/>
                </a:spcAft>
              </a:pPr>
              <a:r>
                <a:rPr lang="en-US" sz="825" b="0" dirty="0">
                  <a:solidFill>
                    <a:srgbClr val="14171B"/>
                  </a:solidFill>
                  <a:latin typeface="Segoe UI"/>
                  <a:ea typeface="Segoe UI"/>
                  <a:cs typeface="Segoe UI"/>
                </a:rPr>
                <a:t>26</a:t>
              </a:r>
              <a:endParaRPr lang="en-US" sz="825" dirty="0"/>
            </a:p>
          </p:txBody>
        </p:sp>
        <p:sp>
          <p:nvSpPr>
            <p:cNvPr id="55" name="Text 56"/>
            <p:cNvSpPr txBox="1"/>
            <p:nvPr/>
          </p:nvSpPr>
          <p:spPr>
            <a:xfrm>
              <a:off x="8275636" y="5165725"/>
              <a:ext cx="155579" cy="157321"/>
            </a:xfrm>
            <a:prstGeom prst="rect">
              <a:avLst/>
            </a:prstGeom>
            <a:noFill/>
          </p:spPr>
          <p:txBody>
            <a:bodyPr wrap="none" lIns="0" tIns="0" rIns="0" bIns="0" rtlCol="0" anchor="t">
              <a:noAutofit/>
            </a:bodyPr>
            <a:lstStyle/>
            <a:p>
              <a:pPr algn="ctr">
                <a:spcBef>
                  <a:spcPts val="0"/>
                </a:spcBef>
                <a:spcAft>
                  <a:spcPts val="0"/>
                </a:spcAft>
              </a:pPr>
              <a:r>
                <a:rPr lang="en-US" sz="825" b="0" dirty="0">
                  <a:solidFill>
                    <a:srgbClr val="14171B"/>
                  </a:solidFill>
                  <a:latin typeface="Segoe UI"/>
                  <a:ea typeface="Segoe UI"/>
                  <a:cs typeface="Segoe UI"/>
                </a:rPr>
                <a:t>34</a:t>
              </a:r>
              <a:endParaRPr lang="en-US" sz="825" dirty="0"/>
            </a:p>
          </p:txBody>
        </p:sp>
        <p:sp>
          <p:nvSpPr>
            <p:cNvPr id="56" name="Text 57"/>
            <p:cNvSpPr txBox="1"/>
            <p:nvPr/>
          </p:nvSpPr>
          <p:spPr>
            <a:xfrm>
              <a:off x="8881298" y="5165725"/>
              <a:ext cx="163453" cy="157321"/>
            </a:xfrm>
            <a:prstGeom prst="rect">
              <a:avLst/>
            </a:prstGeom>
            <a:noFill/>
          </p:spPr>
          <p:txBody>
            <a:bodyPr wrap="none" lIns="0" tIns="0" rIns="0" bIns="0" rtlCol="0" anchor="t">
              <a:noAutofit/>
            </a:bodyPr>
            <a:lstStyle/>
            <a:p>
              <a:pPr algn="ctr">
                <a:spcBef>
                  <a:spcPts val="0"/>
                </a:spcBef>
                <a:spcAft>
                  <a:spcPts val="0"/>
                </a:spcAft>
              </a:pPr>
              <a:r>
                <a:rPr lang="en-US" sz="825" b="1" dirty="0">
                  <a:solidFill>
                    <a:srgbClr val="14171B"/>
                  </a:solidFill>
                  <a:latin typeface="Segoe UI"/>
                  <a:ea typeface="Segoe UI"/>
                  <a:cs typeface="Segoe UI"/>
                </a:rPr>
                <a:t>46</a:t>
              </a:r>
              <a:endParaRPr lang="en-US" sz="825" dirty="0"/>
            </a:p>
          </p:txBody>
        </p:sp>
        <p:sp>
          <p:nvSpPr>
            <p:cNvPr id="57" name="polyline 58"/>
            <p:cNvSpPr/>
            <p:nvPr/>
          </p:nvSpPr>
          <p:spPr>
            <a:xfrm>
              <a:off x="6543675" y="3886200"/>
              <a:ext cx="2419350" cy="971550"/>
            </a:xfrm>
            <a:custGeom>
              <a:avLst/>
              <a:gdLst/>
              <a:ahLst/>
              <a:cxnLst/>
              <a:rect l="0" t="0" r="r" b="b"/>
              <a:pathLst>
                <a:path w="2419350" h="971550" fill="none">
                  <a:moveTo>
                    <a:pt x="0" y="971550"/>
                  </a:moveTo>
                  <a:lnTo>
                    <a:pt x="600075" y="800100"/>
                  </a:lnTo>
                  <a:lnTo>
                    <a:pt x="1209675" y="571500"/>
                  </a:lnTo>
                  <a:lnTo>
                    <a:pt x="1809750" y="342900"/>
                  </a:lnTo>
                  <a:lnTo>
                    <a:pt x="2419350" y="0"/>
                  </a:lnTo>
                </a:path>
              </a:pathLst>
            </a:custGeom>
            <a:noFill/>
            <a:ln w="19050" cap="flat">
              <a:solidFill>
                <a:srgbClr val="3D8BFF"/>
              </a:solidFill>
              <a:miter lim="800000"/>
            </a:ln>
          </p:spPr>
          <p:txBody>
            <a:bodyPr/>
            <a:lstStyle/>
            <a:p>
              <a:endParaRPr lang="en-US"/>
            </a:p>
          </p:txBody>
        </p:sp>
        <p:sp>
          <p:nvSpPr>
            <p:cNvPr id="58" name="circle 59"/>
            <p:cNvSpPr/>
            <p:nvPr/>
          </p:nvSpPr>
          <p:spPr>
            <a:xfrm>
              <a:off x="6510338" y="4824413"/>
              <a:ext cx="66675" cy="66675"/>
            </a:xfrm>
            <a:prstGeom prst="ellipse">
              <a:avLst/>
            </a:prstGeom>
            <a:solidFill>
              <a:srgbClr val="3D8BFF"/>
            </a:solidFill>
            <a:ln>
              <a:noFill/>
            </a:ln>
          </p:spPr>
          <p:txBody>
            <a:bodyPr/>
            <a:lstStyle/>
            <a:p>
              <a:endParaRPr lang="en-US"/>
            </a:p>
          </p:txBody>
        </p:sp>
        <p:sp>
          <p:nvSpPr>
            <p:cNvPr id="59" name="circle 60"/>
            <p:cNvSpPr/>
            <p:nvPr/>
          </p:nvSpPr>
          <p:spPr>
            <a:xfrm>
              <a:off x="7110413" y="4652963"/>
              <a:ext cx="66675" cy="66675"/>
            </a:xfrm>
            <a:prstGeom prst="ellipse">
              <a:avLst/>
            </a:prstGeom>
            <a:solidFill>
              <a:srgbClr val="3D8BFF"/>
            </a:solidFill>
            <a:ln>
              <a:noFill/>
            </a:ln>
          </p:spPr>
          <p:txBody>
            <a:bodyPr/>
            <a:lstStyle/>
            <a:p>
              <a:endParaRPr lang="en-US"/>
            </a:p>
          </p:txBody>
        </p:sp>
        <p:sp>
          <p:nvSpPr>
            <p:cNvPr id="60" name="circle 61"/>
            <p:cNvSpPr/>
            <p:nvPr/>
          </p:nvSpPr>
          <p:spPr>
            <a:xfrm>
              <a:off x="7720013" y="4424363"/>
              <a:ext cx="66675" cy="66675"/>
            </a:xfrm>
            <a:prstGeom prst="ellipse">
              <a:avLst/>
            </a:prstGeom>
            <a:solidFill>
              <a:srgbClr val="3D8BFF"/>
            </a:solidFill>
            <a:ln>
              <a:noFill/>
            </a:ln>
          </p:spPr>
          <p:txBody>
            <a:bodyPr/>
            <a:lstStyle/>
            <a:p>
              <a:endParaRPr lang="en-US"/>
            </a:p>
          </p:txBody>
        </p:sp>
        <p:sp>
          <p:nvSpPr>
            <p:cNvPr id="61" name="circle 62"/>
            <p:cNvSpPr/>
            <p:nvPr/>
          </p:nvSpPr>
          <p:spPr>
            <a:xfrm>
              <a:off x="8320088" y="4195763"/>
              <a:ext cx="66675" cy="66675"/>
            </a:xfrm>
            <a:prstGeom prst="ellipse">
              <a:avLst/>
            </a:prstGeom>
            <a:solidFill>
              <a:srgbClr val="3D8BFF"/>
            </a:solidFill>
            <a:ln>
              <a:noFill/>
            </a:ln>
          </p:spPr>
          <p:txBody>
            <a:bodyPr/>
            <a:lstStyle/>
            <a:p>
              <a:endParaRPr lang="en-US"/>
            </a:p>
          </p:txBody>
        </p:sp>
        <p:sp>
          <p:nvSpPr>
            <p:cNvPr id="62" name="circle 63"/>
            <p:cNvSpPr/>
            <p:nvPr/>
          </p:nvSpPr>
          <p:spPr>
            <a:xfrm>
              <a:off x="8929688" y="3852863"/>
              <a:ext cx="66675" cy="66675"/>
            </a:xfrm>
            <a:prstGeom prst="ellipse">
              <a:avLst/>
            </a:prstGeom>
            <a:solidFill>
              <a:srgbClr val="3D8BFF"/>
            </a:solidFill>
            <a:ln>
              <a:noFill/>
            </a:ln>
          </p:spPr>
          <p:txBody>
            <a:bodyPr/>
            <a:lstStyle/>
            <a:p>
              <a:endParaRPr lang="en-US"/>
            </a:p>
          </p:txBody>
        </p:sp>
        <p:sp>
          <p:nvSpPr>
            <p:cNvPr id="63" name="Text 64"/>
            <p:cNvSpPr txBox="1"/>
            <p:nvPr/>
          </p:nvSpPr>
          <p:spPr>
            <a:xfrm>
              <a:off x="6454180" y="5384800"/>
              <a:ext cx="178990" cy="157321"/>
            </a:xfrm>
            <a:prstGeom prst="rect">
              <a:avLst/>
            </a:prstGeom>
            <a:noFill/>
          </p:spPr>
          <p:txBody>
            <a:bodyPr wrap="none" lIns="0" tIns="0" rIns="0" bIns="0" rtlCol="0" anchor="t">
              <a:noAutofit/>
            </a:bodyPr>
            <a:lstStyle/>
            <a:p>
              <a:pPr algn="ctr">
                <a:spcBef>
                  <a:spcPts val="0"/>
                </a:spcBef>
                <a:spcAft>
                  <a:spcPts val="0"/>
                </a:spcAft>
              </a:pPr>
              <a:r>
                <a:rPr lang="en-US" sz="825" b="0" dirty="0">
                  <a:solidFill>
                    <a:srgbClr val="6B6A66"/>
                  </a:solidFill>
                  <a:latin typeface="Segoe UI"/>
                  <a:ea typeface="Segoe UI"/>
                  <a:cs typeface="Segoe UI"/>
                </a:rPr>
                <a:t>Q1</a:t>
              </a:r>
              <a:endParaRPr lang="en-US" sz="825" dirty="0"/>
            </a:p>
          </p:txBody>
        </p:sp>
        <p:sp>
          <p:nvSpPr>
            <p:cNvPr id="64" name="Text 65"/>
            <p:cNvSpPr txBox="1"/>
            <p:nvPr/>
          </p:nvSpPr>
          <p:spPr>
            <a:xfrm>
              <a:off x="7054255" y="5384800"/>
              <a:ext cx="178990" cy="157321"/>
            </a:xfrm>
            <a:prstGeom prst="rect">
              <a:avLst/>
            </a:prstGeom>
            <a:noFill/>
          </p:spPr>
          <p:txBody>
            <a:bodyPr wrap="none" lIns="0" tIns="0" rIns="0" bIns="0" rtlCol="0" anchor="t">
              <a:noAutofit/>
            </a:bodyPr>
            <a:lstStyle/>
            <a:p>
              <a:pPr algn="ctr">
                <a:spcBef>
                  <a:spcPts val="0"/>
                </a:spcBef>
                <a:spcAft>
                  <a:spcPts val="0"/>
                </a:spcAft>
              </a:pPr>
              <a:r>
                <a:rPr lang="en-US" sz="825" b="0" dirty="0">
                  <a:solidFill>
                    <a:srgbClr val="6B6A66"/>
                  </a:solidFill>
                  <a:latin typeface="Segoe UI"/>
                  <a:ea typeface="Segoe UI"/>
                  <a:cs typeface="Segoe UI"/>
                </a:rPr>
                <a:t>Q2</a:t>
              </a:r>
              <a:endParaRPr lang="en-US" sz="825" dirty="0"/>
            </a:p>
          </p:txBody>
        </p:sp>
        <p:sp>
          <p:nvSpPr>
            <p:cNvPr id="65" name="Text 66"/>
            <p:cNvSpPr txBox="1"/>
            <p:nvPr/>
          </p:nvSpPr>
          <p:spPr>
            <a:xfrm>
              <a:off x="7663855" y="5384800"/>
              <a:ext cx="178990" cy="157321"/>
            </a:xfrm>
            <a:prstGeom prst="rect">
              <a:avLst/>
            </a:prstGeom>
            <a:noFill/>
          </p:spPr>
          <p:txBody>
            <a:bodyPr wrap="none" lIns="0" tIns="0" rIns="0" bIns="0" rtlCol="0" anchor="t">
              <a:noAutofit/>
            </a:bodyPr>
            <a:lstStyle/>
            <a:p>
              <a:pPr algn="ctr">
                <a:spcBef>
                  <a:spcPts val="0"/>
                </a:spcBef>
                <a:spcAft>
                  <a:spcPts val="0"/>
                </a:spcAft>
              </a:pPr>
              <a:r>
                <a:rPr lang="en-US" sz="825" b="0" dirty="0">
                  <a:solidFill>
                    <a:srgbClr val="6B6A66"/>
                  </a:solidFill>
                  <a:latin typeface="Segoe UI"/>
                  <a:ea typeface="Segoe UI"/>
                  <a:cs typeface="Segoe UI"/>
                </a:rPr>
                <a:t>Q3</a:t>
              </a:r>
              <a:endParaRPr lang="en-US" sz="825" dirty="0"/>
            </a:p>
          </p:txBody>
        </p:sp>
        <p:sp>
          <p:nvSpPr>
            <p:cNvPr id="66" name="Text 67"/>
            <p:cNvSpPr txBox="1"/>
            <p:nvPr/>
          </p:nvSpPr>
          <p:spPr>
            <a:xfrm>
              <a:off x="8263930" y="5384800"/>
              <a:ext cx="178990" cy="157321"/>
            </a:xfrm>
            <a:prstGeom prst="rect">
              <a:avLst/>
            </a:prstGeom>
            <a:noFill/>
          </p:spPr>
          <p:txBody>
            <a:bodyPr wrap="none" lIns="0" tIns="0" rIns="0" bIns="0" rtlCol="0" anchor="t">
              <a:noAutofit/>
            </a:bodyPr>
            <a:lstStyle/>
            <a:p>
              <a:pPr algn="ctr">
                <a:spcBef>
                  <a:spcPts val="0"/>
                </a:spcBef>
                <a:spcAft>
                  <a:spcPts val="0"/>
                </a:spcAft>
              </a:pPr>
              <a:r>
                <a:rPr lang="en-US" sz="825" b="0" dirty="0">
                  <a:solidFill>
                    <a:srgbClr val="6B6A66"/>
                  </a:solidFill>
                  <a:latin typeface="Segoe UI"/>
                  <a:ea typeface="Segoe UI"/>
                  <a:cs typeface="Segoe UI"/>
                </a:rPr>
                <a:t>Q4</a:t>
              </a:r>
              <a:endParaRPr lang="en-US" sz="825" dirty="0"/>
            </a:p>
          </p:txBody>
        </p:sp>
        <p:sp>
          <p:nvSpPr>
            <p:cNvPr id="67" name="Text 68"/>
            <p:cNvSpPr txBox="1"/>
            <p:nvPr/>
          </p:nvSpPr>
          <p:spPr>
            <a:xfrm>
              <a:off x="8873530" y="5384800"/>
              <a:ext cx="178990" cy="157321"/>
            </a:xfrm>
            <a:prstGeom prst="rect">
              <a:avLst/>
            </a:prstGeom>
            <a:noFill/>
          </p:spPr>
          <p:txBody>
            <a:bodyPr wrap="none" lIns="0" tIns="0" rIns="0" bIns="0" rtlCol="0" anchor="t">
              <a:noAutofit/>
            </a:bodyPr>
            <a:lstStyle/>
            <a:p>
              <a:pPr algn="ctr">
                <a:spcBef>
                  <a:spcPts val="0"/>
                </a:spcBef>
                <a:spcAft>
                  <a:spcPts val="0"/>
                </a:spcAft>
              </a:pPr>
              <a:r>
                <a:rPr lang="en-US" sz="825" b="0" dirty="0">
                  <a:solidFill>
                    <a:srgbClr val="6B6A66"/>
                  </a:solidFill>
                  <a:latin typeface="Segoe UI"/>
                  <a:ea typeface="Segoe UI"/>
                  <a:cs typeface="Segoe UI"/>
                </a:rPr>
                <a:t>Q5</a:t>
              </a:r>
              <a:endParaRPr lang="en-US" sz="825" dirty="0"/>
            </a:p>
          </p:txBody>
        </p:sp>
        <p:sp>
          <p:nvSpPr>
            <p:cNvPr id="68" name="Text 69"/>
            <p:cNvSpPr txBox="1"/>
            <p:nvPr/>
          </p:nvSpPr>
          <p:spPr>
            <a:xfrm>
              <a:off x="6362700" y="5727700"/>
              <a:ext cx="1244547" cy="157321"/>
            </a:xfrm>
            <a:prstGeom prst="rect">
              <a:avLst/>
            </a:prstGeom>
            <a:noFill/>
          </p:spPr>
          <p:txBody>
            <a:bodyPr wrap="none" lIns="0" tIns="0" rIns="0" bIns="0" rtlCol="0" anchor="t">
              <a:noAutofit/>
            </a:bodyPr>
            <a:lstStyle/>
            <a:p>
              <a:pPr algn="l">
                <a:spcBef>
                  <a:spcPts val="0"/>
                </a:spcBef>
                <a:spcAft>
                  <a:spcPts val="0"/>
                </a:spcAft>
              </a:pPr>
              <a:r>
                <a:rPr lang="en-US" sz="825" b="0" dirty="0">
                  <a:solidFill>
                    <a:srgbClr val="3A3A38"/>
                  </a:solidFill>
                  <a:latin typeface="Segoe UI"/>
                  <a:ea typeface="Segoe UI"/>
                  <a:cs typeface="Segoe UI"/>
                </a:rPr>
                <a:t>Figure 1 · Illustrative data</a:t>
              </a:r>
              <a:endParaRPr lang="en-US" sz="825" dirty="0"/>
            </a:p>
          </p:txBody>
        </p:sp>
      </p:grpSp>
      <p:grpSp>
        <p:nvGrpSpPr>
          <p:cNvPr id="107" name="insert-panel"/>
          <p:cNvGrpSpPr/>
          <p:nvPr/>
        </p:nvGrpSpPr>
        <p:grpSpPr>
          <a:xfrm>
            <a:off x="9486900" y="2343150"/>
            <a:ext cx="1905000" cy="3771900"/>
            <a:chOff x="9486900" y="2343150"/>
            <a:chExt cx="1905000" cy="3771900"/>
          </a:xfrm>
        </p:grpSpPr>
        <p:sp>
          <p:nvSpPr>
            <p:cNvPr id="70" name="line 71"/>
            <p:cNvSpPr/>
            <p:nvPr/>
          </p:nvSpPr>
          <p:spPr>
            <a:xfrm>
              <a:off x="9486900" y="2343150"/>
              <a:ext cx="95" cy="3771900"/>
            </a:xfrm>
            <a:custGeom>
              <a:avLst/>
              <a:gdLst/>
              <a:ahLst/>
              <a:cxnLst/>
              <a:rect l="0" t="0" r="r" b="b"/>
              <a:pathLst>
                <a:path w="95" h="3771900" fill="none">
                  <a:moveTo>
                    <a:pt x="0" y="0"/>
                  </a:moveTo>
                  <a:lnTo>
                    <a:pt x="0" y="3771900"/>
                  </a:lnTo>
                </a:path>
              </a:pathLst>
            </a:custGeom>
            <a:noFill/>
            <a:ln w="9525" cap="flat">
              <a:solidFill>
                <a:srgbClr val="2A2E35"/>
              </a:solidFill>
              <a:miter lim="800000"/>
            </a:ln>
          </p:spPr>
          <p:txBody>
            <a:bodyPr/>
            <a:lstStyle/>
            <a:p>
              <a:endParaRPr lang="en-US"/>
            </a:p>
          </p:txBody>
        </p:sp>
        <p:sp>
          <p:nvSpPr>
            <p:cNvPr id="71" name="Text 72"/>
            <p:cNvSpPr txBox="1"/>
            <p:nvPr/>
          </p:nvSpPr>
          <p:spPr>
            <a:xfrm>
              <a:off x="9639300" y="2413000"/>
              <a:ext cx="760957" cy="157321"/>
            </a:xfrm>
            <a:prstGeom prst="rect">
              <a:avLst/>
            </a:prstGeom>
            <a:noFill/>
          </p:spPr>
          <p:txBody>
            <a:bodyPr wrap="none" lIns="0" tIns="0" rIns="0" bIns="0" rtlCol="0" anchor="t">
              <a:noAutofit/>
            </a:bodyPr>
            <a:lstStyle/>
            <a:p>
              <a:pPr algn="l">
                <a:spcBef>
                  <a:spcPts val="0"/>
                </a:spcBef>
                <a:spcAft>
                  <a:spcPts val="0"/>
                </a:spcAft>
              </a:pPr>
              <a:r>
                <a:rPr lang="en-US" sz="825" b="0" dirty="0">
                  <a:solidFill>
                    <a:srgbClr val="9C9A94"/>
                  </a:solidFill>
                  <a:latin typeface="Segoe UI"/>
                  <a:ea typeface="Segoe UI"/>
                  <a:cs typeface="Segoe UI"/>
                </a:rPr>
                <a:t>INSERT FIGURE</a:t>
              </a:r>
              <a:endParaRPr lang="en-US" sz="825" dirty="0"/>
            </a:p>
          </p:txBody>
        </p:sp>
        <p:sp>
          <p:nvSpPr>
            <p:cNvPr id="72" name="rect 73"/>
            <p:cNvSpPr/>
            <p:nvPr/>
          </p:nvSpPr>
          <p:spPr>
            <a:xfrm>
              <a:off x="9639300" y="2628900"/>
              <a:ext cx="800100" cy="762000"/>
            </a:xfrm>
            <a:prstGeom prst="roundRect">
              <a:avLst>
                <a:gd name="adj" fmla="val 2500"/>
              </a:avLst>
            </a:prstGeom>
            <a:solidFill>
              <a:srgbClr val="1B1F24"/>
            </a:solidFill>
            <a:ln w="9525" cap="flat">
              <a:solidFill>
                <a:srgbClr val="2A2E35"/>
              </a:solidFill>
              <a:miter lim="800000"/>
            </a:ln>
          </p:spPr>
          <p:txBody>
            <a:bodyPr/>
            <a:lstStyle/>
            <a:p>
              <a:endParaRPr lang="en-US"/>
            </a:p>
          </p:txBody>
        </p:sp>
        <p:sp>
          <p:nvSpPr>
            <p:cNvPr id="73" name="rect 74"/>
            <p:cNvSpPr/>
            <p:nvPr/>
          </p:nvSpPr>
          <p:spPr>
            <a:xfrm>
              <a:off x="9886950" y="2990850"/>
              <a:ext cx="95250" cy="133350"/>
            </a:xfrm>
            <a:prstGeom prst="rect">
              <a:avLst/>
            </a:prstGeom>
            <a:solidFill>
              <a:srgbClr val="FF5B1F"/>
            </a:solidFill>
            <a:ln>
              <a:noFill/>
            </a:ln>
          </p:spPr>
          <p:txBody>
            <a:bodyPr/>
            <a:lstStyle/>
            <a:p>
              <a:endParaRPr lang="en-US"/>
            </a:p>
          </p:txBody>
        </p:sp>
        <p:sp>
          <p:nvSpPr>
            <p:cNvPr id="74" name="rect 75"/>
            <p:cNvSpPr/>
            <p:nvPr/>
          </p:nvSpPr>
          <p:spPr>
            <a:xfrm>
              <a:off x="10039350" y="2895600"/>
              <a:ext cx="95250" cy="228600"/>
            </a:xfrm>
            <a:prstGeom prst="rect">
              <a:avLst/>
            </a:prstGeom>
            <a:solidFill>
              <a:srgbClr val="FF5B1F"/>
            </a:solidFill>
            <a:ln>
              <a:noFill/>
            </a:ln>
          </p:spPr>
          <p:txBody>
            <a:bodyPr/>
            <a:lstStyle/>
            <a:p>
              <a:endParaRPr lang="en-US"/>
            </a:p>
          </p:txBody>
        </p:sp>
        <p:sp>
          <p:nvSpPr>
            <p:cNvPr id="75" name="rect 76"/>
            <p:cNvSpPr/>
            <p:nvPr/>
          </p:nvSpPr>
          <p:spPr>
            <a:xfrm>
              <a:off x="10191750" y="2800350"/>
              <a:ext cx="95250" cy="323850"/>
            </a:xfrm>
            <a:prstGeom prst="rect">
              <a:avLst/>
            </a:prstGeom>
            <a:solidFill>
              <a:srgbClr val="FF5B1F"/>
            </a:solidFill>
            <a:ln>
              <a:noFill/>
            </a:ln>
          </p:spPr>
          <p:txBody>
            <a:bodyPr/>
            <a:lstStyle/>
            <a:p>
              <a:endParaRPr lang="en-US"/>
            </a:p>
          </p:txBody>
        </p:sp>
        <p:sp>
          <p:nvSpPr>
            <p:cNvPr id="76" name="Text 77"/>
            <p:cNvSpPr txBox="1"/>
            <p:nvPr/>
          </p:nvSpPr>
          <p:spPr>
            <a:xfrm>
              <a:off x="9921337" y="3203575"/>
              <a:ext cx="236027" cy="157321"/>
            </a:xfrm>
            <a:prstGeom prst="rect">
              <a:avLst/>
            </a:prstGeom>
            <a:noFill/>
          </p:spPr>
          <p:txBody>
            <a:bodyPr wrap="none" lIns="0" tIns="0" rIns="0" bIns="0" rtlCol="0" anchor="t">
              <a:noAutofit/>
            </a:bodyPr>
            <a:lstStyle/>
            <a:p>
              <a:pPr algn="ctr">
                <a:spcBef>
                  <a:spcPts val="0"/>
                </a:spcBef>
                <a:spcAft>
                  <a:spcPts val="0"/>
                </a:spcAft>
              </a:pPr>
              <a:r>
                <a:rPr lang="en-US" sz="825" b="0" dirty="0">
                  <a:solidFill>
                    <a:srgbClr val="EDE9E2"/>
                  </a:solidFill>
                  <a:latin typeface="Segoe UI"/>
                  <a:ea typeface="Segoe UI"/>
                  <a:cs typeface="Segoe UI"/>
                </a:rPr>
                <a:t>BAR</a:t>
              </a:r>
              <a:endParaRPr lang="en-US" sz="825" dirty="0"/>
            </a:p>
          </p:txBody>
        </p:sp>
        <p:sp>
          <p:nvSpPr>
            <p:cNvPr id="77" name="rect 78"/>
            <p:cNvSpPr/>
            <p:nvPr/>
          </p:nvSpPr>
          <p:spPr>
            <a:xfrm>
              <a:off x="10591800" y="2628900"/>
              <a:ext cx="800100" cy="762000"/>
            </a:xfrm>
            <a:prstGeom prst="roundRect">
              <a:avLst>
                <a:gd name="adj" fmla="val 2500"/>
              </a:avLst>
            </a:prstGeom>
            <a:solidFill>
              <a:srgbClr val="1B1F24"/>
            </a:solidFill>
            <a:ln w="9525" cap="flat">
              <a:solidFill>
                <a:srgbClr val="2A2E35"/>
              </a:solidFill>
              <a:miter lim="800000"/>
            </a:ln>
          </p:spPr>
          <p:txBody>
            <a:bodyPr/>
            <a:lstStyle/>
            <a:p>
              <a:endParaRPr lang="en-US"/>
            </a:p>
          </p:txBody>
        </p:sp>
        <p:sp>
          <p:nvSpPr>
            <p:cNvPr id="78" name="polyline 79"/>
            <p:cNvSpPr/>
            <p:nvPr/>
          </p:nvSpPr>
          <p:spPr>
            <a:xfrm>
              <a:off x="10801350" y="2781300"/>
              <a:ext cx="419100" cy="285750"/>
            </a:xfrm>
            <a:custGeom>
              <a:avLst/>
              <a:gdLst/>
              <a:ahLst/>
              <a:cxnLst/>
              <a:rect l="0" t="0" r="r" b="b"/>
              <a:pathLst>
                <a:path w="419100" h="285750" fill="none">
                  <a:moveTo>
                    <a:pt x="0" y="285750"/>
                  </a:moveTo>
                  <a:lnTo>
                    <a:pt x="133350" y="133350"/>
                  </a:lnTo>
                  <a:lnTo>
                    <a:pt x="266700" y="209550"/>
                  </a:lnTo>
                  <a:lnTo>
                    <a:pt x="419100" y="0"/>
                  </a:lnTo>
                </a:path>
              </a:pathLst>
            </a:custGeom>
            <a:noFill/>
            <a:ln w="19050" cap="flat">
              <a:solidFill>
                <a:srgbClr val="3D8BFF"/>
              </a:solidFill>
              <a:miter lim="800000"/>
            </a:ln>
          </p:spPr>
          <p:txBody>
            <a:bodyPr/>
            <a:lstStyle/>
            <a:p>
              <a:endParaRPr lang="en-US"/>
            </a:p>
          </p:txBody>
        </p:sp>
        <p:sp>
          <p:nvSpPr>
            <p:cNvPr id="79" name="circle 80"/>
            <p:cNvSpPr/>
            <p:nvPr/>
          </p:nvSpPr>
          <p:spPr>
            <a:xfrm>
              <a:off x="10772775" y="3038475"/>
              <a:ext cx="57150" cy="57150"/>
            </a:xfrm>
            <a:prstGeom prst="ellipse">
              <a:avLst/>
            </a:prstGeom>
            <a:solidFill>
              <a:srgbClr val="3D8BFF"/>
            </a:solidFill>
            <a:ln>
              <a:noFill/>
            </a:ln>
          </p:spPr>
          <p:txBody>
            <a:bodyPr/>
            <a:lstStyle/>
            <a:p>
              <a:endParaRPr lang="en-US"/>
            </a:p>
          </p:txBody>
        </p:sp>
        <p:sp>
          <p:nvSpPr>
            <p:cNvPr id="80" name="circle 81"/>
            <p:cNvSpPr/>
            <p:nvPr/>
          </p:nvSpPr>
          <p:spPr>
            <a:xfrm>
              <a:off x="10906125" y="2886075"/>
              <a:ext cx="57150" cy="57150"/>
            </a:xfrm>
            <a:prstGeom prst="ellipse">
              <a:avLst/>
            </a:prstGeom>
            <a:solidFill>
              <a:srgbClr val="3D8BFF"/>
            </a:solidFill>
            <a:ln>
              <a:noFill/>
            </a:ln>
          </p:spPr>
          <p:txBody>
            <a:bodyPr/>
            <a:lstStyle/>
            <a:p>
              <a:endParaRPr lang="en-US"/>
            </a:p>
          </p:txBody>
        </p:sp>
        <p:sp>
          <p:nvSpPr>
            <p:cNvPr id="81" name="circle 82"/>
            <p:cNvSpPr/>
            <p:nvPr/>
          </p:nvSpPr>
          <p:spPr>
            <a:xfrm>
              <a:off x="11039475" y="2962275"/>
              <a:ext cx="57150" cy="57150"/>
            </a:xfrm>
            <a:prstGeom prst="ellipse">
              <a:avLst/>
            </a:prstGeom>
            <a:solidFill>
              <a:srgbClr val="3D8BFF"/>
            </a:solidFill>
            <a:ln>
              <a:noFill/>
            </a:ln>
          </p:spPr>
          <p:txBody>
            <a:bodyPr/>
            <a:lstStyle/>
            <a:p>
              <a:endParaRPr lang="en-US"/>
            </a:p>
          </p:txBody>
        </p:sp>
        <p:sp>
          <p:nvSpPr>
            <p:cNvPr id="82" name="circle 83"/>
            <p:cNvSpPr/>
            <p:nvPr/>
          </p:nvSpPr>
          <p:spPr>
            <a:xfrm>
              <a:off x="11191875" y="2752725"/>
              <a:ext cx="57150" cy="57150"/>
            </a:xfrm>
            <a:prstGeom prst="ellipse">
              <a:avLst/>
            </a:prstGeom>
            <a:solidFill>
              <a:srgbClr val="3D8BFF"/>
            </a:solidFill>
            <a:ln>
              <a:noFill/>
            </a:ln>
          </p:spPr>
          <p:txBody>
            <a:bodyPr/>
            <a:lstStyle/>
            <a:p>
              <a:endParaRPr lang="en-US"/>
            </a:p>
          </p:txBody>
        </p:sp>
        <p:sp>
          <p:nvSpPr>
            <p:cNvPr id="83" name="Text 84"/>
            <p:cNvSpPr txBox="1"/>
            <p:nvPr/>
          </p:nvSpPr>
          <p:spPr>
            <a:xfrm>
              <a:off x="10864339" y="3203575"/>
              <a:ext cx="255021" cy="157321"/>
            </a:xfrm>
            <a:prstGeom prst="rect">
              <a:avLst/>
            </a:prstGeom>
            <a:noFill/>
          </p:spPr>
          <p:txBody>
            <a:bodyPr wrap="none" lIns="0" tIns="0" rIns="0" bIns="0" rtlCol="0" anchor="t">
              <a:noAutofit/>
            </a:bodyPr>
            <a:lstStyle/>
            <a:p>
              <a:pPr algn="ctr">
                <a:spcBef>
                  <a:spcPts val="0"/>
                </a:spcBef>
                <a:spcAft>
                  <a:spcPts val="0"/>
                </a:spcAft>
              </a:pPr>
              <a:r>
                <a:rPr lang="en-US" sz="825" b="0" dirty="0">
                  <a:solidFill>
                    <a:srgbClr val="EDE9E2"/>
                  </a:solidFill>
                  <a:latin typeface="Segoe UI"/>
                  <a:ea typeface="Segoe UI"/>
                  <a:cs typeface="Segoe UI"/>
                </a:rPr>
                <a:t>LINE</a:t>
              </a:r>
              <a:endParaRPr lang="en-US" sz="825" dirty="0"/>
            </a:p>
          </p:txBody>
        </p:sp>
        <p:sp>
          <p:nvSpPr>
            <p:cNvPr id="84" name="rect 85"/>
            <p:cNvSpPr/>
            <p:nvPr/>
          </p:nvSpPr>
          <p:spPr>
            <a:xfrm>
              <a:off x="9639300" y="3543300"/>
              <a:ext cx="800100" cy="762000"/>
            </a:xfrm>
            <a:prstGeom prst="roundRect">
              <a:avLst>
                <a:gd name="adj" fmla="val 2500"/>
              </a:avLst>
            </a:prstGeom>
            <a:solidFill>
              <a:srgbClr val="1B1F24"/>
            </a:solidFill>
            <a:ln w="9525" cap="flat">
              <a:solidFill>
                <a:srgbClr val="2A2E35"/>
              </a:solidFill>
              <a:miter lim="800000"/>
            </a:ln>
          </p:spPr>
          <p:txBody>
            <a:bodyPr/>
            <a:lstStyle/>
            <a:p>
              <a:endParaRPr lang="en-US"/>
            </a:p>
          </p:txBody>
        </p:sp>
        <p:sp>
          <p:nvSpPr>
            <p:cNvPr id="85" name="circle 86"/>
            <p:cNvSpPr/>
            <p:nvPr/>
          </p:nvSpPr>
          <p:spPr>
            <a:xfrm>
              <a:off x="9886950" y="3686175"/>
              <a:ext cx="304800" cy="304800"/>
            </a:xfrm>
            <a:prstGeom prst="ellipse">
              <a:avLst/>
            </a:prstGeom>
            <a:noFill/>
            <a:ln w="76200" cap="flat">
              <a:solidFill>
                <a:srgbClr val="4A5058"/>
              </a:solidFill>
              <a:miter lim="800000"/>
            </a:ln>
          </p:spPr>
          <p:txBody>
            <a:bodyPr/>
            <a:lstStyle/>
            <a:p>
              <a:endParaRPr lang="en-US"/>
            </a:p>
          </p:txBody>
        </p:sp>
        <p:sp>
          <p:nvSpPr>
            <p:cNvPr id="86" name="circle 87"/>
            <p:cNvSpPr/>
            <p:nvPr/>
          </p:nvSpPr>
          <p:spPr>
            <a:xfrm rot="16200000">
              <a:off x="9886950" y="3686175"/>
              <a:ext cx="304800" cy="304800"/>
            </a:xfrm>
            <a:prstGeom prst="ellipse">
              <a:avLst/>
            </a:prstGeom>
            <a:noFill/>
            <a:ln w="76200" cap="flat">
              <a:solidFill>
                <a:srgbClr val="A28BFF"/>
              </a:solidFill>
              <a:prstDash val="dash"/>
              <a:miter lim="800000"/>
            </a:ln>
          </p:spPr>
          <p:txBody>
            <a:bodyPr/>
            <a:lstStyle/>
            <a:p>
              <a:endParaRPr lang="en-US"/>
            </a:p>
          </p:txBody>
        </p:sp>
        <p:sp>
          <p:nvSpPr>
            <p:cNvPr id="87" name="Text 88"/>
            <p:cNvSpPr txBox="1"/>
            <p:nvPr/>
          </p:nvSpPr>
          <p:spPr>
            <a:xfrm>
              <a:off x="9834292" y="4117975"/>
              <a:ext cx="410117" cy="157321"/>
            </a:xfrm>
            <a:prstGeom prst="rect">
              <a:avLst/>
            </a:prstGeom>
            <a:noFill/>
          </p:spPr>
          <p:txBody>
            <a:bodyPr wrap="none" lIns="0" tIns="0" rIns="0" bIns="0" rtlCol="0" anchor="t">
              <a:noAutofit/>
            </a:bodyPr>
            <a:lstStyle/>
            <a:p>
              <a:pPr algn="ctr">
                <a:spcBef>
                  <a:spcPts val="0"/>
                </a:spcBef>
                <a:spcAft>
                  <a:spcPts val="0"/>
                </a:spcAft>
              </a:pPr>
              <a:r>
                <a:rPr lang="en-US" sz="825" b="0" dirty="0">
                  <a:solidFill>
                    <a:srgbClr val="EDE9E2"/>
                  </a:solidFill>
                  <a:latin typeface="Segoe UI"/>
                  <a:ea typeface="Segoe UI"/>
                  <a:cs typeface="Segoe UI"/>
                </a:rPr>
                <a:t>DONUT</a:t>
              </a:r>
              <a:endParaRPr lang="en-US" sz="825" dirty="0"/>
            </a:p>
          </p:txBody>
        </p:sp>
        <p:sp>
          <p:nvSpPr>
            <p:cNvPr id="88" name="rect 89"/>
            <p:cNvSpPr/>
            <p:nvPr/>
          </p:nvSpPr>
          <p:spPr>
            <a:xfrm>
              <a:off x="10591800" y="3543300"/>
              <a:ext cx="800100" cy="762000"/>
            </a:xfrm>
            <a:prstGeom prst="roundRect">
              <a:avLst>
                <a:gd name="adj" fmla="val 2500"/>
              </a:avLst>
            </a:prstGeom>
            <a:solidFill>
              <a:srgbClr val="1B1F24"/>
            </a:solidFill>
            <a:ln w="9525" cap="flat">
              <a:solidFill>
                <a:srgbClr val="2A2E35"/>
              </a:solidFill>
              <a:miter lim="800000"/>
            </a:ln>
          </p:spPr>
          <p:txBody>
            <a:bodyPr/>
            <a:lstStyle/>
            <a:p>
              <a:endParaRPr lang="en-US"/>
            </a:p>
          </p:txBody>
        </p:sp>
        <p:sp>
          <p:nvSpPr>
            <p:cNvPr id="89" name="rect 90"/>
            <p:cNvSpPr/>
            <p:nvPr/>
          </p:nvSpPr>
          <p:spPr>
            <a:xfrm>
              <a:off x="10820400" y="3695700"/>
              <a:ext cx="342900" cy="266700"/>
            </a:xfrm>
            <a:prstGeom prst="rect">
              <a:avLst/>
            </a:prstGeom>
            <a:noFill/>
            <a:ln w="14288" cap="flat">
              <a:solidFill>
                <a:srgbClr val="F6B69A"/>
              </a:solidFill>
              <a:miter lim="800000"/>
            </a:ln>
          </p:spPr>
          <p:txBody>
            <a:bodyPr/>
            <a:lstStyle/>
            <a:p>
              <a:endParaRPr lang="en-US"/>
            </a:p>
          </p:txBody>
        </p:sp>
        <p:sp>
          <p:nvSpPr>
            <p:cNvPr id="90" name="line 91"/>
            <p:cNvSpPr/>
            <p:nvPr/>
          </p:nvSpPr>
          <p:spPr>
            <a:xfrm>
              <a:off x="10820400" y="3781425"/>
              <a:ext cx="342900" cy="95"/>
            </a:xfrm>
            <a:custGeom>
              <a:avLst/>
              <a:gdLst/>
              <a:ahLst/>
              <a:cxnLst/>
              <a:rect l="0" t="0" r="r" b="b"/>
              <a:pathLst>
                <a:path w="342900" h="95" fill="none">
                  <a:moveTo>
                    <a:pt x="0" y="0"/>
                  </a:moveTo>
                  <a:lnTo>
                    <a:pt x="342900" y="0"/>
                  </a:lnTo>
                </a:path>
              </a:pathLst>
            </a:custGeom>
            <a:noFill/>
            <a:ln w="14288" cap="flat">
              <a:solidFill>
                <a:srgbClr val="F6B69A"/>
              </a:solidFill>
              <a:miter lim="800000"/>
            </a:ln>
          </p:spPr>
          <p:txBody>
            <a:bodyPr/>
            <a:lstStyle/>
            <a:p>
              <a:endParaRPr lang="en-US"/>
            </a:p>
          </p:txBody>
        </p:sp>
        <p:sp>
          <p:nvSpPr>
            <p:cNvPr id="91" name="line 92"/>
            <p:cNvSpPr/>
            <p:nvPr/>
          </p:nvSpPr>
          <p:spPr>
            <a:xfrm>
              <a:off x="10820400" y="3867150"/>
              <a:ext cx="342900" cy="95"/>
            </a:xfrm>
            <a:custGeom>
              <a:avLst/>
              <a:gdLst/>
              <a:ahLst/>
              <a:cxnLst/>
              <a:rect l="0" t="0" r="r" b="b"/>
              <a:pathLst>
                <a:path w="342900" h="95" fill="none">
                  <a:moveTo>
                    <a:pt x="0" y="0"/>
                  </a:moveTo>
                  <a:lnTo>
                    <a:pt x="342900" y="0"/>
                  </a:lnTo>
                </a:path>
              </a:pathLst>
            </a:custGeom>
            <a:noFill/>
            <a:ln w="14288" cap="flat">
              <a:solidFill>
                <a:srgbClr val="F6B69A"/>
              </a:solidFill>
              <a:miter lim="800000"/>
            </a:ln>
          </p:spPr>
          <p:txBody>
            <a:bodyPr/>
            <a:lstStyle/>
            <a:p>
              <a:endParaRPr lang="en-US"/>
            </a:p>
          </p:txBody>
        </p:sp>
        <p:sp>
          <p:nvSpPr>
            <p:cNvPr id="92" name="line 93"/>
            <p:cNvSpPr/>
            <p:nvPr/>
          </p:nvSpPr>
          <p:spPr>
            <a:xfrm>
              <a:off x="10991850" y="3695700"/>
              <a:ext cx="95" cy="266700"/>
            </a:xfrm>
            <a:custGeom>
              <a:avLst/>
              <a:gdLst/>
              <a:ahLst/>
              <a:cxnLst/>
              <a:rect l="0" t="0" r="r" b="b"/>
              <a:pathLst>
                <a:path w="95" h="266700" fill="none">
                  <a:moveTo>
                    <a:pt x="0" y="0"/>
                  </a:moveTo>
                  <a:lnTo>
                    <a:pt x="0" y="266700"/>
                  </a:lnTo>
                </a:path>
              </a:pathLst>
            </a:custGeom>
            <a:noFill/>
            <a:ln w="14288" cap="flat">
              <a:solidFill>
                <a:srgbClr val="F6B69A"/>
              </a:solidFill>
              <a:miter lim="800000"/>
            </a:ln>
          </p:spPr>
          <p:txBody>
            <a:bodyPr/>
            <a:lstStyle/>
            <a:p>
              <a:endParaRPr lang="en-US"/>
            </a:p>
          </p:txBody>
        </p:sp>
        <p:sp>
          <p:nvSpPr>
            <p:cNvPr id="93" name="Text 94"/>
            <p:cNvSpPr txBox="1"/>
            <p:nvPr/>
          </p:nvSpPr>
          <p:spPr>
            <a:xfrm>
              <a:off x="10828399" y="4117975"/>
              <a:ext cx="326902" cy="157321"/>
            </a:xfrm>
            <a:prstGeom prst="rect">
              <a:avLst/>
            </a:prstGeom>
            <a:noFill/>
          </p:spPr>
          <p:txBody>
            <a:bodyPr wrap="none" lIns="0" tIns="0" rIns="0" bIns="0" rtlCol="0" anchor="t">
              <a:noAutofit/>
            </a:bodyPr>
            <a:lstStyle/>
            <a:p>
              <a:pPr algn="ctr">
                <a:spcBef>
                  <a:spcPts val="0"/>
                </a:spcBef>
                <a:spcAft>
                  <a:spcPts val="0"/>
                </a:spcAft>
              </a:pPr>
              <a:r>
                <a:rPr lang="en-US" sz="825" b="0" dirty="0">
                  <a:solidFill>
                    <a:srgbClr val="EDE9E2"/>
                  </a:solidFill>
                  <a:latin typeface="Segoe UI"/>
                  <a:ea typeface="Segoe UI"/>
                  <a:cs typeface="Segoe UI"/>
                </a:rPr>
                <a:t>TABLE</a:t>
              </a:r>
              <a:endParaRPr lang="en-US" sz="825" dirty="0"/>
            </a:p>
          </p:txBody>
        </p:sp>
        <p:sp>
          <p:nvSpPr>
            <p:cNvPr id="94" name="line 95"/>
            <p:cNvSpPr/>
            <p:nvPr/>
          </p:nvSpPr>
          <p:spPr>
            <a:xfrm>
              <a:off x="9639300" y="4476750"/>
              <a:ext cx="1752600" cy="95"/>
            </a:xfrm>
            <a:custGeom>
              <a:avLst/>
              <a:gdLst/>
              <a:ahLst/>
              <a:cxnLst/>
              <a:rect l="0" t="0" r="r" b="b"/>
              <a:pathLst>
                <a:path w="1752600" h="95" fill="none">
                  <a:moveTo>
                    <a:pt x="0" y="0"/>
                  </a:moveTo>
                  <a:lnTo>
                    <a:pt x="1752600" y="0"/>
                  </a:lnTo>
                </a:path>
              </a:pathLst>
            </a:custGeom>
            <a:noFill/>
            <a:ln w="9525" cap="flat">
              <a:solidFill>
                <a:srgbClr val="2A2E35"/>
              </a:solidFill>
              <a:miter lim="800000"/>
            </a:ln>
          </p:spPr>
          <p:txBody>
            <a:bodyPr/>
            <a:lstStyle/>
            <a:p>
              <a:endParaRPr lang="en-US"/>
            </a:p>
          </p:txBody>
        </p:sp>
        <p:sp>
          <p:nvSpPr>
            <p:cNvPr id="95" name="rect 96"/>
            <p:cNvSpPr/>
            <p:nvPr/>
          </p:nvSpPr>
          <p:spPr>
            <a:xfrm>
              <a:off x="9639300" y="4648200"/>
              <a:ext cx="95250" cy="95250"/>
            </a:xfrm>
            <a:prstGeom prst="rect">
              <a:avLst/>
            </a:prstGeom>
            <a:solidFill>
              <a:srgbClr val="FF5B1F"/>
            </a:solidFill>
            <a:ln>
              <a:noFill/>
            </a:ln>
          </p:spPr>
          <p:txBody>
            <a:bodyPr/>
            <a:lstStyle/>
            <a:p>
              <a:endParaRPr lang="en-US"/>
            </a:p>
          </p:txBody>
        </p:sp>
        <p:sp>
          <p:nvSpPr>
            <p:cNvPr id="96" name="Text 97"/>
            <p:cNvSpPr txBox="1"/>
            <p:nvPr/>
          </p:nvSpPr>
          <p:spPr>
            <a:xfrm>
              <a:off x="9810750" y="4629150"/>
              <a:ext cx="455371" cy="173355"/>
            </a:xfrm>
            <a:prstGeom prst="rect">
              <a:avLst/>
            </a:prstGeom>
            <a:noFill/>
          </p:spPr>
          <p:txBody>
            <a:bodyPr wrap="none" lIns="0" tIns="0" rIns="0" bIns="0" rtlCol="0" anchor="t">
              <a:noAutofit/>
            </a:bodyPr>
            <a:lstStyle/>
            <a:p>
              <a:pPr algn="l">
                <a:spcBef>
                  <a:spcPts val="0"/>
                </a:spcBef>
                <a:spcAft>
                  <a:spcPts val="0"/>
                </a:spcAft>
              </a:pPr>
              <a:r>
                <a:rPr lang="en-US" sz="900" b="0" dirty="0">
                  <a:solidFill>
                    <a:srgbClr val="9C9A94"/>
                  </a:solidFill>
                  <a:latin typeface="Segoe UI"/>
                  <a:ea typeface="Segoe UI"/>
                  <a:cs typeface="Segoe UI"/>
                </a:rPr>
                <a:t>Series A</a:t>
              </a:r>
              <a:endParaRPr lang="en-US" sz="900" dirty="0"/>
            </a:p>
          </p:txBody>
        </p:sp>
        <p:sp>
          <p:nvSpPr>
            <p:cNvPr id="97" name="rect 98"/>
            <p:cNvSpPr/>
            <p:nvPr/>
          </p:nvSpPr>
          <p:spPr>
            <a:xfrm>
              <a:off x="9639300" y="4857750"/>
              <a:ext cx="95250" cy="95250"/>
            </a:xfrm>
            <a:prstGeom prst="rect">
              <a:avLst/>
            </a:prstGeom>
            <a:solidFill>
              <a:srgbClr val="3D8BFF"/>
            </a:solidFill>
            <a:ln>
              <a:noFill/>
            </a:ln>
          </p:spPr>
          <p:txBody>
            <a:bodyPr/>
            <a:lstStyle/>
            <a:p>
              <a:endParaRPr lang="en-US"/>
            </a:p>
          </p:txBody>
        </p:sp>
        <p:sp>
          <p:nvSpPr>
            <p:cNvPr id="98" name="Text 99"/>
            <p:cNvSpPr txBox="1"/>
            <p:nvPr/>
          </p:nvSpPr>
          <p:spPr>
            <a:xfrm>
              <a:off x="9810750" y="4838700"/>
              <a:ext cx="446839" cy="173355"/>
            </a:xfrm>
            <a:prstGeom prst="rect">
              <a:avLst/>
            </a:prstGeom>
            <a:noFill/>
          </p:spPr>
          <p:txBody>
            <a:bodyPr wrap="none" lIns="0" tIns="0" rIns="0" bIns="0" rtlCol="0" anchor="t">
              <a:noAutofit/>
            </a:bodyPr>
            <a:lstStyle/>
            <a:p>
              <a:pPr algn="l">
                <a:spcBef>
                  <a:spcPts val="0"/>
                </a:spcBef>
                <a:spcAft>
                  <a:spcPts val="0"/>
                </a:spcAft>
              </a:pPr>
              <a:r>
                <a:rPr lang="en-US" sz="900" b="0" dirty="0">
                  <a:solidFill>
                    <a:srgbClr val="9C9A94"/>
                  </a:solidFill>
                  <a:latin typeface="Segoe UI"/>
                  <a:ea typeface="Segoe UI"/>
                  <a:cs typeface="Segoe UI"/>
                </a:rPr>
                <a:t>Series B</a:t>
              </a:r>
              <a:endParaRPr lang="en-US" sz="900" dirty="0"/>
            </a:p>
          </p:txBody>
        </p:sp>
        <p:sp>
          <p:nvSpPr>
            <p:cNvPr id="99" name="rect 100"/>
            <p:cNvSpPr/>
            <p:nvPr/>
          </p:nvSpPr>
          <p:spPr>
            <a:xfrm>
              <a:off x="9639300" y="5067300"/>
              <a:ext cx="95250" cy="95250"/>
            </a:xfrm>
            <a:prstGeom prst="rect">
              <a:avLst/>
            </a:prstGeom>
            <a:solidFill>
              <a:srgbClr val="A28BFF"/>
            </a:solidFill>
            <a:ln>
              <a:noFill/>
            </a:ln>
          </p:spPr>
          <p:txBody>
            <a:bodyPr/>
            <a:lstStyle/>
            <a:p>
              <a:endParaRPr lang="en-US"/>
            </a:p>
          </p:txBody>
        </p:sp>
        <p:sp>
          <p:nvSpPr>
            <p:cNvPr id="100" name="Text 101"/>
            <p:cNvSpPr txBox="1"/>
            <p:nvPr/>
          </p:nvSpPr>
          <p:spPr>
            <a:xfrm>
              <a:off x="9810750" y="5048250"/>
              <a:ext cx="452295" cy="173355"/>
            </a:xfrm>
            <a:prstGeom prst="rect">
              <a:avLst/>
            </a:prstGeom>
            <a:noFill/>
          </p:spPr>
          <p:txBody>
            <a:bodyPr wrap="none" lIns="0" tIns="0" rIns="0" bIns="0" rtlCol="0" anchor="t">
              <a:noAutofit/>
            </a:bodyPr>
            <a:lstStyle/>
            <a:p>
              <a:pPr algn="l">
                <a:spcBef>
                  <a:spcPts val="0"/>
                </a:spcBef>
                <a:spcAft>
                  <a:spcPts val="0"/>
                </a:spcAft>
              </a:pPr>
              <a:r>
                <a:rPr lang="en-US" sz="900" b="0" dirty="0">
                  <a:solidFill>
                    <a:srgbClr val="9C9A94"/>
                  </a:solidFill>
                  <a:latin typeface="Segoe UI"/>
                  <a:ea typeface="Segoe UI"/>
                  <a:cs typeface="Segoe UI"/>
                </a:rPr>
                <a:t>Series C</a:t>
              </a:r>
              <a:endParaRPr lang="en-US" sz="900" dirty="0"/>
            </a:p>
          </p:txBody>
        </p:sp>
        <p:sp>
          <p:nvSpPr>
            <p:cNvPr id="101" name="circle 102"/>
            <p:cNvSpPr/>
            <p:nvPr/>
          </p:nvSpPr>
          <p:spPr>
            <a:xfrm rot="16200000">
              <a:off x="10687050" y="4629150"/>
              <a:ext cx="533400" cy="533400"/>
            </a:xfrm>
            <a:prstGeom prst="ellipse">
              <a:avLst/>
            </a:prstGeom>
            <a:noFill/>
            <a:ln w="133350" cap="flat">
              <a:solidFill>
                <a:srgbClr val="FF5B1F"/>
              </a:solidFill>
              <a:prstDash val="dash"/>
              <a:miter lim="800000"/>
            </a:ln>
          </p:spPr>
          <p:txBody>
            <a:bodyPr/>
            <a:lstStyle/>
            <a:p>
              <a:endParaRPr lang="en-US"/>
            </a:p>
          </p:txBody>
        </p:sp>
        <p:sp>
          <p:nvSpPr>
            <p:cNvPr id="102" name="circle 103"/>
            <p:cNvSpPr/>
            <p:nvPr/>
          </p:nvSpPr>
          <p:spPr>
            <a:xfrm rot="16200000">
              <a:off x="10687050" y="4629150"/>
              <a:ext cx="533400" cy="533400"/>
            </a:xfrm>
            <a:prstGeom prst="ellipse">
              <a:avLst/>
            </a:prstGeom>
            <a:noFill/>
            <a:ln w="133350" cap="flat">
              <a:solidFill>
                <a:srgbClr val="3D8BFF"/>
              </a:solidFill>
              <a:prstDash val="sysDash"/>
              <a:miter lim="800000"/>
            </a:ln>
          </p:spPr>
          <p:txBody>
            <a:bodyPr/>
            <a:lstStyle/>
            <a:p>
              <a:endParaRPr lang="en-US"/>
            </a:p>
          </p:txBody>
        </p:sp>
        <p:sp>
          <p:nvSpPr>
            <p:cNvPr id="103" name="circle 104"/>
            <p:cNvSpPr/>
            <p:nvPr/>
          </p:nvSpPr>
          <p:spPr>
            <a:xfrm rot="16200000">
              <a:off x="10687050" y="4629150"/>
              <a:ext cx="533400" cy="533400"/>
            </a:xfrm>
            <a:prstGeom prst="ellipse">
              <a:avLst/>
            </a:prstGeom>
            <a:noFill/>
            <a:ln w="133350" cap="flat">
              <a:solidFill>
                <a:srgbClr val="A28BFF"/>
              </a:solidFill>
              <a:prstDash val="sysDash"/>
              <a:miter lim="800000"/>
            </a:ln>
          </p:spPr>
          <p:txBody>
            <a:bodyPr/>
            <a:lstStyle/>
            <a:p>
              <a:endParaRPr lang="en-US"/>
            </a:p>
          </p:txBody>
        </p:sp>
        <p:sp>
          <p:nvSpPr>
            <p:cNvPr id="104" name="Text 105"/>
            <p:cNvSpPr txBox="1"/>
            <p:nvPr/>
          </p:nvSpPr>
          <p:spPr>
            <a:xfrm>
              <a:off x="9639300" y="5422900"/>
              <a:ext cx="1187723" cy="157321"/>
            </a:xfrm>
            <a:prstGeom prst="rect">
              <a:avLst/>
            </a:prstGeom>
            <a:noFill/>
          </p:spPr>
          <p:txBody>
            <a:bodyPr wrap="none" lIns="0" tIns="0" rIns="0" bIns="0" rtlCol="0" anchor="t">
              <a:noAutofit/>
            </a:bodyPr>
            <a:lstStyle/>
            <a:p>
              <a:pPr algn="l">
                <a:spcBef>
                  <a:spcPts val="0"/>
                </a:spcBef>
                <a:spcAft>
                  <a:spcPts val="0"/>
                </a:spcAft>
              </a:pPr>
              <a:r>
                <a:rPr lang="en-US" sz="825" b="0" dirty="0">
                  <a:solidFill>
                    <a:srgbClr val="9C9A94"/>
                  </a:solidFill>
                  <a:latin typeface="Segoe UI"/>
                  <a:ea typeface="Segoe UI"/>
                  <a:cs typeface="Segoe UI"/>
                </a:rPr>
                <a:t>FIGURES STAY EDITABLE</a:t>
              </a:r>
              <a:endParaRPr lang="en-US" sz="825" dirty="0"/>
            </a:p>
          </p:txBody>
        </p:sp>
        <p:sp>
          <p:nvSpPr>
            <p:cNvPr id="105" name="rect 106"/>
            <p:cNvSpPr/>
            <p:nvPr/>
          </p:nvSpPr>
          <p:spPr>
            <a:xfrm>
              <a:off x="9639300" y="5695950"/>
              <a:ext cx="1752600" cy="323850"/>
            </a:xfrm>
            <a:prstGeom prst="roundRect">
              <a:avLst>
                <a:gd name="adj" fmla="val 5882"/>
              </a:avLst>
            </a:prstGeom>
            <a:solidFill>
              <a:srgbClr val="FF5B1F"/>
            </a:solidFill>
            <a:ln>
              <a:noFill/>
            </a:ln>
          </p:spPr>
          <p:txBody>
            <a:bodyPr/>
            <a:lstStyle/>
            <a:p>
              <a:endParaRPr lang="en-US"/>
            </a:p>
          </p:txBody>
        </p:sp>
        <p:sp>
          <p:nvSpPr>
            <p:cNvPr id="106" name="Text 107"/>
            <p:cNvSpPr txBox="1"/>
            <p:nvPr/>
          </p:nvSpPr>
          <p:spPr>
            <a:xfrm>
              <a:off x="10053445" y="5778500"/>
              <a:ext cx="924310" cy="192722"/>
            </a:xfrm>
            <a:prstGeom prst="rect">
              <a:avLst/>
            </a:prstGeom>
            <a:noFill/>
          </p:spPr>
          <p:txBody>
            <a:bodyPr wrap="none" lIns="0" tIns="0" rIns="0" bIns="0" rtlCol="0" anchor="t">
              <a:noAutofit/>
            </a:bodyPr>
            <a:lstStyle/>
            <a:p>
              <a:pPr algn="ctr">
                <a:spcBef>
                  <a:spcPts val="0"/>
                </a:spcBef>
                <a:spcAft>
                  <a:spcPts val="0"/>
                </a:spcAft>
              </a:pPr>
              <a:r>
                <a:rPr lang="en-US" sz="1050" b="1" dirty="0">
                  <a:solidFill>
                    <a:srgbClr val="0A0B0D"/>
                  </a:solidFill>
                  <a:latin typeface="Segoe UI"/>
                  <a:ea typeface="Segoe UI"/>
                  <a:cs typeface="Segoe UI"/>
                </a:rPr>
                <a:t>Export report</a:t>
              </a:r>
              <a:endParaRPr lang="en-US" sz="1050" dirty="0"/>
            </a:p>
          </p:txBody>
        </p:sp>
      </p:grpSp>
      <p:grpSp>
        <p:nvGrpSpPr>
          <p:cNvPr id="110" name="brackets"/>
          <p:cNvGrpSpPr/>
          <p:nvPr/>
        </p:nvGrpSpPr>
        <p:grpSpPr>
          <a:xfrm>
            <a:off x="4743450" y="1752600"/>
            <a:ext cx="6953250" cy="4610100"/>
            <a:chOff x="4743450" y="1752600"/>
            <a:chExt cx="6953250" cy="4610100"/>
          </a:xfrm>
        </p:grpSpPr>
        <p:sp>
          <p:nvSpPr>
            <p:cNvPr id="108" name="path 109"/>
            <p:cNvSpPr/>
            <p:nvPr/>
          </p:nvSpPr>
          <p:spPr>
            <a:xfrm>
              <a:off x="4743450" y="1752600"/>
              <a:ext cx="228600" cy="228600"/>
            </a:xfrm>
            <a:custGeom>
              <a:avLst/>
              <a:gdLst/>
              <a:ahLst/>
              <a:cxnLst/>
              <a:rect l="0" t="0" r="r" b="b"/>
              <a:pathLst>
                <a:path w="228600" h="228600" fill="none">
                  <a:moveTo>
                    <a:pt x="0" y="228600"/>
                  </a:moveTo>
                  <a:lnTo>
                    <a:pt x="0" y="0"/>
                  </a:lnTo>
                  <a:lnTo>
                    <a:pt x="228600" y="0"/>
                  </a:lnTo>
                </a:path>
              </a:pathLst>
            </a:custGeom>
            <a:noFill/>
            <a:ln w="19050" cap="flat">
              <a:solidFill>
                <a:srgbClr val="FF5B1F"/>
              </a:solidFill>
              <a:miter lim="800000"/>
            </a:ln>
          </p:spPr>
          <p:txBody>
            <a:bodyPr/>
            <a:lstStyle/>
            <a:p>
              <a:endParaRPr lang="en-US"/>
            </a:p>
          </p:txBody>
        </p:sp>
        <p:sp>
          <p:nvSpPr>
            <p:cNvPr id="109" name="path 110"/>
            <p:cNvSpPr/>
            <p:nvPr/>
          </p:nvSpPr>
          <p:spPr>
            <a:xfrm>
              <a:off x="11468100" y="6134100"/>
              <a:ext cx="228600" cy="228600"/>
            </a:xfrm>
            <a:custGeom>
              <a:avLst/>
              <a:gdLst/>
              <a:ahLst/>
              <a:cxnLst/>
              <a:rect l="0" t="0" r="r" b="b"/>
              <a:pathLst>
                <a:path w="228600" h="228600" fill="none">
                  <a:moveTo>
                    <a:pt x="0" y="228600"/>
                  </a:moveTo>
                  <a:lnTo>
                    <a:pt x="228600" y="228600"/>
                  </a:lnTo>
                  <a:lnTo>
                    <a:pt x="228600" y="0"/>
                  </a:lnTo>
                </a:path>
              </a:pathLst>
            </a:custGeom>
            <a:noFill/>
            <a:ln w="19050" cap="flat">
              <a:solidFill>
                <a:srgbClr val="3D8BFF"/>
              </a:solidFill>
              <a:miter lim="800000"/>
            </a:ln>
          </p:spPr>
          <p:txBody>
            <a:bodyPr/>
            <a:lstStyle/>
            <a:p>
              <a:endParaRPr lang="en-US"/>
            </a:p>
          </p:txBody>
        </p:sp>
      </p:grpSp>
      <p:grpSp>
        <p:nvGrpSpPr>
          <p:cNvPr id="115" name="footer"/>
          <p:cNvGrpSpPr/>
          <p:nvPr/>
        </p:nvGrpSpPr>
        <p:grpSpPr>
          <a:xfrm>
            <a:off x="609600" y="6419850"/>
            <a:ext cx="10972800" cy="209645"/>
            <a:chOff x="609600" y="6419850"/>
            <a:chExt cx="10972800" cy="209645"/>
          </a:xfrm>
        </p:grpSpPr>
        <p:sp>
          <p:nvSpPr>
            <p:cNvPr id="111" name="Text 112"/>
            <p:cNvSpPr txBox="1"/>
            <p:nvPr/>
          </p:nvSpPr>
          <p:spPr>
            <a:xfrm>
              <a:off x="609600" y="6419850"/>
              <a:ext cx="1643336" cy="173355"/>
            </a:xfrm>
            <a:prstGeom prst="rect">
              <a:avLst/>
            </a:prstGeom>
            <a:noFill/>
          </p:spPr>
          <p:txBody>
            <a:bodyPr wrap="none" lIns="0" tIns="0" rIns="0" bIns="0" rtlCol="0" anchor="t">
              <a:noAutofit/>
            </a:bodyPr>
            <a:lstStyle/>
            <a:p>
              <a:pPr algn="l">
                <a:spcBef>
                  <a:spcPts val="0"/>
                </a:spcBef>
                <a:spcAft>
                  <a:spcPts val="0"/>
                </a:spcAft>
              </a:pPr>
              <a:r>
                <a:rPr lang="en-US" sz="900" b="0" dirty="0">
                  <a:solidFill>
                    <a:srgbClr val="9C9A94"/>
                  </a:solidFill>
                  <a:latin typeface="Segoe UI"/>
                  <a:ea typeface="Segoe UI"/>
                  <a:cs typeface="Segoe UI"/>
                </a:rPr>
                <a:t>YZPZCODE / WRITING STUDIO</a:t>
              </a:r>
              <a:endParaRPr lang="en-US" sz="900" dirty="0"/>
            </a:p>
          </p:txBody>
        </p:sp>
        <p:sp>
          <p:nvSpPr>
            <p:cNvPr id="112" name="Text 113"/>
            <p:cNvSpPr txBox="1"/>
            <p:nvPr/>
          </p:nvSpPr>
          <p:spPr>
            <a:xfrm>
              <a:off x="11176540" y="6419850"/>
              <a:ext cx="405860" cy="173355"/>
            </a:xfrm>
            <a:prstGeom prst="rect">
              <a:avLst/>
            </a:prstGeom>
            <a:noFill/>
          </p:spPr>
          <p:txBody>
            <a:bodyPr wrap="none" lIns="0" tIns="0" rIns="0" bIns="0" rtlCol="0" anchor="t">
              <a:noAutofit/>
            </a:bodyPr>
            <a:lstStyle/>
            <a:p>
              <a:pPr algn="r">
                <a:spcBef>
                  <a:spcPts val="0"/>
                </a:spcBef>
                <a:spcAft>
                  <a:spcPts val="0"/>
                </a:spcAft>
              </a:pPr>
              <a:r>
                <a:rPr lang="en-US" sz="900" b="0" dirty="0">
                  <a:solidFill>
                    <a:srgbClr val="9C9A94"/>
                  </a:solidFill>
                  <a:latin typeface="Segoe UI"/>
                  <a:ea typeface="Segoe UI"/>
                  <a:cs typeface="Segoe UI"/>
                </a:rPr>
                <a:t>21 / 22</a:t>
              </a:r>
              <a:endParaRPr lang="en-US" sz="900" dirty="0"/>
            </a:p>
          </p:txBody>
        </p:sp>
        <p:sp>
          <p:nvSpPr>
            <p:cNvPr id="113" name="line 114"/>
            <p:cNvSpPr/>
            <p:nvPr/>
          </p:nvSpPr>
          <p:spPr>
            <a:xfrm>
              <a:off x="609600" y="6629400"/>
              <a:ext cx="10972800" cy="95"/>
            </a:xfrm>
            <a:custGeom>
              <a:avLst/>
              <a:gdLst/>
              <a:ahLst/>
              <a:cxnLst/>
              <a:rect l="0" t="0" r="r" b="b"/>
              <a:pathLst>
                <a:path w="10972800" h="95" fill="none">
                  <a:moveTo>
                    <a:pt x="0" y="0"/>
                  </a:moveTo>
                  <a:lnTo>
                    <a:pt x="10972800" y="0"/>
                  </a:lnTo>
                </a:path>
              </a:pathLst>
            </a:custGeom>
            <a:noFill/>
            <a:ln w="9525" cap="flat">
              <a:solidFill>
                <a:srgbClr val="2A2E35"/>
              </a:solidFill>
              <a:miter lim="800000"/>
            </a:ln>
          </p:spPr>
          <p:txBody>
            <a:bodyPr/>
            <a:lstStyle/>
            <a:p>
              <a:endParaRPr lang="en-US"/>
            </a:p>
          </p:txBody>
        </p:sp>
        <p:sp>
          <p:nvSpPr>
            <p:cNvPr id="114" name="line 115"/>
            <p:cNvSpPr/>
            <p:nvPr/>
          </p:nvSpPr>
          <p:spPr>
            <a:xfrm>
              <a:off x="609600" y="6629400"/>
              <a:ext cx="10496550" cy="95"/>
            </a:xfrm>
            <a:custGeom>
              <a:avLst/>
              <a:gdLst/>
              <a:ahLst/>
              <a:cxnLst/>
              <a:rect l="0" t="0" r="r" b="b"/>
              <a:pathLst>
                <a:path w="10496550" h="95" fill="none">
                  <a:moveTo>
                    <a:pt x="0" y="0"/>
                  </a:moveTo>
                  <a:lnTo>
                    <a:pt x="10496550" y="0"/>
                  </a:lnTo>
                </a:path>
              </a:pathLst>
            </a:custGeom>
            <a:noFill/>
            <a:ln w="19050" cap="flat">
              <a:solidFill>
                <a:srgbClr val="FF5B1F"/>
              </a:solidFill>
              <a:miter lim="800000"/>
            </a:ln>
          </p:spPr>
          <p:txBody>
            <a:bodyPr/>
            <a:lstStyle/>
            <a:p>
              <a:endParaRPr lang="en-US"/>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600" fill="hold"/>
                                        <p:tgtEl>
                                          <p:spTgt spid="4"/>
                                        </p:tgtEl>
                                        <p:attrNameLst>
                                          <p:attrName>ppt_y</p:attrName>
                                        </p:attrNameLst>
                                      </p:cBhvr>
                                      <p:tavLst>
                                        <p:tav tm="0">
                                          <p:val>
                                            <p:strVal val="#ppt_y+.1"/>
                                          </p:val>
                                        </p:tav>
                                        <p:tav tm="100000">
                                          <p:val>
                                            <p:strVal val="#ppt_y"/>
                                          </p:val>
                                        </p:tav>
                                      </p:tavLst>
                                    </p:anim>
                                    <p:animEffect transition="in" filter="fade">
                                      <p:cBhvr>
                                        <p:cTn id="8" dur="6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additive="base">
                                        <p:cTn id="13" dur="600" fill="hold"/>
                                        <p:tgtEl>
                                          <p:spTgt spid="22"/>
                                        </p:tgtEl>
                                        <p:attrNameLst>
                                          <p:attrName>ppt_x</p:attrName>
                                        </p:attrNameLst>
                                      </p:cBhvr>
                                      <p:tavLst>
                                        <p:tav tm="0">
                                          <p:val>
                                            <p:strVal val="0-#ppt_w/2"/>
                                          </p:val>
                                        </p:tav>
                                        <p:tav tm="100000">
                                          <p:val>
                                            <p:strVal val="#ppt_x"/>
                                          </p:val>
                                        </p:tav>
                                      </p:tavLst>
                                    </p:anim>
                                    <p:anim calcmode="lin" valueType="num">
                                      <p:cBhvr additive="base">
                                        <p:cTn id="14" dur="600" fill="hold"/>
                                        <p:tgtEl>
                                          <p:spTgt spid="22"/>
                                        </p:tgtEl>
                                        <p:attrNameLst>
                                          <p:attrName>ppt_y</p:attrName>
                                        </p:attrNameLst>
                                      </p:cBhvr>
                                      <p:tavLst>
                                        <p:tav tm="0">
                                          <p:val>
                                            <p:strVal val="#ppt_y"/>
                                          </p:val>
                                        </p:tav>
                                        <p:tav tm="100000">
                                          <p:val>
                                            <p:strVal val="#ppt_y"/>
                                          </p:val>
                                        </p:tav>
                                      </p:tavLst>
                                    </p:anim>
                                  </p:childTnLst>
                                </p:cTn>
                              </p:par>
                              <p:par>
                                <p:cTn id="15" presetID="2" presetClass="entr" presetSubtype="2" fill="hold" nodeType="withEffect">
                                  <p:stCondLst>
                                    <p:cond delay="0"/>
                                  </p:stCondLst>
                                  <p:childTnLst>
                                    <p:set>
                                      <p:cBhvr>
                                        <p:cTn id="16" dur="1" fill="hold">
                                          <p:stCondLst>
                                            <p:cond delay="0"/>
                                          </p:stCondLst>
                                        </p:cTn>
                                        <p:tgtEl>
                                          <p:spTgt spid="46"/>
                                        </p:tgtEl>
                                        <p:attrNameLst>
                                          <p:attrName>style.visibility</p:attrName>
                                        </p:attrNameLst>
                                      </p:cBhvr>
                                      <p:to>
                                        <p:strVal val="visible"/>
                                      </p:to>
                                    </p:set>
                                    <p:anim calcmode="lin" valueType="num">
                                      <p:cBhvr additive="base">
                                        <p:cTn id="17" dur="600" fill="hold"/>
                                        <p:tgtEl>
                                          <p:spTgt spid="46"/>
                                        </p:tgtEl>
                                        <p:attrNameLst>
                                          <p:attrName>ppt_x</p:attrName>
                                        </p:attrNameLst>
                                      </p:cBhvr>
                                      <p:tavLst>
                                        <p:tav tm="0">
                                          <p:val>
                                            <p:strVal val="1+#ppt_w/2"/>
                                          </p:val>
                                        </p:tav>
                                        <p:tav tm="100000">
                                          <p:val>
                                            <p:strVal val="#ppt_x"/>
                                          </p:val>
                                        </p:tav>
                                      </p:tavLst>
                                    </p:anim>
                                    <p:anim calcmode="lin" valueType="num">
                                      <p:cBhvr additive="base">
                                        <p:cTn id="18" dur="600" fill="hold"/>
                                        <p:tgtEl>
                                          <p:spTgt spid="46"/>
                                        </p:tgtEl>
                                        <p:attrNameLst>
                                          <p:attrName>ppt_y</p:attrName>
                                        </p:attrNameLst>
                                      </p:cBhvr>
                                      <p:tavLst>
                                        <p:tav tm="0">
                                          <p:val>
                                            <p:strVal val="#ppt_y"/>
                                          </p:val>
                                        </p:tav>
                                        <p:tav tm="100000">
                                          <p:val>
                                            <p:strVal val="#ppt_y"/>
                                          </p:val>
                                        </p:tav>
                                      </p:tavLst>
                                    </p:anim>
                                  </p:childTnLst>
                                </p:cTn>
                              </p:par>
                              <p:par>
                                <p:cTn id="19" presetID="10" presetClass="entr" presetSubtype="0" fill="hold" nodeType="withEffect">
                                  <p:stCondLst>
                                    <p:cond delay="0"/>
                                  </p:stCondLst>
                                  <p:childTnLst>
                                    <p:set>
                                      <p:cBhvr>
                                        <p:cTn id="20" dur="1" fill="hold">
                                          <p:stCondLst>
                                            <p:cond delay="0"/>
                                          </p:stCondLst>
                                        </p:cTn>
                                        <p:tgtEl>
                                          <p:spTgt spid="110"/>
                                        </p:tgtEl>
                                        <p:attrNameLst>
                                          <p:attrName>style.visibility</p:attrName>
                                        </p:attrNameLst>
                                      </p:cBhvr>
                                      <p:to>
                                        <p:strVal val="visible"/>
                                      </p:to>
                                    </p:set>
                                    <p:animEffect transition="in" filter="fade">
                                      <p:cBhvr>
                                        <p:cTn id="21" dur="500"/>
                                        <p:tgtEl>
                                          <p:spTgt spid="11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69"/>
                                        </p:tgtEl>
                                        <p:attrNameLst>
                                          <p:attrName>style.visibility</p:attrName>
                                        </p:attrNameLst>
                                      </p:cBhvr>
                                      <p:to>
                                        <p:strVal val="visible"/>
                                      </p:to>
                                    </p:set>
                                    <p:animEffect transition="in" filter="wipe(left)">
                                      <p:cBhvr>
                                        <p:cTn id="26" dur="700"/>
                                        <p:tgtEl>
                                          <p:spTgt spid="6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07"/>
                                        </p:tgtEl>
                                        <p:attrNameLst>
                                          <p:attrName>style.visibility</p:attrName>
                                        </p:attrNameLst>
                                      </p:cBhvr>
                                      <p:to>
                                        <p:strVal val="visible"/>
                                      </p:to>
                                    </p:set>
                                    <p:animEffect transition="in" filter="fade">
                                      <p:cBhvr>
                                        <p:cTn id="31" dur="500"/>
                                        <p:tgtEl>
                                          <p:spTgt spid="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0B0D"/>
        </a:solidFill>
        <a:effectLst/>
      </p:bgPr>
    </p:bg>
    <p:spTree>
      <p:nvGrpSpPr>
        <p:cNvPr id="1" name=""/>
        <p:cNvGrpSpPr/>
        <p:nvPr/>
      </p:nvGrpSpPr>
      <p:grpSpPr>
        <a:xfrm>
          <a:off x="0" y="0"/>
          <a:ext cx="0" cy="0"/>
          <a:chOff x="0" y="0"/>
          <a:chExt cx="0" cy="0"/>
        </a:xfrm>
      </p:grpSpPr>
      <p:sp>
        <p:nvSpPr>
          <p:cNvPr id="3" name="rect 4"/>
          <p:cNvSpPr/>
          <p:nvPr/>
        </p:nvSpPr>
        <p:spPr>
          <a:xfrm>
            <a:off x="-40386" y="1749362"/>
            <a:ext cx="12313920" cy="4691634"/>
          </a:xfrm>
          <a:prstGeom prst="rect">
            <a:avLst/>
          </a:prstGeom>
          <a:solidFill>
            <a:srgbClr val="F2EEE7"/>
          </a:solidFill>
          <a:ln>
            <a:noFill/>
          </a:ln>
        </p:spPr>
        <p:txBody>
          <a:bodyPr/>
          <a:lstStyle/>
          <a:p>
            <a:endParaRPr lang="en-US"/>
          </a:p>
        </p:txBody>
      </p:sp>
      <p:sp>
        <p:nvSpPr>
          <p:cNvPr id="4" name="rect 5"/>
          <p:cNvSpPr/>
          <p:nvPr/>
        </p:nvSpPr>
        <p:spPr>
          <a:xfrm>
            <a:off x="0" y="6400800"/>
            <a:ext cx="12192000" cy="457200"/>
          </a:xfrm>
          <a:prstGeom prst="rect">
            <a:avLst/>
          </a:prstGeom>
          <a:solidFill>
            <a:srgbClr val="0A0B0D"/>
          </a:solidFill>
          <a:ln>
            <a:noFill/>
          </a:ln>
        </p:spPr>
        <p:txBody>
          <a:bodyPr/>
          <a:lstStyle/>
          <a:p>
            <a:endParaRPr lang="en-US"/>
          </a:p>
        </p:txBody>
      </p:sp>
      <p:grpSp>
        <p:nvGrpSpPr>
          <p:cNvPr id="7" name="cursor-kicker"/>
          <p:cNvGrpSpPr/>
          <p:nvPr/>
        </p:nvGrpSpPr>
        <p:grpSpPr>
          <a:xfrm>
            <a:off x="609600" y="419100"/>
            <a:ext cx="5706654" cy="415290"/>
            <a:chOff x="609600" y="419100"/>
            <a:chExt cx="5706654" cy="415290"/>
          </a:xfrm>
        </p:grpSpPr>
        <p:sp>
          <p:nvSpPr>
            <p:cNvPr id="5" name="rect 6"/>
            <p:cNvSpPr/>
            <p:nvPr/>
          </p:nvSpPr>
          <p:spPr>
            <a:xfrm>
              <a:off x="609600" y="419100"/>
              <a:ext cx="457200" cy="57150"/>
            </a:xfrm>
            <a:prstGeom prst="roundRect">
              <a:avLst>
                <a:gd name="adj" fmla="val 50000"/>
              </a:avLst>
            </a:prstGeom>
            <a:solidFill>
              <a:srgbClr val="FF5B1F"/>
            </a:solidFill>
            <a:ln>
              <a:noFill/>
            </a:ln>
          </p:spPr>
          <p:txBody>
            <a:bodyPr/>
            <a:lstStyle/>
            <a:p>
              <a:endParaRPr lang="en-US"/>
            </a:p>
          </p:txBody>
        </p:sp>
        <p:sp>
          <p:nvSpPr>
            <p:cNvPr id="6" name="Text 7"/>
            <p:cNvSpPr txBox="1"/>
            <p:nvPr/>
          </p:nvSpPr>
          <p:spPr>
            <a:xfrm>
              <a:off x="609600" y="622300"/>
              <a:ext cx="5706654" cy="212090"/>
            </a:xfrm>
            <a:prstGeom prst="rect">
              <a:avLst/>
            </a:prstGeom>
            <a:noFill/>
          </p:spPr>
          <p:txBody>
            <a:bodyPr wrap="none" lIns="0" tIns="0" rIns="0" bIns="0" rtlCol="0" anchor="t">
              <a:noAutofit/>
            </a:bodyPr>
            <a:lstStyle/>
            <a:p>
              <a:pPr algn="l">
                <a:spcBef>
                  <a:spcPts val="0"/>
                </a:spcBef>
                <a:spcAft>
                  <a:spcPts val="0"/>
                </a:spcAft>
              </a:pPr>
              <a:r>
                <a:rPr lang="en-US" sz="1200" b="0" spc="150" dirty="0">
                  <a:solidFill>
                    <a:srgbClr val="9C9A94"/>
                  </a:solidFill>
                  <a:latin typeface="Consolas"/>
                  <a:ea typeface="Consolas"/>
                  <a:cs typeface="Consolas"/>
                </a:rPr>
                <a:t>YZPZCODE / THE UNIFIED WORKSPACE FOR AI CODING AGENTS</a:t>
              </a:r>
              <a:endParaRPr lang="en-US" sz="1200" dirty="0"/>
            </a:p>
          </p:txBody>
        </p:sp>
      </p:grpSp>
      <p:sp>
        <p:nvSpPr>
          <p:cNvPr id="8" name="Text 9"/>
          <p:cNvSpPr txBox="1"/>
          <p:nvPr/>
        </p:nvSpPr>
        <p:spPr>
          <a:xfrm>
            <a:off x="609600" y="914400"/>
            <a:ext cx="7726375" cy="1617345"/>
          </a:xfrm>
          <a:prstGeom prst="rect">
            <a:avLst/>
          </a:prstGeom>
          <a:noFill/>
        </p:spPr>
        <p:txBody>
          <a:bodyPr wrap="none" lIns="0" tIns="0" rIns="0" bIns="0" rtlCol="0" anchor="t">
            <a:noAutofit/>
          </a:bodyPr>
          <a:lstStyle/>
          <a:p>
            <a:pPr algn="l">
              <a:lnSpc>
                <a:spcPts val="6000"/>
              </a:lnSpc>
              <a:spcBef>
                <a:spcPts val="0"/>
              </a:spcBef>
              <a:spcAft>
                <a:spcPts val="0"/>
              </a:spcAft>
            </a:pPr>
            <a:r>
              <a:rPr lang="en-US" sz="5100" b="1" dirty="0">
                <a:solidFill>
                  <a:srgbClr val="EDE9E2"/>
                </a:solidFill>
                <a:latin typeface="Bahnschrift"/>
                <a:ea typeface="Bahnschrift"/>
                <a:cs typeface="Bahnschrift"/>
              </a:rPr>
              <a:t>Build with your AI agents,</a:t>
            </a:r>
            <a:endParaRPr lang="en-US" sz="5100" dirty="0"/>
          </a:p>
          <a:p>
            <a:pPr algn="l">
              <a:lnSpc>
                <a:spcPts val="6000"/>
              </a:lnSpc>
              <a:spcBef>
                <a:spcPts val="0"/>
              </a:spcBef>
              <a:spcAft>
                <a:spcPts val="0"/>
              </a:spcAft>
            </a:pPr>
            <a:r>
              <a:rPr lang="en-US" sz="5100" b="1" dirty="0">
                <a:solidFill>
                  <a:srgbClr val="FF5B1F"/>
                </a:solidFill>
                <a:latin typeface="Bahnschrift"/>
                <a:ea typeface="Bahnschrift"/>
                <a:cs typeface="Bahnschrift"/>
              </a:rPr>
              <a:t>not around them.</a:t>
            </a:r>
            <a:endParaRPr lang="en-US" sz="5100" dirty="0"/>
          </a:p>
        </p:txBody>
      </p:sp>
      <p:grpSp>
        <p:nvGrpSpPr>
          <p:cNvPr id="22" name="actions"/>
          <p:cNvGrpSpPr/>
          <p:nvPr/>
        </p:nvGrpSpPr>
        <p:grpSpPr>
          <a:xfrm>
            <a:off x="609600" y="3009900"/>
            <a:ext cx="6057900" cy="1600295"/>
            <a:chOff x="609600" y="3009900"/>
            <a:chExt cx="6057900" cy="1600295"/>
          </a:xfrm>
        </p:grpSpPr>
        <p:sp>
          <p:nvSpPr>
            <p:cNvPr id="9" name="line 10"/>
            <p:cNvSpPr/>
            <p:nvPr/>
          </p:nvSpPr>
          <p:spPr>
            <a:xfrm>
              <a:off x="609600" y="3009900"/>
              <a:ext cx="6057900" cy="95"/>
            </a:xfrm>
            <a:custGeom>
              <a:avLst/>
              <a:gdLst/>
              <a:ahLst/>
              <a:cxnLst/>
              <a:rect l="0" t="0" r="r" b="b"/>
              <a:pathLst>
                <a:path w="6057900" h="95" fill="none">
                  <a:moveTo>
                    <a:pt x="0" y="0"/>
                  </a:moveTo>
                  <a:lnTo>
                    <a:pt x="6057900" y="0"/>
                  </a:lnTo>
                </a:path>
              </a:pathLst>
            </a:custGeom>
            <a:noFill/>
            <a:ln w="9525" cap="flat">
              <a:solidFill>
                <a:srgbClr val="14171B">
                  <a:alpha val="25000"/>
                </a:srgbClr>
              </a:solidFill>
              <a:miter lim="800000"/>
            </a:ln>
          </p:spPr>
          <p:txBody>
            <a:bodyPr/>
            <a:lstStyle/>
            <a:p>
              <a:endParaRPr lang="en-US"/>
            </a:p>
          </p:txBody>
        </p:sp>
        <p:sp>
          <p:nvSpPr>
            <p:cNvPr id="10" name="line 11"/>
            <p:cNvSpPr/>
            <p:nvPr/>
          </p:nvSpPr>
          <p:spPr>
            <a:xfrm>
              <a:off x="609600" y="3209925"/>
              <a:ext cx="285750" cy="95"/>
            </a:xfrm>
            <a:custGeom>
              <a:avLst/>
              <a:gdLst/>
              <a:ahLst/>
              <a:cxnLst/>
              <a:rect l="0" t="0" r="r" b="b"/>
              <a:pathLst>
                <a:path w="285750" h="95" fill="none">
                  <a:moveTo>
                    <a:pt x="0" y="0"/>
                  </a:moveTo>
                  <a:lnTo>
                    <a:pt x="285750" y="0"/>
                  </a:lnTo>
                </a:path>
              </a:pathLst>
            </a:custGeom>
            <a:noFill/>
            <a:ln w="23813" cap="flat">
              <a:solidFill>
                <a:srgbClr val="D9460F"/>
              </a:solidFill>
              <a:miter lim="800000"/>
              <a:tailEnd type="triangle" w="med" len="med"/>
            </a:ln>
          </p:spPr>
          <p:txBody>
            <a:bodyPr/>
            <a:lstStyle/>
            <a:p>
              <a:endParaRPr lang="en-US"/>
            </a:p>
          </p:txBody>
        </p:sp>
        <p:sp>
          <p:nvSpPr>
            <p:cNvPr id="11" name="Text 12"/>
            <p:cNvSpPr txBox="1"/>
            <p:nvPr/>
          </p:nvSpPr>
          <p:spPr>
            <a:xfrm>
              <a:off x="1104900" y="3063875"/>
              <a:ext cx="2873557" cy="295593"/>
            </a:xfrm>
            <a:prstGeom prst="rect">
              <a:avLst/>
            </a:prstGeom>
            <a:noFill/>
          </p:spPr>
          <p:txBody>
            <a:bodyPr wrap="none" lIns="0" tIns="0" rIns="0" bIns="0" rtlCol="0" anchor="t">
              <a:noAutofit/>
            </a:bodyPr>
            <a:lstStyle/>
            <a:p>
              <a:pPr algn="l">
                <a:spcBef>
                  <a:spcPts val="0"/>
                </a:spcBef>
                <a:spcAft>
                  <a:spcPts val="0"/>
                </a:spcAft>
              </a:pPr>
              <a:r>
                <a:rPr lang="en-US" sz="1650" b="1" dirty="0">
                  <a:solidFill>
                    <a:srgbClr val="14171B"/>
                  </a:solidFill>
                  <a:latin typeface="Segoe UI"/>
                  <a:ea typeface="Segoe UI"/>
                  <a:cs typeface="Segoe UI"/>
                </a:rPr>
                <a:t>Download the latest release</a:t>
              </a:r>
              <a:endParaRPr lang="en-US" sz="1650" dirty="0"/>
            </a:p>
          </p:txBody>
        </p:sp>
        <p:sp>
          <p:nvSpPr>
            <p:cNvPr id="12" name="Text 13"/>
            <p:cNvSpPr txBox="1"/>
            <p:nvPr/>
          </p:nvSpPr>
          <p:spPr>
            <a:xfrm>
              <a:off x="1104900" y="3308350"/>
              <a:ext cx="3959483"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5E5A52"/>
                  </a:solidFill>
                  <a:latin typeface="Consolas"/>
                  <a:ea typeface="Consolas"/>
                  <a:cs typeface="Consolas"/>
                </a:rPr>
                <a:t>github.com/wolfenazz/YzPzCode/releases/latest</a:t>
              </a:r>
              <a:endParaRPr lang="en-US" sz="1200" dirty="0"/>
            </a:p>
          </p:txBody>
        </p:sp>
        <p:sp>
          <p:nvSpPr>
            <p:cNvPr id="13" name="line 14"/>
            <p:cNvSpPr/>
            <p:nvPr/>
          </p:nvSpPr>
          <p:spPr>
            <a:xfrm>
              <a:off x="609600" y="3543300"/>
              <a:ext cx="6057900" cy="95"/>
            </a:xfrm>
            <a:custGeom>
              <a:avLst/>
              <a:gdLst/>
              <a:ahLst/>
              <a:cxnLst/>
              <a:rect l="0" t="0" r="r" b="b"/>
              <a:pathLst>
                <a:path w="6057900" h="95" fill="none">
                  <a:moveTo>
                    <a:pt x="0" y="0"/>
                  </a:moveTo>
                  <a:lnTo>
                    <a:pt x="6057900" y="0"/>
                  </a:lnTo>
                </a:path>
              </a:pathLst>
            </a:custGeom>
            <a:noFill/>
            <a:ln w="9525" cap="flat">
              <a:solidFill>
                <a:srgbClr val="14171B">
                  <a:alpha val="25000"/>
                </a:srgbClr>
              </a:solidFill>
              <a:miter lim="800000"/>
            </a:ln>
          </p:spPr>
          <p:txBody>
            <a:bodyPr/>
            <a:lstStyle/>
            <a:p>
              <a:endParaRPr lang="en-US"/>
            </a:p>
          </p:txBody>
        </p:sp>
        <p:sp>
          <p:nvSpPr>
            <p:cNvPr id="14" name="line 15"/>
            <p:cNvSpPr/>
            <p:nvPr/>
          </p:nvSpPr>
          <p:spPr>
            <a:xfrm>
              <a:off x="609600" y="3743325"/>
              <a:ext cx="285750" cy="95"/>
            </a:xfrm>
            <a:custGeom>
              <a:avLst/>
              <a:gdLst/>
              <a:ahLst/>
              <a:cxnLst/>
              <a:rect l="0" t="0" r="r" b="b"/>
              <a:pathLst>
                <a:path w="285750" h="95" fill="none">
                  <a:moveTo>
                    <a:pt x="0" y="0"/>
                  </a:moveTo>
                  <a:lnTo>
                    <a:pt x="285750" y="0"/>
                  </a:lnTo>
                </a:path>
              </a:pathLst>
            </a:custGeom>
            <a:noFill/>
            <a:ln w="23813" cap="flat">
              <a:solidFill>
                <a:srgbClr val="D9460F"/>
              </a:solidFill>
              <a:miter lim="800000"/>
              <a:tailEnd type="triangle" w="med" len="med"/>
            </a:ln>
          </p:spPr>
          <p:txBody>
            <a:bodyPr/>
            <a:lstStyle/>
            <a:p>
              <a:endParaRPr lang="en-US"/>
            </a:p>
          </p:txBody>
        </p:sp>
        <p:sp>
          <p:nvSpPr>
            <p:cNvPr id="15" name="Text 16"/>
            <p:cNvSpPr txBox="1"/>
            <p:nvPr/>
          </p:nvSpPr>
          <p:spPr>
            <a:xfrm>
              <a:off x="1104900" y="3597275"/>
              <a:ext cx="2073232" cy="295593"/>
            </a:xfrm>
            <a:prstGeom prst="rect">
              <a:avLst/>
            </a:prstGeom>
            <a:noFill/>
          </p:spPr>
          <p:txBody>
            <a:bodyPr wrap="none" lIns="0" tIns="0" rIns="0" bIns="0" rtlCol="0" anchor="t">
              <a:noAutofit/>
            </a:bodyPr>
            <a:lstStyle/>
            <a:p>
              <a:pPr algn="l">
                <a:spcBef>
                  <a:spcPts val="0"/>
                </a:spcBef>
                <a:spcAft>
                  <a:spcPts val="0"/>
                </a:spcAft>
              </a:pPr>
              <a:r>
                <a:rPr lang="en-US" sz="1650" b="1" dirty="0">
                  <a:solidFill>
                    <a:srgbClr val="14171B"/>
                  </a:solidFill>
                  <a:latin typeface="Segoe UI"/>
                  <a:ea typeface="Segoe UI"/>
                  <a:cs typeface="Segoe UI"/>
                </a:rPr>
                <a:t>Read the user guide</a:t>
              </a:r>
              <a:endParaRPr lang="en-US" sz="1650" dirty="0"/>
            </a:p>
          </p:txBody>
        </p:sp>
        <p:sp>
          <p:nvSpPr>
            <p:cNvPr id="16" name="Text 17"/>
            <p:cNvSpPr txBox="1"/>
            <p:nvPr/>
          </p:nvSpPr>
          <p:spPr>
            <a:xfrm>
              <a:off x="1104900" y="3841750"/>
              <a:ext cx="1432370"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5E5A52"/>
                  </a:solidFill>
                  <a:latin typeface="Consolas"/>
                  <a:ea typeface="Consolas"/>
                  <a:cs typeface="Consolas"/>
                </a:rPr>
                <a:t>docs/userguid.md</a:t>
              </a:r>
              <a:endParaRPr lang="en-US" sz="1200" dirty="0"/>
            </a:p>
          </p:txBody>
        </p:sp>
        <p:sp>
          <p:nvSpPr>
            <p:cNvPr id="17" name="line 18"/>
            <p:cNvSpPr/>
            <p:nvPr/>
          </p:nvSpPr>
          <p:spPr>
            <a:xfrm>
              <a:off x="609600" y="4076700"/>
              <a:ext cx="6057900" cy="95"/>
            </a:xfrm>
            <a:custGeom>
              <a:avLst/>
              <a:gdLst/>
              <a:ahLst/>
              <a:cxnLst/>
              <a:rect l="0" t="0" r="r" b="b"/>
              <a:pathLst>
                <a:path w="6057900" h="95" fill="none">
                  <a:moveTo>
                    <a:pt x="0" y="0"/>
                  </a:moveTo>
                  <a:lnTo>
                    <a:pt x="6057900" y="0"/>
                  </a:lnTo>
                </a:path>
              </a:pathLst>
            </a:custGeom>
            <a:noFill/>
            <a:ln w="9525" cap="flat">
              <a:solidFill>
                <a:srgbClr val="14171B">
                  <a:alpha val="25000"/>
                </a:srgbClr>
              </a:solidFill>
              <a:miter lim="800000"/>
            </a:ln>
          </p:spPr>
          <p:txBody>
            <a:bodyPr/>
            <a:lstStyle/>
            <a:p>
              <a:endParaRPr lang="en-US"/>
            </a:p>
          </p:txBody>
        </p:sp>
        <p:sp>
          <p:nvSpPr>
            <p:cNvPr id="18" name="line 19"/>
            <p:cNvSpPr/>
            <p:nvPr/>
          </p:nvSpPr>
          <p:spPr>
            <a:xfrm>
              <a:off x="609600" y="4276725"/>
              <a:ext cx="285750" cy="95"/>
            </a:xfrm>
            <a:custGeom>
              <a:avLst/>
              <a:gdLst/>
              <a:ahLst/>
              <a:cxnLst/>
              <a:rect l="0" t="0" r="r" b="b"/>
              <a:pathLst>
                <a:path w="285750" h="95" fill="none">
                  <a:moveTo>
                    <a:pt x="0" y="0"/>
                  </a:moveTo>
                  <a:lnTo>
                    <a:pt x="285750" y="0"/>
                  </a:lnTo>
                </a:path>
              </a:pathLst>
            </a:custGeom>
            <a:noFill/>
            <a:ln w="23813" cap="flat">
              <a:solidFill>
                <a:srgbClr val="D9460F"/>
              </a:solidFill>
              <a:miter lim="800000"/>
              <a:tailEnd type="triangle" w="med" len="med"/>
            </a:ln>
          </p:spPr>
          <p:txBody>
            <a:bodyPr/>
            <a:lstStyle/>
            <a:p>
              <a:endParaRPr lang="en-US"/>
            </a:p>
          </p:txBody>
        </p:sp>
        <p:sp>
          <p:nvSpPr>
            <p:cNvPr id="19" name="Text 20"/>
            <p:cNvSpPr txBox="1"/>
            <p:nvPr/>
          </p:nvSpPr>
          <p:spPr>
            <a:xfrm>
              <a:off x="1104900" y="4130675"/>
              <a:ext cx="3464464" cy="295593"/>
            </a:xfrm>
            <a:prstGeom prst="rect">
              <a:avLst/>
            </a:prstGeom>
            <a:noFill/>
          </p:spPr>
          <p:txBody>
            <a:bodyPr wrap="none" lIns="0" tIns="0" rIns="0" bIns="0" rtlCol="0" anchor="t">
              <a:noAutofit/>
            </a:bodyPr>
            <a:lstStyle/>
            <a:p>
              <a:pPr algn="l">
                <a:spcBef>
                  <a:spcPts val="0"/>
                </a:spcBef>
                <a:spcAft>
                  <a:spcPts val="0"/>
                </a:spcAft>
              </a:pPr>
              <a:r>
                <a:rPr lang="en-US" sz="1650" b="1" dirty="0">
                  <a:solidFill>
                    <a:srgbClr val="14171B"/>
                  </a:solidFill>
                  <a:latin typeface="Segoe UI"/>
                  <a:ea typeface="Segoe UI"/>
                  <a:cs typeface="Segoe UI"/>
                </a:rPr>
                <a:t>Report a bug or request a feature</a:t>
              </a:r>
              <a:endParaRPr lang="en-US" sz="1650" dirty="0"/>
            </a:p>
          </p:txBody>
        </p:sp>
        <p:sp>
          <p:nvSpPr>
            <p:cNvPr id="20" name="Text 21"/>
            <p:cNvSpPr txBox="1"/>
            <p:nvPr/>
          </p:nvSpPr>
          <p:spPr>
            <a:xfrm>
              <a:off x="1104900" y="4375150"/>
              <a:ext cx="1432370"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5E5A52"/>
                  </a:solidFill>
                  <a:latin typeface="Consolas"/>
                  <a:ea typeface="Consolas"/>
                  <a:cs typeface="Consolas"/>
                </a:rPr>
                <a:t>on GitHub Issues</a:t>
              </a:r>
              <a:endParaRPr lang="en-US" sz="1200" dirty="0"/>
            </a:p>
          </p:txBody>
        </p:sp>
        <p:sp>
          <p:nvSpPr>
            <p:cNvPr id="21" name="line 22"/>
            <p:cNvSpPr/>
            <p:nvPr/>
          </p:nvSpPr>
          <p:spPr>
            <a:xfrm>
              <a:off x="609600" y="4610100"/>
              <a:ext cx="6057900" cy="95"/>
            </a:xfrm>
            <a:custGeom>
              <a:avLst/>
              <a:gdLst/>
              <a:ahLst/>
              <a:cxnLst/>
              <a:rect l="0" t="0" r="r" b="b"/>
              <a:pathLst>
                <a:path w="6057900" h="95" fill="none">
                  <a:moveTo>
                    <a:pt x="0" y="0"/>
                  </a:moveTo>
                  <a:lnTo>
                    <a:pt x="6057900" y="0"/>
                  </a:lnTo>
                </a:path>
              </a:pathLst>
            </a:custGeom>
            <a:noFill/>
            <a:ln w="9525" cap="flat">
              <a:solidFill>
                <a:srgbClr val="14171B">
                  <a:alpha val="25000"/>
                </a:srgbClr>
              </a:solidFill>
              <a:miter lim="800000"/>
            </a:ln>
          </p:spPr>
          <p:txBody>
            <a:bodyPr/>
            <a:lstStyle/>
            <a:p>
              <a:endParaRPr lang="en-US"/>
            </a:p>
          </p:txBody>
        </p:sp>
      </p:grpSp>
      <p:grpSp>
        <p:nvGrpSpPr>
          <p:cNvPr id="30" name="also-built-in"/>
          <p:cNvGrpSpPr/>
          <p:nvPr/>
        </p:nvGrpSpPr>
        <p:grpSpPr>
          <a:xfrm>
            <a:off x="609600" y="4781550"/>
            <a:ext cx="5962650" cy="323850"/>
            <a:chOff x="609600" y="4781550"/>
            <a:chExt cx="5962650" cy="323850"/>
          </a:xfrm>
        </p:grpSpPr>
        <p:sp>
          <p:nvSpPr>
            <p:cNvPr id="23" name="Text 24"/>
            <p:cNvSpPr txBox="1"/>
            <p:nvPr/>
          </p:nvSpPr>
          <p:spPr>
            <a:xfrm>
              <a:off x="609600" y="4851400"/>
              <a:ext cx="1428500" cy="212090"/>
            </a:xfrm>
            <a:prstGeom prst="rect">
              <a:avLst/>
            </a:prstGeom>
            <a:noFill/>
          </p:spPr>
          <p:txBody>
            <a:bodyPr wrap="none" lIns="0" tIns="0" rIns="0" bIns="0" rtlCol="0" anchor="t">
              <a:noAutofit/>
            </a:bodyPr>
            <a:lstStyle/>
            <a:p>
              <a:pPr algn="l">
                <a:spcBef>
                  <a:spcPts val="0"/>
                </a:spcBef>
                <a:spcAft>
                  <a:spcPts val="0"/>
                </a:spcAft>
              </a:pPr>
              <a:r>
                <a:rPr lang="en-US" sz="1200" b="0" spc="150" dirty="0">
                  <a:solidFill>
                    <a:srgbClr val="5E5A52"/>
                  </a:solidFill>
                  <a:latin typeface="Consolas"/>
                  <a:ea typeface="Consolas"/>
                  <a:cs typeface="Consolas"/>
                </a:rPr>
                <a:t>ALSO BUILT IN</a:t>
              </a:r>
              <a:endParaRPr lang="en-US" sz="1200" dirty="0"/>
            </a:p>
          </p:txBody>
        </p:sp>
        <p:sp>
          <p:nvSpPr>
            <p:cNvPr id="24" name="rect 25"/>
            <p:cNvSpPr/>
            <p:nvPr/>
          </p:nvSpPr>
          <p:spPr>
            <a:xfrm>
              <a:off x="2057400" y="4781550"/>
              <a:ext cx="1819275" cy="323850"/>
            </a:xfrm>
            <a:prstGeom prst="roundRect">
              <a:avLst>
                <a:gd name="adj" fmla="val 5882"/>
              </a:avLst>
            </a:prstGeom>
            <a:noFill/>
            <a:ln w="9525" cap="flat">
              <a:solidFill>
                <a:srgbClr val="14171B">
                  <a:alpha val="50000"/>
                </a:srgbClr>
              </a:solidFill>
              <a:miter lim="800000"/>
            </a:ln>
          </p:spPr>
          <p:txBody>
            <a:bodyPr/>
            <a:lstStyle/>
            <a:p>
              <a:endParaRPr lang="en-US"/>
            </a:p>
          </p:txBody>
        </p:sp>
        <p:sp>
          <p:nvSpPr>
            <p:cNvPr id="25" name="Text 26"/>
            <p:cNvSpPr txBox="1"/>
            <p:nvPr/>
          </p:nvSpPr>
          <p:spPr>
            <a:xfrm>
              <a:off x="2171700" y="4851400"/>
              <a:ext cx="1693795"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14171B"/>
                  </a:solidFill>
                  <a:latin typeface="Consolas"/>
                  <a:ea typeface="Consolas"/>
                  <a:cs typeface="Consolas"/>
                </a:rPr>
                <a:t>Presentation Studio</a:t>
              </a:r>
              <a:endParaRPr lang="en-US" sz="1200" dirty="0"/>
            </a:p>
          </p:txBody>
        </p:sp>
        <p:sp>
          <p:nvSpPr>
            <p:cNvPr id="26" name="rect 27"/>
            <p:cNvSpPr/>
            <p:nvPr/>
          </p:nvSpPr>
          <p:spPr>
            <a:xfrm>
              <a:off x="3990975" y="4781550"/>
              <a:ext cx="1400175" cy="323850"/>
            </a:xfrm>
            <a:prstGeom prst="roundRect">
              <a:avLst>
                <a:gd name="adj" fmla="val 5882"/>
              </a:avLst>
            </a:prstGeom>
            <a:noFill/>
            <a:ln w="9525" cap="flat">
              <a:solidFill>
                <a:srgbClr val="14171B">
                  <a:alpha val="50000"/>
                </a:srgbClr>
              </a:solidFill>
              <a:miter lim="800000"/>
            </a:ln>
          </p:spPr>
          <p:txBody>
            <a:bodyPr/>
            <a:lstStyle/>
            <a:p>
              <a:endParaRPr lang="en-US"/>
            </a:p>
          </p:txBody>
        </p:sp>
        <p:sp>
          <p:nvSpPr>
            <p:cNvPr id="27" name="Text 28"/>
            <p:cNvSpPr txBox="1"/>
            <p:nvPr/>
          </p:nvSpPr>
          <p:spPr>
            <a:xfrm>
              <a:off x="4105275" y="4851400"/>
              <a:ext cx="1258086"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14171B"/>
                  </a:solidFill>
                  <a:latin typeface="Consolas"/>
                  <a:ea typeface="Consolas"/>
                  <a:cs typeface="Consolas"/>
                </a:rPr>
                <a:t>Writing Studio</a:t>
              </a:r>
              <a:endParaRPr lang="en-US" sz="1200" dirty="0"/>
            </a:p>
          </p:txBody>
        </p:sp>
        <p:sp>
          <p:nvSpPr>
            <p:cNvPr id="28" name="rect 29"/>
            <p:cNvSpPr/>
            <p:nvPr/>
          </p:nvSpPr>
          <p:spPr>
            <a:xfrm>
              <a:off x="5505450" y="4781550"/>
              <a:ext cx="1066800" cy="323850"/>
            </a:xfrm>
            <a:prstGeom prst="roundRect">
              <a:avLst>
                <a:gd name="adj" fmla="val 5882"/>
              </a:avLst>
            </a:prstGeom>
            <a:noFill/>
            <a:ln w="9525" cap="flat">
              <a:solidFill>
                <a:srgbClr val="14171B">
                  <a:alpha val="50000"/>
                </a:srgbClr>
              </a:solidFill>
              <a:miter lim="800000"/>
            </a:ln>
          </p:spPr>
          <p:txBody>
            <a:bodyPr/>
            <a:lstStyle/>
            <a:p>
              <a:endParaRPr lang="en-US"/>
            </a:p>
          </p:txBody>
        </p:sp>
        <p:sp>
          <p:nvSpPr>
            <p:cNvPr id="29" name="Text 30"/>
            <p:cNvSpPr txBox="1"/>
            <p:nvPr/>
          </p:nvSpPr>
          <p:spPr>
            <a:xfrm>
              <a:off x="5619750" y="4851400"/>
              <a:ext cx="909518" cy="2120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14171B"/>
                  </a:solidFill>
                  <a:latin typeface="Consolas"/>
                  <a:ea typeface="Consolas"/>
                  <a:cs typeface="Consolas"/>
                </a:rPr>
                <a:t>Extensions</a:t>
              </a:r>
              <a:endParaRPr lang="en-US" sz="1200" dirty="0"/>
            </a:p>
          </p:txBody>
        </p:sp>
      </p:grpSp>
      <p:grpSp>
        <p:nvGrpSpPr>
          <p:cNvPr id="35" name="Group 36"/>
          <p:cNvGrpSpPr/>
          <p:nvPr/>
        </p:nvGrpSpPr>
        <p:grpSpPr>
          <a:xfrm>
            <a:off x="644176" y="5376101"/>
            <a:ext cx="9391650" cy="704850"/>
            <a:chOff x="644176" y="5376101"/>
            <a:chExt cx="9391650" cy="704850"/>
          </a:xfrm>
        </p:grpSpPr>
        <p:sp>
          <p:nvSpPr>
            <p:cNvPr id="31" name="line 32"/>
            <p:cNvSpPr/>
            <p:nvPr/>
          </p:nvSpPr>
          <p:spPr>
            <a:xfrm>
              <a:off x="644176" y="5376101"/>
              <a:ext cx="6057900" cy="95"/>
            </a:xfrm>
            <a:custGeom>
              <a:avLst/>
              <a:gdLst/>
              <a:ahLst/>
              <a:cxnLst/>
              <a:rect l="0" t="0" r="r" b="b"/>
              <a:pathLst>
                <a:path w="6057900" h="95" fill="none">
                  <a:moveTo>
                    <a:pt x="0" y="0"/>
                  </a:moveTo>
                  <a:lnTo>
                    <a:pt x="6057900" y="0"/>
                  </a:lnTo>
                </a:path>
              </a:pathLst>
            </a:custGeom>
            <a:noFill/>
            <a:ln w="9525" cap="flat">
              <a:solidFill>
                <a:srgbClr val="14171B">
                  <a:alpha val="25000"/>
                </a:srgbClr>
              </a:solidFill>
              <a:miter lim="800000"/>
            </a:ln>
          </p:spPr>
          <p:txBody>
            <a:bodyPr/>
            <a:lstStyle/>
            <a:p>
              <a:endParaRPr lang="en-US"/>
            </a:p>
          </p:txBody>
        </p:sp>
        <p:sp>
          <p:nvSpPr>
            <p:cNvPr id="32" name="Text 33"/>
            <p:cNvSpPr txBox="1"/>
            <p:nvPr/>
          </p:nvSpPr>
          <p:spPr>
            <a:xfrm>
              <a:off x="644176" y="5528501"/>
              <a:ext cx="3783729" cy="224790"/>
            </a:xfrm>
            <a:prstGeom prst="rect">
              <a:avLst/>
            </a:prstGeom>
            <a:noFill/>
          </p:spPr>
          <p:txBody>
            <a:bodyPr wrap="none" lIns="0" tIns="0" rIns="0" bIns="0" rtlCol="0" anchor="t">
              <a:noAutofit/>
            </a:bodyPr>
            <a:lstStyle/>
            <a:p>
              <a:pPr algn="l">
                <a:spcBef>
                  <a:spcPts val="0"/>
                </a:spcBef>
                <a:spcAft>
                  <a:spcPts val="0"/>
                </a:spcAft>
              </a:pPr>
              <a:r>
                <a:rPr lang="en-US" sz="1200" b="0" dirty="0">
                  <a:solidFill>
                    <a:srgbClr val="5E5A52"/>
                  </a:solidFill>
                  <a:latin typeface="Segoe UI"/>
                  <a:ea typeface="Segoe UI"/>
                  <a:cs typeface="Segoe UI"/>
                </a:rPr>
                <a:t>Naz — Creator &amp; Lead Architect, github : @wolfenazz</a:t>
              </a:r>
              <a:endParaRPr lang="en-US" sz="1200" dirty="0"/>
            </a:p>
          </p:txBody>
        </p:sp>
        <p:sp>
          <p:nvSpPr>
            <p:cNvPr id="33" name="rect 34"/>
            <p:cNvSpPr/>
            <p:nvPr/>
          </p:nvSpPr>
          <p:spPr>
            <a:xfrm>
              <a:off x="7197376" y="5547551"/>
              <a:ext cx="2838450" cy="533400"/>
            </a:xfrm>
            <a:prstGeom prst="roundRect">
              <a:avLst>
                <a:gd name="adj" fmla="val 3571"/>
              </a:avLst>
            </a:prstGeom>
            <a:noFill/>
            <a:ln w="9525" cap="flat">
              <a:solidFill>
                <a:srgbClr val="14171B">
                  <a:alpha val="50000"/>
                </a:srgbClr>
              </a:solidFill>
              <a:miter lim="800000"/>
            </a:ln>
          </p:spPr>
          <p:txBody>
            <a:bodyPr/>
            <a:lstStyle/>
            <a:p>
              <a:endParaRPr lang="en-US"/>
            </a:p>
          </p:txBody>
        </p:sp>
        <p:sp>
          <p:nvSpPr>
            <p:cNvPr id="34" name="Text 35"/>
            <p:cNvSpPr txBox="1"/>
            <p:nvPr/>
          </p:nvSpPr>
          <p:spPr>
            <a:xfrm>
              <a:off x="7349776" y="5601525"/>
              <a:ext cx="2565213" cy="447040"/>
            </a:xfrm>
            <a:prstGeom prst="rect">
              <a:avLst/>
            </a:prstGeom>
            <a:noFill/>
          </p:spPr>
          <p:txBody>
            <a:bodyPr wrap="none" lIns="0" tIns="0" rIns="0" bIns="0" rtlCol="0" anchor="t">
              <a:noAutofit/>
            </a:bodyPr>
            <a:lstStyle/>
            <a:p>
              <a:pPr algn="l">
                <a:lnSpc>
                  <a:spcPts val="1700"/>
                </a:lnSpc>
                <a:spcBef>
                  <a:spcPts val="0"/>
                </a:spcBef>
                <a:spcAft>
                  <a:spcPts val="0"/>
                </a:spcAft>
              </a:pPr>
              <a:r>
                <a:rPr lang="en-US" sz="1200" b="0" dirty="0">
                  <a:solidFill>
                    <a:srgbClr val="14171B"/>
                  </a:solidFill>
                  <a:latin typeface="Consolas"/>
                  <a:ea typeface="Consolas"/>
                  <a:cs typeface="Consolas"/>
                </a:rPr>
                <a:t>Apache-2.0 · under active</a:t>
              </a:r>
              <a:endParaRPr lang="en-US" sz="1200" dirty="0"/>
            </a:p>
            <a:p>
              <a:pPr algn="l">
                <a:lnSpc>
                  <a:spcPts val="1700"/>
                </a:lnSpc>
                <a:spcBef>
                  <a:spcPts val="0"/>
                </a:spcBef>
                <a:spcAft>
                  <a:spcPts val="0"/>
                </a:spcAft>
              </a:pPr>
              <a:r>
                <a:rPr lang="en-US" sz="1200" b="0" dirty="0">
                  <a:solidFill>
                    <a:srgbClr val="14171B"/>
                  </a:solidFill>
                  <a:latin typeface="Consolas"/>
                  <a:ea typeface="Consolas"/>
                  <a:cs typeface="Consolas"/>
                </a:rPr>
                <a:t>development, feedback welcome</a:t>
              </a:r>
              <a:endParaRPr lang="en-US" sz="1200" dirty="0"/>
            </a:p>
          </p:txBody>
        </p:sp>
      </p:grpSp>
      <p:grpSp>
        <p:nvGrpSpPr>
          <p:cNvPr id="48" name="showreel"/>
          <p:cNvGrpSpPr/>
          <p:nvPr/>
        </p:nvGrpSpPr>
        <p:grpSpPr>
          <a:xfrm>
            <a:off x="7048500" y="1828800"/>
            <a:ext cx="4495800" cy="3558540"/>
            <a:chOff x="7048500" y="1828800"/>
            <a:chExt cx="4495800" cy="3558540"/>
          </a:xfrm>
        </p:grpSpPr>
        <p:sp>
          <p:nvSpPr>
            <p:cNvPr id="36" name="path 37"/>
            <p:cNvSpPr/>
            <p:nvPr/>
          </p:nvSpPr>
          <p:spPr>
            <a:xfrm>
              <a:off x="7048500" y="1828800"/>
              <a:ext cx="228600" cy="228600"/>
            </a:xfrm>
            <a:custGeom>
              <a:avLst/>
              <a:gdLst/>
              <a:ahLst/>
              <a:cxnLst/>
              <a:rect l="0" t="0" r="r" b="b"/>
              <a:pathLst>
                <a:path w="228600" h="228600" fill="none">
                  <a:moveTo>
                    <a:pt x="0" y="228600"/>
                  </a:moveTo>
                  <a:lnTo>
                    <a:pt x="0" y="0"/>
                  </a:lnTo>
                  <a:lnTo>
                    <a:pt x="228600" y="0"/>
                  </a:lnTo>
                </a:path>
              </a:pathLst>
            </a:custGeom>
            <a:noFill/>
            <a:ln w="19050" cap="flat">
              <a:solidFill>
                <a:srgbClr val="FF5B1F"/>
              </a:solidFill>
              <a:miter lim="800000"/>
            </a:ln>
          </p:spPr>
          <p:txBody>
            <a:bodyPr/>
            <a:lstStyle/>
            <a:p>
              <a:endParaRPr lang="en-US"/>
            </a:p>
          </p:txBody>
        </p:sp>
        <p:sp>
          <p:nvSpPr>
            <p:cNvPr id="37" name="path 38"/>
            <p:cNvSpPr/>
            <p:nvPr/>
          </p:nvSpPr>
          <p:spPr>
            <a:xfrm>
              <a:off x="11315700" y="1828800"/>
              <a:ext cx="228600" cy="228600"/>
            </a:xfrm>
            <a:custGeom>
              <a:avLst/>
              <a:gdLst/>
              <a:ahLst/>
              <a:cxnLst/>
              <a:rect l="0" t="0" r="r" b="b"/>
              <a:pathLst>
                <a:path w="228600" h="228600" fill="none">
                  <a:moveTo>
                    <a:pt x="228600" y="228600"/>
                  </a:moveTo>
                  <a:lnTo>
                    <a:pt x="228600" y="0"/>
                  </a:lnTo>
                  <a:lnTo>
                    <a:pt x="0" y="0"/>
                  </a:lnTo>
                </a:path>
              </a:pathLst>
            </a:custGeom>
            <a:noFill/>
            <a:ln w="19050" cap="flat">
              <a:solidFill>
                <a:srgbClr val="FF5B1F"/>
              </a:solidFill>
              <a:miter lim="800000"/>
            </a:ln>
          </p:spPr>
          <p:txBody>
            <a:bodyPr/>
            <a:lstStyle/>
            <a:p>
              <a:endParaRPr lang="en-US"/>
            </a:p>
          </p:txBody>
        </p:sp>
        <p:sp>
          <p:nvSpPr>
            <p:cNvPr id="38" name="path 39"/>
            <p:cNvSpPr/>
            <p:nvPr/>
          </p:nvSpPr>
          <p:spPr>
            <a:xfrm>
              <a:off x="7048500" y="4495800"/>
              <a:ext cx="228600" cy="228600"/>
            </a:xfrm>
            <a:custGeom>
              <a:avLst/>
              <a:gdLst/>
              <a:ahLst/>
              <a:cxnLst/>
              <a:rect l="0" t="0" r="r" b="b"/>
              <a:pathLst>
                <a:path w="228600" h="228600" fill="none">
                  <a:moveTo>
                    <a:pt x="0" y="0"/>
                  </a:moveTo>
                  <a:lnTo>
                    <a:pt x="0" y="228600"/>
                  </a:lnTo>
                  <a:lnTo>
                    <a:pt x="228600" y="228600"/>
                  </a:lnTo>
                </a:path>
              </a:pathLst>
            </a:custGeom>
            <a:noFill/>
            <a:ln w="19050" cap="flat">
              <a:solidFill>
                <a:srgbClr val="FF5B1F"/>
              </a:solidFill>
              <a:miter lim="800000"/>
            </a:ln>
          </p:spPr>
          <p:txBody>
            <a:bodyPr/>
            <a:lstStyle/>
            <a:p>
              <a:endParaRPr lang="en-US"/>
            </a:p>
          </p:txBody>
        </p:sp>
        <p:sp>
          <p:nvSpPr>
            <p:cNvPr id="39" name="path 40"/>
            <p:cNvSpPr/>
            <p:nvPr/>
          </p:nvSpPr>
          <p:spPr>
            <a:xfrm>
              <a:off x="11315700" y="4495800"/>
              <a:ext cx="228600" cy="228600"/>
            </a:xfrm>
            <a:custGeom>
              <a:avLst/>
              <a:gdLst/>
              <a:ahLst/>
              <a:cxnLst/>
              <a:rect l="0" t="0" r="r" b="b"/>
              <a:pathLst>
                <a:path w="228600" h="228600" fill="none">
                  <a:moveTo>
                    <a:pt x="228600" y="0"/>
                  </a:moveTo>
                  <a:lnTo>
                    <a:pt x="228600" y="228600"/>
                  </a:lnTo>
                  <a:lnTo>
                    <a:pt x="0" y="228600"/>
                  </a:lnTo>
                </a:path>
              </a:pathLst>
            </a:custGeom>
            <a:noFill/>
            <a:ln w="19050" cap="flat">
              <a:solidFill>
                <a:srgbClr val="FF5B1F"/>
              </a:solidFill>
              <a:miter lim="800000"/>
            </a:ln>
          </p:spPr>
          <p:txBody>
            <a:bodyPr/>
            <a:lstStyle/>
            <a:p>
              <a:endParaRPr lang="en-US"/>
            </a:p>
          </p:txBody>
        </p:sp>
        <p:sp>
          <p:nvSpPr>
            <p:cNvPr id="40" name="rect 41"/>
            <p:cNvSpPr/>
            <p:nvPr/>
          </p:nvSpPr>
          <p:spPr>
            <a:xfrm>
              <a:off x="7162800" y="1943100"/>
              <a:ext cx="4267200" cy="2667000"/>
            </a:xfrm>
            <a:prstGeom prst="roundRect">
              <a:avLst>
                <a:gd name="adj" fmla="val 2857"/>
              </a:avLst>
            </a:prstGeom>
            <a:solidFill>
              <a:srgbClr val="14171B"/>
            </a:solidFill>
            <a:ln w="9525" cap="flat">
              <a:solidFill>
                <a:srgbClr val="2A2E35"/>
              </a:solidFill>
              <a:miter lim="800000"/>
            </a:ln>
          </p:spPr>
          <p:txBody>
            <a:bodyPr/>
            <a:lstStyle/>
            <a:p>
              <a:endParaRPr lang="en-US"/>
            </a:p>
          </p:txBody>
        </p:sp>
        <p:sp>
          <p:nvSpPr>
            <p:cNvPr id="41" name="circle 42"/>
            <p:cNvSpPr/>
            <p:nvPr/>
          </p:nvSpPr>
          <p:spPr>
            <a:xfrm>
              <a:off x="7300913" y="2043113"/>
              <a:ext cx="66675" cy="66675"/>
            </a:xfrm>
            <a:prstGeom prst="ellipse">
              <a:avLst/>
            </a:prstGeom>
            <a:solidFill>
              <a:srgbClr val="4A5058"/>
            </a:solidFill>
            <a:ln>
              <a:noFill/>
            </a:ln>
          </p:spPr>
          <p:txBody>
            <a:bodyPr/>
            <a:lstStyle/>
            <a:p>
              <a:endParaRPr lang="en-US"/>
            </a:p>
          </p:txBody>
        </p:sp>
        <p:sp>
          <p:nvSpPr>
            <p:cNvPr id="42" name="circle 43"/>
            <p:cNvSpPr/>
            <p:nvPr/>
          </p:nvSpPr>
          <p:spPr>
            <a:xfrm>
              <a:off x="7434263" y="2043113"/>
              <a:ext cx="66675" cy="66675"/>
            </a:xfrm>
            <a:prstGeom prst="ellipse">
              <a:avLst/>
            </a:prstGeom>
            <a:solidFill>
              <a:srgbClr val="4A5058"/>
            </a:solidFill>
            <a:ln>
              <a:noFill/>
            </a:ln>
          </p:spPr>
          <p:txBody>
            <a:bodyPr/>
            <a:lstStyle/>
            <a:p>
              <a:endParaRPr lang="en-US"/>
            </a:p>
          </p:txBody>
        </p:sp>
        <p:sp>
          <p:nvSpPr>
            <p:cNvPr id="43" name="circle 44"/>
            <p:cNvSpPr/>
            <p:nvPr/>
          </p:nvSpPr>
          <p:spPr>
            <a:xfrm>
              <a:off x="7567613" y="2043113"/>
              <a:ext cx="66675" cy="66675"/>
            </a:xfrm>
            <a:prstGeom prst="ellipse">
              <a:avLst/>
            </a:prstGeom>
            <a:solidFill>
              <a:srgbClr val="4A5058"/>
            </a:solidFill>
            <a:ln>
              <a:noFill/>
            </a:ln>
          </p:spPr>
          <p:txBody>
            <a:bodyPr/>
            <a:lstStyle/>
            <a:p>
              <a:endParaRPr lang="en-US"/>
            </a:p>
          </p:txBody>
        </p:sp>
        <p:pic>
          <p:nvPicPr>
            <p:cNvPr id="44" name="Picture 45"/>
            <p:cNvPicPr>
              <a:picLocks noChangeAspect="1"/>
            </p:cNvPicPr>
            <p:nvPr/>
          </p:nvPicPr>
          <p:blipFill>
            <a:blip r:embed="rId3"/>
            <a:stretch>
              <a:fillRect/>
            </a:stretch>
          </p:blipFill>
          <p:spPr>
            <a:xfrm>
              <a:off x="7162800" y="2209800"/>
              <a:ext cx="4267200" cy="2400300"/>
            </a:xfrm>
            <a:prstGeom prst="roundRect">
              <a:avLst>
                <a:gd name="adj" fmla="val 3175"/>
              </a:avLst>
            </a:prstGeom>
          </p:spPr>
        </p:pic>
        <p:sp>
          <p:nvSpPr>
            <p:cNvPr id="45" name="circle 46"/>
            <p:cNvSpPr/>
            <p:nvPr/>
          </p:nvSpPr>
          <p:spPr>
            <a:xfrm>
              <a:off x="8972550" y="3086100"/>
              <a:ext cx="647700" cy="647700"/>
            </a:xfrm>
            <a:prstGeom prst="ellipse">
              <a:avLst/>
            </a:prstGeom>
            <a:solidFill>
              <a:srgbClr val="0A0B0D">
                <a:alpha val="60000"/>
              </a:srgbClr>
            </a:solidFill>
            <a:ln w="19050" cap="flat">
              <a:solidFill>
                <a:srgbClr val="FF5B1F"/>
              </a:solidFill>
              <a:miter lim="800000"/>
            </a:ln>
          </p:spPr>
          <p:txBody>
            <a:bodyPr/>
            <a:lstStyle/>
            <a:p>
              <a:endParaRPr lang="en-US"/>
            </a:p>
          </p:txBody>
        </p:sp>
        <p:sp>
          <p:nvSpPr>
            <p:cNvPr id="46" name="polygon 47"/>
            <p:cNvSpPr/>
            <p:nvPr/>
          </p:nvSpPr>
          <p:spPr>
            <a:xfrm>
              <a:off x="9191625" y="3257550"/>
              <a:ext cx="257175" cy="304800"/>
            </a:xfrm>
            <a:custGeom>
              <a:avLst/>
              <a:gdLst/>
              <a:ahLst/>
              <a:cxnLst/>
              <a:rect l="0" t="0" r="r" b="b"/>
              <a:pathLst>
                <a:path w="257175" h="304800">
                  <a:moveTo>
                    <a:pt x="0" y="0"/>
                  </a:moveTo>
                  <a:lnTo>
                    <a:pt x="0" y="304800"/>
                  </a:lnTo>
                  <a:lnTo>
                    <a:pt x="257175" y="152400"/>
                  </a:lnTo>
                  <a:close/>
                </a:path>
              </a:pathLst>
            </a:custGeom>
            <a:solidFill>
              <a:srgbClr val="EDE9E2"/>
            </a:solidFill>
            <a:ln>
              <a:noFill/>
            </a:ln>
          </p:spPr>
          <p:txBody>
            <a:bodyPr/>
            <a:lstStyle/>
            <a:p>
              <a:endParaRPr lang="en-US"/>
            </a:p>
          </p:txBody>
        </p:sp>
        <p:sp>
          <p:nvSpPr>
            <p:cNvPr id="47" name="Text 48"/>
            <p:cNvSpPr txBox="1"/>
            <p:nvPr/>
          </p:nvSpPr>
          <p:spPr>
            <a:xfrm>
              <a:off x="7162800" y="4908550"/>
              <a:ext cx="2450366" cy="478790"/>
            </a:xfrm>
            <a:prstGeom prst="rect">
              <a:avLst/>
            </a:prstGeom>
            <a:noFill/>
          </p:spPr>
          <p:txBody>
            <a:bodyPr wrap="none" lIns="0" tIns="0" rIns="0" bIns="0" rtlCol="0" anchor="t">
              <a:noAutofit/>
            </a:bodyPr>
            <a:lstStyle/>
            <a:p>
              <a:pPr algn="l">
                <a:lnSpc>
                  <a:spcPts val="1800"/>
                </a:lnSpc>
                <a:spcBef>
                  <a:spcPts val="0"/>
                </a:spcBef>
                <a:spcAft>
                  <a:spcPts val="0"/>
                </a:spcAft>
              </a:pPr>
              <a:r>
                <a:rPr lang="en-US" sz="1200" b="0" dirty="0">
                  <a:solidFill>
                    <a:srgbClr val="14171B"/>
                  </a:solidFill>
                  <a:latin typeface="Segoe UI"/>
                  <a:ea typeface="Segoe UI"/>
                  <a:cs typeface="Segoe UI"/>
                </a:rPr>
                <a:t>Watch the full 45-second showreel</a:t>
              </a:r>
              <a:endParaRPr lang="en-US" sz="1200" dirty="0"/>
            </a:p>
            <a:p>
              <a:pPr algn="l">
                <a:lnSpc>
                  <a:spcPts val="1800"/>
                </a:lnSpc>
                <a:spcBef>
                  <a:spcPts val="0"/>
                </a:spcBef>
                <a:spcAft>
                  <a:spcPts val="0"/>
                </a:spcAft>
              </a:pPr>
              <a:r>
                <a:rPr lang="en-US" sz="1200" b="0" dirty="0">
                  <a:solidFill>
                    <a:srgbClr val="14171B"/>
                  </a:solidFill>
                  <a:latin typeface="Segoe UI"/>
                  <a:ea typeface="Segoe UI"/>
                  <a:cs typeface="Segoe UI"/>
                </a:rPr>
                <a:t>with sound</a:t>
              </a:r>
              <a:endParaRPr lang="en-US" sz="1200" dirty="0"/>
            </a:p>
          </p:txBody>
        </p:sp>
      </p:grpSp>
      <p:grpSp>
        <p:nvGrpSpPr>
          <p:cNvPr id="51" name="progress-rule"/>
          <p:cNvGrpSpPr/>
          <p:nvPr/>
        </p:nvGrpSpPr>
        <p:grpSpPr>
          <a:xfrm>
            <a:off x="609600" y="6600825"/>
            <a:ext cx="9963150" cy="57150"/>
            <a:chOff x="609600" y="6600825"/>
            <a:chExt cx="9963150" cy="57150"/>
          </a:xfrm>
        </p:grpSpPr>
        <p:sp>
          <p:nvSpPr>
            <p:cNvPr id="49" name="line 50"/>
            <p:cNvSpPr/>
            <p:nvPr/>
          </p:nvSpPr>
          <p:spPr>
            <a:xfrm>
              <a:off x="609600" y="6629400"/>
              <a:ext cx="9963150" cy="95"/>
            </a:xfrm>
            <a:custGeom>
              <a:avLst/>
              <a:gdLst/>
              <a:ahLst/>
              <a:cxnLst/>
              <a:rect l="0" t="0" r="r" b="b"/>
              <a:pathLst>
                <a:path w="9963150" h="95" fill="none">
                  <a:moveTo>
                    <a:pt x="0" y="0"/>
                  </a:moveTo>
                  <a:lnTo>
                    <a:pt x="9963150" y="0"/>
                  </a:lnTo>
                </a:path>
              </a:pathLst>
            </a:custGeom>
            <a:noFill/>
            <a:ln w="9525" cap="flat">
              <a:solidFill>
                <a:srgbClr val="2A2E35"/>
              </a:solidFill>
              <a:miter lim="800000"/>
            </a:ln>
          </p:spPr>
          <p:txBody>
            <a:bodyPr/>
            <a:lstStyle/>
            <a:p>
              <a:endParaRPr lang="en-US"/>
            </a:p>
          </p:txBody>
        </p:sp>
        <p:sp>
          <p:nvSpPr>
            <p:cNvPr id="50" name="rect 51"/>
            <p:cNvSpPr/>
            <p:nvPr/>
          </p:nvSpPr>
          <p:spPr>
            <a:xfrm>
              <a:off x="609600" y="6600825"/>
              <a:ext cx="9963150" cy="57150"/>
            </a:xfrm>
            <a:prstGeom prst="roundRect">
              <a:avLst>
                <a:gd name="adj" fmla="val 50000"/>
              </a:avLst>
            </a:prstGeom>
            <a:solidFill>
              <a:srgbClr val="FF5B1F"/>
            </a:solidFill>
            <a:ln>
              <a:noFill/>
            </a:ln>
          </p:spPr>
          <p:txBody>
            <a:bodyPr/>
            <a:lstStyle/>
            <a:p>
              <a:endParaRPr lang="en-US"/>
            </a:p>
          </p:txBody>
        </p:sp>
      </p:grpSp>
      <p:sp>
        <p:nvSpPr>
          <p:cNvPr id="52" name="Text 53"/>
          <p:cNvSpPr txBox="1"/>
          <p:nvPr/>
        </p:nvSpPr>
        <p:spPr>
          <a:xfrm>
            <a:off x="10795623" y="6546850"/>
            <a:ext cx="786777" cy="212090"/>
          </a:xfrm>
          <a:prstGeom prst="rect">
            <a:avLst/>
          </a:prstGeom>
          <a:noFill/>
        </p:spPr>
        <p:txBody>
          <a:bodyPr wrap="none" lIns="0" tIns="0" rIns="0" bIns="0" rtlCol="0" anchor="t">
            <a:noAutofit/>
          </a:bodyPr>
          <a:lstStyle/>
          <a:p>
            <a:pPr algn="r">
              <a:spcBef>
                <a:spcPts val="0"/>
              </a:spcBef>
              <a:spcAft>
                <a:spcPts val="0"/>
              </a:spcAft>
            </a:pPr>
            <a:r>
              <a:rPr lang="en-US" sz="1200" b="0" spc="150" dirty="0">
                <a:solidFill>
                  <a:srgbClr val="9C9A94"/>
                </a:solidFill>
                <a:latin typeface="Consolas"/>
                <a:ea typeface="Consolas"/>
                <a:cs typeface="Consolas"/>
              </a:rPr>
              <a:t>16 / 16</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600" fill="hold"/>
                                        <p:tgtEl>
                                          <p:spTgt spid="8"/>
                                        </p:tgtEl>
                                        <p:attrNameLst>
                                          <p:attrName>ppt_y</p:attrName>
                                        </p:attrNameLst>
                                      </p:cBhvr>
                                      <p:tavLst>
                                        <p:tav tm="0">
                                          <p:val>
                                            <p:strVal val="#ppt_y+.1"/>
                                          </p:val>
                                        </p:tav>
                                        <p:tav tm="100000">
                                          <p:val>
                                            <p:strVal val="#ppt_y"/>
                                          </p:val>
                                        </p:tav>
                                      </p:tavLst>
                                    </p:anim>
                                    <p:animEffect transition="in" filter="fade">
                                      <p:cBhvr>
                                        <p:cTn id="8" dur="600"/>
                                        <p:tgtEl>
                                          <p:spTgt spid="8"/>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additive="base">
                                        <p:cTn id="13" dur="600" fill="hold"/>
                                        <p:tgtEl>
                                          <p:spTgt spid="22"/>
                                        </p:tgtEl>
                                        <p:attrNameLst>
                                          <p:attrName>ppt_x</p:attrName>
                                        </p:attrNameLst>
                                      </p:cBhvr>
                                      <p:tavLst>
                                        <p:tav tm="0">
                                          <p:val>
                                            <p:strVal val="0-#ppt_w/2"/>
                                          </p:val>
                                        </p:tav>
                                        <p:tav tm="100000">
                                          <p:val>
                                            <p:strVal val="#ppt_x"/>
                                          </p:val>
                                        </p:tav>
                                      </p:tavLst>
                                    </p:anim>
                                    <p:anim calcmode="lin" valueType="num">
                                      <p:cBhvr additive="base">
                                        <p:cTn id="14" dur="600" fill="hold"/>
                                        <p:tgtEl>
                                          <p:spTgt spid="22"/>
                                        </p:tgtEl>
                                        <p:attrNameLst>
                                          <p:attrName>ppt_y</p:attrName>
                                        </p:attrNameLst>
                                      </p:cBhvr>
                                      <p:tavLst>
                                        <p:tav tm="0">
                                          <p:val>
                                            <p:strVal val="#ppt_y"/>
                                          </p:val>
                                        </p:tav>
                                        <p:tav tm="100000">
                                          <p:val>
                                            <p:strVal val="#ppt_y"/>
                                          </p:val>
                                        </p:tav>
                                      </p:tavLst>
                                    </p:anim>
                                  </p:childTnLst>
                                </p:cTn>
                              </p:par>
                            </p:childTnLst>
                          </p:cTn>
                        </p:par>
                        <p:par>
                          <p:cTn id="15" fill="hold">
                            <p:stCondLst>
                              <p:cond delay="600"/>
                            </p:stCondLst>
                            <p:childTnLst>
                              <p:par>
                                <p:cTn id="16" presetID="10" presetClass="entr" presetSubtype="0" fill="hold" nodeType="afterEffect">
                                  <p:stCondLst>
                                    <p:cond delay="0"/>
                                  </p:stCondLst>
                                  <p:childTnLst>
                                    <p:set>
                                      <p:cBhvr>
                                        <p:cTn id="17" dur="1" fill="hold">
                                          <p:stCondLst>
                                            <p:cond delay="0"/>
                                          </p:stCondLst>
                                        </p:cTn>
                                        <p:tgtEl>
                                          <p:spTgt spid="48"/>
                                        </p:tgtEl>
                                        <p:attrNameLst>
                                          <p:attrName>style.visibility</p:attrName>
                                        </p:attrNameLst>
                                      </p:cBhvr>
                                      <p:to>
                                        <p:strVal val="visible"/>
                                      </p:to>
                                    </p:set>
                                    <p:animEffect transition="in" filter="fade">
                                      <p:cBhvr>
                                        <p:cTn id="18" dur="600"/>
                                        <p:tgtEl>
                                          <p:spTgt spid="48"/>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30"/>
                                        </p:tgtEl>
                                        <p:attrNameLst>
                                          <p:attrName>style.visibility</p:attrName>
                                        </p:attrNameLst>
                                      </p:cBhvr>
                                      <p:to>
                                        <p:strVal val="visible"/>
                                      </p:to>
                                    </p:set>
                                    <p:anim calcmode="lin" valueType="num">
                                      <p:cBhvr>
                                        <p:cTn id="23" dur="500" fill="hold"/>
                                        <p:tgtEl>
                                          <p:spTgt spid="30"/>
                                        </p:tgtEl>
                                        <p:attrNameLst>
                                          <p:attrName>ppt_y</p:attrName>
                                        </p:attrNameLst>
                                      </p:cBhvr>
                                      <p:tavLst>
                                        <p:tav tm="0">
                                          <p:val>
                                            <p:strVal val="#ppt_y+.1"/>
                                          </p:val>
                                        </p:tav>
                                        <p:tav tm="100000">
                                          <p:val>
                                            <p:strVal val="#ppt_y"/>
                                          </p:val>
                                        </p:tav>
                                      </p:tavLst>
                                    </p:anim>
                                    <p:animEffect transition="in" filter="fade">
                                      <p:cBhvr>
                                        <p:cTn id="24" dur="500"/>
                                        <p:tgtEl>
                                          <p:spTgt spid="30"/>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35"/>
                                        </p:tgtEl>
                                        <p:attrNameLst>
                                          <p:attrName>style.visibility</p:attrName>
                                        </p:attrNameLst>
                                      </p:cBhvr>
                                      <p:to>
                                        <p:strVal val="visible"/>
                                      </p:to>
                                    </p:set>
                                    <p:anim calcmode="lin" valueType="num">
                                      <p:cBhvr>
                                        <p:cTn id="29" dur="500" fill="hold"/>
                                        <p:tgtEl>
                                          <p:spTgt spid="35"/>
                                        </p:tgtEl>
                                        <p:attrNameLst>
                                          <p:attrName>ppt_y</p:attrName>
                                        </p:attrNameLst>
                                      </p:cBhvr>
                                      <p:tavLst>
                                        <p:tav tm="0">
                                          <p:val>
                                            <p:strVal val="#ppt_y+.1"/>
                                          </p:val>
                                        </p:tav>
                                        <p:tav tm="100000">
                                          <p:val>
                                            <p:strVal val="#ppt_y"/>
                                          </p:val>
                                        </p:tav>
                                      </p:tavLst>
                                    </p:anim>
                                    <p:animEffect transition="in" filter="fade">
                                      <p:cBhvr>
                                        <p:cTn id="30" dur="500"/>
                                        <p:tgtEl>
                                          <p:spTgt spid="35"/>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51"/>
                                        </p:tgtEl>
                                        <p:attrNameLst>
                                          <p:attrName>style.visibility</p:attrName>
                                        </p:attrNameLst>
                                      </p:cBhvr>
                                      <p:to>
                                        <p:strVal val="visible"/>
                                      </p:to>
                                    </p:set>
                                    <p:animEffect transition="in" filter="wipe(left)">
                                      <p:cBhvr>
                                        <p:cTn id="34" dur="7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theme/theme1.xml><?xml version="1.0" encoding="utf-8"?>
<a:theme xmlns:a="http://schemas.openxmlformats.org/drawingml/2006/main" name="Office Theme">
  <a:themeElements>
    <a:clrScheme name="Mission Control, Warm Paper">
      <a:dk1>
        <a:srgbClr val="0A0B0D"/>
      </a:dk1>
      <a:lt1>
        <a:srgbClr val="EDE9E2"/>
      </a:lt1>
      <a:dk2>
        <a:srgbClr val="14171B"/>
      </a:dk2>
      <a:lt2>
        <a:srgbClr val="9C9A94"/>
      </a:lt2>
      <a:accent1>
        <a:srgbClr val="FF5B1F"/>
      </a:accent1>
      <a:accent2>
        <a:srgbClr val="A28BFF"/>
      </a:accent2>
      <a:accent3>
        <a:srgbClr val="3D8BFF"/>
      </a:accent3>
      <a:accent4>
        <a:srgbClr val="F6B69A"/>
      </a:accent4>
      <a:accent5>
        <a:srgbClr val="4A5058"/>
      </a:accent5>
      <a:accent6>
        <a:srgbClr val="FF5B1F"/>
      </a:accent6>
      <a:hlink>
        <a:srgbClr val="0563C1"/>
      </a:hlink>
      <a:folHlink>
        <a:srgbClr val="954F72"/>
      </a:folHlink>
    </a:clrScheme>
    <a:fontScheme name="Office">
      <a:majorFont>
        <a:latin typeface="Bahnschrif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5697</Words>
  <Application>Microsoft Office PowerPoint</Application>
  <PresentationFormat>Widescreen</PresentationFormat>
  <Paragraphs>908</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Bahnschrift</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YzPzCode: The Unified Workspace for AI Coding Agents</dc:title>
  <dc:subject>PptxGenJS Presentation</dc:subject>
  <dc:creator>PptxGenJS</dc:creator>
  <cp:lastModifiedBy>6240209-Naseem Ebrahim Moosa Salem Alkhulaifat</cp:lastModifiedBy>
  <cp:revision>3</cp:revision>
  <dcterms:created xsi:type="dcterms:W3CDTF">2026-10-11T21:48:06Z</dcterms:created>
  <dcterms:modified xsi:type="dcterms:W3CDTF">2026-10-11T21:53:26Z</dcterms:modified>
</cp:coreProperties>
</file>